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79" r:id="rId2"/>
    <p:sldId id="289" r:id="rId3"/>
    <p:sldId id="290" r:id="rId4"/>
    <p:sldId id="291" r:id="rId5"/>
    <p:sldId id="295" r:id="rId6"/>
    <p:sldId id="292" r:id="rId7"/>
    <p:sldId id="293" r:id="rId8"/>
    <p:sldId id="294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29" r:id="rId29"/>
    <p:sldId id="315" r:id="rId30"/>
    <p:sldId id="316" r:id="rId31"/>
    <p:sldId id="317" r:id="rId32"/>
    <p:sldId id="319" r:id="rId33"/>
    <p:sldId id="326" r:id="rId34"/>
    <p:sldId id="320" r:id="rId35"/>
    <p:sldId id="318" r:id="rId36"/>
    <p:sldId id="327" r:id="rId37"/>
    <p:sldId id="323" r:id="rId38"/>
    <p:sldId id="321" r:id="rId39"/>
    <p:sldId id="324" r:id="rId40"/>
    <p:sldId id="328" r:id="rId41"/>
    <p:sldId id="331" r:id="rId42"/>
    <p:sldId id="259" r:id="rId43"/>
    <p:sldId id="260" r:id="rId44"/>
    <p:sldId id="261" r:id="rId45"/>
    <p:sldId id="360" r:id="rId46"/>
    <p:sldId id="268" r:id="rId47"/>
    <p:sldId id="269" r:id="rId48"/>
    <p:sldId id="270" r:id="rId49"/>
    <p:sldId id="271" r:id="rId50"/>
    <p:sldId id="262" r:id="rId51"/>
    <p:sldId id="263" r:id="rId52"/>
    <p:sldId id="264" r:id="rId53"/>
    <p:sldId id="272" r:id="rId54"/>
    <p:sldId id="361" r:id="rId55"/>
    <p:sldId id="362" r:id="rId56"/>
    <p:sldId id="363" r:id="rId57"/>
    <p:sldId id="277" r:id="rId58"/>
    <p:sldId id="276" r:id="rId59"/>
    <p:sldId id="364" r:id="rId60"/>
    <p:sldId id="282" r:id="rId61"/>
    <p:sldId id="283" r:id="rId62"/>
    <p:sldId id="285" r:id="rId63"/>
    <p:sldId id="286" r:id="rId64"/>
  </p:sldIdLst>
  <p:sldSz cx="12192000" cy="6858000"/>
  <p:notesSz cx="6858000" cy="9144000"/>
  <p:custDataLst>
    <p:tags r:id="rId6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40" userDrawn="1">
          <p15:clr>
            <a:srgbClr val="A4A3A4"/>
          </p15:clr>
        </p15:guide>
        <p15:guide id="7" orient="horz" pos="1593" userDrawn="1">
          <p15:clr>
            <a:srgbClr val="A4A3A4"/>
          </p15:clr>
        </p15:guide>
        <p15:guide id="8" orient="horz" pos="1502" userDrawn="1">
          <p15:clr>
            <a:srgbClr val="A4A3A4"/>
          </p15:clr>
        </p15:guide>
        <p15:guide id="9" pos="6698" userDrawn="1">
          <p15:clr>
            <a:srgbClr val="A4A3A4"/>
          </p15:clr>
        </p15:guide>
        <p15:guide id="10" pos="982" userDrawn="1">
          <p15:clr>
            <a:srgbClr val="A4A3A4"/>
          </p15:clr>
        </p15:guide>
        <p15:guide id="11" pos="43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x explorer" initials="xe" lastIdx="1" clrIdx="0">
    <p:extLst>
      <p:ext uri="{19B8F6BF-5375-455C-9EA6-DF929625EA0E}">
        <p15:presenceInfo xmlns:p15="http://schemas.microsoft.com/office/powerpoint/2012/main" userId="c11762910bd2345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FA81"/>
    <a:srgbClr val="73BCFF"/>
    <a:srgbClr val="FFFFFF"/>
    <a:srgbClr val="4CBBB9"/>
    <a:srgbClr val="FFEDDA"/>
    <a:srgbClr val="FFE419"/>
    <a:srgbClr val="F8DE20"/>
    <a:srgbClr val="F2DA26"/>
    <a:srgbClr val="3B7CF1"/>
    <a:srgbClr val="679A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73" autoAdjust="0"/>
    <p:restoredTop sz="93391" autoAdjust="0"/>
  </p:normalViewPr>
  <p:slideViewPr>
    <p:cSldViewPr snapToGrid="0" showGuides="1">
      <p:cViewPr>
        <p:scale>
          <a:sx n="100" d="100"/>
          <a:sy n="100" d="100"/>
        </p:scale>
        <p:origin x="1133" y="538"/>
      </p:cViewPr>
      <p:guideLst>
        <p:guide pos="3840"/>
        <p:guide orient="horz" pos="1593"/>
        <p:guide orient="horz" pos="1502"/>
        <p:guide pos="6698"/>
        <p:guide pos="982"/>
        <p:guide pos="4339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85858-95B1-4C74-9FF8-6FDD61110CB7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8E522-0E36-425D-A9D6-3D23992E02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06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02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E6B22297-0D55-4A48-AFA3-0F361520C0A5}"/>
              </a:ext>
            </a:extLst>
          </p:cNvPr>
          <p:cNvSpPr/>
          <p:nvPr userDrawn="1"/>
        </p:nvSpPr>
        <p:spPr>
          <a:xfrm>
            <a:off x="5999206" y="0"/>
            <a:ext cx="6192795" cy="4876674"/>
          </a:xfrm>
          <a:custGeom>
            <a:avLst/>
            <a:gdLst>
              <a:gd name="connsiteX0" fmla="*/ 118280 w 6192795"/>
              <a:gd name="connsiteY0" fmla="*/ 0 h 4876674"/>
              <a:gd name="connsiteX1" fmla="*/ 6192795 w 6192795"/>
              <a:gd name="connsiteY1" fmla="*/ 0 h 4876674"/>
              <a:gd name="connsiteX2" fmla="*/ 6192795 w 6192795"/>
              <a:gd name="connsiteY2" fmla="*/ 4161090 h 4876674"/>
              <a:gd name="connsiteX3" fmla="*/ 6134468 w 6192795"/>
              <a:gd name="connsiteY3" fmla="*/ 4204707 h 4876674"/>
              <a:gd name="connsiteX4" fmla="*/ 3934597 w 6192795"/>
              <a:gd name="connsiteY4" fmla="*/ 4876674 h 4876674"/>
              <a:gd name="connsiteX5" fmla="*/ 0 w 6192795"/>
              <a:gd name="connsiteY5" fmla="*/ 942077 h 4876674"/>
              <a:gd name="connsiteX6" fmla="*/ 79937 w 6192795"/>
              <a:gd name="connsiteY6" fmla="*/ 149119 h 487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92795" h="4876674">
                <a:moveTo>
                  <a:pt x="118280" y="0"/>
                </a:moveTo>
                <a:lnTo>
                  <a:pt x="6192795" y="0"/>
                </a:lnTo>
                <a:lnTo>
                  <a:pt x="6192795" y="4161090"/>
                </a:lnTo>
                <a:lnTo>
                  <a:pt x="6134468" y="4204707"/>
                </a:lnTo>
                <a:cubicBezTo>
                  <a:pt x="5506502" y="4628952"/>
                  <a:pt x="4749479" y="4876674"/>
                  <a:pt x="3934597" y="4876674"/>
                </a:cubicBezTo>
                <a:cubicBezTo>
                  <a:pt x="1761579" y="4876674"/>
                  <a:pt x="0" y="3115095"/>
                  <a:pt x="0" y="942077"/>
                </a:cubicBezTo>
                <a:cubicBezTo>
                  <a:pt x="0" y="670450"/>
                  <a:pt x="27525" y="405251"/>
                  <a:pt x="79937" y="149119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4923B1-FE4D-4F84-8DAB-7C0975B815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0"/>
          <a:stretch>
            <a:fillRect/>
          </a:stretch>
        </p:blipFill>
        <p:spPr>
          <a:xfrm>
            <a:off x="5961105" y="7534"/>
            <a:ext cx="6230895" cy="4584398"/>
          </a:xfrm>
          <a:custGeom>
            <a:avLst/>
            <a:gdLst>
              <a:gd name="connsiteX0" fmla="*/ 92740 w 6230895"/>
              <a:gd name="connsiteY0" fmla="*/ 0 h 4584398"/>
              <a:gd name="connsiteX1" fmla="*/ 6230895 w 6230895"/>
              <a:gd name="connsiteY1" fmla="*/ 0 h 4584398"/>
              <a:gd name="connsiteX2" fmla="*/ 6230895 w 6230895"/>
              <a:gd name="connsiteY2" fmla="*/ 3649066 h 4584398"/>
              <a:gd name="connsiteX3" fmla="*/ 6145520 w 6230895"/>
              <a:gd name="connsiteY3" fmla="*/ 3726661 h 4584398"/>
              <a:gd name="connsiteX4" fmla="*/ 3756217 w 6230895"/>
              <a:gd name="connsiteY4" fmla="*/ 4584398 h 4584398"/>
              <a:gd name="connsiteX5" fmla="*/ 0 w 6230895"/>
              <a:gd name="connsiteY5" fmla="*/ 828181 h 4584398"/>
              <a:gd name="connsiteX6" fmla="*/ 76313 w 6230895"/>
              <a:gd name="connsiteY6" fmla="*/ 71172 h 4584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30895" h="4584398">
                <a:moveTo>
                  <a:pt x="92740" y="0"/>
                </a:moveTo>
                <a:lnTo>
                  <a:pt x="6230895" y="0"/>
                </a:lnTo>
                <a:lnTo>
                  <a:pt x="6230895" y="3649066"/>
                </a:lnTo>
                <a:lnTo>
                  <a:pt x="6145520" y="3726661"/>
                </a:lnTo>
                <a:cubicBezTo>
                  <a:pt x="5496224" y="4262507"/>
                  <a:pt x="4663811" y="4584398"/>
                  <a:pt x="3756217" y="4584398"/>
                </a:cubicBezTo>
                <a:cubicBezTo>
                  <a:pt x="1681716" y="4584398"/>
                  <a:pt x="0" y="2902682"/>
                  <a:pt x="0" y="828181"/>
                </a:cubicBezTo>
                <a:cubicBezTo>
                  <a:pt x="0" y="568868"/>
                  <a:pt x="26277" y="315693"/>
                  <a:pt x="76313" y="71172"/>
                </a:cubicBezTo>
                <a:close/>
              </a:path>
            </a:pathLst>
          </a:cu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556A90D-0448-4BF7-AF13-BBB0CA1D4C9B}"/>
              </a:ext>
            </a:extLst>
          </p:cNvPr>
          <p:cNvPicPr preferRelativeResize="0">
            <a:picLocks/>
          </p:cNvPicPr>
          <p:nvPr userDrawn="1"/>
        </p:nvPicPr>
        <p:blipFill>
          <a:blip r:embed="rId3"/>
          <a:srcRect l="25650" t="3449" b="8925"/>
          <a:stretch>
            <a:fillRect/>
          </a:stretch>
        </p:blipFill>
        <p:spPr>
          <a:xfrm>
            <a:off x="1" y="0"/>
            <a:ext cx="5942055" cy="6858000"/>
          </a:xfrm>
          <a:custGeom>
            <a:avLst/>
            <a:gdLst>
              <a:gd name="connsiteX0" fmla="*/ 0 w 5942055"/>
              <a:gd name="connsiteY0" fmla="*/ 0 h 6858000"/>
              <a:gd name="connsiteX1" fmla="*/ 5942055 w 5942055"/>
              <a:gd name="connsiteY1" fmla="*/ 0 h 6858000"/>
              <a:gd name="connsiteX2" fmla="*/ 5942055 w 5942055"/>
              <a:gd name="connsiteY2" fmla="*/ 6858000 h 6858000"/>
              <a:gd name="connsiteX3" fmla="*/ 0 w 59420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055" h="6858000">
                <a:moveTo>
                  <a:pt x="0" y="0"/>
                </a:moveTo>
                <a:lnTo>
                  <a:pt x="5942055" y="0"/>
                </a:lnTo>
                <a:lnTo>
                  <a:pt x="594205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2812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18FFC00-5E0F-4EE9-9A6B-3924FD2D5C67}"/>
              </a:ext>
            </a:extLst>
          </p:cNvPr>
          <p:cNvCxnSpPr>
            <a:cxnSpLocks/>
          </p:cNvCxnSpPr>
          <p:nvPr userDrawn="1"/>
        </p:nvCxnSpPr>
        <p:spPr>
          <a:xfrm>
            <a:off x="4278808" y="5055310"/>
            <a:ext cx="5609421" cy="12355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98249F6-237D-4464-AC7E-1B6A21338225}"/>
              </a:ext>
            </a:extLst>
          </p:cNvPr>
          <p:cNvSpPr/>
          <p:nvPr userDrawn="1"/>
        </p:nvSpPr>
        <p:spPr>
          <a:xfrm>
            <a:off x="0" y="0"/>
            <a:ext cx="4654950" cy="6858000"/>
          </a:xfrm>
          <a:custGeom>
            <a:avLst/>
            <a:gdLst>
              <a:gd name="connsiteX0" fmla="*/ 0 w 4654950"/>
              <a:gd name="connsiteY0" fmla="*/ 0 h 6858000"/>
              <a:gd name="connsiteX1" fmla="*/ 3032125 w 4654950"/>
              <a:gd name="connsiteY1" fmla="*/ 0 h 6858000"/>
              <a:gd name="connsiteX2" fmla="*/ 3041212 w 4654950"/>
              <a:gd name="connsiteY2" fmla="*/ 7141 h 6858000"/>
              <a:gd name="connsiteX3" fmla="*/ 4654950 w 4654950"/>
              <a:gd name="connsiteY3" fmla="*/ 3429000 h 6858000"/>
              <a:gd name="connsiteX4" fmla="*/ 3041212 w 4654950"/>
              <a:gd name="connsiteY4" fmla="*/ 6850859 h 6858000"/>
              <a:gd name="connsiteX5" fmla="*/ 3032125 w 4654950"/>
              <a:gd name="connsiteY5" fmla="*/ 6858000 h 6858000"/>
              <a:gd name="connsiteX6" fmla="*/ 0 w 465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4950" h="6858000">
                <a:moveTo>
                  <a:pt x="0" y="0"/>
                </a:moveTo>
                <a:lnTo>
                  <a:pt x="3032125" y="0"/>
                </a:lnTo>
                <a:lnTo>
                  <a:pt x="3041212" y="7141"/>
                </a:lnTo>
                <a:cubicBezTo>
                  <a:pt x="4026763" y="820490"/>
                  <a:pt x="4654950" y="2051384"/>
                  <a:pt x="4654950" y="3429000"/>
                </a:cubicBezTo>
                <a:cubicBezTo>
                  <a:pt x="4654950" y="4806616"/>
                  <a:pt x="4026763" y="6037511"/>
                  <a:pt x="3041212" y="6850859"/>
                </a:cubicBezTo>
                <a:lnTo>
                  <a:pt x="303212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59B9512-F273-4056-958F-B9159D5E9E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61" t="29532" r="447"/>
          <a:stretch>
            <a:fillRect/>
          </a:stretch>
        </p:blipFill>
        <p:spPr>
          <a:xfrm>
            <a:off x="0" y="0"/>
            <a:ext cx="4125722" cy="6858000"/>
          </a:xfrm>
          <a:custGeom>
            <a:avLst/>
            <a:gdLst>
              <a:gd name="connsiteX0" fmla="*/ 0 w 4125722"/>
              <a:gd name="connsiteY0" fmla="*/ 0 h 6858000"/>
              <a:gd name="connsiteX1" fmla="*/ 2090481 w 4125722"/>
              <a:gd name="connsiteY1" fmla="*/ 0 h 6858000"/>
              <a:gd name="connsiteX2" fmla="*/ 2245487 w 4125722"/>
              <a:gd name="connsiteY2" fmla="*/ 89126 h 6858000"/>
              <a:gd name="connsiteX3" fmla="*/ 4125722 w 4125722"/>
              <a:gd name="connsiteY3" fmla="*/ 3429000 h 6858000"/>
              <a:gd name="connsiteX4" fmla="*/ 2245487 w 4125722"/>
              <a:gd name="connsiteY4" fmla="*/ 6768874 h 6858000"/>
              <a:gd name="connsiteX5" fmla="*/ 2090481 w 4125722"/>
              <a:gd name="connsiteY5" fmla="*/ 6858000 h 6858000"/>
              <a:gd name="connsiteX6" fmla="*/ 0 w 412572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25722" h="6858000">
                <a:moveTo>
                  <a:pt x="0" y="0"/>
                </a:moveTo>
                <a:lnTo>
                  <a:pt x="2090481" y="0"/>
                </a:lnTo>
                <a:lnTo>
                  <a:pt x="2245487" y="89126"/>
                </a:lnTo>
                <a:cubicBezTo>
                  <a:pt x="3372732" y="774057"/>
                  <a:pt x="4125722" y="2013594"/>
                  <a:pt x="4125722" y="3429000"/>
                </a:cubicBezTo>
                <a:cubicBezTo>
                  <a:pt x="4125722" y="4844407"/>
                  <a:pt x="3372732" y="6083943"/>
                  <a:pt x="2245487" y="6768874"/>
                </a:cubicBezTo>
                <a:lnTo>
                  <a:pt x="209048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AB97993-018D-4E84-9580-A981FFACC154}"/>
              </a:ext>
            </a:extLst>
          </p:cNvPr>
          <p:cNvSpPr/>
          <p:nvPr userDrawn="1"/>
        </p:nvSpPr>
        <p:spPr>
          <a:xfrm>
            <a:off x="0" y="0"/>
            <a:ext cx="4125722" cy="6858000"/>
          </a:xfrm>
          <a:custGeom>
            <a:avLst/>
            <a:gdLst>
              <a:gd name="connsiteX0" fmla="*/ 0 w 4125722"/>
              <a:gd name="connsiteY0" fmla="*/ 0 h 6858000"/>
              <a:gd name="connsiteX1" fmla="*/ 2090481 w 4125722"/>
              <a:gd name="connsiteY1" fmla="*/ 0 h 6858000"/>
              <a:gd name="connsiteX2" fmla="*/ 2245487 w 4125722"/>
              <a:gd name="connsiteY2" fmla="*/ 89126 h 6858000"/>
              <a:gd name="connsiteX3" fmla="*/ 4125722 w 4125722"/>
              <a:gd name="connsiteY3" fmla="*/ 3429000 h 6858000"/>
              <a:gd name="connsiteX4" fmla="*/ 2245487 w 4125722"/>
              <a:gd name="connsiteY4" fmla="*/ 6768874 h 6858000"/>
              <a:gd name="connsiteX5" fmla="*/ 2090481 w 4125722"/>
              <a:gd name="connsiteY5" fmla="*/ 6858000 h 6858000"/>
              <a:gd name="connsiteX6" fmla="*/ 0 w 412572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25722" h="6858000">
                <a:moveTo>
                  <a:pt x="0" y="0"/>
                </a:moveTo>
                <a:lnTo>
                  <a:pt x="2090481" y="0"/>
                </a:lnTo>
                <a:lnTo>
                  <a:pt x="2245487" y="89126"/>
                </a:lnTo>
                <a:cubicBezTo>
                  <a:pt x="3372732" y="774057"/>
                  <a:pt x="4125722" y="2013594"/>
                  <a:pt x="4125722" y="3429000"/>
                </a:cubicBezTo>
                <a:cubicBezTo>
                  <a:pt x="4125722" y="4844407"/>
                  <a:pt x="3372732" y="6083943"/>
                  <a:pt x="2245487" y="6768874"/>
                </a:cubicBezTo>
                <a:lnTo>
                  <a:pt x="2090481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DC0DC5-6A3A-45A4-A1A2-AC6C045377FA}"/>
              </a:ext>
            </a:extLst>
          </p:cNvPr>
          <p:cNvSpPr txBox="1"/>
          <p:nvPr userDrawn="1"/>
        </p:nvSpPr>
        <p:spPr>
          <a:xfrm>
            <a:off x="556904" y="2506700"/>
            <a:ext cx="2051844" cy="12311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sz="80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3B94459-A840-4C1B-9F62-615374F432A5}"/>
              </a:ext>
            </a:extLst>
          </p:cNvPr>
          <p:cNvSpPr/>
          <p:nvPr userDrawn="1"/>
        </p:nvSpPr>
        <p:spPr>
          <a:xfrm>
            <a:off x="4422978" y="2200678"/>
            <a:ext cx="144170" cy="14417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glow rad="177800">
              <a:schemeClr val="accent2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2B179D6-300D-4427-873B-CE164B7248B5}"/>
              </a:ext>
            </a:extLst>
          </p:cNvPr>
          <p:cNvSpPr/>
          <p:nvPr userDrawn="1"/>
        </p:nvSpPr>
        <p:spPr>
          <a:xfrm>
            <a:off x="4278808" y="4989402"/>
            <a:ext cx="144170" cy="14417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glow rad="177800">
              <a:schemeClr val="accent2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F506E39-1498-437F-9160-7711B2C55B4B}"/>
              </a:ext>
            </a:extLst>
          </p:cNvPr>
          <p:cNvCxnSpPr>
            <a:cxnSpLocks/>
          </p:cNvCxnSpPr>
          <p:nvPr userDrawn="1"/>
        </p:nvCxnSpPr>
        <p:spPr>
          <a:xfrm>
            <a:off x="4567148" y="2272763"/>
            <a:ext cx="5321081" cy="11853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4D204982-EE20-47A9-9640-F0A3F98BE50E}"/>
              </a:ext>
            </a:extLst>
          </p:cNvPr>
          <p:cNvSpPr/>
          <p:nvPr userDrawn="1"/>
        </p:nvSpPr>
        <p:spPr>
          <a:xfrm>
            <a:off x="4567148" y="3595040"/>
            <a:ext cx="144170" cy="14417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glow rad="177800">
              <a:schemeClr val="accent2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B8D4760-6E92-49A7-AF5A-6204EEDA8094}"/>
              </a:ext>
            </a:extLst>
          </p:cNvPr>
          <p:cNvCxnSpPr>
            <a:cxnSpLocks/>
          </p:cNvCxnSpPr>
          <p:nvPr userDrawn="1"/>
        </p:nvCxnSpPr>
        <p:spPr>
          <a:xfrm>
            <a:off x="4711318" y="3660948"/>
            <a:ext cx="5176911" cy="11532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BA2448C-185E-4E63-A43C-524B41C261CA}"/>
              </a:ext>
            </a:extLst>
          </p:cNvPr>
          <p:cNvSpPr txBox="1"/>
          <p:nvPr/>
        </p:nvSpPr>
        <p:spPr>
          <a:xfrm>
            <a:off x="7569152" y="1404467"/>
            <a:ext cx="85599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6000" i="1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</a:rPr>
              <a:t>01</a:t>
            </a:r>
            <a:endParaRPr lang="zh-CN" altLang="en-US" sz="6000" i="1" dirty="0">
              <a:ln>
                <a:noFill/>
              </a:ln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C2C6442-C21C-4AD3-9212-30CD5D7F9020}"/>
              </a:ext>
            </a:extLst>
          </p:cNvPr>
          <p:cNvSpPr txBox="1"/>
          <p:nvPr/>
        </p:nvSpPr>
        <p:spPr>
          <a:xfrm>
            <a:off x="7569152" y="2793059"/>
            <a:ext cx="85599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6000" i="1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</a:rPr>
              <a:t>02</a:t>
            </a:r>
            <a:endParaRPr lang="zh-CN" altLang="en-US" sz="6000" i="1" dirty="0">
              <a:ln>
                <a:noFill/>
              </a:ln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F7479F-B906-4F26-B634-B45BA8496C45}"/>
              </a:ext>
            </a:extLst>
          </p:cNvPr>
          <p:cNvSpPr txBox="1"/>
          <p:nvPr/>
        </p:nvSpPr>
        <p:spPr>
          <a:xfrm>
            <a:off x="7569152" y="4181651"/>
            <a:ext cx="85599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6000" i="1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</a:rPr>
              <a:t>03</a:t>
            </a:r>
            <a:endParaRPr lang="zh-CN" altLang="en-US" sz="6000" i="1" dirty="0">
              <a:ln>
                <a:noFill/>
              </a:ln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40897F1-A80C-42C9-9199-6450D1750C65}"/>
              </a:ext>
            </a:extLst>
          </p:cNvPr>
          <p:cNvSpPr/>
          <p:nvPr userDrawn="1"/>
        </p:nvSpPr>
        <p:spPr>
          <a:xfrm>
            <a:off x="9068695" y="0"/>
            <a:ext cx="3123305" cy="1144999"/>
          </a:xfrm>
          <a:custGeom>
            <a:avLst/>
            <a:gdLst>
              <a:gd name="connsiteX0" fmla="*/ 0 w 3123305"/>
              <a:gd name="connsiteY0" fmla="*/ 0 h 1144999"/>
              <a:gd name="connsiteX1" fmla="*/ 560396 w 3123305"/>
              <a:gd name="connsiteY1" fmla="*/ 0 h 1144999"/>
              <a:gd name="connsiteX2" fmla="*/ 578073 w 3123305"/>
              <a:gd name="connsiteY2" fmla="*/ 19449 h 1144999"/>
              <a:gd name="connsiteX3" fmla="*/ 2257233 w 3123305"/>
              <a:gd name="connsiteY3" fmla="*/ 714980 h 1144999"/>
              <a:gd name="connsiteX4" fmla="*/ 2963394 w 3123305"/>
              <a:gd name="connsiteY4" fmla="*/ 608219 h 1144999"/>
              <a:gd name="connsiteX5" fmla="*/ 3123305 w 3123305"/>
              <a:gd name="connsiteY5" fmla="*/ 549691 h 1144999"/>
              <a:gd name="connsiteX6" fmla="*/ 3123305 w 3123305"/>
              <a:gd name="connsiteY6" fmla="*/ 1007180 h 1144999"/>
              <a:gd name="connsiteX7" fmla="*/ 3091269 w 3123305"/>
              <a:gd name="connsiteY7" fmla="*/ 1018905 h 1144999"/>
              <a:gd name="connsiteX8" fmla="*/ 2257234 w 3123305"/>
              <a:gd name="connsiteY8" fmla="*/ 1144999 h 1144999"/>
              <a:gd name="connsiteX9" fmla="*/ 92983 w 3123305"/>
              <a:gd name="connsiteY9" fmla="*/ 124345 h 1144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23305" h="1144999">
                <a:moveTo>
                  <a:pt x="0" y="0"/>
                </a:moveTo>
                <a:lnTo>
                  <a:pt x="560396" y="0"/>
                </a:lnTo>
                <a:lnTo>
                  <a:pt x="578073" y="19449"/>
                </a:lnTo>
                <a:cubicBezTo>
                  <a:pt x="1007807" y="449184"/>
                  <a:pt x="1601480" y="714980"/>
                  <a:pt x="2257233" y="714980"/>
                </a:cubicBezTo>
                <a:cubicBezTo>
                  <a:pt x="2503140" y="714980"/>
                  <a:pt x="2740318" y="677603"/>
                  <a:pt x="2963394" y="608219"/>
                </a:cubicBezTo>
                <a:lnTo>
                  <a:pt x="3123305" y="549691"/>
                </a:lnTo>
                <a:lnTo>
                  <a:pt x="3123305" y="1007180"/>
                </a:lnTo>
                <a:lnTo>
                  <a:pt x="3091269" y="1018905"/>
                </a:lnTo>
                <a:cubicBezTo>
                  <a:pt x="2827798" y="1100853"/>
                  <a:pt x="2547671" y="1144999"/>
                  <a:pt x="2257234" y="1144999"/>
                </a:cubicBezTo>
                <a:cubicBezTo>
                  <a:pt x="1385922" y="1144999"/>
                  <a:pt x="607408" y="747684"/>
                  <a:pt x="92983" y="12434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9F9C8A-CE5F-44AB-8D42-1ADE8CB0F7A5}"/>
              </a:ext>
            </a:extLst>
          </p:cNvPr>
          <p:cNvSpPr/>
          <p:nvPr userDrawn="1"/>
        </p:nvSpPr>
        <p:spPr>
          <a:xfrm>
            <a:off x="0" y="4878222"/>
            <a:ext cx="12192000" cy="1979778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E36B7A9-81BF-4483-B550-8D9565CC3C3A}"/>
              </a:ext>
            </a:extLst>
          </p:cNvPr>
          <p:cNvCxnSpPr>
            <a:cxnSpLocks/>
          </p:cNvCxnSpPr>
          <p:nvPr userDrawn="1"/>
        </p:nvCxnSpPr>
        <p:spPr>
          <a:xfrm>
            <a:off x="7423835" y="2284616"/>
            <a:ext cx="2464394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DE07D9F-4FEB-4B80-BE2E-54D9EA4E236F}"/>
              </a:ext>
            </a:extLst>
          </p:cNvPr>
          <p:cNvCxnSpPr>
            <a:cxnSpLocks/>
          </p:cNvCxnSpPr>
          <p:nvPr userDrawn="1"/>
        </p:nvCxnSpPr>
        <p:spPr>
          <a:xfrm>
            <a:off x="7423835" y="3661390"/>
            <a:ext cx="2464394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7D68150-4408-4723-9D3E-960C75C1D4AA}"/>
              </a:ext>
            </a:extLst>
          </p:cNvPr>
          <p:cNvCxnSpPr>
            <a:cxnSpLocks/>
          </p:cNvCxnSpPr>
          <p:nvPr userDrawn="1"/>
        </p:nvCxnSpPr>
        <p:spPr>
          <a:xfrm>
            <a:off x="7423835" y="5052460"/>
            <a:ext cx="2464394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49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A8D27CC8-E4BE-4393-9F77-CCB0C3F1D7EE}"/>
              </a:ext>
            </a:extLst>
          </p:cNvPr>
          <p:cNvSpPr/>
          <p:nvPr userDrawn="1"/>
        </p:nvSpPr>
        <p:spPr>
          <a:xfrm>
            <a:off x="5006898" y="1982610"/>
            <a:ext cx="6043961" cy="2892781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DA67DDE-084A-4746-AA5B-2809989F33A4}"/>
              </a:ext>
            </a:extLst>
          </p:cNvPr>
          <p:cNvSpPr/>
          <p:nvPr userDrawn="1"/>
        </p:nvSpPr>
        <p:spPr>
          <a:xfrm>
            <a:off x="994318" y="936703"/>
            <a:ext cx="4984594" cy="4984594"/>
          </a:xfrm>
          <a:prstGeom prst="ellipse">
            <a:avLst/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C7C9AEF-A60C-44B7-BA25-723DFFF865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0" t="1980" r="7097"/>
          <a:stretch/>
        </p:blipFill>
        <p:spPr>
          <a:xfrm>
            <a:off x="1251482" y="1204454"/>
            <a:ext cx="4470266" cy="4459677"/>
          </a:xfrm>
          <a:custGeom>
            <a:avLst/>
            <a:gdLst>
              <a:gd name="connsiteX0" fmla="*/ 2025472 w 4470266"/>
              <a:gd name="connsiteY0" fmla="*/ 0 h 4459677"/>
              <a:gd name="connsiteX1" fmla="*/ 2444795 w 4470266"/>
              <a:gd name="connsiteY1" fmla="*/ 0 h 4459677"/>
              <a:gd name="connsiteX2" fmla="*/ 2463663 w 4470266"/>
              <a:gd name="connsiteY2" fmla="*/ 953 h 4459677"/>
              <a:gd name="connsiteX3" fmla="*/ 4470266 w 4470266"/>
              <a:gd name="connsiteY3" fmla="*/ 2224546 h 4459677"/>
              <a:gd name="connsiteX4" fmla="*/ 2463663 w 4470266"/>
              <a:gd name="connsiteY4" fmla="*/ 4448139 h 4459677"/>
              <a:gd name="connsiteX5" fmla="*/ 2235173 w 4470266"/>
              <a:gd name="connsiteY5" fmla="*/ 4459677 h 4459677"/>
              <a:gd name="connsiteX6" fmla="*/ 2235094 w 4470266"/>
              <a:gd name="connsiteY6" fmla="*/ 4459677 h 4459677"/>
              <a:gd name="connsiteX7" fmla="*/ 2006604 w 4470266"/>
              <a:gd name="connsiteY7" fmla="*/ 4448139 h 4459677"/>
              <a:gd name="connsiteX8" fmla="*/ 0 w 4470266"/>
              <a:gd name="connsiteY8" fmla="*/ 2224546 h 4459677"/>
              <a:gd name="connsiteX9" fmla="*/ 2006604 w 4470266"/>
              <a:gd name="connsiteY9" fmla="*/ 953 h 4459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70266" h="4459677">
                <a:moveTo>
                  <a:pt x="2025472" y="0"/>
                </a:moveTo>
                <a:lnTo>
                  <a:pt x="2444795" y="0"/>
                </a:lnTo>
                <a:lnTo>
                  <a:pt x="2463663" y="953"/>
                </a:lnTo>
                <a:cubicBezTo>
                  <a:pt x="3590742" y="115414"/>
                  <a:pt x="4470266" y="1067268"/>
                  <a:pt x="4470266" y="2224546"/>
                </a:cubicBezTo>
                <a:cubicBezTo>
                  <a:pt x="4470266" y="3381824"/>
                  <a:pt x="3590742" y="4333678"/>
                  <a:pt x="2463663" y="4448139"/>
                </a:cubicBezTo>
                <a:lnTo>
                  <a:pt x="2235173" y="4459677"/>
                </a:lnTo>
                <a:lnTo>
                  <a:pt x="2235094" y="4459677"/>
                </a:lnTo>
                <a:lnTo>
                  <a:pt x="2006604" y="4448139"/>
                </a:lnTo>
                <a:cubicBezTo>
                  <a:pt x="879524" y="4333678"/>
                  <a:pt x="0" y="3381824"/>
                  <a:pt x="0" y="2224546"/>
                </a:cubicBezTo>
                <a:cubicBezTo>
                  <a:pt x="0" y="1067268"/>
                  <a:pt x="879524" y="115414"/>
                  <a:pt x="2006604" y="953"/>
                </a:cubicBezTo>
                <a:close/>
              </a:path>
            </a:pathLst>
          </a:cu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1B6BB097-09B2-4B28-9E93-3EF181CAF673}"/>
              </a:ext>
            </a:extLst>
          </p:cNvPr>
          <p:cNvSpPr/>
          <p:nvPr userDrawn="1"/>
        </p:nvSpPr>
        <p:spPr>
          <a:xfrm>
            <a:off x="1251482" y="1193867"/>
            <a:ext cx="4470266" cy="4470266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547CE4C-1376-4701-AF5C-7EBB0712A5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8940" b="8940"/>
          <a:stretch>
            <a:fillRect/>
          </a:stretch>
        </p:blipFill>
        <p:spPr>
          <a:xfrm>
            <a:off x="1832518" y="0"/>
            <a:ext cx="8526964" cy="6858000"/>
          </a:xfrm>
          <a:custGeom>
            <a:avLst/>
            <a:gdLst>
              <a:gd name="connsiteX0" fmla="*/ 0 w 8526964"/>
              <a:gd name="connsiteY0" fmla="*/ 0 h 6858000"/>
              <a:gd name="connsiteX1" fmla="*/ 8526964 w 8526964"/>
              <a:gd name="connsiteY1" fmla="*/ 0 h 6858000"/>
              <a:gd name="connsiteX2" fmla="*/ 8526964 w 8526964"/>
              <a:gd name="connsiteY2" fmla="*/ 6858000 h 6858000"/>
              <a:gd name="connsiteX3" fmla="*/ 0 w 852696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26964" h="6858000">
                <a:moveTo>
                  <a:pt x="0" y="0"/>
                </a:moveTo>
                <a:lnTo>
                  <a:pt x="8526964" y="0"/>
                </a:lnTo>
                <a:lnTo>
                  <a:pt x="852696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187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C52719B-AD3E-42F8-9A4F-6FAF5B45DF7B}"/>
              </a:ext>
            </a:extLst>
          </p:cNvPr>
          <p:cNvSpPr txBox="1"/>
          <p:nvPr userDrawn="1"/>
        </p:nvSpPr>
        <p:spPr>
          <a:xfrm>
            <a:off x="554567" y="790311"/>
            <a:ext cx="849592" cy="306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zh-CN" sz="19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“</a:t>
            </a:r>
            <a:endParaRPr lang="zh-CN" altLang="en-US" sz="199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657D6B-6023-402B-A6A2-BDD42DE57DA9}"/>
              </a:ext>
            </a:extLst>
          </p:cNvPr>
          <p:cNvCxnSpPr>
            <a:cxnSpLocks/>
          </p:cNvCxnSpPr>
          <p:nvPr userDrawn="1"/>
        </p:nvCxnSpPr>
        <p:spPr>
          <a:xfrm>
            <a:off x="660400" y="1130300"/>
            <a:ext cx="10858500" cy="0"/>
          </a:xfrm>
          <a:prstGeom prst="line">
            <a:avLst/>
          </a:prstGeom>
          <a:ln w="952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852B5FA8-52DC-4439-90C0-759BEC10C33F}"/>
              </a:ext>
            </a:extLst>
          </p:cNvPr>
          <p:cNvSpPr/>
          <p:nvPr userDrawn="1"/>
        </p:nvSpPr>
        <p:spPr>
          <a:xfrm>
            <a:off x="6750139" y="1249018"/>
            <a:ext cx="4489666" cy="44896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45CABF-CEDA-4978-8FE6-BC5083DC517E}"/>
              </a:ext>
            </a:extLst>
          </p:cNvPr>
          <p:cNvCxnSpPr>
            <a:cxnSpLocks/>
          </p:cNvCxnSpPr>
          <p:nvPr userDrawn="1"/>
        </p:nvCxnSpPr>
        <p:spPr>
          <a:xfrm>
            <a:off x="1428055" y="2599909"/>
            <a:ext cx="749300" cy="0"/>
          </a:xfrm>
          <a:prstGeom prst="line">
            <a:avLst/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图片占位符 22">
            <a:extLst>
              <a:ext uri="{FF2B5EF4-FFF2-40B4-BE49-F238E27FC236}">
                <a16:creationId xmlns:a16="http://schemas.microsoft.com/office/drawing/2014/main" id="{E19CBC41-36BA-466B-87C1-D5CF24A3B3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33568" y="1544867"/>
            <a:ext cx="3922808" cy="3910387"/>
          </a:xfrm>
          <a:custGeom>
            <a:avLst/>
            <a:gdLst>
              <a:gd name="connsiteX0" fmla="*/ 1745841 w 3922808"/>
              <a:gd name="connsiteY0" fmla="*/ 0 h 3910387"/>
              <a:gd name="connsiteX1" fmla="*/ 2176967 w 3922808"/>
              <a:gd name="connsiteY1" fmla="*/ 0 h 3910387"/>
              <a:gd name="connsiteX2" fmla="*/ 2356695 w 3922808"/>
              <a:gd name="connsiteY2" fmla="*/ 27430 h 3910387"/>
              <a:gd name="connsiteX3" fmla="*/ 3922808 w 3922808"/>
              <a:gd name="connsiteY3" fmla="*/ 1948985 h 3910387"/>
              <a:gd name="connsiteX4" fmla="*/ 2161946 w 3922808"/>
              <a:gd name="connsiteY4" fmla="*/ 3900263 h 3910387"/>
              <a:gd name="connsiteX5" fmla="*/ 1961443 w 3922808"/>
              <a:gd name="connsiteY5" fmla="*/ 3910387 h 3910387"/>
              <a:gd name="connsiteX6" fmla="*/ 1961365 w 3922808"/>
              <a:gd name="connsiteY6" fmla="*/ 3910387 h 3910387"/>
              <a:gd name="connsiteX7" fmla="*/ 1760862 w 3922808"/>
              <a:gd name="connsiteY7" fmla="*/ 3900263 h 3910387"/>
              <a:gd name="connsiteX8" fmla="*/ 0 w 3922808"/>
              <a:gd name="connsiteY8" fmla="*/ 1948985 h 3910387"/>
              <a:gd name="connsiteX9" fmla="*/ 1566113 w 3922808"/>
              <a:gd name="connsiteY9" fmla="*/ 27430 h 391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22808" h="3910387">
                <a:moveTo>
                  <a:pt x="1745841" y="0"/>
                </a:moveTo>
                <a:lnTo>
                  <a:pt x="2176967" y="0"/>
                </a:lnTo>
                <a:lnTo>
                  <a:pt x="2356695" y="27430"/>
                </a:lnTo>
                <a:cubicBezTo>
                  <a:pt x="3250474" y="210323"/>
                  <a:pt x="3922808" y="1001138"/>
                  <a:pt x="3922808" y="1948985"/>
                </a:cubicBezTo>
                <a:cubicBezTo>
                  <a:pt x="3922808" y="2964536"/>
                  <a:pt x="3150996" y="3799819"/>
                  <a:pt x="2161946" y="3900263"/>
                </a:cubicBezTo>
                <a:lnTo>
                  <a:pt x="1961443" y="3910387"/>
                </a:lnTo>
                <a:lnTo>
                  <a:pt x="1961365" y="3910387"/>
                </a:lnTo>
                <a:lnTo>
                  <a:pt x="1760862" y="3900263"/>
                </a:lnTo>
                <a:cubicBezTo>
                  <a:pt x="771812" y="3799819"/>
                  <a:pt x="0" y="2964536"/>
                  <a:pt x="0" y="1948985"/>
                </a:cubicBezTo>
                <a:cubicBezTo>
                  <a:pt x="0" y="1001138"/>
                  <a:pt x="672334" y="210323"/>
                  <a:pt x="1566113" y="274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zh-CN" altLang="en-US" dirty="0"/>
              <a:t>点击此处插入图片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4B3364-05BA-4C2F-AD6D-A2D7CDE40522}"/>
              </a:ext>
            </a:extLst>
          </p:cNvPr>
          <p:cNvSpPr txBox="1"/>
          <p:nvPr userDrawn="1"/>
        </p:nvSpPr>
        <p:spPr>
          <a:xfrm>
            <a:off x="6089650" y="4437699"/>
            <a:ext cx="849592" cy="306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zh-CN" sz="19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”</a:t>
            </a:r>
            <a:endParaRPr lang="zh-CN" altLang="en-US" sz="199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6D88DB34-9F79-4624-8348-5D366A8AC2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530226"/>
            <a:ext cx="4351337" cy="5540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zh-CN" altLang="en-US" sz="36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F0860537-4937-4C88-BE40-F90C2DBE14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5955" y="2000155"/>
            <a:ext cx="3231654" cy="3877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 marL="0" indent="0">
              <a:buNone/>
              <a:defRPr lang="zh-CN" altLang="en-US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ea"/>
                <a:ea typeface="+mj-ea"/>
              </a:defRPr>
            </a:lvl1pPr>
          </a:lstStyle>
          <a:p>
            <a:pPr marL="0" lvl="0"/>
            <a:r>
              <a:rPr lang="zh-CN" altLang="en-US" dirty="0"/>
              <a:t>单击此处编辑小标题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AA4BE42-0DE1-4056-ADD6-2C4D55F4CAB8}"/>
              </a:ext>
            </a:extLst>
          </p:cNvPr>
          <p:cNvCxnSpPr>
            <a:cxnSpLocks/>
          </p:cNvCxnSpPr>
          <p:nvPr userDrawn="1"/>
        </p:nvCxnSpPr>
        <p:spPr>
          <a:xfrm>
            <a:off x="660400" y="1130300"/>
            <a:ext cx="7493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0F5547AB-8A20-42EC-BF91-F197F413B4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8055" y="2698750"/>
            <a:ext cx="4572000" cy="243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5747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图片占位符 29">
            <a:extLst>
              <a:ext uri="{FF2B5EF4-FFF2-40B4-BE49-F238E27FC236}">
                <a16:creationId xmlns:a16="http://schemas.microsoft.com/office/drawing/2014/main" id="{B7CD0730-5E46-4513-AF62-4C9C91F01F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4835" y="1786717"/>
            <a:ext cx="2662238" cy="17784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31" name="图片占位符 30">
            <a:extLst>
              <a:ext uri="{FF2B5EF4-FFF2-40B4-BE49-F238E27FC236}">
                <a16:creationId xmlns:a16="http://schemas.microsoft.com/office/drawing/2014/main" id="{48BBA798-E9B9-48A2-9258-B443AB08B5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51495" y="3562931"/>
            <a:ext cx="2634076" cy="17784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32" name="图片占位符 31">
            <a:extLst>
              <a:ext uri="{FF2B5EF4-FFF2-40B4-BE49-F238E27FC236}">
                <a16:creationId xmlns:a16="http://schemas.microsoft.com/office/drawing/2014/main" id="{01A59A96-221E-45CC-B5BA-209F3AC83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1071" y="1786717"/>
            <a:ext cx="2662238" cy="17784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33" name="图片占位符 32">
            <a:extLst>
              <a:ext uri="{FF2B5EF4-FFF2-40B4-BE49-F238E27FC236}">
                <a16:creationId xmlns:a16="http://schemas.microsoft.com/office/drawing/2014/main" id="{AE0B532B-2F18-4BBB-A1C9-816E59B88A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49855" y="3562584"/>
            <a:ext cx="2649828" cy="177696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59F1E8-FA64-4B67-A385-480CF42E7BA8}"/>
              </a:ext>
            </a:extLst>
          </p:cNvPr>
          <p:cNvSpPr/>
          <p:nvPr userDrawn="1"/>
        </p:nvSpPr>
        <p:spPr>
          <a:xfrm>
            <a:off x="6090499" y="3565065"/>
            <a:ext cx="2665186" cy="177696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A5727B-6B68-4488-8341-3572D2745CCE}"/>
              </a:ext>
            </a:extLst>
          </p:cNvPr>
          <p:cNvSpPr/>
          <p:nvPr userDrawn="1"/>
        </p:nvSpPr>
        <p:spPr>
          <a:xfrm>
            <a:off x="3437216" y="1786717"/>
            <a:ext cx="2665186" cy="177696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F63413-8F88-4953-AF9F-A898F8156FD1}"/>
              </a:ext>
            </a:extLst>
          </p:cNvPr>
          <p:cNvSpPr/>
          <p:nvPr userDrawn="1"/>
        </p:nvSpPr>
        <p:spPr>
          <a:xfrm>
            <a:off x="8741979" y="1786717"/>
            <a:ext cx="2665186" cy="177696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56A137-2C0F-4E28-8C4B-28C5930B04FA}"/>
              </a:ext>
            </a:extLst>
          </p:cNvPr>
          <p:cNvSpPr/>
          <p:nvPr userDrawn="1"/>
        </p:nvSpPr>
        <p:spPr>
          <a:xfrm>
            <a:off x="788772" y="3562931"/>
            <a:ext cx="2665186" cy="177696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B2430ED-FBE0-4101-B99B-D4DB408DA119}"/>
              </a:ext>
            </a:extLst>
          </p:cNvPr>
          <p:cNvCxnSpPr>
            <a:cxnSpLocks/>
          </p:cNvCxnSpPr>
          <p:nvPr userDrawn="1"/>
        </p:nvCxnSpPr>
        <p:spPr>
          <a:xfrm>
            <a:off x="660400" y="1130300"/>
            <a:ext cx="10858500" cy="0"/>
          </a:xfrm>
          <a:prstGeom prst="line">
            <a:avLst/>
          </a:prstGeom>
          <a:ln w="952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94ECE06-ABBD-4D55-8793-6730D44DAE7D}"/>
              </a:ext>
            </a:extLst>
          </p:cNvPr>
          <p:cNvCxnSpPr>
            <a:cxnSpLocks/>
          </p:cNvCxnSpPr>
          <p:nvPr userDrawn="1"/>
        </p:nvCxnSpPr>
        <p:spPr>
          <a:xfrm>
            <a:off x="660400" y="1130300"/>
            <a:ext cx="7493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97B6B4D-DE8D-40B8-AD97-EC64744F3394}"/>
              </a:ext>
            </a:extLst>
          </p:cNvPr>
          <p:cNvCxnSpPr>
            <a:cxnSpLocks/>
          </p:cNvCxnSpPr>
          <p:nvPr userDrawn="1"/>
        </p:nvCxnSpPr>
        <p:spPr>
          <a:xfrm>
            <a:off x="1126828" y="4347182"/>
            <a:ext cx="198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A117B61-A0F3-46EF-9C14-2B2D72E549C5}"/>
              </a:ext>
            </a:extLst>
          </p:cNvPr>
          <p:cNvCxnSpPr>
            <a:cxnSpLocks/>
          </p:cNvCxnSpPr>
          <p:nvPr userDrawn="1"/>
        </p:nvCxnSpPr>
        <p:spPr>
          <a:xfrm>
            <a:off x="6432492" y="4347182"/>
            <a:ext cx="198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3B9EB6D-1BF7-482C-9A23-A2B45A76E452}"/>
              </a:ext>
            </a:extLst>
          </p:cNvPr>
          <p:cNvCxnSpPr>
            <a:cxnSpLocks/>
          </p:cNvCxnSpPr>
          <p:nvPr userDrawn="1"/>
        </p:nvCxnSpPr>
        <p:spPr>
          <a:xfrm>
            <a:off x="3779209" y="2570223"/>
            <a:ext cx="19812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7E45B07-70FF-4B71-92B3-70F8F919C9CA}"/>
              </a:ext>
            </a:extLst>
          </p:cNvPr>
          <p:cNvCxnSpPr>
            <a:cxnSpLocks/>
          </p:cNvCxnSpPr>
          <p:nvPr userDrawn="1"/>
        </p:nvCxnSpPr>
        <p:spPr>
          <a:xfrm>
            <a:off x="9083972" y="2570223"/>
            <a:ext cx="19812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47486607-9A85-4577-9766-5408ACDF45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530226"/>
            <a:ext cx="4351337" cy="5540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zh-CN" altLang="en-US" sz="36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CA884F4-BF74-4C6D-8DA8-783FE65C64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8700" r="6590" b="27064"/>
          <a:stretch>
            <a:fillRect/>
          </a:stretch>
        </p:blipFill>
        <p:spPr>
          <a:xfrm>
            <a:off x="0" y="5078680"/>
            <a:ext cx="12192000" cy="1779320"/>
          </a:xfrm>
          <a:custGeom>
            <a:avLst/>
            <a:gdLst>
              <a:gd name="connsiteX0" fmla="*/ 0 w 12192000"/>
              <a:gd name="connsiteY0" fmla="*/ 0 h 1779320"/>
              <a:gd name="connsiteX1" fmla="*/ 12192000 w 12192000"/>
              <a:gd name="connsiteY1" fmla="*/ 0 h 1779320"/>
              <a:gd name="connsiteX2" fmla="*/ 12192000 w 12192000"/>
              <a:gd name="connsiteY2" fmla="*/ 1779320 h 1779320"/>
              <a:gd name="connsiteX3" fmla="*/ 0 w 12192000"/>
              <a:gd name="connsiteY3" fmla="*/ 1779320 h 1779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779320">
                <a:moveTo>
                  <a:pt x="0" y="0"/>
                </a:moveTo>
                <a:lnTo>
                  <a:pt x="12192000" y="0"/>
                </a:lnTo>
                <a:lnTo>
                  <a:pt x="12192000" y="1779320"/>
                </a:lnTo>
                <a:lnTo>
                  <a:pt x="0" y="1779320"/>
                </a:lnTo>
                <a:close/>
              </a:path>
            </a:pathLst>
          </a:custGeom>
        </p:spPr>
      </p:pic>
      <p:sp>
        <p:nvSpPr>
          <p:cNvPr id="8" name="文本占位符 7">
            <a:extLst>
              <a:ext uri="{FF2B5EF4-FFF2-40B4-BE49-F238E27FC236}">
                <a16:creationId xmlns:a16="http://schemas.microsoft.com/office/drawing/2014/main" id="{715BC66D-521A-46F5-870C-07C27F6924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67" y="3836988"/>
            <a:ext cx="2048197" cy="3640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zh-CN" altLang="en-US" dirty="0"/>
              <a:t>图片小标题</a:t>
            </a:r>
          </a:p>
        </p:txBody>
      </p:sp>
      <p:sp>
        <p:nvSpPr>
          <p:cNvPr id="35" name="文本占位符 34">
            <a:extLst>
              <a:ext uri="{FF2B5EF4-FFF2-40B4-BE49-F238E27FC236}">
                <a16:creationId xmlns:a16="http://schemas.microsoft.com/office/drawing/2014/main" id="{544F4008-E2AD-47F6-8A3E-8469521262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8994" y="3836988"/>
            <a:ext cx="2048197" cy="3640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zh-CN" altLang="en-US" dirty="0"/>
              <a:t>图片小标题</a:t>
            </a:r>
          </a:p>
        </p:txBody>
      </p: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8337D390-BE50-468A-ABC9-26A305D129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45711" y="2064879"/>
            <a:ext cx="2048197" cy="3640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zh-CN" altLang="en-US" dirty="0"/>
              <a:t>图片小标题</a:t>
            </a:r>
          </a:p>
        </p:txBody>
      </p:sp>
      <p:sp>
        <p:nvSpPr>
          <p:cNvPr id="39" name="文本占位符 38">
            <a:extLst>
              <a:ext uri="{FF2B5EF4-FFF2-40B4-BE49-F238E27FC236}">
                <a16:creationId xmlns:a16="http://schemas.microsoft.com/office/drawing/2014/main" id="{430F98A1-8680-4B4C-9345-68E1B965A3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0474" y="2064879"/>
            <a:ext cx="2048197" cy="3640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zh-CN" altLang="en-US" dirty="0"/>
              <a:t>图片小标题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BF486B57-6E43-40E2-AE50-D538FE6C7D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86451" y="4429952"/>
            <a:ext cx="2069828" cy="79491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5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724A3688-181E-499A-86EF-F4B58BB626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88178" y="4429952"/>
            <a:ext cx="2069828" cy="79491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5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1" name="文本占位符 40">
            <a:extLst>
              <a:ext uri="{FF2B5EF4-FFF2-40B4-BE49-F238E27FC236}">
                <a16:creationId xmlns:a16="http://schemas.microsoft.com/office/drawing/2014/main" id="{E32000E8-1971-4635-9D34-C7253E2C0D3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4895" y="2621268"/>
            <a:ext cx="2069828" cy="79491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5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2" name="文本占位符 41">
            <a:extLst>
              <a:ext uri="{FF2B5EF4-FFF2-40B4-BE49-F238E27FC236}">
                <a16:creationId xmlns:a16="http://schemas.microsoft.com/office/drawing/2014/main" id="{10D7F6CA-FB09-45F9-93C6-B33EBC1939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9658" y="2621268"/>
            <a:ext cx="2069828" cy="79491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5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  <p:extLst>
      <p:ext uri="{BB962C8B-B14F-4D97-AF65-F5344CB8AC3E}">
        <p14:creationId xmlns:p14="http://schemas.microsoft.com/office/powerpoint/2010/main" val="200571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图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4F29A843-0D6E-4C3E-9767-EBBE4EF0D2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6063" y="1574803"/>
            <a:ext cx="1949450" cy="1949937"/>
          </a:xfrm>
          <a:custGeom>
            <a:avLst/>
            <a:gdLst>
              <a:gd name="connsiteX0" fmla="*/ 343248 w 1949450"/>
              <a:gd name="connsiteY0" fmla="*/ 0 h 1949937"/>
              <a:gd name="connsiteX1" fmla="*/ 1949450 w 1949450"/>
              <a:gd name="connsiteY1" fmla="*/ 0 h 1949937"/>
              <a:gd name="connsiteX2" fmla="*/ 1949450 w 1949450"/>
              <a:gd name="connsiteY2" fmla="*/ 1949937 h 1949937"/>
              <a:gd name="connsiteX3" fmla="*/ 0 w 1949450"/>
              <a:gd name="connsiteY3" fmla="*/ 1949937 h 1949937"/>
              <a:gd name="connsiteX4" fmla="*/ 0 w 1949450"/>
              <a:gd name="connsiteY4" fmla="*/ 343248 h 1949937"/>
              <a:gd name="connsiteX5" fmla="*/ 6493 w 1949450"/>
              <a:gd name="connsiteY5" fmla="*/ 278842 h 1949937"/>
              <a:gd name="connsiteX6" fmla="*/ 278842 w 1949450"/>
              <a:gd name="connsiteY6" fmla="*/ 6493 h 194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9450" h="1949937">
                <a:moveTo>
                  <a:pt x="343248" y="0"/>
                </a:moveTo>
                <a:lnTo>
                  <a:pt x="1949450" y="0"/>
                </a:lnTo>
                <a:lnTo>
                  <a:pt x="1949450" y="1949937"/>
                </a:lnTo>
                <a:lnTo>
                  <a:pt x="0" y="1949937"/>
                </a:lnTo>
                <a:lnTo>
                  <a:pt x="0" y="343248"/>
                </a:lnTo>
                <a:lnTo>
                  <a:pt x="6493" y="278842"/>
                </a:lnTo>
                <a:cubicBezTo>
                  <a:pt x="34466" y="142139"/>
                  <a:pt x="142139" y="34466"/>
                  <a:pt x="278842" y="649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44A1AC0C-903B-4780-A15A-D8C901988C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7106" y="1574803"/>
            <a:ext cx="1949450" cy="1949937"/>
          </a:xfrm>
          <a:custGeom>
            <a:avLst/>
            <a:gdLst>
              <a:gd name="connsiteX0" fmla="*/ 0 w 1949450"/>
              <a:gd name="connsiteY0" fmla="*/ 0 h 1949937"/>
              <a:gd name="connsiteX1" fmla="*/ 1605585 w 1949450"/>
              <a:gd name="connsiteY1" fmla="*/ 0 h 1949937"/>
              <a:gd name="connsiteX2" fmla="*/ 1669991 w 1949450"/>
              <a:gd name="connsiteY2" fmla="*/ 6493 h 1949937"/>
              <a:gd name="connsiteX3" fmla="*/ 1949450 w 1949450"/>
              <a:gd name="connsiteY3" fmla="*/ 349378 h 1949937"/>
              <a:gd name="connsiteX4" fmla="*/ 1949450 w 1949450"/>
              <a:gd name="connsiteY4" fmla="*/ 1949937 h 1949937"/>
              <a:gd name="connsiteX5" fmla="*/ 0 w 1949450"/>
              <a:gd name="connsiteY5" fmla="*/ 1949937 h 194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9450" h="1949937">
                <a:moveTo>
                  <a:pt x="0" y="0"/>
                </a:moveTo>
                <a:lnTo>
                  <a:pt x="1605585" y="0"/>
                </a:lnTo>
                <a:lnTo>
                  <a:pt x="1669991" y="6493"/>
                </a:lnTo>
                <a:cubicBezTo>
                  <a:pt x="1829478" y="39129"/>
                  <a:pt x="1949450" y="180243"/>
                  <a:pt x="1949450" y="349378"/>
                </a:cubicBezTo>
                <a:lnTo>
                  <a:pt x="1949450" y="1949937"/>
                </a:lnTo>
                <a:lnTo>
                  <a:pt x="0" y="19499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2FE2C6B3-AC8C-493D-A18F-A9791B8080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56063" y="3704740"/>
            <a:ext cx="1949450" cy="1949937"/>
          </a:xfrm>
          <a:custGeom>
            <a:avLst/>
            <a:gdLst>
              <a:gd name="connsiteX0" fmla="*/ 0 w 1949450"/>
              <a:gd name="connsiteY0" fmla="*/ 0 h 1949937"/>
              <a:gd name="connsiteX1" fmla="*/ 1949450 w 1949450"/>
              <a:gd name="connsiteY1" fmla="*/ 0 h 1949937"/>
              <a:gd name="connsiteX2" fmla="*/ 1949450 w 1949450"/>
              <a:gd name="connsiteY2" fmla="*/ 1949937 h 1949937"/>
              <a:gd name="connsiteX3" fmla="*/ 343238 w 1949450"/>
              <a:gd name="connsiteY3" fmla="*/ 1949937 h 1949937"/>
              <a:gd name="connsiteX4" fmla="*/ 278842 w 1949450"/>
              <a:gd name="connsiteY4" fmla="*/ 1943446 h 1949937"/>
              <a:gd name="connsiteX5" fmla="*/ 6493 w 1949450"/>
              <a:gd name="connsiteY5" fmla="*/ 1671097 h 1949937"/>
              <a:gd name="connsiteX6" fmla="*/ 0 w 1949450"/>
              <a:gd name="connsiteY6" fmla="*/ 1606691 h 194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9450" h="1949937">
                <a:moveTo>
                  <a:pt x="0" y="0"/>
                </a:moveTo>
                <a:lnTo>
                  <a:pt x="1949450" y="0"/>
                </a:lnTo>
                <a:lnTo>
                  <a:pt x="1949450" y="1949937"/>
                </a:lnTo>
                <a:lnTo>
                  <a:pt x="343238" y="1949937"/>
                </a:lnTo>
                <a:lnTo>
                  <a:pt x="278842" y="1943446"/>
                </a:lnTo>
                <a:cubicBezTo>
                  <a:pt x="142139" y="1915472"/>
                  <a:pt x="34466" y="1807800"/>
                  <a:pt x="6493" y="1671097"/>
                </a:cubicBezTo>
                <a:lnTo>
                  <a:pt x="0" y="160669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>
            <a:extLst>
              <a:ext uri="{FF2B5EF4-FFF2-40B4-BE49-F238E27FC236}">
                <a16:creationId xmlns:a16="http://schemas.microsoft.com/office/drawing/2014/main" id="{295F7CA5-F733-43F3-A0C3-5424B99D23D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7106" y="3704740"/>
            <a:ext cx="1949450" cy="1949937"/>
          </a:xfrm>
          <a:custGeom>
            <a:avLst/>
            <a:gdLst>
              <a:gd name="connsiteX0" fmla="*/ 0 w 1949450"/>
              <a:gd name="connsiteY0" fmla="*/ 0 h 1949937"/>
              <a:gd name="connsiteX1" fmla="*/ 1949450 w 1949450"/>
              <a:gd name="connsiteY1" fmla="*/ 0 h 1949937"/>
              <a:gd name="connsiteX2" fmla="*/ 1949450 w 1949450"/>
              <a:gd name="connsiteY2" fmla="*/ 1600560 h 1949937"/>
              <a:gd name="connsiteX3" fmla="*/ 1669991 w 1949450"/>
              <a:gd name="connsiteY3" fmla="*/ 1943446 h 1949937"/>
              <a:gd name="connsiteX4" fmla="*/ 1605595 w 1949450"/>
              <a:gd name="connsiteY4" fmla="*/ 1949937 h 1949937"/>
              <a:gd name="connsiteX5" fmla="*/ 0 w 1949450"/>
              <a:gd name="connsiteY5" fmla="*/ 1949937 h 194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9450" h="1949937">
                <a:moveTo>
                  <a:pt x="0" y="0"/>
                </a:moveTo>
                <a:lnTo>
                  <a:pt x="1949450" y="0"/>
                </a:lnTo>
                <a:lnTo>
                  <a:pt x="1949450" y="1600560"/>
                </a:lnTo>
                <a:cubicBezTo>
                  <a:pt x="1949450" y="1769695"/>
                  <a:pt x="1829478" y="1910810"/>
                  <a:pt x="1669991" y="1943446"/>
                </a:cubicBezTo>
                <a:lnTo>
                  <a:pt x="1605595" y="1949937"/>
                </a:lnTo>
                <a:lnTo>
                  <a:pt x="0" y="19499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FEE6518-B5B9-4BFC-9933-4DBD8F77FC0B}"/>
              </a:ext>
            </a:extLst>
          </p:cNvPr>
          <p:cNvCxnSpPr>
            <a:cxnSpLocks/>
          </p:cNvCxnSpPr>
          <p:nvPr userDrawn="1"/>
        </p:nvCxnSpPr>
        <p:spPr>
          <a:xfrm>
            <a:off x="660400" y="1130300"/>
            <a:ext cx="10858500" cy="0"/>
          </a:xfrm>
          <a:prstGeom prst="line">
            <a:avLst/>
          </a:prstGeom>
          <a:ln w="952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E853FCA-7F7F-4154-A79D-77FDE69E7577}"/>
              </a:ext>
            </a:extLst>
          </p:cNvPr>
          <p:cNvCxnSpPr>
            <a:cxnSpLocks/>
          </p:cNvCxnSpPr>
          <p:nvPr userDrawn="1"/>
        </p:nvCxnSpPr>
        <p:spPr>
          <a:xfrm>
            <a:off x="660400" y="1130300"/>
            <a:ext cx="7493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842E74EC-F000-4163-8194-7D567D15C9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530226"/>
            <a:ext cx="4351337" cy="5540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zh-CN" altLang="en-US" sz="36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121CC04-B475-44A2-A0DA-D589FECF46AA}"/>
              </a:ext>
            </a:extLst>
          </p:cNvPr>
          <p:cNvCxnSpPr>
            <a:cxnSpLocks/>
          </p:cNvCxnSpPr>
          <p:nvPr userDrawn="1"/>
        </p:nvCxnSpPr>
        <p:spPr>
          <a:xfrm>
            <a:off x="1558925" y="5659124"/>
            <a:ext cx="3300367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38BB90D5-1B17-40C2-867E-407FDACE2131}"/>
              </a:ext>
            </a:extLst>
          </p:cNvPr>
          <p:cNvSpPr txBox="1"/>
          <p:nvPr userDrawn="1"/>
        </p:nvSpPr>
        <p:spPr>
          <a:xfrm>
            <a:off x="1528713" y="4857192"/>
            <a:ext cx="85599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6000" i="1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</a:rPr>
              <a:t>03</a:t>
            </a:r>
            <a:endParaRPr lang="zh-CN" altLang="en-US" sz="6000" i="1" dirty="0">
              <a:ln>
                <a:noFill/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A0E3CBB-E49F-416A-BAE8-CD0AD1D7E339}"/>
              </a:ext>
            </a:extLst>
          </p:cNvPr>
          <p:cNvCxnSpPr>
            <a:cxnSpLocks/>
          </p:cNvCxnSpPr>
          <p:nvPr userDrawn="1"/>
        </p:nvCxnSpPr>
        <p:spPr>
          <a:xfrm>
            <a:off x="1558925" y="3534483"/>
            <a:ext cx="3300367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FB4E8CE-9F6C-4073-8CA7-945325586F53}"/>
              </a:ext>
            </a:extLst>
          </p:cNvPr>
          <p:cNvSpPr txBox="1"/>
          <p:nvPr userDrawn="1"/>
        </p:nvSpPr>
        <p:spPr>
          <a:xfrm>
            <a:off x="9822793" y="2791154"/>
            <a:ext cx="85599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6000" i="1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</a:rPr>
              <a:t>02</a:t>
            </a:r>
            <a:endParaRPr lang="zh-CN" altLang="en-US" sz="6000" i="1" dirty="0">
              <a:ln>
                <a:noFill/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4ABF6FF-0D22-4600-98D6-7AEB4FF25B96}"/>
              </a:ext>
            </a:extLst>
          </p:cNvPr>
          <p:cNvCxnSpPr>
            <a:cxnSpLocks/>
          </p:cNvCxnSpPr>
          <p:nvPr userDrawn="1"/>
        </p:nvCxnSpPr>
        <p:spPr>
          <a:xfrm>
            <a:off x="7556500" y="3534483"/>
            <a:ext cx="3076575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8A60DF1-F746-4AF2-B95D-4161CA4C42CF}"/>
              </a:ext>
            </a:extLst>
          </p:cNvPr>
          <p:cNvSpPr txBox="1"/>
          <p:nvPr userDrawn="1"/>
        </p:nvSpPr>
        <p:spPr>
          <a:xfrm>
            <a:off x="9813589" y="4911866"/>
            <a:ext cx="85599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6000" i="1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</a:rPr>
              <a:t>04</a:t>
            </a:r>
            <a:endParaRPr lang="zh-CN" altLang="en-US" sz="6000" i="1" dirty="0">
              <a:ln>
                <a:noFill/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D452833-676B-4F4D-8FC6-9022D4E76168}"/>
              </a:ext>
            </a:extLst>
          </p:cNvPr>
          <p:cNvCxnSpPr>
            <a:cxnSpLocks/>
          </p:cNvCxnSpPr>
          <p:nvPr userDrawn="1"/>
        </p:nvCxnSpPr>
        <p:spPr>
          <a:xfrm flipV="1">
            <a:off x="7556500" y="5659124"/>
            <a:ext cx="3076575" cy="2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4F0EF378-36A8-4F89-864E-8F9B5E40DC95}"/>
              </a:ext>
            </a:extLst>
          </p:cNvPr>
          <p:cNvSpPr txBox="1"/>
          <p:nvPr userDrawn="1"/>
        </p:nvSpPr>
        <p:spPr>
          <a:xfrm>
            <a:off x="1528713" y="2799621"/>
            <a:ext cx="85599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6000" i="1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</a:rPr>
              <a:t>01</a:t>
            </a:r>
            <a:endParaRPr lang="zh-CN" altLang="en-US" sz="6000" i="1" dirty="0">
              <a:ln>
                <a:noFill/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文本占位符 44">
            <a:extLst>
              <a:ext uri="{FF2B5EF4-FFF2-40B4-BE49-F238E27FC236}">
                <a16:creationId xmlns:a16="http://schemas.microsoft.com/office/drawing/2014/main" id="{1F0D99D7-509F-4FC4-B552-33EEDD26E3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399" y="1968945"/>
            <a:ext cx="2843213" cy="32781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400"/>
            </a:lvl1pPr>
          </a:lstStyle>
          <a:p>
            <a:pPr lvl="0"/>
            <a:r>
              <a:rPr lang="zh-CN" altLang="en-US" dirty="0"/>
              <a:t>点击编辑图片小标题</a:t>
            </a:r>
          </a:p>
        </p:txBody>
      </p:sp>
      <p:sp>
        <p:nvSpPr>
          <p:cNvPr id="46" name="文本占位符 45">
            <a:extLst>
              <a:ext uri="{FF2B5EF4-FFF2-40B4-BE49-F238E27FC236}">
                <a16:creationId xmlns:a16="http://schemas.microsoft.com/office/drawing/2014/main" id="{8A802FBA-D507-440C-9C83-25DE53CD4A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88388" y="1968945"/>
            <a:ext cx="2843213" cy="3278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/>
            </a:lvl1pPr>
          </a:lstStyle>
          <a:p>
            <a:pPr lvl="0"/>
            <a:r>
              <a:rPr lang="zh-CN" altLang="en-US" dirty="0"/>
              <a:t>点击编辑图片小标题</a:t>
            </a:r>
          </a:p>
        </p:txBody>
      </p:sp>
      <p:sp>
        <p:nvSpPr>
          <p:cNvPr id="47" name="文本占位符 46">
            <a:extLst>
              <a:ext uri="{FF2B5EF4-FFF2-40B4-BE49-F238E27FC236}">
                <a16:creationId xmlns:a16="http://schemas.microsoft.com/office/drawing/2014/main" id="{9E098EF6-9A25-4880-B3D9-6EFDE320DC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88388" y="4154898"/>
            <a:ext cx="2843213" cy="3278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/>
            </a:lvl1pPr>
          </a:lstStyle>
          <a:p>
            <a:pPr lvl="0"/>
            <a:r>
              <a:rPr lang="zh-CN" altLang="en-US" dirty="0"/>
              <a:t>点击编辑图片小标题</a:t>
            </a:r>
          </a:p>
        </p:txBody>
      </p:sp>
      <p:sp>
        <p:nvSpPr>
          <p:cNvPr id="50" name="文本占位符 49">
            <a:extLst>
              <a:ext uri="{FF2B5EF4-FFF2-40B4-BE49-F238E27FC236}">
                <a16:creationId xmlns:a16="http://schemas.microsoft.com/office/drawing/2014/main" id="{08CA53DC-1780-482A-B96A-36F5695EB0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0399" y="4154898"/>
            <a:ext cx="2843213" cy="32781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400"/>
            </a:lvl1pPr>
          </a:lstStyle>
          <a:p>
            <a:pPr lvl="0"/>
            <a:r>
              <a:rPr lang="zh-CN" altLang="en-US" dirty="0"/>
              <a:t>点击编辑图片小标题</a:t>
            </a:r>
          </a:p>
        </p:txBody>
      </p:sp>
      <p:sp>
        <p:nvSpPr>
          <p:cNvPr id="52" name="文本占位符 51">
            <a:extLst>
              <a:ext uri="{FF2B5EF4-FFF2-40B4-BE49-F238E27FC236}">
                <a16:creationId xmlns:a16="http://schemas.microsoft.com/office/drawing/2014/main" id="{D0C5B9D8-C297-42AA-85FB-62E82E30091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8762" y="2446290"/>
            <a:ext cx="1974850" cy="43021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点击编辑内容</a:t>
            </a:r>
          </a:p>
        </p:txBody>
      </p:sp>
      <p:sp>
        <p:nvSpPr>
          <p:cNvPr id="53" name="文本占位符 52">
            <a:extLst>
              <a:ext uri="{FF2B5EF4-FFF2-40B4-BE49-F238E27FC236}">
                <a16:creationId xmlns:a16="http://schemas.microsoft.com/office/drawing/2014/main" id="{067DEF8D-2419-48CE-AF9D-4264DA33A5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8762" y="4590916"/>
            <a:ext cx="1974850" cy="43021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点击编辑内容</a:t>
            </a:r>
          </a:p>
        </p:txBody>
      </p:sp>
      <p:sp>
        <p:nvSpPr>
          <p:cNvPr id="54" name="文本占位符 53">
            <a:extLst>
              <a:ext uri="{FF2B5EF4-FFF2-40B4-BE49-F238E27FC236}">
                <a16:creationId xmlns:a16="http://schemas.microsoft.com/office/drawing/2014/main" id="{9697F98D-9853-4244-82FC-2E8E2CF10B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388" y="4590916"/>
            <a:ext cx="1974850" cy="4302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点击编辑内容</a:t>
            </a:r>
          </a:p>
        </p:txBody>
      </p:sp>
      <p:sp>
        <p:nvSpPr>
          <p:cNvPr id="55" name="文本占位符 54">
            <a:extLst>
              <a:ext uri="{FF2B5EF4-FFF2-40B4-BE49-F238E27FC236}">
                <a16:creationId xmlns:a16="http://schemas.microsoft.com/office/drawing/2014/main" id="{FC4D3051-207C-4B73-A1CA-792CD4237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88388" y="2446290"/>
            <a:ext cx="1974850" cy="4302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点击编辑内容</a:t>
            </a:r>
          </a:p>
        </p:txBody>
      </p:sp>
    </p:spTree>
    <p:extLst>
      <p:ext uri="{BB962C8B-B14F-4D97-AF65-F5344CB8AC3E}">
        <p14:creationId xmlns:p14="http://schemas.microsoft.com/office/powerpoint/2010/main" val="1789468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5B3F770-4E1F-499F-834E-81FD7DEE5D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5" b="10896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256518B3-D1A1-47E1-9579-AEFB76667ED6}"/>
              </a:ext>
            </a:extLst>
          </p:cNvPr>
          <p:cNvSpPr/>
          <p:nvPr userDrawn="1"/>
        </p:nvSpPr>
        <p:spPr>
          <a:xfrm>
            <a:off x="-11574" y="1"/>
            <a:ext cx="6649831" cy="5903089"/>
          </a:xfrm>
          <a:custGeom>
            <a:avLst/>
            <a:gdLst>
              <a:gd name="connsiteX0" fmla="*/ 0 w 6649831"/>
              <a:gd name="connsiteY0" fmla="*/ 0 h 5903089"/>
              <a:gd name="connsiteX1" fmla="*/ 6068278 w 6649831"/>
              <a:gd name="connsiteY1" fmla="*/ 0 h 5903089"/>
              <a:gd name="connsiteX2" fmla="*/ 6137461 w 6649831"/>
              <a:gd name="connsiteY2" fmla="*/ 110836 h 5903089"/>
              <a:gd name="connsiteX3" fmla="*/ 6649831 w 6649831"/>
              <a:gd name="connsiteY3" fmla="*/ 2035804 h 5903089"/>
              <a:gd name="connsiteX4" fmla="*/ 2782545 w 6649831"/>
              <a:gd name="connsiteY4" fmla="*/ 5903089 h 5903089"/>
              <a:gd name="connsiteX5" fmla="*/ 80961 w 6649831"/>
              <a:gd name="connsiteY5" fmla="*/ 4802996 h 5903089"/>
              <a:gd name="connsiteX6" fmla="*/ 0 w 6649831"/>
              <a:gd name="connsiteY6" fmla="*/ 4719586 h 590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49831" h="5903089">
                <a:moveTo>
                  <a:pt x="0" y="0"/>
                </a:moveTo>
                <a:lnTo>
                  <a:pt x="6068278" y="0"/>
                </a:lnTo>
                <a:lnTo>
                  <a:pt x="6137461" y="110836"/>
                </a:lnTo>
                <a:cubicBezTo>
                  <a:pt x="6463414" y="677697"/>
                  <a:pt x="6649831" y="1334980"/>
                  <a:pt x="6649831" y="2035804"/>
                </a:cubicBezTo>
                <a:cubicBezTo>
                  <a:pt x="6649831" y="4171646"/>
                  <a:pt x="4918389" y="5903089"/>
                  <a:pt x="2782545" y="5903089"/>
                </a:cubicBezTo>
                <a:cubicBezTo>
                  <a:pt x="1731310" y="5903089"/>
                  <a:pt x="778040" y="5483650"/>
                  <a:pt x="80961" y="4802996"/>
                </a:cubicBezTo>
                <a:lnTo>
                  <a:pt x="0" y="4719586"/>
                </a:lnTo>
                <a:close/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C63EE456-760E-403A-9579-4FD702DC1AAC}"/>
              </a:ext>
            </a:extLst>
          </p:cNvPr>
          <p:cNvSpPr/>
          <p:nvPr userDrawn="1"/>
        </p:nvSpPr>
        <p:spPr>
          <a:xfrm>
            <a:off x="0" y="0"/>
            <a:ext cx="6361594" cy="5647220"/>
          </a:xfrm>
          <a:custGeom>
            <a:avLst/>
            <a:gdLst>
              <a:gd name="connsiteX0" fmla="*/ 0 w 6361594"/>
              <a:gd name="connsiteY0" fmla="*/ 0 h 5647220"/>
              <a:gd name="connsiteX1" fmla="*/ 5667252 w 6361594"/>
              <a:gd name="connsiteY1" fmla="*/ 0 h 5647220"/>
              <a:gd name="connsiteX2" fmla="*/ 5756000 w 6361594"/>
              <a:gd name="connsiteY2" fmla="*/ 118682 h 5647220"/>
              <a:gd name="connsiteX3" fmla="*/ 6361594 w 6361594"/>
              <a:gd name="connsiteY3" fmla="*/ 2101261 h 5647220"/>
              <a:gd name="connsiteX4" fmla="*/ 2815635 w 6361594"/>
              <a:gd name="connsiteY4" fmla="*/ 5647220 h 5647220"/>
              <a:gd name="connsiteX5" fmla="*/ 79401 w 6361594"/>
              <a:gd name="connsiteY5" fmla="*/ 4356820 h 5647220"/>
              <a:gd name="connsiteX6" fmla="*/ 0 w 6361594"/>
              <a:gd name="connsiteY6" fmla="*/ 4250639 h 564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1594" h="5647220">
                <a:moveTo>
                  <a:pt x="0" y="0"/>
                </a:moveTo>
                <a:lnTo>
                  <a:pt x="5667252" y="0"/>
                </a:lnTo>
                <a:lnTo>
                  <a:pt x="5756000" y="118682"/>
                </a:lnTo>
                <a:cubicBezTo>
                  <a:pt x="6138341" y="684620"/>
                  <a:pt x="6361594" y="1366869"/>
                  <a:pt x="6361594" y="2101261"/>
                </a:cubicBezTo>
                <a:cubicBezTo>
                  <a:pt x="6361594" y="4059640"/>
                  <a:pt x="4774014" y="5647220"/>
                  <a:pt x="2815635" y="5647220"/>
                </a:cubicBezTo>
                <a:cubicBezTo>
                  <a:pt x="1714047" y="5647220"/>
                  <a:pt x="729782" y="5144900"/>
                  <a:pt x="79401" y="4356820"/>
                </a:cubicBezTo>
                <a:lnTo>
                  <a:pt x="0" y="425063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507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C750AF9-4264-4A17-A73B-A67F8C6AA177}"/>
              </a:ext>
            </a:extLst>
          </p:cNvPr>
          <p:cNvCxnSpPr>
            <a:cxnSpLocks/>
          </p:cNvCxnSpPr>
          <p:nvPr userDrawn="1"/>
        </p:nvCxnSpPr>
        <p:spPr>
          <a:xfrm>
            <a:off x="660400" y="1130300"/>
            <a:ext cx="10858500" cy="0"/>
          </a:xfrm>
          <a:prstGeom prst="line">
            <a:avLst/>
          </a:prstGeom>
          <a:ln w="952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A498D19-82E1-476A-8FBC-2DF464D9660C}"/>
              </a:ext>
            </a:extLst>
          </p:cNvPr>
          <p:cNvCxnSpPr>
            <a:cxnSpLocks/>
          </p:cNvCxnSpPr>
          <p:nvPr userDrawn="1"/>
        </p:nvCxnSpPr>
        <p:spPr>
          <a:xfrm>
            <a:off x="660400" y="1130300"/>
            <a:ext cx="7493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0ADF97-308A-4EB7-A4F4-A5E3FF4E40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530226"/>
            <a:ext cx="4351337" cy="5540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zh-CN" altLang="en-US" sz="36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4159614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使用技巧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541BD4A-0C0A-4633-AC82-D050601B22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02" y="1900627"/>
            <a:ext cx="5567801" cy="2804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2234866-B4D9-4535-8E5C-0BBE3D35C8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597" y="1902381"/>
            <a:ext cx="5567802" cy="28158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4141A67-2811-46F0-89A3-6BF37E804ED1}"/>
              </a:ext>
            </a:extLst>
          </p:cNvPr>
          <p:cNvSpPr/>
          <p:nvPr userDrawn="1"/>
        </p:nvSpPr>
        <p:spPr>
          <a:xfrm>
            <a:off x="440603" y="759873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模板使用技巧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 1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9E9A33-9948-427C-95B5-6407B2173837}"/>
              </a:ext>
            </a:extLst>
          </p:cNvPr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119EAD-102A-4EE5-B164-5A2A9035EE65}"/>
              </a:ext>
            </a:extLst>
          </p:cNvPr>
          <p:cNvSpPr txBox="1"/>
          <p:nvPr userDrawn="1"/>
        </p:nvSpPr>
        <p:spPr>
          <a:xfrm>
            <a:off x="431800" y="117423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一键调整模板颜色</a:t>
            </a:r>
            <a:endParaRPr lang="en-US" sz="32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7B47487-3BFB-451E-8DC8-B6292FA8CF35}"/>
              </a:ext>
            </a:extLst>
          </p:cNvPr>
          <p:cNvSpPr txBox="1"/>
          <p:nvPr userDrawn="1"/>
        </p:nvSpPr>
        <p:spPr>
          <a:xfrm>
            <a:off x="333477" y="6061002"/>
            <a:ext cx="318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选择“设计”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“变体”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“颜色”；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EDD882-C78E-4F41-B9F1-B2B610845B51}"/>
              </a:ext>
            </a:extLst>
          </p:cNvPr>
          <p:cNvSpPr txBox="1"/>
          <p:nvPr userDrawn="1"/>
        </p:nvSpPr>
        <p:spPr>
          <a:xfrm>
            <a:off x="6360651" y="6061002"/>
            <a:ext cx="4562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选择你喜欢的颜色搭配，模板一秒调整为你选颜色。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9CB84E4-9C63-41E0-8D1D-42D7193CE3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89582" y="2176490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570F5B2-F001-4C0A-BC1D-9B7FAB3FFBA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30453" y="3862583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4819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使用技巧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4AFDE53-E7BE-45E3-A041-536A1515EA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2121064"/>
            <a:ext cx="5337381" cy="261587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FADF3F9-40CB-433C-BF5D-5FEB7A8225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107" y="2121064"/>
            <a:ext cx="5365893" cy="26158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8C4C945-D0EC-4620-BEA7-B16E0F49BA41}"/>
              </a:ext>
            </a:extLst>
          </p:cNvPr>
          <p:cNvSpPr/>
          <p:nvPr userDrawn="1"/>
        </p:nvSpPr>
        <p:spPr>
          <a:xfrm>
            <a:off x="440603" y="759873"/>
            <a:ext cx="1750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模板使用技巧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 2</a:t>
            </a:r>
            <a:endParaRPr lang="zh-CN" altLang="en-US" sz="180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D1DB54-1457-4BDE-B9E0-4D98056EC989}"/>
              </a:ext>
            </a:extLst>
          </p:cNvPr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504A17-91D2-4BCE-84F5-3686F2443EF5}"/>
              </a:ext>
            </a:extLst>
          </p:cNvPr>
          <p:cNvSpPr txBox="1"/>
          <p:nvPr userDrawn="1"/>
        </p:nvSpPr>
        <p:spPr>
          <a:xfrm>
            <a:off x="431800" y="117423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随时添加模板样式</a:t>
            </a:r>
            <a:endParaRPr lang="en-US" sz="32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A5941C-22F6-40E4-9177-151F6715A82A}"/>
              </a:ext>
            </a:extLst>
          </p:cNvPr>
          <p:cNvSpPr txBox="1"/>
          <p:nvPr userDrawn="1"/>
        </p:nvSpPr>
        <p:spPr>
          <a:xfrm>
            <a:off x="333477" y="6061002"/>
            <a:ext cx="3010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选择“开始”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“新建幻灯片”；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D01921-9030-4B44-873A-C6BEA767D3D9}"/>
              </a:ext>
            </a:extLst>
          </p:cNvPr>
          <p:cNvSpPr txBox="1"/>
          <p:nvPr userDrawn="1"/>
        </p:nvSpPr>
        <p:spPr>
          <a:xfrm>
            <a:off x="6360651" y="6061002"/>
            <a:ext cx="5256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选择你需要的页面，如封面页，目录页，副标题页，内容页等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5EC8BF8-93CC-45A1-8295-0A0F2A7868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4145" y="2263408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3331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8A3303-650A-4F7A-AEF3-8FCCACBCEE88}"/>
              </a:ext>
            </a:extLst>
          </p:cNvPr>
          <p:cNvSpPr/>
          <p:nvPr userDrawn="1"/>
        </p:nvSpPr>
        <p:spPr>
          <a:xfrm>
            <a:off x="5999" y="0"/>
            <a:ext cx="12180003" cy="6858000"/>
          </a:xfrm>
          <a:prstGeom prst="rect">
            <a:avLst/>
          </a:prstGeom>
          <a:solidFill>
            <a:srgbClr val="E6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EB3577-91AD-42DB-9714-9DA45B5F18E4}"/>
              </a:ext>
            </a:extLst>
          </p:cNvPr>
          <p:cNvSpPr/>
          <p:nvPr userDrawn="1"/>
        </p:nvSpPr>
        <p:spPr>
          <a:xfrm>
            <a:off x="626964" y="568470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bg1"/>
                </a:solidFill>
                <a:latin typeface="+mn-ea"/>
                <a:cs typeface="Segoe UI Light"/>
              </a:rPr>
              <a:t>标注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26BC63-F415-4455-8452-D684445E1148}"/>
              </a:ext>
            </a:extLst>
          </p:cNvPr>
          <p:cNvSpPr/>
          <p:nvPr userDrawn="1"/>
        </p:nvSpPr>
        <p:spPr>
          <a:xfrm>
            <a:off x="2450801" y="595724"/>
            <a:ext cx="1402001" cy="5666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字体使用 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行距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图片出处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视频出处</a:t>
            </a:r>
          </a:p>
          <a:p>
            <a:pPr defTabSz="609585">
              <a:lnSpc>
                <a:spcPct val="130000"/>
              </a:lnSpc>
            </a:pPr>
            <a:endParaRPr lang="zh-CN" altLang="en-US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声明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来源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作者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797687-99D2-4863-8E62-0034F2A5E5F5}"/>
              </a:ext>
            </a:extLst>
          </p:cNvPr>
          <p:cNvSpPr/>
          <p:nvPr userDrawn="1"/>
        </p:nvSpPr>
        <p:spPr>
          <a:xfrm>
            <a:off x="4159510" y="595724"/>
            <a:ext cx="7074345" cy="5666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英文 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Segoe UI Light"/>
              </a:rPr>
              <a:t>Arial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（可商用字体）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中文 微软雅黑（可商用字体）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正文 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Segoe UI Light"/>
              </a:rPr>
              <a:t>1.5</a:t>
            </a: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en-US" altLang="zh-CN" sz="1400" dirty="0" err="1">
                <a:solidFill>
                  <a:schemeClr val="bg1"/>
                </a:solidFill>
                <a:latin typeface="+mn-ea"/>
                <a:cs typeface="Segoe UI Light"/>
              </a:rPr>
              <a:t>Unsplash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（可商用素材网站）</a:t>
            </a:r>
            <a:r>
              <a:rPr lang="en-US" altLang="zh-CN" sz="1400" dirty="0" err="1">
                <a:solidFill>
                  <a:schemeClr val="bg1"/>
                </a:solidFill>
                <a:latin typeface="+mn-ea"/>
                <a:cs typeface="Segoe UI Light"/>
              </a:rPr>
              <a:t>Pixabay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 （可商用素材网站）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err="1">
                <a:solidFill>
                  <a:schemeClr val="bg1"/>
                </a:solidFill>
                <a:latin typeface="+mn-ea"/>
                <a:cs typeface="Segoe UI Light"/>
              </a:rPr>
              <a:t>phptoAC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（可商用素材网站）西田图像（可商用素材网站）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en-US" altLang="zh-CN" sz="1400" dirty="0" err="1">
                <a:solidFill>
                  <a:schemeClr val="bg1"/>
                </a:solidFill>
                <a:latin typeface="+mn-ea"/>
                <a:cs typeface="Segoe UI Light"/>
              </a:rPr>
              <a:t>Coverr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Segoe UI Light"/>
              </a:rPr>
              <a:t>（免费可商用素材网站）</a:t>
            </a:r>
            <a:endParaRPr lang="en-US" altLang="zh-CN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400" dirty="0">
              <a:solidFill>
                <a:schemeClr val="bg1"/>
              </a:solidFill>
              <a:latin typeface="+mn-ea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本网站所提供的任何信息内容（包括但不限于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Segoe UI Light" charset="0"/>
              </a:rPr>
              <a:t>PPT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Segoe UI Light" charset="0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模板、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Segoe UI Light" charset="0"/>
              </a:rPr>
              <a:t>Word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Segoe UI Light" charset="0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文档、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Segoe UI Light" charset="0"/>
              </a:rPr>
              <a:t>Excel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Segoe UI Light" charset="0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图表、图片素材等）均受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中华人民共和国著作权法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信息网络传播权保护条例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及其他适用的法律法规的保护，未经权利人书面明确授权，信息内容的任何部分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包括图片或图表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不得被全部或部分的复制、传播、销售，否则将承担法律责任。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设计灵感来自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MNML Agency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，</a:t>
            </a:r>
            <a:r>
              <a:rPr lang="en-US" altLang="zh-CN" sz="1400" dirty="0" err="1">
                <a:solidFill>
                  <a:schemeClr val="bg1"/>
                </a:solidFill>
                <a:latin typeface="+mn-ea"/>
              </a:rPr>
              <a:t>Vizualus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 Design Studio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梁浩彬（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978344816@qq.com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）</a:t>
            </a:r>
            <a:endParaRPr lang="en-US" altLang="zh-CN" sz="14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D62D01-CF45-42AA-91DA-93786BC62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8462" y="83245"/>
            <a:ext cx="1402001" cy="62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10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000" y="334800"/>
            <a:ext cx="10440000" cy="1368000"/>
          </a:xfrm>
        </p:spPr>
        <p:txBody>
          <a:bodyPr anchor="ctr" anchorCtr="0"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6000" y="1852295"/>
            <a:ext cx="10440000" cy="432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5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13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7" r:id="rId5"/>
    <p:sldLayoutId id="2147483668" r:id="rId6"/>
    <p:sldLayoutId id="2147483679" r:id="rId7"/>
    <p:sldLayoutId id="2147483653" r:id="rId8"/>
    <p:sldLayoutId id="2147483654" r:id="rId9"/>
    <p:sldLayoutId id="2147483656" r:id="rId10"/>
    <p:sldLayoutId id="2147483678" r:id="rId11"/>
    <p:sldLayoutId id="2147483655" r:id="rId12"/>
    <p:sldLayoutId id="214748368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67.png"/><Relationship Id="rId5" Type="http://schemas.openxmlformats.org/officeDocument/2006/relationships/image" Target="../media/image59.png"/><Relationship Id="rId4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8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59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1.png"/><Relationship Id="rId1" Type="http://schemas.openxmlformats.org/officeDocument/2006/relationships/tags" Target="../tags/tag9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0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8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2.png"/><Relationship Id="rId7" Type="http://schemas.openxmlformats.org/officeDocument/2006/relationships/image" Target="../media/image9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82.png"/><Relationship Id="rId9" Type="http://schemas.openxmlformats.org/officeDocument/2006/relationships/image" Target="../media/image9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19.png"/><Relationship Id="rId7" Type="http://schemas.openxmlformats.org/officeDocument/2006/relationships/image" Target="../media/image12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0.png"/><Relationship Id="rId4" Type="http://schemas.openxmlformats.org/officeDocument/2006/relationships/image" Target="../media/image14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152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B40B5E-1AB3-4E77-A4A5-7989F4EF4A6F}"/>
              </a:ext>
            </a:extLst>
          </p:cNvPr>
          <p:cNvSpPr txBox="1"/>
          <p:nvPr/>
        </p:nvSpPr>
        <p:spPr>
          <a:xfrm>
            <a:off x="660400" y="4081353"/>
            <a:ext cx="1352934" cy="6068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600" spc="300" dirty="0" err="1">
                <a:solidFill>
                  <a:schemeClr val="bg1">
                    <a:lumMod val="50000"/>
                  </a:schemeClr>
                </a:solidFill>
              </a:rPr>
              <a:t>Explorerxx</a:t>
            </a:r>
            <a:endParaRPr lang="en-US" altLang="zh-CN" sz="1600" spc="300" dirty="0">
              <a:solidFill>
                <a:schemeClr val="bg1">
                  <a:lumMod val="50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endParaRPr lang="en-US" altLang="zh-CN" sz="1600" spc="3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210514-9FC8-48E6-B707-149BF009A6C9}"/>
              </a:ext>
            </a:extLst>
          </p:cNvPr>
          <p:cNvSpPr txBox="1"/>
          <p:nvPr/>
        </p:nvSpPr>
        <p:spPr>
          <a:xfrm>
            <a:off x="829680" y="2010456"/>
            <a:ext cx="5669732" cy="73866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4800" b="1" dirty="0">
                <a:solidFill>
                  <a:schemeClr val="accent2"/>
                </a:solidFill>
                <a:latin typeface="+mj-ea"/>
                <a:ea typeface="+mj-ea"/>
              </a:rPr>
              <a:t>基础数论</a:t>
            </a:r>
            <a:endParaRPr lang="en-US" altLang="zh-CN" sz="48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24202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3E4A797-4BE9-2299-652F-A8F583204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质数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AEB504-0F5D-98AC-CCFD-F12BCE485845}"/>
              </a:ext>
            </a:extLst>
          </p:cNvPr>
          <p:cNvSpPr txBox="1"/>
          <p:nvPr/>
        </p:nvSpPr>
        <p:spPr>
          <a:xfrm>
            <a:off x="660400" y="1366193"/>
            <a:ext cx="1035304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dirty="0"/>
              <a:t>质数即不能被任意</a:t>
            </a:r>
            <a:r>
              <a:rPr lang="en-US" altLang="zh-CN" dirty="0"/>
              <a:t>1</a:t>
            </a:r>
            <a:r>
              <a:rPr lang="zh-CN" altLang="en-US" dirty="0"/>
              <a:t>和自身以外的正整数整除的正整数。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依照这个定义，我们可以以</a:t>
            </a:r>
            <a:r>
              <a:rPr lang="en-US" altLang="zh-CN" dirty="0"/>
              <a:t>sqrt(n)</a:t>
            </a:r>
            <a:r>
              <a:rPr lang="zh-CN" altLang="en-US" dirty="0"/>
              <a:t>的复杂度来判断一个数是否是质数。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同时也可以由此出发去筛选质数。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给定整数</a:t>
            </a:r>
            <a:r>
              <a:rPr lang="en-US" altLang="zh-CN" dirty="0"/>
              <a:t>N</a:t>
            </a:r>
            <a:r>
              <a:rPr lang="zh-CN" altLang="en-US" dirty="0"/>
              <a:t>，筛选出</a:t>
            </a:r>
            <a:r>
              <a:rPr lang="en-US" altLang="zh-CN" dirty="0"/>
              <a:t>1~N</a:t>
            </a:r>
            <a:r>
              <a:rPr lang="zh-CN" altLang="en-US" dirty="0"/>
              <a:t>内所有的质数被称为质数的筛选问题。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7563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43707E6-764A-72B9-553A-E0A7CCE14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埃式筛法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980D4F-8622-B623-33CD-FDC6F808A124}"/>
                  </a:ext>
                </a:extLst>
              </p:cNvPr>
              <p:cNvSpPr txBox="1"/>
              <p:nvPr/>
            </p:nvSpPr>
            <p:spPr>
              <a:xfrm>
                <a:off x="660400" y="1496728"/>
                <a:ext cx="7689516" cy="4154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埃式筛法的基础思想是：对于任意整数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来说，</a:t>
                </a:r>
                <a:r>
                  <a:rPr lang="en-US" altLang="zh-CN" dirty="0"/>
                  <a:t>2x,3x,4x…</a:t>
                </a:r>
                <a:r>
                  <a:rPr lang="zh-CN" altLang="en-US" dirty="0"/>
                  <a:t>都不是质数。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那么我们从小到大枚举每一个数，把它的所有小于等于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的倍数都标记为非质数，如果我们枚举到某个数时它还没有被标记，那么它就是质数，这样最后就能得到所有的质数了。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埃式筛法的基本流程</a:t>
                </a:r>
                <a:r>
                  <a:rPr lang="en-US" altLang="zh-CN" dirty="0"/>
                  <a:t>:</a:t>
                </a:r>
              </a:p>
              <a:p>
                <a:pPr algn="l"/>
                <a:r>
                  <a:rPr lang="en-US" altLang="zh-CN" dirty="0" err="1"/>
                  <a:t>i</a:t>
                </a:r>
                <a:r>
                  <a:rPr lang="en-US" altLang="zh-CN" dirty="0"/>
                  <a:t>=2</a:t>
                </a:r>
                <a:r>
                  <a:rPr lang="zh-CN" altLang="en-US" dirty="0"/>
                  <a:t>，标记为质数，标记倍数 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8……</a:t>
                </a:r>
              </a:p>
              <a:p>
                <a:pPr algn="l"/>
                <a:r>
                  <a:rPr lang="en-US" altLang="zh-CN" dirty="0" err="1"/>
                  <a:t>i</a:t>
                </a:r>
                <a:r>
                  <a:rPr lang="en-US" altLang="zh-CN" dirty="0"/>
                  <a:t>=3</a:t>
                </a:r>
                <a:r>
                  <a:rPr lang="zh-CN" altLang="en-US" dirty="0"/>
                  <a:t>，标记为质数，标记倍数 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9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12……</a:t>
                </a:r>
              </a:p>
              <a:p>
                <a:pPr algn="l"/>
                <a:r>
                  <a:rPr lang="en-US" altLang="zh-CN" dirty="0" err="1"/>
                  <a:t>i</a:t>
                </a:r>
                <a:r>
                  <a:rPr lang="en-US" altLang="zh-CN" dirty="0"/>
                  <a:t>=4</a:t>
                </a:r>
                <a:r>
                  <a:rPr lang="zh-CN" altLang="en-US" dirty="0"/>
                  <a:t>，已被标记，跳过。</a:t>
                </a:r>
                <a:endParaRPr lang="en-US" altLang="zh-CN" dirty="0"/>
              </a:p>
              <a:p>
                <a:pPr algn="l"/>
                <a:r>
                  <a:rPr lang="en-US" altLang="zh-CN" dirty="0" err="1"/>
                  <a:t>i</a:t>
                </a:r>
                <a:r>
                  <a:rPr lang="en-US" altLang="zh-CN" dirty="0"/>
                  <a:t>=5</a:t>
                </a:r>
                <a:r>
                  <a:rPr lang="zh-CN" altLang="en-US" dirty="0"/>
                  <a:t>，标记为质数，标记倍数 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15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20……</a:t>
                </a:r>
              </a:p>
              <a:p>
                <a:pPr algn="l"/>
                <a:endParaRPr lang="en-US" altLang="zh-CN" dirty="0"/>
              </a:p>
              <a:p>
                <a:r>
                  <a:rPr lang="zh-CN" altLang="en-US" dirty="0"/>
                  <a:t>另外我们发现，在我们标记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的倍数的时候，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已经被标记过了，因为</a:t>
                </a:r>
                <a:r>
                  <a:rPr lang="en-US" altLang="zh-CN" dirty="0"/>
                  <a:t>6=2*3</a:t>
                </a:r>
                <a:r>
                  <a:rPr lang="zh-CN" altLang="en-US" dirty="0"/>
                  <a:t>，会被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标记，也就是小于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的倍数都会有</a:t>
                </a:r>
                <a:r>
                  <a:rPr lang="en-US" altLang="zh-CN" dirty="0"/>
                  <a:t>x*(x-p)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p&gt;0</a:t>
                </a:r>
                <a:r>
                  <a:rPr lang="zh-CN" altLang="en-US" dirty="0"/>
                  <a:t>）这样子来得到枚举，所以我们可以考虑对于每个质数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开始枚举它的倍数来避免重复枚举。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980D4F-8622-B623-33CD-FDC6F808A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496728"/>
                <a:ext cx="7689516" cy="4154984"/>
              </a:xfrm>
              <a:prstGeom prst="rect">
                <a:avLst/>
              </a:prstGeom>
              <a:blipFill>
                <a:blip r:embed="rId2"/>
                <a:stretch>
                  <a:fillRect l="-1823" t="-1909" r="-4754" b="-2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04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C283044-9204-A214-0F41-FE2ADC8AD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埃式筛法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F0CEB6-A354-0912-8126-203E22677F37}"/>
              </a:ext>
            </a:extLst>
          </p:cNvPr>
          <p:cNvSpPr txBox="1"/>
          <p:nvPr/>
        </p:nvSpPr>
        <p:spPr>
          <a:xfrm>
            <a:off x="660400" y="1488265"/>
            <a:ext cx="92592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埃式筛法的代码如下：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0FF7FA-92A1-6DEF-AF55-9C2FFDD76A00}"/>
              </a:ext>
            </a:extLst>
          </p:cNvPr>
          <p:cNvSpPr txBox="1"/>
          <p:nvPr/>
        </p:nvSpPr>
        <p:spPr>
          <a:xfrm>
            <a:off x="660400" y="2074244"/>
            <a:ext cx="7498080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prime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memset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sizeof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      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])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continue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cout</a:t>
            </a:r>
            <a:r>
              <a:rPr lang="en-US" altLang="zh-CN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endl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         //</a:t>
            </a:r>
            <a:r>
              <a:rPr lang="en-US" altLang="zh-CN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zh-CN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是质数</a:t>
            </a:r>
            <a:endParaRPr lang="zh-CN" alt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983BD0-B4D9-47D1-EBCA-99C451C5BAFD}"/>
                  </a:ext>
                </a:extLst>
              </p:cNvPr>
              <p:cNvSpPr txBox="1"/>
              <p:nvPr/>
            </p:nvSpPr>
            <p:spPr>
              <a:xfrm>
                <a:off x="660400" y="4721192"/>
                <a:ext cx="8806046" cy="1453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埃式筛法的算法复杂度是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/>
                                <m:aln/>
                              </m:rPr>
                              <a:rPr lang="zh-CN" altLang="en-US" i="1">
                                <a:latin typeface="Cambria Math" panose="02040503050406030204" pitchFamily="18" charset="0"/>
                              </a:rPr>
                              <m:t>质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数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nary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func>
                          </m:e>
                        </m:func>
                      </m:e>
                    </m:d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algn="l"/>
                <a:r>
                  <a:rPr lang="zh-CN" altLang="en-US" dirty="0"/>
                  <a:t>这个复杂度从左到右的推导比较复杂，</a:t>
                </a:r>
                <a:r>
                  <a:rPr lang="zh-CN" altLang="en-US" strike="sngStrike" dirty="0"/>
                  <a:t>我不会</a:t>
                </a:r>
                <a:r>
                  <a:rPr lang="zh-CN" altLang="en-US" dirty="0"/>
                  <a:t> ，仅供参考。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该复杂度已经十分接近线性了，所以可以解决</a:t>
                </a:r>
                <a:r>
                  <a:rPr lang="en-US" altLang="zh-CN" dirty="0"/>
                  <a:t>N=1e6</a:t>
                </a:r>
                <a:r>
                  <a:rPr lang="zh-CN" altLang="en-US" dirty="0"/>
                  <a:t>范围的数据，非常的常用。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983BD0-B4D9-47D1-EBCA-99C451C5B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4721192"/>
                <a:ext cx="8806046" cy="1453347"/>
              </a:xfrm>
              <a:prstGeom prst="rect">
                <a:avLst/>
              </a:prstGeom>
              <a:blipFill>
                <a:blip r:embed="rId2"/>
                <a:stretch>
                  <a:fillRect l="-1592" b="-8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45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9E924EB-3FEE-C9FC-BBF1-138D73D37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质因数分解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1129923-69FC-44B4-277C-5543F49D1CC5}"/>
                  </a:ext>
                </a:extLst>
              </p:cNvPr>
              <p:cNvSpPr txBox="1"/>
              <p:nvPr/>
            </p:nvSpPr>
            <p:spPr>
              <a:xfrm>
                <a:off x="660399" y="1496727"/>
                <a:ext cx="9446127" cy="44138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在数学中有一条非常基本的定理，叫做算术基本定理，也叫唯一分解定理：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对于任何大于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的正整数，它都能被唯一分解为有限个质数的乘积。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为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质数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我们可以结合埃式筛法和试除法的思想对任意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进行质因数分解。具体来说，我们只需要枚举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2~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zh-CN" altLang="en-US" dirty="0"/>
                  <a:t> 之间的质数，如果一个质数是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的因数，我们就一次性将该质数产生的因数全部去除（即</a:t>
                </a:r>
                <a:r>
                  <a:rPr lang="en-US" altLang="zh-CN" dirty="0"/>
                  <a:t>x/p</a:t>
                </a:r>
                <a:r>
                  <a:rPr lang="zh-CN" altLang="en-US" dirty="0"/>
                  <a:t>直到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不包含因子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）并计数，直到剩 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或者一个大于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rad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的质数。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r>
                  <a:rPr lang="zh-CN" altLang="en-US" dirty="0"/>
                  <a:t>这里有一个结论，不大于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的质数的个数 </a:t>
                </a:r>
                <a:r>
                  <a:rPr lang="en-US" altLang="zh-CN" dirty="0"/>
                  <a:t>pi(n) </a:t>
                </a:r>
                <a:r>
                  <a:rPr lang="zh-CN" altLang="en-US" dirty="0"/>
                  <a:t>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zh-CN" altLang="en-US" dirty="0"/>
                  <a:t> 的数量级，对于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来说所有的质因数小于等于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ra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至多一个例外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，那么枚举它的所有可能的质因子并进行分解的复杂度就是 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1129923-69FC-44B4-277C-5543F49D1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99" y="1496727"/>
                <a:ext cx="9446127" cy="4413837"/>
              </a:xfrm>
              <a:prstGeom prst="rect">
                <a:avLst/>
              </a:prstGeom>
              <a:blipFill>
                <a:blip r:embed="rId2"/>
                <a:stretch>
                  <a:fillRect l="-1484" t="-1796" r="-3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96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902A9B-B0E1-6506-2900-5022BB767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线性筛法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58D4AC-3C5E-1006-24F5-8ABB07BBDD18}"/>
              </a:ext>
            </a:extLst>
          </p:cNvPr>
          <p:cNvSpPr txBox="1"/>
          <p:nvPr/>
        </p:nvSpPr>
        <p:spPr>
          <a:xfrm>
            <a:off x="660399" y="1573730"/>
            <a:ext cx="10160001" cy="3323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埃式筛法没办法线性复杂度，因为像</a:t>
            </a:r>
            <a:r>
              <a:rPr lang="en-US" altLang="zh-CN" dirty="0"/>
              <a:t>12</a:t>
            </a:r>
            <a:r>
              <a:rPr lang="zh-CN" altLang="en-US" dirty="0"/>
              <a:t>这样的数既会被</a:t>
            </a:r>
            <a:r>
              <a:rPr lang="en-US" altLang="zh-CN" dirty="0"/>
              <a:t>2</a:t>
            </a:r>
            <a:r>
              <a:rPr lang="zh-CN" altLang="en-US" dirty="0"/>
              <a:t>又会被</a:t>
            </a:r>
            <a:r>
              <a:rPr lang="en-US" altLang="zh-CN" dirty="0"/>
              <a:t>3</a:t>
            </a:r>
            <a:r>
              <a:rPr lang="zh-CN" altLang="en-US" dirty="0"/>
              <a:t>标记。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由算术基本定理，每个正整数的质因数分解是唯一的，但是一般情况下我们的书写这些质因数的顺序却不唯一，于是线性筛则考虑对于一个合数是否能有唯一的产生方法，以此来优化我们的标记，它的策略是“从大到小积累质因子”来唯一的确定合数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例如 </a:t>
            </a:r>
            <a:r>
              <a:rPr lang="en-US" altLang="zh-CN" dirty="0"/>
              <a:t>12=2*2*3</a:t>
            </a:r>
            <a:r>
              <a:rPr lang="zh-CN" altLang="en-US" dirty="0"/>
              <a:t>，我们让它的产生方法确定为 </a:t>
            </a:r>
            <a:r>
              <a:rPr lang="en-US" altLang="zh-CN" dirty="0"/>
              <a:t>12=3*2*2</a:t>
            </a:r>
            <a:r>
              <a:rPr lang="zh-CN" altLang="en-US" dirty="0"/>
              <a:t>，即可唯一的标记它。也就是说，对于任意一个合数，我们通过最后一个它的最小的质因子来确定它。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那么具体的，我们维护一个质数栈 </a:t>
            </a:r>
            <a:r>
              <a:rPr lang="en-US" altLang="zh-CN" dirty="0"/>
              <a:t>p[]</a:t>
            </a:r>
            <a:r>
              <a:rPr lang="zh-CN" altLang="en-US" dirty="0"/>
              <a:t>，从 </a:t>
            </a:r>
            <a:r>
              <a:rPr lang="en-US" altLang="zh-CN" dirty="0"/>
              <a:t>2 </a:t>
            </a:r>
            <a:r>
              <a:rPr lang="zh-CN" altLang="en-US" dirty="0"/>
              <a:t>到 </a:t>
            </a:r>
            <a:r>
              <a:rPr lang="en-US" altLang="zh-CN" dirty="0"/>
              <a:t>n </a:t>
            </a:r>
            <a:r>
              <a:rPr lang="zh-CN" altLang="en-US" dirty="0"/>
              <a:t>扫描所有数，如果当前的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没有被标记，那么它就是一个质数。然后我们考虑用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来进行一些拓展。</a:t>
            </a:r>
            <a:endParaRPr lang="en-US" altLang="zh-CN" dirty="0"/>
          </a:p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7865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902A9B-B0E1-6506-2900-5022BB767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线性筛法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58D4AC-3C5E-1006-24F5-8ABB07BBDD18}"/>
              </a:ext>
            </a:extLst>
          </p:cNvPr>
          <p:cNvSpPr txBox="1"/>
          <p:nvPr/>
        </p:nvSpPr>
        <p:spPr>
          <a:xfrm>
            <a:off x="660399" y="1573730"/>
            <a:ext cx="10160001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对于每一个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我们从小到大扫描所有已经得到的质因子 </a:t>
            </a:r>
            <a:r>
              <a:rPr lang="en-US" altLang="zh-CN" dirty="0"/>
              <a:t>p[j]</a:t>
            </a:r>
            <a:r>
              <a:rPr lang="zh-CN" altLang="en-US" dirty="0"/>
              <a:t>，然后配合 </a:t>
            </a:r>
            <a:r>
              <a:rPr lang="en-US" altLang="zh-CN" dirty="0"/>
              <a:t>i </a:t>
            </a:r>
            <a:r>
              <a:rPr lang="zh-CN" altLang="en-US" dirty="0"/>
              <a:t>来标记合数。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如果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是一个质数，那么它一定是当前栈中最大的那个，那么它应该利用所有已经得到的质数来得到一些合数，即 </a:t>
            </a:r>
            <a:r>
              <a:rPr lang="en-US" altLang="zh-CN" dirty="0" err="1"/>
              <a:t>i</a:t>
            </a:r>
            <a:r>
              <a:rPr lang="en-US" altLang="zh-CN" dirty="0"/>
              <a:t>*p[j] </a:t>
            </a:r>
            <a:r>
              <a:rPr lang="zh-CN" altLang="en-US" dirty="0"/>
              <a:t>来得到新的合数，把 </a:t>
            </a:r>
            <a:r>
              <a:rPr lang="en-US" altLang="zh-CN" dirty="0"/>
              <a:t>p[j] </a:t>
            </a:r>
            <a:r>
              <a:rPr lang="zh-CN" altLang="en-US" dirty="0"/>
              <a:t>当作 </a:t>
            </a:r>
            <a:r>
              <a:rPr lang="en-US" altLang="zh-CN" dirty="0" err="1"/>
              <a:t>i</a:t>
            </a:r>
            <a:r>
              <a:rPr lang="en-US" altLang="zh-CN" dirty="0"/>
              <a:t>*p[j] </a:t>
            </a:r>
            <a:r>
              <a:rPr lang="zh-CN" altLang="en-US" dirty="0"/>
              <a:t>的最小质因子（ </a:t>
            </a:r>
            <a:r>
              <a:rPr lang="en-US" altLang="zh-CN" dirty="0" err="1"/>
              <a:t>i</a:t>
            </a:r>
            <a:r>
              <a:rPr lang="en-US" altLang="zh-CN" dirty="0"/>
              <a:t>*p[j] </a:t>
            </a:r>
            <a:r>
              <a:rPr lang="zh-CN" altLang="en-US" dirty="0"/>
              <a:t>的质因子只有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p[j]</a:t>
            </a:r>
            <a:r>
              <a:rPr lang="zh-CN" altLang="en-US" dirty="0"/>
              <a:t>），这样得到的合数符合我们从大到小的添加质因子的准则。</a:t>
            </a:r>
            <a:endParaRPr lang="en-US" altLang="zh-CN" dirty="0"/>
          </a:p>
          <a:p>
            <a:pPr algn="l"/>
            <a:endParaRPr lang="en-US" altLang="zh-CN" dirty="0"/>
          </a:p>
          <a:p>
            <a:r>
              <a:rPr lang="zh-CN" altLang="en-US" dirty="0"/>
              <a:t>如果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是一个合数，为了让 </a:t>
            </a:r>
            <a:r>
              <a:rPr lang="en-US" altLang="zh-CN" dirty="0" err="1"/>
              <a:t>i</a:t>
            </a:r>
            <a:r>
              <a:rPr lang="en-US" altLang="zh-CN" dirty="0"/>
              <a:t>*p[j] </a:t>
            </a:r>
            <a:r>
              <a:rPr lang="zh-CN" altLang="en-US" dirty="0"/>
              <a:t>保证 </a:t>
            </a:r>
            <a:r>
              <a:rPr lang="en-US" altLang="zh-CN" dirty="0"/>
              <a:t>p[j] </a:t>
            </a:r>
            <a:r>
              <a:rPr lang="zh-CN" altLang="en-US" dirty="0"/>
              <a:t>是最小的质因子，我们需要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的最小质因子是大于等于 </a:t>
            </a:r>
            <a:r>
              <a:rPr lang="en-US" altLang="zh-CN" dirty="0"/>
              <a:t>p[j] </a:t>
            </a:r>
            <a:r>
              <a:rPr lang="zh-CN" altLang="en-US" dirty="0"/>
              <a:t>的，因为当前的已经得到的质数中必然有一个是它的因子，所以我们从小到大枚举第一个遇到的使得表达式 </a:t>
            </a:r>
            <a:r>
              <a:rPr lang="en-US" altLang="zh-CN" dirty="0" err="1"/>
              <a:t>i%p</a:t>
            </a:r>
            <a:r>
              <a:rPr lang="en-US" altLang="zh-CN" dirty="0"/>
              <a:t>[j]==0 </a:t>
            </a:r>
            <a:r>
              <a:rPr lang="zh-CN" altLang="en-US" dirty="0"/>
              <a:t>（</a:t>
            </a:r>
            <a:r>
              <a:rPr lang="en-US" altLang="zh-CN" dirty="0"/>
              <a:t>0&lt;j&lt;=</a:t>
            </a:r>
            <a:r>
              <a:rPr lang="en-US" altLang="zh-CN" dirty="0" err="1"/>
              <a:t>cnt</a:t>
            </a:r>
            <a:r>
              <a:rPr lang="zh-CN" altLang="en-US" dirty="0"/>
              <a:t>）的 </a:t>
            </a:r>
            <a:r>
              <a:rPr lang="en-US" altLang="zh-CN" dirty="0"/>
              <a:t>p[k] </a:t>
            </a:r>
            <a:r>
              <a:rPr lang="zh-CN" altLang="en-US" dirty="0"/>
              <a:t>就是该最小质因子，那么在这之前的所有质数都可以产生合数 </a:t>
            </a:r>
            <a:r>
              <a:rPr lang="en-US" altLang="zh-CN" dirty="0" err="1"/>
              <a:t>i</a:t>
            </a:r>
            <a:r>
              <a:rPr lang="en-US" altLang="zh-CN" dirty="0"/>
              <a:t>*p[j] </a:t>
            </a:r>
            <a:r>
              <a:rPr lang="zh-CN" altLang="en-US" dirty="0"/>
              <a:t>使其满足</a:t>
            </a:r>
            <a:r>
              <a:rPr lang="en-US" altLang="zh-CN" dirty="0"/>
              <a:t>p[j] </a:t>
            </a:r>
            <a:r>
              <a:rPr lang="zh-CN" altLang="en-US" dirty="0"/>
              <a:t>为最小质因子，当然，</a:t>
            </a:r>
            <a:r>
              <a:rPr lang="en-US" altLang="zh-CN" dirty="0" err="1"/>
              <a:t>i</a:t>
            </a:r>
            <a:r>
              <a:rPr lang="en-US" altLang="zh-CN" dirty="0"/>
              <a:t>*p[k] </a:t>
            </a:r>
            <a:r>
              <a:rPr lang="zh-CN" altLang="en-US" dirty="0"/>
              <a:t>也是满足 </a:t>
            </a:r>
            <a:r>
              <a:rPr lang="en-US" altLang="zh-CN" dirty="0"/>
              <a:t>p[k] </a:t>
            </a:r>
            <a:r>
              <a:rPr lang="zh-CN" altLang="en-US" dirty="0"/>
              <a:t>为最小质因子的。</a:t>
            </a:r>
            <a:r>
              <a:rPr lang="en-US" altLang="zh-CN" dirty="0"/>
              <a:t> </a:t>
            </a:r>
            <a:r>
              <a:rPr lang="zh-CN" altLang="en-US" dirty="0"/>
              <a:t>对于大于</a:t>
            </a:r>
            <a:r>
              <a:rPr lang="en-US" altLang="zh-CN" dirty="0"/>
              <a:t>p[k]</a:t>
            </a:r>
            <a:r>
              <a:rPr lang="zh-CN" altLang="en-US" dirty="0"/>
              <a:t>的质因子</a:t>
            </a:r>
            <a:r>
              <a:rPr lang="en-US" altLang="zh-CN" dirty="0"/>
              <a:t>p[j]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en-US" altLang="zh-CN" dirty="0"/>
              <a:t>*p[j] </a:t>
            </a:r>
            <a:r>
              <a:rPr lang="zh-CN" altLang="en-US" dirty="0"/>
              <a:t>就不满足 </a:t>
            </a:r>
            <a:r>
              <a:rPr lang="en-US" altLang="zh-CN" dirty="0"/>
              <a:t>p[j] </a:t>
            </a:r>
            <a:r>
              <a:rPr lang="zh-CN" altLang="en-US" dirty="0"/>
              <a:t>为最小质因子了，是非法的生成，所以我们用 </a:t>
            </a:r>
            <a:r>
              <a:rPr lang="en-US" altLang="zh-CN" dirty="0"/>
              <a:t>p[k] </a:t>
            </a:r>
            <a:r>
              <a:rPr lang="zh-CN" altLang="en-US" dirty="0"/>
              <a:t>生成合数之后</a:t>
            </a:r>
            <a:r>
              <a:rPr lang="en-US" altLang="zh-CN" dirty="0"/>
              <a:t>break</a:t>
            </a:r>
            <a:r>
              <a:rPr lang="zh-CN" altLang="en-US" dirty="0"/>
              <a:t>掉该质数枚举，去看下一个 </a:t>
            </a:r>
            <a:r>
              <a:rPr lang="en-US" altLang="zh-CN" dirty="0" err="1"/>
              <a:t>i</a:t>
            </a:r>
            <a:r>
              <a:rPr lang="zh-CN" altLang="en-US" dirty="0"/>
              <a:t>。</a:t>
            </a:r>
          </a:p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5372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902A9B-B0E1-6506-2900-5022BB767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线性筛法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58D4AC-3C5E-1006-24F5-8ABB07BBDD18}"/>
              </a:ext>
            </a:extLst>
          </p:cNvPr>
          <p:cNvSpPr txBox="1"/>
          <p:nvPr/>
        </p:nvSpPr>
        <p:spPr>
          <a:xfrm>
            <a:off x="660399" y="1573730"/>
            <a:ext cx="10160001" cy="3877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通过以上的做法，我们可以不重不漏的筛选到 </a:t>
            </a:r>
            <a:r>
              <a:rPr lang="en-US" altLang="zh-CN" dirty="0"/>
              <a:t>2~n </a:t>
            </a:r>
            <a:r>
              <a:rPr lang="zh-CN" altLang="en-US" dirty="0"/>
              <a:t>中的每一个质数，代码非常简短。</a:t>
            </a:r>
            <a:endParaRPr lang="en-US" altLang="zh-CN" dirty="0"/>
          </a:p>
          <a:p>
            <a:pPr algn="l"/>
            <a:r>
              <a:rPr lang="zh-CN" altLang="en-US" dirty="0"/>
              <a:t>代码如下：</a:t>
            </a:r>
            <a:endParaRPr lang="en-US" altLang="zh-CN" dirty="0"/>
          </a:p>
          <a:p>
            <a:pPr algn="l"/>
            <a:endParaRPr lang="en-US" altLang="zh-CN" dirty="0"/>
          </a:p>
          <a:p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prime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!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])  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cnt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break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该算法的复杂度为线性</a:t>
            </a:r>
            <a:r>
              <a:rPr lang="en-US" altLang="zh-CN" dirty="0"/>
              <a:t>O(n)</a:t>
            </a:r>
            <a:r>
              <a:rPr lang="zh-CN" altLang="en-US" dirty="0"/>
              <a:t>，因为每个数最多被标记一次。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193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1DA6CA6-BB5D-152A-7E72-CF1401C23D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62A60E-65AE-6A35-5630-75C7575A2A47}"/>
              </a:ext>
            </a:extLst>
          </p:cNvPr>
          <p:cNvSpPr txBox="1"/>
          <p:nvPr/>
        </p:nvSpPr>
        <p:spPr>
          <a:xfrm>
            <a:off x="660400" y="1576552"/>
            <a:ext cx="6421470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筛法模板：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再求素数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应用题：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Prime distance</a:t>
            </a:r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阶乘分解</a:t>
            </a:r>
          </a:p>
        </p:txBody>
      </p:sp>
    </p:spTree>
    <p:extLst>
      <p:ext uri="{BB962C8B-B14F-4D97-AF65-F5344CB8AC3E}">
        <p14:creationId xmlns:p14="http://schemas.microsoft.com/office/powerpoint/2010/main" val="3165130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A4A7F12-0AB7-0F55-DFF8-2FDD038DDD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530226"/>
            <a:ext cx="6337166" cy="554037"/>
          </a:xfrm>
        </p:spPr>
        <p:txBody>
          <a:bodyPr/>
          <a:lstStyle/>
          <a:p>
            <a:r>
              <a:rPr lang="en-US" altLang="zh-CN" dirty="0"/>
              <a:t>Prime distance </a:t>
            </a:r>
            <a:r>
              <a:rPr lang="zh-CN" altLang="en-US" dirty="0"/>
              <a:t>（质数筛法）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F19A0CB-AD40-AF32-3490-529792141EE9}"/>
                  </a:ext>
                </a:extLst>
              </p:cNvPr>
              <p:cNvSpPr txBox="1"/>
              <p:nvPr/>
            </p:nvSpPr>
            <p:spPr>
              <a:xfrm>
                <a:off x="660400" y="1419725"/>
                <a:ext cx="8286282" cy="38840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我们注意到 </a:t>
                </a:r>
                <a:r>
                  <a:rPr lang="en-US" altLang="zh-CN" dirty="0"/>
                  <a:t>L,R</a:t>
                </a:r>
                <a:r>
                  <a:rPr lang="zh-CN" altLang="en-US" dirty="0"/>
                  <a:t>虽然很大，但是 </a:t>
                </a:r>
                <a:r>
                  <a:rPr lang="en-US" altLang="zh-CN" dirty="0"/>
                  <a:t>R-L </a:t>
                </a:r>
                <a:r>
                  <a:rPr lang="zh-CN" altLang="en-US" dirty="0"/>
                  <a:t>比较小。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我们只需要判断 </a:t>
                </a:r>
                <a:r>
                  <a:rPr lang="en-US" altLang="zh-CN" dirty="0"/>
                  <a:t>L~R </a:t>
                </a:r>
                <a:r>
                  <a:rPr lang="zh-CN" altLang="en-US" dirty="0"/>
                  <a:t>之间的数是否为质数，那么只需要看看它有没有一个除了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之外的因数。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考虑到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如果存在一个因数的话，那么必然存在质因数在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2~</m:t>
                    </m:r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rad>
                  </m:oMath>
                </a14:m>
                <a:r>
                  <a:rPr lang="zh-CN" altLang="en-US" dirty="0"/>
                  <a:t> 之间。</a:t>
                </a:r>
                <a:endParaRPr lang="en-US" altLang="zh-CN" dirty="0"/>
              </a:p>
              <a:p>
                <a:pPr algn="l"/>
                <a:r>
                  <a:rPr lang="zh-CN" altLang="en-US" dirty="0"/>
                  <a:t>所以我们可以考虑从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2~</m:t>
                    </m:r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rad>
                  </m:oMath>
                </a14:m>
                <a:r>
                  <a:rPr lang="zh-CN" altLang="en-US" dirty="0"/>
                  <a:t> 的质数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，运用埃式筛的方法，枚举它产生的合数</a:t>
                </a:r>
                <a:r>
                  <a:rPr lang="en-US" altLang="zh-CN" dirty="0"/>
                  <a:t>	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L&lt;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*p&lt; R</a:t>
                </a:r>
                <a:r>
                  <a:rPr lang="zh-CN" altLang="en-US" dirty="0"/>
                  <a:t> ，标记之后枚举区间，没有被标记的就是质数，然后相邻的质数距离打擂台即可。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代码的细节比较多：一个是作为一个多测题目，要注意数组的清空。</a:t>
                </a:r>
                <a:endParaRPr lang="en-US" altLang="zh-CN" dirty="0"/>
              </a:p>
              <a:p>
                <a:pPr algn="l"/>
                <a:r>
                  <a:rPr lang="zh-CN" altLang="en-US" dirty="0"/>
                  <a:t>另一个对于</a:t>
                </a:r>
                <a:r>
                  <a:rPr lang="en-US" altLang="zh-CN" dirty="0"/>
                  <a:t>L=1,</a:t>
                </a:r>
                <a:r>
                  <a:rPr lang="zh-CN" altLang="en-US" dirty="0"/>
                  <a:t>我们的筛法并没有考虑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是不是质数，所以需要对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特判一下，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不是质数。</a:t>
                </a:r>
                <a:endParaRPr lang="en-US" altLang="zh-CN" dirty="0"/>
              </a:p>
              <a:p>
                <a:pPr algn="l"/>
                <a:r>
                  <a:rPr lang="zh-CN" altLang="en-US" dirty="0"/>
                  <a:t>其它的代码细节比如说 计算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的倍数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的范围时注意向下向上取整的写法。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F19A0CB-AD40-AF32-3490-529792141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419725"/>
                <a:ext cx="8286282" cy="3884012"/>
              </a:xfrm>
              <a:prstGeom prst="rect">
                <a:avLst/>
              </a:prstGeom>
              <a:blipFill>
                <a:blip r:embed="rId2"/>
                <a:stretch>
                  <a:fillRect l="-1691" t="-2041" r="-1691" b="-26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79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87387B0-808C-06D1-68F6-6D168B6DDC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530226"/>
            <a:ext cx="4970379" cy="554037"/>
          </a:xfrm>
        </p:spPr>
        <p:txBody>
          <a:bodyPr/>
          <a:lstStyle/>
          <a:p>
            <a:r>
              <a:rPr lang="zh-CN" altLang="en-US" dirty="0"/>
              <a:t>阶乘分解（质因数分解）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1024F93-D23D-5FDD-00D3-6E5FC3EB6916}"/>
                  </a:ext>
                </a:extLst>
              </p:cNvPr>
              <p:cNvSpPr txBox="1"/>
              <p:nvPr/>
            </p:nvSpPr>
            <p:spPr>
              <a:xfrm>
                <a:off x="660400" y="1501541"/>
                <a:ext cx="9730072" cy="43488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defTabSz="576000"/>
                <a:r>
                  <a:rPr lang="en-US" altLang="zh-CN" dirty="0"/>
                  <a:t>	</a:t>
                </a:r>
                <a:r>
                  <a:rPr lang="zh-CN" altLang="en-US" dirty="0"/>
                  <a:t>如果我们对阶乘的每一个因子进行质因数分解，然后累计起来，如果我们用埃式筛法提前处理出了所有可能的质因数，那么所以对 </a:t>
                </a:r>
                <a:r>
                  <a:rPr lang="en-US" altLang="zh-CN" dirty="0"/>
                  <a:t>1~n </a:t>
                </a:r>
                <a:r>
                  <a:rPr lang="zh-CN" altLang="en-US" dirty="0"/>
                  <a:t>进行因式分解，那么根据我们之前分析的质因数分解时间复杂度，该复杂度应当是 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，或许可以一试。（在</a:t>
                </a:r>
                <a:r>
                  <a:rPr lang="en-US" altLang="zh-CN" dirty="0"/>
                  <a:t>OJ</a:t>
                </a:r>
                <a:r>
                  <a:rPr lang="zh-CN" altLang="en-US" dirty="0"/>
                  <a:t>上能拿到</a:t>
                </a:r>
                <a:r>
                  <a:rPr lang="en-US" altLang="zh-CN" dirty="0"/>
                  <a:t>80</a:t>
                </a:r>
                <a:r>
                  <a:rPr lang="zh-CN" altLang="en-US" dirty="0"/>
                  <a:t>分）</a:t>
                </a:r>
                <a:endParaRPr lang="en-US" altLang="zh-CN" dirty="0"/>
              </a:p>
              <a:p>
                <a:pPr algn="l" defTabSz="576000"/>
                <a:endParaRPr lang="en-US" altLang="zh-CN" dirty="0"/>
              </a:p>
              <a:p>
                <a:pPr algn="l" defTabSz="576000"/>
                <a:r>
                  <a:rPr lang="en-US" altLang="zh-CN" dirty="0"/>
                  <a:t>	</a:t>
                </a:r>
                <a:r>
                  <a:rPr lang="zh-CN" altLang="en-US" dirty="0"/>
                  <a:t>不过我们除了考虑每个数的分解，其实还可以考虑每个质数在所有 </a:t>
                </a:r>
                <a:r>
                  <a:rPr lang="en-US" altLang="zh-CN" dirty="0"/>
                  <a:t>1~n </a:t>
                </a:r>
                <a:r>
                  <a:rPr lang="zh-CN" altLang="en-US" dirty="0"/>
                  <a:t>之间的贡献，</a:t>
                </a:r>
                <a:endParaRPr lang="en-US" altLang="zh-CN" dirty="0"/>
              </a:p>
              <a:p>
                <a:pPr algn="l" defTabSz="576000"/>
                <a:r>
                  <a:rPr lang="zh-CN" altLang="en-US" dirty="0"/>
                  <a:t>比如说对于质数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来说，显然 </a:t>
                </a:r>
                <a:r>
                  <a:rPr lang="en-US" altLang="zh-CN" dirty="0"/>
                  <a:t>1~n </a:t>
                </a:r>
                <a:r>
                  <a:rPr lang="zh-CN" altLang="en-US" dirty="0"/>
                  <a:t>之间有 </a:t>
                </a:r>
                <a:r>
                  <a:rPr lang="en-US" altLang="zh-CN" dirty="0"/>
                  <a:t>n/2 </a:t>
                </a:r>
                <a:r>
                  <a:rPr lang="zh-CN" altLang="en-US" dirty="0"/>
                  <a:t>个数都含有质因数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，同理，</a:t>
                </a:r>
                <a:r>
                  <a:rPr lang="en-US" altLang="zh-CN" dirty="0"/>
                  <a:t>1~n </a:t>
                </a:r>
                <a:r>
                  <a:rPr lang="zh-CN" altLang="en-US" dirty="0"/>
                  <a:t>之间有 </a:t>
                </a:r>
                <a:r>
                  <a:rPr lang="en-US" altLang="zh-CN" dirty="0"/>
                  <a:t>n/(2*2)</a:t>
                </a:r>
                <a:r>
                  <a:rPr lang="zh-CN" altLang="en-US" dirty="0"/>
                  <a:t> 个数含有因数 </a:t>
                </a:r>
                <a:r>
                  <a:rPr lang="en-US" altLang="zh-CN" dirty="0"/>
                  <a:t>2*2</a:t>
                </a:r>
                <a:r>
                  <a:rPr lang="zh-CN" altLang="en-US" dirty="0"/>
                  <a:t>，也就是含有两个因数</a:t>
                </a:r>
                <a:r>
                  <a:rPr lang="en-US" altLang="zh-CN" dirty="0"/>
                  <a:t> 2</a:t>
                </a:r>
                <a:r>
                  <a:rPr lang="zh-CN" altLang="en-US" dirty="0"/>
                  <a:t>，那么对于 </a:t>
                </a:r>
                <a:r>
                  <a:rPr lang="en-US" altLang="zh-CN" dirty="0"/>
                  <a:t>2*2*2,2*2*2*2</a:t>
                </a:r>
                <a:r>
                  <a:rPr lang="zh-CN" altLang="en-US" dirty="0"/>
                  <a:t>来说也是如此，如果我们要就此计算 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在所有数中能分解出的个数，我们只需要计算 </a:t>
                </a:r>
                <a:r>
                  <a:rPr lang="en-US" altLang="zh-CN" dirty="0"/>
                  <a:t>n/2+n/(2*2)+…+n/(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𝑙𝑜𝑔𝑛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。</a:t>
                </a:r>
                <a:endParaRPr lang="en-US" altLang="zh-CN" dirty="0"/>
              </a:p>
              <a:p>
                <a:pPr algn="l" defTabSz="576000"/>
                <a:endParaRPr lang="en-US" altLang="zh-CN" dirty="0"/>
              </a:p>
              <a:p>
                <a:pPr algn="l" defTabSz="576000"/>
                <a:r>
                  <a:rPr lang="en-US" altLang="zh-CN" dirty="0"/>
                  <a:t>	</a:t>
                </a:r>
                <a:r>
                  <a:rPr lang="zh-CN" altLang="en-US" dirty="0"/>
                  <a:t>可能有人好奇为什么是直接相加而不是 加上 </a:t>
                </a:r>
                <a:r>
                  <a:rPr lang="en-US" altLang="zh-CN" dirty="0"/>
                  <a:t>2*n/(2*2),3*n/(2*2*2)</a:t>
                </a:r>
                <a:r>
                  <a:rPr lang="zh-CN" altLang="en-US" dirty="0"/>
                  <a:t>，那是因为我们在计算有多少个数含有一个因数 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的时候，也算上了所有的含有两个因数 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的数，所以对于这些包含两个因数 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的数来说，它们只剩下一个 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没有被统计，对于有三个因数 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的数也是同理，它的前两个 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都已经被统计过了。</a:t>
                </a:r>
                <a:endParaRPr lang="en-US" altLang="zh-CN" dirty="0"/>
              </a:p>
              <a:p>
                <a:pPr algn="l" defTabSz="576000"/>
                <a:endParaRPr lang="en-US" altLang="zh-CN" dirty="0"/>
              </a:p>
              <a:p>
                <a:pPr algn="l" defTabSz="576000"/>
                <a:r>
                  <a:rPr lang="zh-CN" altLang="en-US" dirty="0"/>
                  <a:t>这样的话我们扫描所有的最终复杂度就是 </a:t>
                </a:r>
                <a:r>
                  <a:rPr lang="en-US" altLang="zh-CN" dirty="0"/>
                  <a:t>O(n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𝑙𝑜𝑔𝑛</m:t>
                    </m:r>
                  </m:oMath>
                </a14:m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1024F93-D23D-5FDD-00D3-6E5FC3EB6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501541"/>
                <a:ext cx="9730072" cy="4348883"/>
              </a:xfrm>
              <a:prstGeom prst="rect">
                <a:avLst/>
              </a:prstGeom>
              <a:blipFill>
                <a:blip r:embed="rId2"/>
                <a:stretch>
                  <a:fillRect l="-1441" t="-1821" r="-1504" b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45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7360AD3-0583-E5FB-22AC-C74AFD95A2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约数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B0CDA44-9842-6707-8F07-C5420FBEEDA4}"/>
                  </a:ext>
                </a:extLst>
              </p:cNvPr>
              <p:cNvSpPr txBox="1"/>
              <p:nvPr/>
            </p:nvSpPr>
            <p:spPr>
              <a:xfrm>
                <a:off x="660400" y="1453415"/>
                <a:ext cx="9580880" cy="27882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定义：如果整数 </a:t>
                </a:r>
                <a:r>
                  <a:rPr lang="en-US" altLang="zh-CN" dirty="0"/>
                  <a:t>d </a:t>
                </a:r>
                <a:r>
                  <a:rPr lang="zh-CN" altLang="en-US" dirty="0"/>
                  <a:t>可以整除 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，那么 </a:t>
                </a:r>
                <a:r>
                  <a:rPr lang="en-US" altLang="zh-CN" dirty="0"/>
                  <a:t>d </a:t>
                </a:r>
                <a:r>
                  <a:rPr lang="zh-CN" altLang="en-US" dirty="0"/>
                  <a:t>称为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的约数，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为 </a:t>
                </a:r>
                <a:r>
                  <a:rPr lang="en-US" altLang="zh-CN" dirty="0"/>
                  <a:t>d </a:t>
                </a:r>
                <a:r>
                  <a:rPr lang="zh-CN" altLang="en-US" dirty="0"/>
                  <a:t>的倍数，记作 </a:t>
                </a:r>
                <a:r>
                  <a:rPr lang="en-US" altLang="zh-CN" dirty="0" err="1"/>
                  <a:t>d|n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算术基本定理的推论：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一个正整数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可以被表达为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个质因数的幂次方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𝑝𝑖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𝑐𝑖</m:t>
                        </m:r>
                      </m:sup>
                    </m:sSup>
                  </m:oMath>
                </a14:m>
                <a:r>
                  <a:rPr lang="zh-CN" altLang="en-US" dirty="0"/>
                  <a:t> 的乘积，那么由乘法原理</a:t>
                </a:r>
                <a:endParaRPr lang="en-US" altLang="zh-CN" dirty="0"/>
              </a:p>
              <a:p>
                <a:pPr algn="l"/>
                <a:r>
                  <a:rPr lang="zh-CN" altLang="en-US" dirty="0"/>
                  <a:t>所有正约数的个数为 </a:t>
                </a:r>
                <a:r>
                  <a:rPr lang="en-US" altLang="zh-CN" dirty="0"/>
                  <a:t>(c1+1)*(c2+1)…(ck+1)</a:t>
                </a:r>
                <a:r>
                  <a:rPr lang="zh-CN" altLang="en-US" dirty="0"/>
                  <a:t>，即每个位置的质数可以有</a:t>
                </a:r>
                <a:r>
                  <a:rPr lang="en-US" altLang="zh-CN" dirty="0"/>
                  <a:t>ci+1</a:t>
                </a:r>
                <a:r>
                  <a:rPr lang="zh-CN" altLang="en-US" dirty="0"/>
                  <a:t>个选择来生成一个约数。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r>
                  <a:rPr lang="zh-CN" altLang="en-US" dirty="0"/>
                  <a:t>那么由乘法分配律，所有正约数的和为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)∗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+…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+…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B0CDA44-9842-6707-8F07-C5420FBE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453415"/>
                <a:ext cx="9580880" cy="2788264"/>
              </a:xfrm>
              <a:prstGeom prst="rect">
                <a:avLst/>
              </a:prstGeom>
              <a:blipFill>
                <a:blip r:embed="rId2"/>
                <a:stretch>
                  <a:fillRect l="-1463" t="-2838" b="-26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653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4C9FB01-6085-127D-BA6F-050483EAA2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530226"/>
            <a:ext cx="6563360" cy="554037"/>
          </a:xfrm>
        </p:spPr>
        <p:txBody>
          <a:bodyPr/>
          <a:lstStyle/>
          <a:p>
            <a:r>
              <a:rPr lang="zh-CN" altLang="en-US" dirty="0"/>
              <a:t>求</a:t>
            </a:r>
            <a:r>
              <a:rPr lang="en-US" altLang="zh-CN" dirty="0"/>
              <a:t>n</a:t>
            </a:r>
            <a:r>
              <a:rPr lang="zh-CN" altLang="en-US" dirty="0"/>
              <a:t>的正约数集合</a:t>
            </a:r>
            <a:r>
              <a:rPr lang="en-US" altLang="zh-CN" dirty="0"/>
              <a:t>——</a:t>
            </a:r>
            <a:r>
              <a:rPr lang="zh-CN" altLang="en-US" dirty="0"/>
              <a:t>倍数法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907EF1-D7D7-FE53-0DD5-D1AADF1B437F}"/>
              </a:ext>
            </a:extLst>
          </p:cNvPr>
          <p:cNvSpPr txBox="1"/>
          <p:nvPr/>
        </p:nvSpPr>
        <p:spPr>
          <a:xfrm>
            <a:off x="660399" y="1458227"/>
            <a:ext cx="8584665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类似于筛法中用倍数标记 </a:t>
            </a:r>
            <a:r>
              <a:rPr lang="en-US" altLang="zh-CN" dirty="0"/>
              <a:t>n </a:t>
            </a:r>
            <a:r>
              <a:rPr lang="zh-CN" altLang="en-US" dirty="0"/>
              <a:t>的方法，我们可以枚举 </a:t>
            </a:r>
            <a:r>
              <a:rPr lang="en-US" altLang="zh-CN" dirty="0"/>
              <a:t>d </a:t>
            </a:r>
            <a:r>
              <a:rPr lang="zh-CN" altLang="en-US" dirty="0"/>
              <a:t>的倍数，从而把 </a:t>
            </a:r>
            <a:r>
              <a:rPr lang="en-US" altLang="zh-CN" dirty="0"/>
              <a:t>d </a:t>
            </a:r>
            <a:r>
              <a:rPr lang="zh-CN" altLang="en-US" dirty="0"/>
              <a:t>加入到将所有包含约数 </a:t>
            </a:r>
            <a:r>
              <a:rPr lang="en-US" altLang="zh-CN" dirty="0"/>
              <a:t>d </a:t>
            </a:r>
            <a:r>
              <a:rPr lang="zh-CN" altLang="en-US" dirty="0"/>
              <a:t>的正整数约数集合。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时间复杂度 </a:t>
            </a:r>
            <a:r>
              <a:rPr lang="en-US" altLang="zh-CN" dirty="0"/>
              <a:t>O(</a:t>
            </a:r>
            <a:r>
              <a:rPr lang="en-US" altLang="zh-CN" dirty="0" err="1"/>
              <a:t>n+n</a:t>
            </a:r>
            <a:r>
              <a:rPr lang="en-US" altLang="zh-CN" dirty="0"/>
              <a:t>/2+n/3+…)=O(</a:t>
            </a:r>
            <a:r>
              <a:rPr lang="en-US" altLang="zh-CN" dirty="0" err="1"/>
              <a:t>nlogn</a:t>
            </a:r>
            <a:r>
              <a:rPr lang="en-US" altLang="zh-CN" dirty="0"/>
              <a:t>) </a:t>
            </a:r>
            <a:r>
              <a:rPr lang="zh-CN" altLang="en-US" dirty="0"/>
              <a:t>，该复杂度也可以认为是 </a:t>
            </a:r>
            <a:r>
              <a:rPr lang="en-US" altLang="zh-CN" dirty="0"/>
              <a:t>1~n </a:t>
            </a:r>
            <a:r>
              <a:rPr lang="zh-CN" altLang="en-US" dirty="0"/>
              <a:t>中所有数的约数个数。</a:t>
            </a:r>
            <a:endParaRPr lang="en-US" altLang="zh-CN" dirty="0"/>
          </a:p>
          <a:p>
            <a:pPr algn="l"/>
            <a:r>
              <a:rPr lang="en-US" altLang="zh-CN" dirty="0"/>
              <a:t>(</a:t>
            </a:r>
            <a:r>
              <a:rPr lang="zh-CN" altLang="en-US" dirty="0"/>
              <a:t>结论：调和级数 </a:t>
            </a:r>
            <a:r>
              <a:rPr lang="en-US" altLang="zh-CN" dirty="0"/>
              <a:t>O(1/1+1/2+…+1/n)=log n)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5313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C04FAB4-27A0-53F8-D66E-72E56BC4D9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反素数 </a:t>
            </a:r>
            <a:r>
              <a:rPr lang="en-US" altLang="zh-CN" dirty="0"/>
              <a:t>(</a:t>
            </a:r>
            <a:r>
              <a:rPr lang="zh-CN" altLang="en-US" dirty="0"/>
              <a:t>约数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AD3B7D-101D-DDA6-61DD-3C01C87FEDBE}"/>
              </a:ext>
            </a:extLst>
          </p:cNvPr>
          <p:cNvSpPr txBox="1"/>
          <p:nvPr/>
        </p:nvSpPr>
        <p:spPr>
          <a:xfrm>
            <a:off x="660400" y="1496728"/>
            <a:ext cx="9715634" cy="4985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通过这道题我们来运用一下之前学过的知识，作一些推论。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令 </a:t>
            </a:r>
            <a:r>
              <a:rPr lang="en-US" altLang="zh-CN" dirty="0"/>
              <a:t>g(</a:t>
            </a:r>
            <a:r>
              <a:rPr lang="en-US" altLang="zh-CN" dirty="0" err="1"/>
              <a:t>i</a:t>
            </a:r>
            <a:r>
              <a:rPr lang="en-US" altLang="zh-CN" dirty="0"/>
              <a:t>) </a:t>
            </a:r>
            <a:r>
              <a:rPr lang="zh-CN" altLang="en-US" dirty="0"/>
              <a:t>为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的约数个数，反素数就是 </a:t>
            </a:r>
            <a:r>
              <a:rPr lang="en-US" altLang="zh-CN" dirty="0"/>
              <a:t>g(</a:t>
            </a:r>
            <a:r>
              <a:rPr lang="en-US" altLang="zh-CN" dirty="0" err="1"/>
              <a:t>i</a:t>
            </a:r>
            <a:r>
              <a:rPr lang="en-US" altLang="zh-CN" dirty="0"/>
              <a:t>)&gt;g(j)</a:t>
            </a:r>
            <a:r>
              <a:rPr lang="zh-CN" altLang="en-US" dirty="0"/>
              <a:t> </a:t>
            </a:r>
            <a:r>
              <a:rPr lang="en-US" altLang="zh-CN" dirty="0"/>
              <a:t>(j&lt;</a:t>
            </a:r>
            <a:r>
              <a:rPr lang="en-US" altLang="zh-CN" dirty="0" err="1"/>
              <a:t>i</a:t>
            </a:r>
            <a:r>
              <a:rPr lang="en-US" altLang="zh-CN" dirty="0"/>
              <a:t>) </a:t>
            </a:r>
            <a:r>
              <a:rPr lang="zh-CN" altLang="en-US" dirty="0"/>
              <a:t>的数，那么对于 </a:t>
            </a:r>
            <a:r>
              <a:rPr lang="en-US" altLang="zh-CN" dirty="0"/>
              <a:t>1~n </a:t>
            </a:r>
            <a:r>
              <a:rPr lang="zh-CN" altLang="en-US" dirty="0"/>
              <a:t>的所有的数来说，最大的反素数就是约数个数最多的数（取最小的那个）。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那么我们基本的目标就是求出约数个数最多的数。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下面给出两个引理来帮助解答这道题：</a:t>
            </a:r>
            <a:endParaRPr lang="en-US" altLang="zh-CN" dirty="0"/>
          </a:p>
          <a:p>
            <a:pPr algn="l"/>
            <a:r>
              <a:rPr lang="en-US" altLang="zh-CN" dirty="0"/>
              <a:t>1.</a:t>
            </a:r>
          </a:p>
          <a:p>
            <a:pPr algn="l" defTabSz="576000">
              <a:tabLst>
                <a:tab pos="0" algn="l"/>
              </a:tabLst>
            </a:pPr>
            <a:r>
              <a:rPr lang="en-US" altLang="zh-CN" dirty="0"/>
              <a:t>		</a:t>
            </a:r>
            <a:r>
              <a:rPr lang="zh-CN" altLang="en-US" dirty="0"/>
              <a:t>对于</a:t>
            </a:r>
            <a:r>
              <a:rPr lang="en-US" altLang="zh-CN" dirty="0"/>
              <a:t>int</a:t>
            </a:r>
            <a:r>
              <a:rPr lang="zh-CN" altLang="en-US" dirty="0"/>
              <a:t>内的数据来说，最小的</a:t>
            </a:r>
            <a:r>
              <a:rPr lang="en-US" altLang="zh-CN" dirty="0"/>
              <a:t>11</a:t>
            </a:r>
            <a:r>
              <a:rPr lang="zh-CN" altLang="en-US" dirty="0"/>
              <a:t>个质数的乘积 </a:t>
            </a:r>
            <a:r>
              <a:rPr lang="en-US" altLang="zh-CN" dirty="0"/>
              <a:t>2*3*5*…*31&gt;2e9,</a:t>
            </a:r>
            <a:r>
              <a:rPr lang="zh-CN" altLang="en-US" dirty="0"/>
              <a:t>因此任意一个正整数的质因数个数不会大于</a:t>
            </a:r>
            <a:r>
              <a:rPr lang="en-US" altLang="zh-CN" dirty="0"/>
              <a:t>10</a:t>
            </a:r>
            <a:r>
              <a:rPr lang="zh-CN" altLang="en-US" dirty="0"/>
              <a:t>。并且由于</a:t>
            </a:r>
            <a:r>
              <a:rPr lang="en-US" altLang="zh-CN" dirty="0"/>
              <a:t>2^31&gt;2e9,</a:t>
            </a:r>
            <a:r>
              <a:rPr lang="zh-CN" altLang="en-US" dirty="0"/>
              <a:t>因此对于该题，质因数的指数和不会大于</a:t>
            </a:r>
            <a:r>
              <a:rPr lang="en-US" altLang="zh-CN" dirty="0"/>
              <a:t>30</a:t>
            </a:r>
            <a:r>
              <a:rPr lang="zh-CN" altLang="en-US" dirty="0"/>
              <a:t>。</a:t>
            </a:r>
            <a:endParaRPr lang="en-US" altLang="zh-CN" dirty="0"/>
          </a:p>
          <a:p>
            <a:pPr algn="l" defTabSz="576000">
              <a:tabLst>
                <a:tab pos="0" algn="l"/>
              </a:tabLst>
            </a:pPr>
            <a:r>
              <a:rPr lang="en-US" altLang="zh-CN" dirty="0"/>
              <a:t>2.</a:t>
            </a:r>
          </a:p>
          <a:p>
            <a:pPr algn="l" defTabSz="576000">
              <a:tabLst>
                <a:tab pos="0" algn="l"/>
              </a:tabLst>
            </a:pPr>
            <a:r>
              <a:rPr lang="en-US" altLang="zh-CN" dirty="0"/>
              <a:t>		</a:t>
            </a:r>
            <a:r>
              <a:rPr lang="zh-CN" altLang="en-US" dirty="0"/>
              <a:t>由先前算术基本定理的推论，约数个数与指数数量相关，自然的，指数和越大指数的乘积就越大，即约数就越多，那么由引理</a:t>
            </a:r>
            <a:r>
              <a:rPr lang="en-US" altLang="zh-CN" dirty="0"/>
              <a:t>1</a:t>
            </a:r>
            <a:r>
              <a:rPr lang="zh-CN" altLang="en-US" dirty="0"/>
              <a:t>，我们的质因数越小越能够产生越多的指数，所以我们可以得到一个必要条件，那就是反素数一定是由这最小的</a:t>
            </a:r>
            <a:r>
              <a:rPr lang="en-US" altLang="zh-CN" dirty="0"/>
              <a:t>10</a:t>
            </a:r>
            <a:r>
              <a:rPr lang="zh-CN" altLang="en-US" dirty="0"/>
              <a:t>个质数产生的，因为它们可以产生最多的指数，最多的约数一定是由它们凑成的，并且它们的指数一定单调递减，用反证法不难得出。（找一个质数更大的替换一下，约数一定不会更大）</a:t>
            </a:r>
            <a:endParaRPr lang="en-US" altLang="zh-CN" dirty="0"/>
          </a:p>
          <a:p>
            <a:pPr algn="l" defTabSz="576000">
              <a:tabLst>
                <a:tab pos="0" algn="l"/>
              </a:tabLst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164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0087F50-CBA3-31B8-BB0F-20BD64E3F3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反素数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5D92D5-D92B-7286-9EF4-675DC644FA8E}"/>
              </a:ext>
            </a:extLst>
          </p:cNvPr>
          <p:cNvSpPr txBox="1"/>
          <p:nvPr/>
        </p:nvSpPr>
        <p:spPr>
          <a:xfrm>
            <a:off x="660400" y="1453415"/>
            <a:ext cx="8879306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因此，我们只需要用这最小的十个质因子去枚举，使其满足指数递减，目标状态是质因子幂次乘积小于</a:t>
            </a:r>
            <a:r>
              <a:rPr lang="en-US" altLang="zh-CN" dirty="0"/>
              <a:t>n</a:t>
            </a:r>
            <a:r>
              <a:rPr lang="zh-CN" altLang="en-US" dirty="0"/>
              <a:t>，此时可以计算约数个数，进行答案的更新。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对于</a:t>
            </a:r>
            <a:r>
              <a:rPr lang="en-US" altLang="zh-CN" dirty="0"/>
              <a:t> 2</a:t>
            </a:r>
            <a:r>
              <a:rPr lang="zh-CN" altLang="en-US" dirty="0"/>
              <a:t>，指数是从 </a:t>
            </a:r>
            <a:r>
              <a:rPr lang="en-US" altLang="zh-CN" dirty="0"/>
              <a:t>30~0</a:t>
            </a:r>
            <a:r>
              <a:rPr lang="zh-CN" altLang="en-US" dirty="0"/>
              <a:t>，对于</a:t>
            </a:r>
            <a:r>
              <a:rPr lang="en-US" altLang="zh-CN" dirty="0"/>
              <a:t>3</a:t>
            </a:r>
            <a:r>
              <a:rPr lang="zh-CN" altLang="en-US" dirty="0"/>
              <a:t>，指数是</a:t>
            </a:r>
            <a:r>
              <a:rPr lang="en-US" altLang="zh-CN" dirty="0"/>
              <a:t>19~0…</a:t>
            </a:r>
            <a:r>
              <a:rPr lang="zh-CN" altLang="en-US" dirty="0"/>
              <a:t>以此类推，最终的复杂度将会非常低。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10271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857791E-52E0-4B0B-8AB6-A0850A1136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530226"/>
            <a:ext cx="5215823" cy="554037"/>
          </a:xfrm>
        </p:spPr>
        <p:txBody>
          <a:bodyPr/>
          <a:lstStyle/>
          <a:p>
            <a:r>
              <a:rPr lang="zh-CN" altLang="en-US" dirty="0"/>
              <a:t>最大公约数和最小公倍数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CA3B54-C081-84D7-9FF6-D4044EA92792}"/>
              </a:ext>
            </a:extLst>
          </p:cNvPr>
          <p:cNvSpPr txBox="1"/>
          <p:nvPr/>
        </p:nvSpPr>
        <p:spPr>
          <a:xfrm>
            <a:off x="660400" y="1424538"/>
            <a:ext cx="8069714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对于自然数 </a:t>
            </a:r>
            <a:r>
              <a:rPr lang="en-US" altLang="zh-CN" dirty="0" err="1"/>
              <a:t>a,b</a:t>
            </a:r>
            <a:r>
              <a:rPr lang="zh-CN" altLang="en-US" dirty="0"/>
              <a:t>，若 </a:t>
            </a:r>
            <a:r>
              <a:rPr lang="en-US" altLang="zh-CN" dirty="0"/>
              <a:t>d </a:t>
            </a:r>
            <a:r>
              <a:rPr lang="zh-CN" altLang="en-US" dirty="0"/>
              <a:t>是二者共同的约数中最大的一个，那么</a:t>
            </a:r>
            <a:r>
              <a:rPr lang="en-US" altLang="zh-CN" dirty="0"/>
              <a:t>d</a:t>
            </a:r>
            <a:r>
              <a:rPr lang="zh-CN" altLang="en-US" dirty="0"/>
              <a:t>被称为</a:t>
            </a:r>
            <a:r>
              <a:rPr lang="en-US" altLang="zh-CN" dirty="0" err="1"/>
              <a:t>a,b</a:t>
            </a:r>
            <a:r>
              <a:rPr lang="zh-CN" altLang="en-US" dirty="0"/>
              <a:t>的最大公约数，记作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)=d</a:t>
            </a:r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如果 </a:t>
            </a:r>
            <a:r>
              <a:rPr lang="en-US" altLang="zh-CN" dirty="0"/>
              <a:t>d </a:t>
            </a:r>
            <a:r>
              <a:rPr lang="zh-CN" altLang="en-US" dirty="0"/>
              <a:t>是 </a:t>
            </a:r>
            <a:r>
              <a:rPr lang="en-US" altLang="zh-CN" dirty="0" err="1"/>
              <a:t>a,b</a:t>
            </a:r>
            <a:r>
              <a:rPr lang="en-US" altLang="zh-CN" dirty="0"/>
              <a:t> </a:t>
            </a:r>
            <a:r>
              <a:rPr lang="zh-CN" altLang="en-US" dirty="0"/>
              <a:t>中共同的倍数中最小的一个，那么 </a:t>
            </a:r>
            <a:r>
              <a:rPr lang="en-US" altLang="zh-CN" dirty="0"/>
              <a:t>d </a:t>
            </a:r>
            <a:r>
              <a:rPr lang="zh-CN" altLang="en-US" dirty="0"/>
              <a:t>被称为 </a:t>
            </a:r>
            <a:r>
              <a:rPr lang="en-US" altLang="zh-CN" dirty="0" err="1"/>
              <a:t>a,b</a:t>
            </a:r>
            <a:r>
              <a:rPr lang="en-US" altLang="zh-CN" dirty="0"/>
              <a:t> </a:t>
            </a:r>
            <a:r>
              <a:rPr lang="zh-CN" altLang="en-US" dirty="0"/>
              <a:t>的最小公倍数，记作 </a:t>
            </a:r>
            <a:r>
              <a:rPr lang="en-US" altLang="zh-CN" dirty="0"/>
              <a:t>lcm(</a:t>
            </a:r>
            <a:r>
              <a:rPr lang="en-US" altLang="zh-CN" dirty="0" err="1"/>
              <a:t>a,b</a:t>
            </a:r>
            <a:r>
              <a:rPr lang="en-US" altLang="zh-CN" dirty="0"/>
              <a:t>)=d</a:t>
            </a:r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同理我们可以定义三个及以上的数之间的最大公约数和最小公倍数。</a:t>
            </a:r>
          </a:p>
        </p:txBody>
      </p:sp>
    </p:spTree>
    <p:extLst>
      <p:ext uri="{BB962C8B-B14F-4D97-AF65-F5344CB8AC3E}">
        <p14:creationId xmlns:p14="http://schemas.microsoft.com/office/powerpoint/2010/main" val="1759293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3C63986-4DD2-DA43-812F-37376037F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gcd</a:t>
            </a:r>
            <a:r>
              <a:rPr lang="zh-CN" altLang="en-US" dirty="0"/>
              <a:t>和</a:t>
            </a:r>
            <a:r>
              <a:rPr lang="en-US" altLang="zh-CN" dirty="0"/>
              <a:t>lcm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AA6B4C-83EE-86B2-60FC-E2DFBA8C90E4}"/>
              </a:ext>
            </a:extLst>
          </p:cNvPr>
          <p:cNvSpPr txBox="1"/>
          <p:nvPr/>
        </p:nvSpPr>
        <p:spPr>
          <a:xfrm>
            <a:off x="660399" y="1443789"/>
            <a:ext cx="8854173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定理：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对于任意自然数 </a:t>
            </a:r>
            <a:r>
              <a:rPr lang="en-US" altLang="zh-CN" dirty="0" err="1"/>
              <a:t>a,b,gcd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)*lcm(</a:t>
            </a:r>
            <a:r>
              <a:rPr lang="en-US" altLang="zh-CN" dirty="0" err="1"/>
              <a:t>a,b</a:t>
            </a:r>
            <a:r>
              <a:rPr lang="en-US" altLang="zh-CN" dirty="0"/>
              <a:t>)=a*b</a:t>
            </a:r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证明：</a:t>
            </a:r>
            <a:endParaRPr lang="en-US" altLang="zh-CN" dirty="0"/>
          </a:p>
          <a:p>
            <a:pPr algn="l"/>
            <a:r>
              <a:rPr lang="zh-CN" altLang="en-US" dirty="0"/>
              <a:t>设 </a:t>
            </a:r>
            <a:r>
              <a:rPr lang="en-US" altLang="zh-CN" dirty="0"/>
              <a:t>d=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a0=a/d,b0=b/d</a:t>
            </a:r>
            <a:r>
              <a:rPr lang="zh-CN" altLang="en-US" dirty="0"/>
              <a:t>，根据最大公约数的定义，有 </a:t>
            </a:r>
            <a:r>
              <a:rPr lang="en-US" altLang="zh-CN" dirty="0" err="1"/>
              <a:t>gcd</a:t>
            </a:r>
            <a:r>
              <a:rPr lang="en-US" altLang="zh-CN" dirty="0"/>
              <a:t>(a0,b0)=1, </a:t>
            </a:r>
            <a:r>
              <a:rPr lang="zh-CN" altLang="en-US" dirty="0"/>
              <a:t>那么根据最小公倍数的定义，</a:t>
            </a:r>
            <a:r>
              <a:rPr lang="en-US" altLang="zh-CN" dirty="0"/>
              <a:t>lcm(a0,b0)=a0*b0</a:t>
            </a:r>
            <a:r>
              <a:rPr lang="zh-CN" altLang="en-US" dirty="0"/>
              <a:t>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于是 </a:t>
            </a:r>
            <a:r>
              <a:rPr lang="en-US" altLang="zh-CN" dirty="0"/>
              <a:t>lcm(</a:t>
            </a:r>
            <a:r>
              <a:rPr lang="en-US" altLang="zh-CN" dirty="0" err="1"/>
              <a:t>a,b</a:t>
            </a:r>
            <a:r>
              <a:rPr lang="en-US" altLang="zh-CN" dirty="0"/>
              <a:t>)=lcm(a0*d,b0*d)=lcm(a0,b0)*d=a0*b0*d</a:t>
            </a:r>
            <a:br>
              <a:rPr lang="en-US" altLang="zh-CN" dirty="0"/>
            </a:br>
            <a:endParaRPr lang="en-US" altLang="zh-CN" dirty="0"/>
          </a:p>
          <a:p>
            <a:pPr algn="l"/>
            <a:r>
              <a:rPr lang="zh-CN" altLang="en-US" dirty="0"/>
              <a:t>因此有 </a:t>
            </a:r>
            <a:r>
              <a:rPr lang="en-US" altLang="zh-CN" dirty="0"/>
              <a:t>a*b=a0*b0*d*d=lcm(</a:t>
            </a:r>
            <a:r>
              <a:rPr lang="en-US" altLang="zh-CN" dirty="0" err="1"/>
              <a:t>a,b</a:t>
            </a:r>
            <a:r>
              <a:rPr lang="en-US" altLang="zh-CN" dirty="0"/>
              <a:t>)*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6829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FF6F2D6-E29C-F93E-2483-B917E017BA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更相减损术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29923B-3414-65F5-F980-D35135CAF443}"/>
              </a:ext>
            </a:extLst>
          </p:cNvPr>
          <p:cNvSpPr txBox="1"/>
          <p:nvPr/>
        </p:nvSpPr>
        <p:spPr>
          <a:xfrm>
            <a:off x="660400" y="1456734"/>
            <a:ext cx="8761073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dirty="0"/>
              <a:t>	</a:t>
            </a:r>
            <a:r>
              <a:rPr lang="zh-CN" altLang="en-US" dirty="0"/>
              <a:t>对于</a:t>
            </a:r>
            <a:r>
              <a:rPr lang="en-US" altLang="zh-CN" dirty="0"/>
              <a:t>a&gt;=b,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a,a</a:t>
            </a:r>
            <a:r>
              <a:rPr lang="en-US" altLang="zh-CN" dirty="0"/>
              <a:t>-b)=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-b)</a:t>
            </a:r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对于任意 </a:t>
            </a:r>
            <a:r>
              <a:rPr lang="en-US" altLang="zh-CN" dirty="0" err="1"/>
              <a:t>a,b</a:t>
            </a:r>
            <a:r>
              <a:rPr lang="en-US" altLang="zh-CN" dirty="0"/>
              <a:t>, </a:t>
            </a:r>
            <a:r>
              <a:rPr lang="en-US" altLang="zh-CN" dirty="0" err="1"/>
              <a:t>gcd</a:t>
            </a:r>
            <a:r>
              <a:rPr lang="en-US" altLang="zh-CN" dirty="0"/>
              <a:t>(2a,2b)=2*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证明</a:t>
            </a:r>
            <a:r>
              <a:rPr lang="en-US" altLang="zh-CN" dirty="0"/>
              <a:t>:</a:t>
            </a:r>
          </a:p>
          <a:p>
            <a:pPr algn="l"/>
            <a:r>
              <a:rPr lang="en-US" altLang="zh-CN" dirty="0"/>
              <a:t>	</a:t>
            </a:r>
            <a:r>
              <a:rPr lang="zh-CN" altLang="en-US" dirty="0"/>
              <a:t>对于 </a:t>
            </a:r>
            <a:r>
              <a:rPr lang="en-US" altLang="zh-CN" dirty="0" err="1"/>
              <a:t>a,b</a:t>
            </a:r>
            <a:r>
              <a:rPr lang="en-US" altLang="zh-CN" dirty="0"/>
              <a:t> </a:t>
            </a:r>
            <a:r>
              <a:rPr lang="zh-CN" altLang="en-US" dirty="0"/>
              <a:t>的任意公约数 </a:t>
            </a:r>
            <a:r>
              <a:rPr lang="en-US" altLang="zh-CN" dirty="0"/>
              <a:t>d, </a:t>
            </a:r>
            <a:r>
              <a:rPr lang="zh-CN" altLang="en-US" dirty="0"/>
              <a:t>有 </a:t>
            </a:r>
            <a:r>
              <a:rPr lang="en-US" altLang="zh-CN" dirty="0"/>
              <a:t>a=d*a0,b=d*b0, </a:t>
            </a:r>
            <a:r>
              <a:rPr lang="zh-CN" altLang="en-US" dirty="0"/>
              <a:t>由于 </a:t>
            </a:r>
            <a:r>
              <a:rPr lang="en-US" altLang="zh-CN" dirty="0"/>
              <a:t>a&gt;=b,</a:t>
            </a:r>
            <a:r>
              <a:rPr lang="zh-CN" altLang="en-US" dirty="0"/>
              <a:t>所以 </a:t>
            </a:r>
            <a:r>
              <a:rPr lang="en-US" altLang="zh-CN" dirty="0"/>
              <a:t>a0&gt;=b0</a:t>
            </a:r>
            <a:r>
              <a:rPr lang="zh-CN" altLang="en-US" dirty="0"/>
              <a:t>，因此   </a:t>
            </a:r>
            <a:r>
              <a:rPr lang="en-US" altLang="zh-CN" dirty="0"/>
              <a:t>a-b=(a0-b0)*d</a:t>
            </a:r>
            <a:r>
              <a:rPr lang="zh-CN" altLang="en-US" dirty="0"/>
              <a:t>，任意</a:t>
            </a:r>
            <a:r>
              <a:rPr lang="en-US" altLang="zh-CN" dirty="0" err="1"/>
              <a:t>a,b</a:t>
            </a:r>
            <a:r>
              <a:rPr lang="zh-CN" altLang="en-US" dirty="0"/>
              <a:t>的公约数 </a:t>
            </a:r>
            <a:r>
              <a:rPr lang="en-US" altLang="zh-CN" dirty="0"/>
              <a:t>d </a:t>
            </a:r>
            <a:r>
              <a:rPr lang="zh-CN" altLang="en-US" dirty="0"/>
              <a:t>都是 </a:t>
            </a:r>
            <a:r>
              <a:rPr lang="en-US" altLang="zh-CN" dirty="0"/>
              <a:t>a-b </a:t>
            </a:r>
            <a:r>
              <a:rPr lang="zh-CN" altLang="en-US" dirty="0"/>
              <a:t>的约数，反之亦然，任意</a:t>
            </a:r>
            <a:r>
              <a:rPr lang="en-US" altLang="zh-CN" dirty="0" err="1"/>
              <a:t>a,a</a:t>
            </a:r>
            <a:r>
              <a:rPr lang="en-US" altLang="zh-CN" dirty="0"/>
              <a:t>-b</a:t>
            </a:r>
            <a:r>
              <a:rPr lang="zh-CN" altLang="en-US" dirty="0"/>
              <a:t>的公约数也都是</a:t>
            </a:r>
            <a:r>
              <a:rPr lang="en-US" altLang="zh-CN" dirty="0" err="1"/>
              <a:t>a,b</a:t>
            </a:r>
            <a:r>
              <a:rPr lang="zh-CN" altLang="en-US" dirty="0"/>
              <a:t>的公约数，即 </a:t>
            </a:r>
            <a:r>
              <a:rPr lang="en-US" altLang="zh-CN" dirty="0" err="1"/>
              <a:t>a,b</a:t>
            </a:r>
            <a:r>
              <a:rPr lang="en-US" altLang="zh-CN" dirty="0"/>
              <a:t> </a:t>
            </a:r>
            <a:r>
              <a:rPr lang="zh-CN" altLang="en-US" dirty="0"/>
              <a:t>的公约数集合和 </a:t>
            </a:r>
            <a:r>
              <a:rPr lang="en-US" altLang="zh-CN" dirty="0" err="1"/>
              <a:t>a,a</a:t>
            </a:r>
            <a:r>
              <a:rPr lang="en-US" altLang="zh-CN" dirty="0"/>
              <a:t>-b </a:t>
            </a:r>
            <a:r>
              <a:rPr lang="zh-CN" altLang="en-US" dirty="0"/>
              <a:t>的公约数集合相同，那么它们的最大公约数也自然是相同的。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824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D8377DF-3BB2-7248-AD3A-7D4C37E23A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欧几里得算法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73858A-2437-03B2-D473-E54F93096BA0}"/>
              </a:ext>
            </a:extLst>
          </p:cNvPr>
          <p:cNvSpPr txBox="1"/>
          <p:nvPr/>
        </p:nvSpPr>
        <p:spPr>
          <a:xfrm>
            <a:off x="660400" y="1472665"/>
            <a:ext cx="7752080" cy="3323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定理： 对于整数 </a:t>
            </a:r>
            <a:r>
              <a:rPr lang="en-US" altLang="zh-CN" dirty="0" err="1"/>
              <a:t>a,b</a:t>
            </a:r>
            <a:r>
              <a:rPr lang="en-US" altLang="zh-CN" dirty="0"/>
              <a:t> (b!=0)</a:t>
            </a:r>
            <a:r>
              <a:rPr lang="zh-CN" altLang="en-US" dirty="0"/>
              <a:t>，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 mod b)</a:t>
            </a:r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若 </a:t>
            </a:r>
            <a:r>
              <a:rPr lang="en-US" altLang="zh-CN" dirty="0"/>
              <a:t>a&lt;b </a:t>
            </a:r>
            <a:r>
              <a:rPr lang="zh-CN" altLang="en-US" dirty="0"/>
              <a:t>则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 mod b)=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)=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</a:p>
          <a:p>
            <a:pPr algn="l"/>
            <a:r>
              <a:rPr lang="zh-CN" altLang="en-US" dirty="0"/>
              <a:t>若 </a:t>
            </a:r>
            <a:r>
              <a:rPr lang="en-US" altLang="zh-CN" dirty="0"/>
              <a:t>a&gt;=b</a:t>
            </a:r>
            <a:r>
              <a:rPr lang="zh-CN" altLang="en-US" dirty="0"/>
              <a:t>，则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 mod b)=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-k*b),</a:t>
            </a:r>
            <a:r>
              <a:rPr lang="zh-CN" altLang="en-US" dirty="0"/>
              <a:t>由更相减损术</a:t>
            </a:r>
            <a:r>
              <a:rPr lang="en-US" altLang="zh-CN" dirty="0"/>
              <a:t>		</a:t>
            </a:r>
            <a:r>
              <a:rPr lang="zh-CN" altLang="en-US" dirty="0"/>
              <a:t>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-b)=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), </a:t>
            </a:r>
            <a:r>
              <a:rPr lang="zh-CN" altLang="en-US" dirty="0"/>
              <a:t>把</a:t>
            </a:r>
            <a:r>
              <a:rPr lang="en-US" altLang="zh-CN" dirty="0"/>
              <a:t>a-b</a:t>
            </a:r>
            <a:r>
              <a:rPr lang="zh-CN" altLang="en-US" dirty="0"/>
              <a:t>看成一个整体，则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-b-b)=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-b)</a:t>
            </a:r>
          </a:p>
          <a:p>
            <a:pPr algn="l"/>
            <a:r>
              <a:rPr lang="zh-CN" altLang="en-US" dirty="0"/>
              <a:t>以此类推，一直减去 </a:t>
            </a:r>
            <a:r>
              <a:rPr lang="en-US" altLang="zh-CN" dirty="0"/>
              <a:t>k </a:t>
            </a:r>
            <a:r>
              <a:rPr lang="zh-CN" altLang="en-US" dirty="0"/>
              <a:t>个 </a:t>
            </a:r>
            <a:r>
              <a:rPr lang="en-US" altLang="zh-CN" dirty="0"/>
              <a:t>b</a:t>
            </a:r>
            <a:r>
              <a:rPr lang="zh-CN" altLang="en-US" dirty="0"/>
              <a:t>，则     </a:t>
            </a:r>
            <a:r>
              <a:rPr lang="en-US" altLang="zh-CN" dirty="0"/>
              <a:t>			</a:t>
            </a:r>
          </a:p>
          <a:p>
            <a:pPr algn="l"/>
            <a:r>
              <a:rPr lang="en-US" altLang="zh-CN" dirty="0"/>
              <a:t>	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 mod b) =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-k*b)=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b,a</a:t>
            </a:r>
            <a:r>
              <a:rPr lang="en-US" altLang="zh-CN" dirty="0"/>
              <a:t>)=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r>
              <a:rPr lang="zh-CN" altLang="en-US" dirty="0"/>
              <a:t> 得证。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由此我们可以递归的求出任意自然数 </a:t>
            </a:r>
            <a:r>
              <a:rPr lang="en-US" altLang="zh-CN" dirty="0" err="1"/>
              <a:t>a,b</a:t>
            </a:r>
            <a:r>
              <a:rPr lang="en-US" altLang="zh-CN" dirty="0"/>
              <a:t> </a:t>
            </a:r>
            <a:r>
              <a:rPr lang="zh-CN" altLang="en-US" dirty="0"/>
              <a:t>的最大公约数，它的算法复杂度在   </a:t>
            </a:r>
            <a:r>
              <a:rPr lang="en-US" altLang="zh-CN" dirty="0"/>
              <a:t>           O(log(</a:t>
            </a:r>
            <a:r>
              <a:rPr lang="en-US" altLang="zh-CN" dirty="0" err="1"/>
              <a:t>a+b</a:t>
            </a:r>
            <a:r>
              <a:rPr lang="en-US" altLang="zh-CN" dirty="0"/>
              <a:t>))</a:t>
            </a:r>
          </a:p>
          <a:p>
            <a:pPr algn="l"/>
            <a:endParaRPr lang="en-US" altLang="zh-CN" dirty="0"/>
          </a:p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501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67895E0-11D1-780B-FCF5-160A43C7B8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399" y="530226"/>
            <a:ext cx="8700169" cy="554037"/>
          </a:xfrm>
        </p:spPr>
        <p:txBody>
          <a:bodyPr/>
          <a:lstStyle/>
          <a:p>
            <a:r>
              <a:rPr lang="en-US" altLang="zh-CN" dirty="0" err="1"/>
              <a:t>Hankson</a:t>
            </a:r>
            <a:r>
              <a:rPr lang="en-US" altLang="zh-CN" dirty="0"/>
              <a:t> </a:t>
            </a:r>
            <a:r>
              <a:rPr lang="zh-CN" altLang="en-US" dirty="0"/>
              <a:t>的趣味题（质因数分解</a:t>
            </a:r>
            <a:r>
              <a:rPr lang="en-US" altLang="zh-CN" dirty="0"/>
              <a:t>/</a:t>
            </a:r>
            <a:r>
              <a:rPr lang="en-US" altLang="zh-CN" dirty="0" err="1"/>
              <a:t>gcd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31FCE8B-0FBF-2942-353B-ACAB645EAC05}"/>
                  </a:ext>
                </a:extLst>
              </p:cNvPr>
              <p:cNvSpPr txBox="1"/>
              <p:nvPr/>
            </p:nvSpPr>
            <p:spPr>
              <a:xfrm>
                <a:off x="660399" y="1544855"/>
                <a:ext cx="9065929" cy="21421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由 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(a0,x)=a1,lcm(b0,x)=b1 </a:t>
                </a:r>
                <a:r>
                  <a:rPr lang="zh-CN" altLang="en-US" dirty="0"/>
                  <a:t>，我们可以发现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必然是 </a:t>
                </a:r>
                <a:r>
                  <a:rPr lang="en-US" altLang="zh-CN" dirty="0"/>
                  <a:t>b1 </a:t>
                </a:r>
                <a:r>
                  <a:rPr lang="zh-CN" altLang="en-US" dirty="0"/>
                  <a:t>的约数，那么我们可以得到一个朴素的想法，枚举</a:t>
                </a:r>
                <a:r>
                  <a:rPr lang="en-US" altLang="zh-CN" dirty="0"/>
                  <a:t> b1 </a:t>
                </a:r>
                <a:r>
                  <a:rPr lang="zh-CN" altLang="en-US" dirty="0"/>
                  <a:t>的所有约数然后去检查它是否满足 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(a0,x)=a1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lcm(b0,x)=b1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我们在反素数那道题可以得知，</a:t>
                </a:r>
                <a:r>
                  <a:rPr lang="en-US" altLang="zh-CN" dirty="0"/>
                  <a:t>1e9 </a:t>
                </a:r>
                <a:r>
                  <a:rPr lang="zh-CN" altLang="en-US" dirty="0"/>
                  <a:t>以内的数的约数个数最大也是一个比较小的数值（最大不过</a:t>
                </a:r>
                <a:r>
                  <a:rPr lang="en-US" altLang="zh-CN" dirty="0"/>
                  <a:t>2000</a:t>
                </a:r>
                <a:r>
                  <a:rPr lang="zh-CN" altLang="en-US" dirty="0"/>
                  <a:t>），所以我们完全可以对 </a:t>
                </a:r>
                <a:r>
                  <a:rPr lang="en-US" altLang="zh-CN" dirty="0"/>
                  <a:t>d </a:t>
                </a:r>
                <a:r>
                  <a:rPr lang="zh-CN" altLang="en-US" dirty="0"/>
                  <a:t>进行质因数分解然后用 </a:t>
                </a:r>
                <a:r>
                  <a:rPr lang="en-US" altLang="zh-CN" dirty="0" err="1"/>
                  <a:t>dfs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枚举得到 </a:t>
                </a:r>
                <a:r>
                  <a:rPr lang="en-US" altLang="zh-CN" dirty="0"/>
                  <a:t>d </a:t>
                </a:r>
                <a:r>
                  <a:rPr lang="zh-CN" altLang="en-US" dirty="0"/>
                  <a:t>的所有约数，对于每一个约数判断一下</a:t>
                </a:r>
                <a:r>
                  <a:rPr lang="en-US" altLang="zh-CN" dirty="0" err="1"/>
                  <a:t>gcd</a:t>
                </a:r>
                <a:r>
                  <a:rPr lang="zh-CN" altLang="en-US" dirty="0"/>
                  <a:t>是否成立。算法复杂度接近 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altLang="zh-CN" dirty="0"/>
                  <a:t>) </a:t>
                </a:r>
                <a:r>
                  <a:rPr lang="zh-CN" altLang="en-US" dirty="0"/>
                  <a:t>，已经能够解决题面数据范围下的问题。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31FCE8B-0FBF-2942-353B-ACAB645EA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99" y="1544855"/>
                <a:ext cx="9065929" cy="2142125"/>
              </a:xfrm>
              <a:prstGeom prst="rect">
                <a:avLst/>
              </a:prstGeom>
              <a:blipFill>
                <a:blip r:embed="rId2"/>
                <a:stretch>
                  <a:fillRect l="-1546" t="-3693" r="-3226" b="-5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67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EDCFABE-3ECD-B370-8EC3-F585E4D144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互质与欧拉函数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A615D9-D496-DFFF-7FAA-D4F4F49EB2CA}"/>
              </a:ext>
            </a:extLst>
          </p:cNvPr>
          <p:cNvSpPr txBox="1"/>
          <p:nvPr/>
        </p:nvSpPr>
        <p:spPr>
          <a:xfrm>
            <a:off x="660400" y="1490007"/>
            <a:ext cx="8754177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互质：</a:t>
            </a:r>
            <a:endParaRPr lang="en-US" altLang="zh-CN" dirty="0"/>
          </a:p>
          <a:p>
            <a:pPr algn="l"/>
            <a:r>
              <a:rPr lang="zh-CN" altLang="en-US" dirty="0"/>
              <a:t>对于任意自然数 </a:t>
            </a:r>
            <a:r>
              <a:rPr lang="en-US" altLang="zh-CN" dirty="0" err="1"/>
              <a:t>a,b</a:t>
            </a:r>
            <a:r>
              <a:rPr lang="en-US" altLang="zh-CN" dirty="0"/>
              <a:t> </a:t>
            </a:r>
            <a:r>
              <a:rPr lang="zh-CN" altLang="en-US" dirty="0"/>
              <a:t>如果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)=1,</a:t>
            </a:r>
            <a:r>
              <a:rPr lang="zh-CN" altLang="en-US" dirty="0"/>
              <a:t>则称 </a:t>
            </a:r>
            <a:r>
              <a:rPr lang="en-US" altLang="zh-CN" dirty="0" err="1"/>
              <a:t>a,b</a:t>
            </a:r>
            <a:r>
              <a:rPr lang="en-US" altLang="zh-CN" dirty="0"/>
              <a:t> </a:t>
            </a:r>
            <a:r>
              <a:rPr lang="zh-CN" altLang="en-US" dirty="0"/>
              <a:t>互质。</a:t>
            </a:r>
            <a:endParaRPr lang="en-US" altLang="zh-CN" dirty="0"/>
          </a:p>
          <a:p>
            <a:pPr algn="l"/>
            <a:r>
              <a:rPr lang="zh-CN" altLang="en-US" dirty="0"/>
              <a:t>对于更多数的情况，若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a,b,c</a:t>
            </a:r>
            <a:r>
              <a:rPr lang="en-US" altLang="zh-CN" dirty="0"/>
              <a:t>)=1 </a:t>
            </a:r>
            <a:r>
              <a:rPr lang="zh-CN" altLang="en-US" dirty="0"/>
              <a:t>则称 </a:t>
            </a:r>
            <a:r>
              <a:rPr lang="en-US" altLang="zh-CN" dirty="0" err="1"/>
              <a:t>a,b,c</a:t>
            </a:r>
            <a:r>
              <a:rPr lang="en-US" altLang="zh-CN" dirty="0"/>
              <a:t> </a:t>
            </a:r>
            <a:r>
              <a:rPr lang="zh-CN" altLang="en-US" dirty="0"/>
              <a:t>两两互质。</a:t>
            </a:r>
            <a:endParaRPr lang="en-US" altLang="zh-CN" dirty="0"/>
          </a:p>
          <a:p>
            <a:pPr algn="l"/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906FA22-64B3-9C1B-2F46-579288A72A9F}"/>
                  </a:ext>
                </a:extLst>
              </p:cNvPr>
              <p:cNvSpPr txBox="1"/>
              <p:nvPr/>
            </p:nvSpPr>
            <p:spPr>
              <a:xfrm>
                <a:off x="660400" y="2598003"/>
                <a:ext cx="7280442" cy="27058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欧拉函数：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en-US" altLang="zh-CN" dirty="0"/>
                  <a:t>1~N </a:t>
                </a:r>
                <a:r>
                  <a:rPr lang="zh-CN" altLang="en-US" dirty="0"/>
                  <a:t>中与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互质的数的个数被称为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的欧拉函数值，记作 </a:t>
                </a:r>
                <a:r>
                  <a:rPr lang="en-US" altLang="zh-CN" dirty="0"/>
                  <a:t>φ(n)</a:t>
                </a:r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对于任意</a:t>
                </a:r>
                <a:r>
                  <a:rPr lang="en-US" altLang="zh-CN" dirty="0"/>
                  <a:t>x,</a:t>
                </a:r>
                <a:r>
                  <a:rPr lang="zh-CN" altLang="en-US" dirty="0"/>
                  <a:t>已知它的所有质因数，则它的欧拉函数都可以作如下展开：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r>
                  <a:rPr lang="en-US" altLang="zh-CN" dirty="0"/>
                  <a:t>N=N*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……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=N*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ⅈ=1</m:t>
                        </m:r>
                      </m:sub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𝛱</m:t>
                        </m:r>
                      </m:sup>
                    </m:sSubSup>
                    <m:d>
                      <m:dPr>
                        <m:ctrlPr>
                          <a:rPr lang="en-US" altLang="zh-CN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显然对于质数，</a:t>
                </a:r>
                <a:r>
                  <a:rPr lang="en-US" altLang="zh-CN" dirty="0"/>
                  <a:t>φ(p)=p-1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906FA22-64B3-9C1B-2F46-579288A72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2598003"/>
                <a:ext cx="7280442" cy="2705805"/>
              </a:xfrm>
              <a:prstGeom prst="rect">
                <a:avLst/>
              </a:prstGeom>
              <a:blipFill>
                <a:blip r:embed="rId2"/>
                <a:stretch>
                  <a:fillRect l="-1925" t="-2928" b="-4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96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0918B41-3E8C-0F6A-4B15-6EB7E2F077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欧拉函数的计算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3BBD7AF-21BB-415C-36D8-724C5AF8A60B}"/>
                  </a:ext>
                </a:extLst>
              </p:cNvPr>
              <p:cNvSpPr txBox="1"/>
              <p:nvPr/>
            </p:nvSpPr>
            <p:spPr>
              <a:xfrm>
                <a:off x="660400" y="1448602"/>
                <a:ext cx="7015747" cy="5174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dirty="0"/>
                  <a:t>根据欧拉函数的计算展开式，我们可以在对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分解质因数时求出它的欧拉函数。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b="0" dirty="0">
                    <a:solidFill>
                      <a:srgbClr val="569CD6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int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 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phi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>
                    <a:solidFill>
                      <a:srgbClr val="B5CEA8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100000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];</a:t>
                </a:r>
              </a:p>
              <a:p>
                <a:r>
                  <a:rPr lang="en-US" altLang="zh-CN" b="0" dirty="0">
                    <a:solidFill>
                      <a:srgbClr val="569CD6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void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 </a:t>
                </a:r>
                <a:r>
                  <a:rPr lang="en-US" altLang="zh-CN" b="0" dirty="0">
                    <a:solidFill>
                      <a:srgbClr val="DCDCAA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divide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(</a:t>
                </a:r>
                <a:r>
                  <a:rPr lang="en-US" altLang="zh-CN" b="0" dirty="0">
                    <a:solidFill>
                      <a:srgbClr val="569CD6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int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 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){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    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phi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=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    </a:t>
                </a:r>
                <a:r>
                  <a:rPr lang="en-US" altLang="zh-CN" b="0" dirty="0">
                    <a:solidFill>
                      <a:srgbClr val="569CD6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int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 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d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=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    </a:t>
                </a:r>
                <a:r>
                  <a:rPr lang="en-US" altLang="zh-CN" b="0" dirty="0">
                    <a:solidFill>
                      <a:srgbClr val="C586C0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for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(</a:t>
                </a:r>
                <a:r>
                  <a:rPr lang="en-US" altLang="zh-CN" b="0" dirty="0">
                    <a:solidFill>
                      <a:srgbClr val="569CD6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int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 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=</a:t>
                </a:r>
                <a:r>
                  <a:rPr lang="en-US" altLang="zh-CN" b="0" dirty="0">
                    <a:solidFill>
                      <a:srgbClr val="B5CEA8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0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;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*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&lt;=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d</a:t>
                </a:r>
                <a:r>
                  <a:rPr lang="en-US" altLang="zh-CN" b="0" dirty="0" err="1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;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++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){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        </a:t>
                </a:r>
                <a:r>
                  <a:rPr lang="en-US" altLang="zh-CN" b="0" dirty="0">
                    <a:solidFill>
                      <a:srgbClr val="C586C0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if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(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 err="1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%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==</a:t>
                </a:r>
                <a:r>
                  <a:rPr lang="en-US" altLang="zh-CN" b="0" dirty="0">
                    <a:solidFill>
                      <a:srgbClr val="B5CEA8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0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) 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phi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d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=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phi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d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/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*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(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-</a:t>
                </a:r>
                <a:r>
                  <a:rPr lang="en-US" altLang="zh-CN" b="0" dirty="0">
                    <a:solidFill>
                      <a:srgbClr val="B5CEA8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1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);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        </a:t>
                </a:r>
                <a:r>
                  <a:rPr lang="en-US" altLang="zh-CN" b="0" dirty="0">
                    <a:solidFill>
                      <a:srgbClr val="C586C0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while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(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 err="1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%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==</a:t>
                </a:r>
                <a:r>
                  <a:rPr lang="en-US" altLang="zh-CN" b="0" dirty="0">
                    <a:solidFill>
                      <a:srgbClr val="B5CEA8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0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&amp;&amp;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){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            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/=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];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            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c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 err="1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++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        }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    }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    </a:t>
                </a:r>
                <a:r>
                  <a:rPr lang="en-US" altLang="zh-CN" b="0" dirty="0">
                    <a:solidFill>
                      <a:srgbClr val="C586C0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if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(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&gt;</a:t>
                </a:r>
                <a:r>
                  <a:rPr lang="en-US" altLang="zh-CN" b="0" dirty="0">
                    <a:solidFill>
                      <a:srgbClr val="B5CEA8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1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) 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phi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d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/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*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(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-</a:t>
                </a:r>
                <a:r>
                  <a:rPr lang="en-US" altLang="zh-CN" b="0" dirty="0">
                    <a:solidFill>
                      <a:srgbClr val="B5CEA8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1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),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c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[</a:t>
                </a:r>
                <a:r>
                  <a:rPr lang="en-US" altLang="zh-CN" b="0" dirty="0">
                    <a:solidFill>
                      <a:srgbClr val="9CDCFE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x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]</a:t>
                </a:r>
                <a:r>
                  <a:rPr lang="en-US" altLang="zh-CN" b="0" dirty="0">
                    <a:solidFill>
                      <a:srgbClr val="D4D4D4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++</a:t>
                </a:r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;</a:t>
                </a:r>
              </a:p>
              <a:p>
                <a:r>
                  <a:rPr lang="en-US" altLang="zh-CN" b="0" dirty="0">
                    <a:solidFill>
                      <a:srgbClr val="CCCCCC"/>
                    </a:solidFill>
                    <a:effectLst/>
                    <a:highlight>
                      <a:srgbClr val="1F1F1F"/>
                    </a:highlight>
                    <a:latin typeface="Consolas" panose="020B0609020204030204" pitchFamily="49" charset="0"/>
                  </a:rPr>
                  <a:t>}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复杂度和分解质因数的复杂度一致 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altLang="zh-CN" dirty="0"/>
                  <a:t>) 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3BBD7AF-21BB-415C-36D8-724C5AF8A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448602"/>
                <a:ext cx="7015747" cy="5174943"/>
              </a:xfrm>
              <a:prstGeom prst="rect">
                <a:avLst/>
              </a:prstGeom>
              <a:blipFill>
                <a:blip r:embed="rId2"/>
                <a:stretch>
                  <a:fillRect l="-1998" t="-1531" r="-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03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8AE47D5-293D-7BD6-F8AE-A08783BCE0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欧拉函数的性质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F1D8F81-465C-6423-7ACA-255E5FB49F14}"/>
                  </a:ext>
                </a:extLst>
              </p:cNvPr>
              <p:cNvSpPr txBox="1"/>
              <p:nvPr/>
            </p:nvSpPr>
            <p:spPr>
              <a:xfrm>
                <a:off x="660400" y="1535229"/>
                <a:ext cx="9696383" cy="2492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下面不加证明的给出欧拉函数的若干性质：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marL="342900" indent="-342900" algn="l">
                  <a:buAutoNum type="arabicPeriod"/>
                </a:pPr>
                <a:r>
                  <a:rPr lang="zh-CN" altLang="en-US" dirty="0"/>
                  <a:t>对于任意</a:t>
                </a:r>
                <a:r>
                  <a:rPr lang="en-US" altLang="zh-CN" dirty="0"/>
                  <a:t> n&gt;1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1~n</a:t>
                </a:r>
                <a:r>
                  <a:rPr lang="zh-CN" altLang="en-US" dirty="0"/>
                  <a:t> 中与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互质的数的和为 </a:t>
                </a:r>
                <a:r>
                  <a:rPr lang="en-US" altLang="zh-CN" dirty="0"/>
                  <a:t>n*φ(n)/2</a:t>
                </a:r>
              </a:p>
              <a:p>
                <a:pPr marL="342900" indent="-342900" algn="l">
                  <a:buAutoNum type="arabicPeriod"/>
                </a:pPr>
                <a:r>
                  <a:rPr lang="zh-CN" altLang="en-US" dirty="0"/>
                  <a:t>若 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互质，则 </a:t>
                </a:r>
                <a:r>
                  <a:rPr lang="en-US" altLang="zh-CN" dirty="0"/>
                  <a:t>φ(a*b)=φ(a)*φ(b)</a:t>
                </a:r>
              </a:p>
              <a:p>
                <a:pPr marL="342900" indent="-342900" algn="l">
                  <a:buAutoNum type="arabicPeriod"/>
                </a:pPr>
                <a:r>
                  <a:rPr lang="zh-CN" altLang="en-US" dirty="0"/>
                  <a:t>若 </a:t>
                </a:r>
                <a:r>
                  <a:rPr lang="en-US" altLang="zh-CN" dirty="0"/>
                  <a:t>p </a:t>
                </a:r>
                <a:r>
                  <a:rPr lang="zh-CN" altLang="en-US" dirty="0"/>
                  <a:t>为质数且 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 能整除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，而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也能整除 </a:t>
                </a:r>
                <a:r>
                  <a:rPr lang="en-US" altLang="zh-CN" dirty="0"/>
                  <a:t>n, </a:t>
                </a:r>
                <a:r>
                  <a:rPr lang="zh-CN" altLang="en-US" dirty="0"/>
                  <a:t>则 </a:t>
                </a:r>
                <a:r>
                  <a:rPr lang="en-US" altLang="zh-CN" dirty="0"/>
                  <a:t>φ(n)=φ(n/p)*p</a:t>
                </a:r>
              </a:p>
              <a:p>
                <a:pPr marL="342900" indent="-342900">
                  <a:buAutoNum type="arabicPeriod"/>
                </a:pPr>
                <a:r>
                  <a:rPr lang="zh-CN" altLang="en-US" dirty="0"/>
                  <a:t>若 </a:t>
                </a:r>
                <a:r>
                  <a:rPr lang="en-US" altLang="zh-CN" dirty="0"/>
                  <a:t>p </a:t>
                </a:r>
                <a:r>
                  <a:rPr lang="zh-CN" altLang="en-US" dirty="0"/>
                  <a:t>为质数且 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 能整除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，而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不能整除 </a:t>
                </a:r>
                <a:r>
                  <a:rPr lang="en-US" altLang="zh-CN" dirty="0"/>
                  <a:t>n, </a:t>
                </a:r>
                <a:r>
                  <a:rPr lang="zh-CN" altLang="en-US" dirty="0"/>
                  <a:t>则 </a:t>
                </a:r>
                <a:r>
                  <a:rPr lang="en-US" altLang="zh-CN" dirty="0"/>
                  <a:t>φ(n)=φ(n/p)*(p-1)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n </a:t>
                </a:r>
                <a:r>
                  <a:rPr lang="zh-CN" altLang="en-US" dirty="0"/>
                  <a:t>的所有约数 </a:t>
                </a:r>
                <a:r>
                  <a:rPr lang="en-US" altLang="zh-CN" dirty="0"/>
                  <a:t>d </a:t>
                </a:r>
                <a:r>
                  <a:rPr lang="zh-CN" altLang="en-US" dirty="0"/>
                  <a:t>的 </a:t>
                </a:r>
                <a:r>
                  <a:rPr lang="en-US" altLang="zh-CN" dirty="0"/>
                  <a:t>φ(d) </a:t>
                </a:r>
                <a:r>
                  <a:rPr lang="zh-CN" altLang="en-US" dirty="0"/>
                  <a:t>之和为 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F1D8F81-465C-6423-7ACA-255E5FB49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535229"/>
                <a:ext cx="9696383" cy="2492990"/>
              </a:xfrm>
              <a:prstGeom prst="rect">
                <a:avLst/>
              </a:prstGeom>
              <a:blipFill>
                <a:blip r:embed="rId2"/>
                <a:stretch>
                  <a:fillRect l="-1446" t="-3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364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C32859-41A6-2A97-4410-32D8DFD9E7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埃式筛法求欧拉函数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2796A5-C22C-61CC-EE21-DE5B5CD6BBFA}"/>
              </a:ext>
            </a:extLst>
          </p:cNvPr>
          <p:cNvSpPr txBox="1"/>
          <p:nvPr/>
        </p:nvSpPr>
        <p:spPr>
          <a:xfrm>
            <a:off x="660398" y="1434164"/>
            <a:ext cx="8849361" cy="47089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针对欧拉函数的计算式，我们在进行埃式筛法的时候可以同时计算欧拉函数，首先我们把所有的 </a:t>
            </a:r>
            <a:r>
              <a:rPr lang="en-US" altLang="zh-CN" dirty="0"/>
              <a:t>φ(</a:t>
            </a:r>
            <a:r>
              <a:rPr lang="en-US" altLang="zh-CN" dirty="0" err="1"/>
              <a:t>i</a:t>
            </a:r>
            <a:r>
              <a:rPr lang="en-US" altLang="zh-CN" dirty="0"/>
              <a:t>)=</a:t>
            </a:r>
            <a:r>
              <a:rPr lang="en-US" altLang="zh-CN" dirty="0" err="1"/>
              <a:t>i</a:t>
            </a:r>
            <a:r>
              <a:rPr lang="en-US" altLang="zh-CN" dirty="0"/>
              <a:t>, </a:t>
            </a:r>
            <a:r>
              <a:rPr lang="zh-CN" altLang="en-US" dirty="0"/>
              <a:t>每当我们处理一个质数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的倍数 </a:t>
            </a:r>
            <a:r>
              <a:rPr lang="en-US" altLang="zh-CN" dirty="0"/>
              <a:t>j </a:t>
            </a:r>
            <a:r>
              <a:rPr lang="zh-CN" altLang="en-US" dirty="0"/>
              <a:t>的时候，我们都可以更新 </a:t>
            </a:r>
            <a:r>
              <a:rPr lang="en-US" altLang="zh-CN" dirty="0"/>
              <a:t>φ(</a:t>
            </a:r>
            <a:r>
              <a:rPr lang="en-US" altLang="zh-CN" dirty="0" err="1"/>
              <a:t>i</a:t>
            </a:r>
            <a:r>
              <a:rPr lang="en-US" altLang="zh-CN" dirty="0"/>
              <a:t>*j)=φ(</a:t>
            </a:r>
            <a:r>
              <a:rPr lang="en-US" altLang="zh-CN" dirty="0" err="1"/>
              <a:t>i</a:t>
            </a:r>
            <a:r>
              <a:rPr lang="en-US" altLang="zh-CN" dirty="0"/>
              <a:t>*j)/</a:t>
            </a:r>
            <a:r>
              <a:rPr lang="en-US" altLang="zh-CN" dirty="0" err="1"/>
              <a:t>i</a:t>
            </a:r>
            <a:r>
              <a:rPr lang="en-US" altLang="zh-CN" dirty="0"/>
              <a:t>*(i-1)</a:t>
            </a:r>
            <a:r>
              <a:rPr lang="zh-CN" altLang="en-US" dirty="0"/>
              <a:t>，算上质数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在计算式中的贡献，由于我们要进行一个覆盖式的更新，我们的 </a:t>
            </a:r>
            <a:r>
              <a:rPr lang="en-US" altLang="zh-CN" dirty="0"/>
              <a:t>j </a:t>
            </a:r>
            <a:r>
              <a:rPr lang="zh-CN" altLang="en-US" dirty="0"/>
              <a:t>不能再从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开始枚举了，要从 </a:t>
            </a:r>
            <a:r>
              <a:rPr lang="en-US" altLang="zh-CN" dirty="0"/>
              <a:t>1 </a:t>
            </a:r>
            <a:r>
              <a:rPr lang="zh-CN" altLang="en-US" dirty="0"/>
              <a:t>开始枚举，因此该欧拉函数计算的复杂度为 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代码如下：</a:t>
            </a:r>
            <a:endParaRPr lang="en-US" altLang="zh-CN" dirty="0"/>
          </a:p>
          <a:p>
            <a:r>
              <a:rPr lang="en-US" altLang="zh-CN" dirty="0">
                <a:solidFill>
                  <a:srgbClr val="569CD6"/>
                </a:solidFill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es_eulers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375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45CD1A0-AAC9-DCE0-58AF-D274CE591F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线性筛法求欧拉函数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7DD4A35-32FD-4404-BBF4-14D8515FBDFC}"/>
                  </a:ext>
                </a:extLst>
              </p:cNvPr>
              <p:cNvSpPr txBox="1"/>
              <p:nvPr/>
            </p:nvSpPr>
            <p:spPr>
              <a:xfrm>
                <a:off x="660400" y="1424539"/>
                <a:ext cx="8175592" cy="4154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用线性筛法求欧拉函数的基础是之前提到的欧拉函数的性质 </a:t>
                </a:r>
                <a:r>
                  <a:rPr lang="en-US" altLang="zh-CN" dirty="0"/>
                  <a:t>3 </a:t>
                </a:r>
                <a:r>
                  <a:rPr lang="zh-CN" altLang="en-US" dirty="0"/>
                  <a:t>和性质 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，因为它们提供了一个 </a:t>
                </a:r>
                <a:r>
                  <a:rPr lang="en-US" altLang="zh-CN" dirty="0"/>
                  <a:t>φ(n) </a:t>
                </a:r>
                <a:r>
                  <a:rPr lang="zh-CN" altLang="en-US" dirty="0"/>
                  <a:t>根据它的一个质因子 </a:t>
                </a:r>
                <a:r>
                  <a:rPr lang="en-US" altLang="zh-CN" dirty="0"/>
                  <a:t>p </a:t>
                </a:r>
                <a:r>
                  <a:rPr lang="zh-CN" altLang="en-US" dirty="0"/>
                  <a:t>来递推式更新的方式。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若 </a:t>
                </a:r>
                <a:r>
                  <a:rPr lang="en-US" altLang="zh-CN" dirty="0"/>
                  <a:t>p </a:t>
                </a:r>
                <a:r>
                  <a:rPr lang="zh-CN" altLang="en-US" dirty="0"/>
                  <a:t>为质数且 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 能整除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，而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也能整除 </a:t>
                </a:r>
                <a:r>
                  <a:rPr lang="en-US" altLang="zh-CN" dirty="0"/>
                  <a:t>n, </a:t>
                </a:r>
                <a:r>
                  <a:rPr lang="zh-CN" altLang="en-US" dirty="0"/>
                  <a:t>则 </a:t>
                </a:r>
                <a:r>
                  <a:rPr lang="en-US" altLang="zh-CN" dirty="0"/>
                  <a:t>φ(n)=φ(n/p)*p</a:t>
                </a:r>
              </a:p>
              <a:p>
                <a:r>
                  <a:rPr lang="zh-CN" altLang="en-US" dirty="0"/>
                  <a:t>若 </a:t>
                </a:r>
                <a:r>
                  <a:rPr lang="en-US" altLang="zh-CN" dirty="0"/>
                  <a:t>p </a:t>
                </a:r>
                <a:r>
                  <a:rPr lang="zh-CN" altLang="en-US" dirty="0"/>
                  <a:t>为质数且 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 能整除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，而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不能整除 </a:t>
                </a:r>
                <a:r>
                  <a:rPr lang="en-US" altLang="zh-CN" dirty="0"/>
                  <a:t>n, </a:t>
                </a:r>
                <a:r>
                  <a:rPr lang="zh-CN" altLang="en-US" dirty="0"/>
                  <a:t>则 </a:t>
                </a:r>
                <a:r>
                  <a:rPr lang="en-US" altLang="zh-CN" dirty="0"/>
                  <a:t>φ(n)=φ(n/p)*(p-1)</a:t>
                </a:r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我们考虑我们线性筛中标记合数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时的情况，我们考虑标记它的同时计算它的欧拉函数，假如我们做到了该计算，那么显然我们枚举到合数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时它的欧拉函数是已知的，枚举到质数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时</a:t>
                </a:r>
                <a:r>
                  <a:rPr lang="en-US" altLang="zh-CN" dirty="0"/>
                  <a:t>φ(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)=i-1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我们要标记合数 </a:t>
                </a:r>
                <a:r>
                  <a:rPr lang="en-US" altLang="zh-CN" dirty="0"/>
                  <a:t>n=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*p[j]</a:t>
                </a:r>
              </a:p>
              <a:p>
                <a:r>
                  <a:rPr lang="zh-CN" altLang="en-US" dirty="0"/>
                  <a:t>那么如果 </a:t>
                </a:r>
                <a:r>
                  <a:rPr lang="en-US" altLang="zh-CN" dirty="0" err="1"/>
                  <a:t>i%p</a:t>
                </a:r>
                <a:r>
                  <a:rPr lang="en-US" altLang="zh-CN" dirty="0"/>
                  <a:t>==0</a:t>
                </a:r>
                <a:r>
                  <a:rPr lang="zh-CN" altLang="en-US" dirty="0"/>
                  <a:t>，即它符合性质 </a:t>
                </a:r>
                <a:r>
                  <a:rPr lang="en-US" altLang="zh-CN" dirty="0"/>
                  <a:t>3 </a:t>
                </a:r>
                <a:r>
                  <a:rPr lang="zh-CN" altLang="en-US" dirty="0"/>
                  <a:t>的情况，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可以整除 </a:t>
                </a:r>
                <a:r>
                  <a:rPr lang="en-US" altLang="zh-CN" dirty="0"/>
                  <a:t>n,</a:t>
                </a:r>
                <a:r>
                  <a:rPr lang="zh-CN" altLang="en-US" dirty="0"/>
                  <a:t>则 </a:t>
                </a:r>
                <a:r>
                  <a:rPr lang="en-US" altLang="zh-CN" dirty="0"/>
                  <a:t>φ(n)=φ(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)*p</a:t>
                </a:r>
                <a:br>
                  <a:rPr lang="en-US" altLang="zh-CN" dirty="0"/>
                </a:br>
                <a:r>
                  <a:rPr lang="zh-CN" altLang="en-US" dirty="0"/>
                  <a:t>如果 </a:t>
                </a:r>
                <a:r>
                  <a:rPr lang="en-US" altLang="zh-CN" dirty="0" err="1"/>
                  <a:t>i%p</a:t>
                </a:r>
                <a:r>
                  <a:rPr lang="en-US" altLang="zh-CN" dirty="0"/>
                  <a:t>!=0</a:t>
                </a:r>
                <a:r>
                  <a:rPr lang="zh-CN" altLang="en-US" dirty="0"/>
                  <a:t>，则它符合性质</a:t>
                </a:r>
                <a:r>
                  <a:rPr lang="en-US" altLang="zh-CN" dirty="0"/>
                  <a:t> 4 </a:t>
                </a:r>
                <a:r>
                  <a:rPr lang="zh-CN" altLang="en-US" dirty="0"/>
                  <a:t>的情况，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不能整除 </a:t>
                </a:r>
                <a:r>
                  <a:rPr lang="en-US" altLang="zh-CN" dirty="0" err="1"/>
                  <a:t>n,φ</a:t>
                </a:r>
                <a:r>
                  <a:rPr lang="en-US" altLang="zh-CN" dirty="0"/>
                  <a:t>(n)=φ(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)*(p-1)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于是我们实现了标记合数的同时计算它的欧拉函数，其复杂度为 </a:t>
                </a:r>
                <a:r>
                  <a:rPr lang="en-US" altLang="zh-CN" dirty="0"/>
                  <a:t>O(n)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7DD4A35-32FD-4404-BBF4-14D8515FB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424539"/>
                <a:ext cx="8175592" cy="4154984"/>
              </a:xfrm>
              <a:prstGeom prst="rect">
                <a:avLst/>
              </a:prstGeom>
              <a:blipFill>
                <a:blip r:embed="rId2"/>
                <a:stretch>
                  <a:fillRect l="-1715" t="-1909" r="-224" b="-2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62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01323B8-78FD-C5BA-8070-FC2047B2FA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线性筛法求欧拉函数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7235D9-4B3A-07EB-6263-30203D978444}"/>
              </a:ext>
            </a:extLst>
          </p:cNvPr>
          <p:cNvSpPr txBox="1"/>
          <p:nvPr/>
        </p:nvSpPr>
        <p:spPr>
          <a:xfrm>
            <a:off x="660400" y="1652891"/>
            <a:ext cx="9373937" cy="4985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solidFill>
                  <a:srgbClr val="569CD6"/>
                </a:solidFill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eulers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!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cnt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                       </a:t>
            </a:r>
            <a:endParaRPr lang="zh-CN" alt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!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])){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];</a:t>
            </a:r>
            <a:r>
              <a:rPr lang="en-US" altLang="zh-CN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      </a:t>
            </a:r>
          </a:p>
          <a:p>
            <a:r>
              <a:rPr lang="zh-CN" alt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break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else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euler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);</a:t>
            </a:r>
            <a:r>
              <a:rPr lang="en-US" altLang="zh-CN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  </a:t>
            </a:r>
            <a:r>
              <a:rPr lang="zh-CN" alt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</a:t>
            </a:r>
            <a:endParaRPr lang="en-US" altLang="zh-CN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    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	 }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5C85DF-4E3E-1970-412D-8E3C76E6110D}"/>
              </a:ext>
            </a:extLst>
          </p:cNvPr>
          <p:cNvSpPr txBox="1"/>
          <p:nvPr/>
        </p:nvSpPr>
        <p:spPr>
          <a:xfrm>
            <a:off x="660400" y="1253938"/>
            <a:ext cx="4408371" cy="2791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代码如下：</a:t>
            </a:r>
          </a:p>
        </p:txBody>
      </p:sp>
    </p:spTree>
    <p:extLst>
      <p:ext uri="{BB962C8B-B14F-4D97-AF65-F5344CB8AC3E}">
        <p14:creationId xmlns:p14="http://schemas.microsoft.com/office/powerpoint/2010/main" val="2241018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B62C0F6-974D-34CD-C407-FAF52767D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仪仗队（欧拉函数）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39612A-5B5E-2794-4194-17E467E352F2}"/>
              </a:ext>
            </a:extLst>
          </p:cNvPr>
          <p:cNvSpPr txBox="1"/>
          <p:nvPr/>
        </p:nvSpPr>
        <p:spPr>
          <a:xfrm>
            <a:off x="660400" y="1453415"/>
            <a:ext cx="9576067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我们观察从端点可以看到的点的坐标满足什么性质，不妨令端点坐标为 </a:t>
            </a:r>
            <a:r>
              <a:rPr lang="en-US" altLang="zh-CN" dirty="0"/>
              <a:t>(0,0)</a:t>
            </a:r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我们发现，除了 </a:t>
            </a:r>
            <a:r>
              <a:rPr lang="en-US" altLang="zh-CN" dirty="0"/>
              <a:t>(0,1) (1,0) (1,1) </a:t>
            </a:r>
            <a:r>
              <a:rPr lang="zh-CN" altLang="en-US" dirty="0"/>
              <a:t>这三个点，钉子能被看到当且仅当 </a:t>
            </a:r>
            <a:r>
              <a:rPr lang="en-US" altLang="zh-CN" dirty="0"/>
              <a:t>x!=y </a:t>
            </a:r>
            <a:r>
              <a:rPr lang="zh-CN" altLang="en-US" dirty="0"/>
              <a:t>且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)=1,</a:t>
            </a:r>
            <a:r>
              <a:rPr lang="zh-CN" altLang="en-US" dirty="0"/>
              <a:t>即 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互质。</a:t>
            </a:r>
            <a:r>
              <a:rPr lang="en-US" altLang="zh-CN" dirty="0"/>
              <a:t>(</a:t>
            </a:r>
            <a:r>
              <a:rPr lang="en-US" altLang="zh-CN" dirty="0" err="1"/>
              <a:t>eg</a:t>
            </a:r>
            <a:r>
              <a:rPr lang="en-US" altLang="zh-CN" dirty="0"/>
              <a:t>: (2,6)</a:t>
            </a:r>
            <a:r>
              <a:rPr lang="zh-CN" altLang="en-US" dirty="0"/>
              <a:t>会被</a:t>
            </a:r>
            <a:r>
              <a:rPr lang="en-US" altLang="zh-CN" dirty="0"/>
              <a:t>(1,3)</a:t>
            </a:r>
            <a:r>
              <a:rPr lang="zh-CN" altLang="en-US" dirty="0"/>
              <a:t> 挡下</a:t>
            </a:r>
            <a:r>
              <a:rPr lang="en-US" altLang="zh-CN" dirty="0"/>
              <a:t>)</a:t>
            </a:r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如果我们把 </a:t>
            </a:r>
            <a:r>
              <a:rPr lang="en-US" altLang="zh-CN" dirty="0" err="1"/>
              <a:t>x,y</a:t>
            </a:r>
            <a:r>
              <a:rPr lang="en-US" altLang="zh-CN" dirty="0"/>
              <a:t> </a:t>
            </a:r>
            <a:r>
              <a:rPr lang="zh-CN" altLang="en-US" dirty="0"/>
              <a:t>限制为 </a:t>
            </a:r>
            <a:r>
              <a:rPr lang="en-US" altLang="zh-CN" dirty="0"/>
              <a:t>1&lt;=x&lt;y&lt;=n-1</a:t>
            </a:r>
            <a:r>
              <a:rPr lang="zh-CN" altLang="en-US" dirty="0"/>
              <a:t>，即只看一半的图，我们发现该图是对称的，那么我们只需要计算 </a:t>
            </a:r>
            <a:r>
              <a:rPr lang="en-US" altLang="zh-CN" dirty="0"/>
              <a:t>2~n-1 </a:t>
            </a:r>
            <a:r>
              <a:rPr lang="zh-CN" altLang="en-US" dirty="0"/>
              <a:t>中互质的数的个数，也就是 </a:t>
            </a:r>
            <a:r>
              <a:rPr lang="en-US" altLang="zh-CN" dirty="0"/>
              <a:t>φ(1) </a:t>
            </a:r>
            <a:r>
              <a:rPr lang="zh-CN" altLang="en-US" dirty="0"/>
              <a:t>到 </a:t>
            </a:r>
            <a:r>
              <a:rPr lang="en-US" altLang="zh-CN" dirty="0"/>
              <a:t>φ(n)</a:t>
            </a:r>
            <a:r>
              <a:rPr lang="zh-CN" altLang="en-US" dirty="0"/>
              <a:t> 的和 </a:t>
            </a:r>
            <a:r>
              <a:rPr lang="en-US" altLang="zh-CN" dirty="0"/>
              <a:t>S</a:t>
            </a:r>
            <a:r>
              <a:rPr lang="zh-CN" altLang="en-US" dirty="0"/>
              <a:t>，最终答案就是 </a:t>
            </a:r>
            <a:r>
              <a:rPr lang="en-US" altLang="zh-CN" dirty="0"/>
              <a:t>3+2*S</a:t>
            </a:r>
            <a:r>
              <a:rPr lang="zh-CN" altLang="en-US" dirty="0"/>
              <a:t>。</a:t>
            </a:r>
            <a:br>
              <a:rPr lang="en-US" altLang="zh-CN" dirty="0"/>
            </a:br>
            <a:endParaRPr lang="en-US" altLang="zh-CN" dirty="0"/>
          </a:p>
          <a:p>
            <a:pPr algn="l"/>
            <a:r>
              <a:rPr lang="zh-CN" altLang="en-US" dirty="0"/>
              <a:t>任意选择一个筛法计算欧拉函数都能通过本题。</a:t>
            </a:r>
          </a:p>
        </p:txBody>
      </p:sp>
    </p:spTree>
    <p:extLst>
      <p:ext uri="{BB962C8B-B14F-4D97-AF65-F5344CB8AC3E}">
        <p14:creationId xmlns:p14="http://schemas.microsoft.com/office/powerpoint/2010/main" val="261264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7BE29A3-5F7D-60FD-0DCD-6D1D06DA34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E2C6FC-462F-0EA9-4168-6536687F6A45}"/>
              </a:ext>
            </a:extLst>
          </p:cNvPr>
          <p:cNvSpPr txBox="1"/>
          <p:nvPr/>
        </p:nvSpPr>
        <p:spPr>
          <a:xfrm>
            <a:off x="660400" y="1443789"/>
            <a:ext cx="8897486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 err="1"/>
              <a:t>gcd</a:t>
            </a:r>
            <a:r>
              <a:rPr lang="en-US" altLang="zh-CN" dirty="0"/>
              <a:t> </a:t>
            </a:r>
            <a:r>
              <a:rPr lang="zh-CN" altLang="en-US" dirty="0"/>
              <a:t>区间 </a:t>
            </a:r>
            <a:r>
              <a:rPr lang="en-US" altLang="zh-CN" dirty="0"/>
              <a:t>(</a:t>
            </a:r>
            <a:r>
              <a:rPr lang="en-US" altLang="zh-CN" dirty="0" err="1"/>
              <a:t>gcd</a:t>
            </a:r>
            <a:r>
              <a:rPr lang="en-US" altLang="zh-CN" dirty="0"/>
              <a:t> </a:t>
            </a:r>
            <a:r>
              <a:rPr lang="zh-CN" altLang="en-US" dirty="0"/>
              <a:t>模板</a:t>
            </a:r>
            <a:r>
              <a:rPr lang="en-US" altLang="zh-CN" dirty="0"/>
              <a:t>+</a:t>
            </a:r>
            <a:r>
              <a:rPr lang="zh-CN" altLang="en-US" dirty="0"/>
              <a:t>预处理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pPr algn="l"/>
            <a:r>
              <a:rPr lang="zh-CN" altLang="en-US" dirty="0"/>
              <a:t>比例简化 （普及组 </a:t>
            </a:r>
            <a:r>
              <a:rPr lang="en-US" altLang="zh-CN" dirty="0"/>
              <a:t>T2 </a:t>
            </a:r>
            <a:r>
              <a:rPr lang="zh-CN" altLang="en-US" dirty="0"/>
              <a:t>、</a:t>
            </a:r>
            <a:r>
              <a:rPr lang="en-US" altLang="zh-CN" dirty="0" err="1"/>
              <a:t>gcd</a:t>
            </a:r>
            <a:r>
              <a:rPr lang="zh-CN" altLang="en-US" dirty="0"/>
              <a:t>）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*GCD (</a:t>
            </a:r>
            <a:r>
              <a:rPr lang="zh-CN" altLang="en-US" dirty="0"/>
              <a:t>互质与欧拉函数</a:t>
            </a:r>
            <a:r>
              <a:rPr lang="en-US" altLang="zh-CN" dirty="0"/>
              <a:t>)</a:t>
            </a:r>
          </a:p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823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BE1D3CE-A4C8-2195-EC5B-48041E6A2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同余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38716C-A67F-8A93-9199-37045079FBF9}"/>
                  </a:ext>
                </a:extLst>
              </p:cNvPr>
              <p:cNvSpPr txBox="1"/>
              <p:nvPr/>
            </p:nvSpPr>
            <p:spPr>
              <a:xfrm>
                <a:off x="660399" y="1386039"/>
                <a:ext cx="9994767" cy="27699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注：本小节将减少定理的证明，以应用为主。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理解应用定理：费马小定理、欧拉定理、欧拉定理的推论、裴蜀定理、扩展欧几里得。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定义：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若整数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和整数 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除以 </a:t>
                </a:r>
                <a:r>
                  <a:rPr lang="en-US" altLang="zh-CN" dirty="0"/>
                  <a:t>m </a:t>
                </a:r>
                <a:r>
                  <a:rPr lang="zh-CN" altLang="en-US" dirty="0"/>
                  <a:t>的余数相等，那么我们称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在模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意义下同余，记作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38716C-A67F-8A93-9199-37045079F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99" y="1386039"/>
                <a:ext cx="9994767" cy="2769989"/>
              </a:xfrm>
              <a:prstGeom prst="rect">
                <a:avLst/>
              </a:prstGeom>
              <a:blipFill>
                <a:blip r:embed="rId2"/>
                <a:stretch>
                  <a:fillRect l="-1402" t="-2857" r="-6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932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CD3C7E7-8873-31A7-3B62-28D6FA6EC8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530226"/>
            <a:ext cx="5316888" cy="554037"/>
          </a:xfrm>
        </p:spPr>
        <p:txBody>
          <a:bodyPr/>
          <a:lstStyle/>
          <a:p>
            <a:r>
              <a:rPr lang="zh-CN" altLang="en-US" dirty="0"/>
              <a:t>费马小定理和欧拉定理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52EF0DD-61D0-169A-7209-07EC3B545E59}"/>
                  </a:ext>
                </a:extLst>
              </p:cNvPr>
              <p:cNvSpPr txBox="1"/>
              <p:nvPr/>
            </p:nvSpPr>
            <p:spPr>
              <a:xfrm>
                <a:off x="660400" y="1438977"/>
                <a:ext cx="6794366" cy="27814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费马小定理：</a:t>
                </a:r>
                <a:endParaRPr lang="en-US" altLang="zh-CN" dirty="0"/>
              </a:p>
              <a:p>
                <a:pPr algn="l"/>
                <a:r>
                  <a:rPr lang="en-US" altLang="zh-CN" dirty="0"/>
                  <a:t>	</a:t>
                </a:r>
                <a:r>
                  <a:rPr lang="zh-CN" altLang="en-US" dirty="0"/>
                  <a:t>若 </a:t>
                </a:r>
                <a:r>
                  <a:rPr lang="en-US" altLang="zh-CN" dirty="0"/>
                  <a:t>p </a:t>
                </a:r>
                <a:r>
                  <a:rPr lang="zh-CN" altLang="en-US" dirty="0"/>
                  <a:t>是质数，则对于任意整数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，有</a:t>
                </a:r>
                <a:endParaRPr lang="en-US" altLang="zh-CN" dirty="0"/>
              </a:p>
              <a:p>
                <a:pPr algn="l"/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algn="l"/>
                <a:r>
                  <a:rPr lang="en-US" altLang="zh-CN" dirty="0"/>
                  <a:t>	</a:t>
                </a:r>
                <a:r>
                  <a:rPr lang="zh-CN" altLang="en-US" dirty="0"/>
                  <a:t>若又满足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与 </a:t>
                </a:r>
                <a:r>
                  <a:rPr lang="en-US" altLang="zh-CN" dirty="0"/>
                  <a:t>p </a:t>
                </a:r>
                <a:r>
                  <a:rPr lang="zh-CN" altLang="en-US" dirty="0"/>
                  <a:t>互质，则又有</a:t>
                </a:r>
                <a:endParaRPr lang="en-US" altLang="zh-CN" dirty="0"/>
              </a:p>
              <a:p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br>
                  <a:rPr lang="en-US" altLang="zh-CN" dirty="0"/>
                </a:br>
                <a:endParaRPr lang="en-US" altLang="zh-CN" dirty="0"/>
              </a:p>
              <a:p>
                <a:pPr algn="l"/>
                <a:r>
                  <a:rPr lang="zh-CN" altLang="en-US" dirty="0"/>
                  <a:t>欧拉定理：</a:t>
                </a:r>
                <a:endParaRPr lang="en-US" altLang="zh-CN" dirty="0"/>
              </a:p>
              <a:p>
                <a:pPr algn="l"/>
                <a:r>
                  <a:rPr lang="en-US" altLang="zh-CN" dirty="0"/>
                  <a:t>	</a:t>
                </a:r>
                <a:r>
                  <a:rPr lang="zh-CN" altLang="en-US" dirty="0"/>
                  <a:t>若正整数 </a:t>
                </a:r>
                <a:r>
                  <a:rPr lang="en-US" altLang="zh-CN" dirty="0" err="1"/>
                  <a:t>a,n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互质，则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显然欧拉定理在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为质数时就是费马小定理的表达式。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52EF0DD-61D0-169A-7209-07EC3B545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438977"/>
                <a:ext cx="6794366" cy="2781467"/>
              </a:xfrm>
              <a:prstGeom prst="rect">
                <a:avLst/>
              </a:prstGeom>
              <a:blipFill>
                <a:blip r:embed="rId2"/>
                <a:stretch>
                  <a:fillRect l="-2063" t="-2851" b="-4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681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CAA6484-0D3A-A844-BE41-785EE777BA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欧拉定理的推论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D0F3A83-E8F0-F231-C3A7-0DAB5224728B}"/>
                  </a:ext>
                </a:extLst>
              </p:cNvPr>
              <p:cNvSpPr txBox="1"/>
              <p:nvPr/>
            </p:nvSpPr>
            <p:spPr>
              <a:xfrm>
                <a:off x="660399" y="1381225"/>
                <a:ext cx="8671293" cy="19997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dirty="0"/>
                  <a:t>若正整数 </a:t>
                </a:r>
                <a:r>
                  <a:rPr lang="en-US" altLang="zh-CN" dirty="0" err="1"/>
                  <a:t>a,n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互质，则对于任意正整数 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r>
                  <a:rPr lang="zh-CN" altLang="en-US" dirty="0"/>
                  <a:t>若正整数 </a:t>
                </a:r>
                <a:r>
                  <a:rPr lang="en-US" altLang="zh-CN" dirty="0" err="1"/>
                  <a:t>a,n</a:t>
                </a:r>
                <a:r>
                  <a:rPr lang="zh-CN" altLang="en-US" dirty="0"/>
                  <a:t> 不一定互质，但是 </a:t>
                </a:r>
                <a:r>
                  <a:rPr lang="en-US" altLang="zh-CN" dirty="0"/>
                  <a:t>b&gt;φ(n) </a:t>
                </a:r>
                <a:r>
                  <a:rPr lang="zh-CN" altLang="en-US" dirty="0"/>
                  <a:t>有结论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该推论主要用于乘方的取模。</a:t>
                </a:r>
                <a:endParaRPr lang="en-US" altLang="zh-CN" dirty="0"/>
              </a:p>
              <a:p>
                <a:r>
                  <a:rPr lang="zh-CN" altLang="en-US" dirty="0"/>
                  <a:t>如果要对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zh-CN" altLang="en-US" dirty="0"/>
                  <a:t> 取模而它的指数 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过大，若底数和模数互质，那么我们可以考虑对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dirty="0"/>
                  <a:t> 取模，这样得到的结果相同；若底数和模数不互质，则对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dirty="0"/>
                  <a:t> 取模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从而得到相同的结果。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D0F3A83-E8F0-F231-C3A7-0DAB52247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99" y="1381225"/>
                <a:ext cx="8671293" cy="1999715"/>
              </a:xfrm>
              <a:prstGeom prst="rect">
                <a:avLst/>
              </a:prstGeom>
              <a:blipFill>
                <a:blip r:embed="rId2"/>
                <a:stretch>
                  <a:fillRect l="-1616" t="-3049" b="-6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67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71E2675-5540-B330-5ACE-5C83D47D54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扩展欧几里得算法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C0D4803-DB34-73DD-3B11-F23CF6F0867B}"/>
                  </a:ext>
                </a:extLst>
              </p:cNvPr>
              <p:cNvSpPr txBox="1"/>
              <p:nvPr/>
            </p:nvSpPr>
            <p:spPr>
              <a:xfrm>
                <a:off x="660400" y="1515979"/>
                <a:ext cx="9340248" cy="51214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裴蜀定理</a:t>
                </a:r>
                <a:r>
                  <a:rPr lang="en-US" altLang="zh-CN" dirty="0"/>
                  <a:t>:</a:t>
                </a:r>
              </a:p>
              <a:p>
                <a:pPr algn="l"/>
                <a:r>
                  <a:rPr lang="zh-CN" altLang="en-US" dirty="0"/>
                  <a:t>对于任意一对整数</a:t>
                </a:r>
                <a:r>
                  <a:rPr lang="en-US" altLang="zh-CN" dirty="0" err="1"/>
                  <a:t>a,b</a:t>
                </a:r>
                <a:r>
                  <a:rPr lang="zh-CN" altLang="en-US" dirty="0"/>
                  <a:t>，存在一对整数 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使得 </a:t>
                </a:r>
                <a:r>
                  <a:rPr lang="en-US" altLang="zh-CN" dirty="0"/>
                  <a:t>a*</a:t>
                </a:r>
                <a:r>
                  <a:rPr lang="en-US" altLang="zh-CN" dirty="0" err="1"/>
                  <a:t>x+b</a:t>
                </a:r>
                <a:r>
                  <a:rPr lang="en-US" altLang="zh-CN" dirty="0"/>
                  <a:t>*y=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)</a:t>
                </a:r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我们将采用欧几里得算法来证明裴蜀定理：</a:t>
                </a:r>
                <a:endParaRPr lang="en-US" altLang="zh-CN" dirty="0"/>
              </a:p>
              <a:p>
                <a:pPr algn="l"/>
                <a:r>
                  <a:rPr lang="zh-CN" altLang="en-US" dirty="0"/>
                  <a:t>在欧几里得算法的最后一步，有 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(a,0)=a</a:t>
                </a:r>
                <a:r>
                  <a:rPr lang="zh-CN" altLang="en-US" dirty="0"/>
                  <a:t>，即得到了对于 </a:t>
                </a:r>
                <a:r>
                  <a:rPr lang="en-US" altLang="zh-CN" dirty="0"/>
                  <a:t>(a,0) 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x=1,y=0</a:t>
                </a:r>
                <a:r>
                  <a:rPr lang="zh-CN" altLang="en-US" dirty="0"/>
                  <a:t>的解。</a:t>
                </a:r>
                <a:endParaRPr lang="en-US" altLang="zh-CN" dirty="0"/>
              </a:p>
              <a:p>
                <a:r>
                  <a:rPr lang="zh-CN" altLang="en-US" dirty="0"/>
                  <a:t>若 </a:t>
                </a:r>
                <a:r>
                  <a:rPr lang="en-US" altLang="zh-CN" dirty="0"/>
                  <a:t>b&gt;0</a:t>
                </a:r>
                <a:r>
                  <a:rPr lang="zh-CN" altLang="en-US" dirty="0"/>
                  <a:t>，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)=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b,a</a:t>
                </a:r>
                <a:r>
                  <a:rPr lang="en-US" altLang="zh-CN" dirty="0"/>
                  <a:t> mod b)</a:t>
                </a:r>
                <a:r>
                  <a:rPr lang="zh-CN" altLang="en-US" dirty="0"/>
                  <a:t>，假设存在整数 </a:t>
                </a:r>
                <a:r>
                  <a:rPr lang="en-US" altLang="zh-CN" dirty="0" err="1"/>
                  <a:t>x,y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使得 </a:t>
                </a:r>
                <a:r>
                  <a:rPr lang="en-US" altLang="zh-CN" dirty="0"/>
                  <a:t>b*x+(a mod b)*y=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b,a</a:t>
                </a:r>
                <a:r>
                  <a:rPr lang="en-US" altLang="zh-CN" dirty="0"/>
                  <a:t> mod b)</a:t>
                </a:r>
                <a:r>
                  <a:rPr lang="zh-CN" altLang="en-US" dirty="0"/>
                  <a:t>，则有 </a:t>
                </a:r>
                <a:r>
                  <a:rPr lang="en-US" altLang="zh-CN" dirty="0"/>
                  <a:t>b*x+(a-b*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*y=a*</a:t>
                </a:r>
                <a:r>
                  <a:rPr lang="en-US" altLang="zh-CN" dirty="0" err="1"/>
                  <a:t>y+b</a:t>
                </a:r>
                <a:r>
                  <a:rPr lang="en-US" altLang="zh-CN" dirty="0"/>
                  <a:t>*(x-b*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*y)=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，我们令 </a:t>
                </a:r>
                <a:r>
                  <a:rPr lang="en-US" altLang="zh-CN" dirty="0"/>
                  <a:t>x’=y, y’=(x-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*y)</a:t>
                </a:r>
                <a:r>
                  <a:rPr lang="zh-CN" altLang="en-US" dirty="0"/>
                  <a:t>，则我们得到了 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的解 </a:t>
                </a:r>
                <a:r>
                  <a:rPr lang="en-US" altLang="zh-CN" dirty="0"/>
                  <a:t>x=</a:t>
                </a:r>
                <a:r>
                  <a:rPr lang="en-US" altLang="zh-CN" dirty="0" err="1"/>
                  <a:t>x’,y</a:t>
                </a:r>
                <a:r>
                  <a:rPr lang="en-US" altLang="zh-CN" dirty="0"/>
                  <a:t>=y’ </a:t>
                </a:r>
                <a:r>
                  <a:rPr lang="zh-CN" altLang="en-US" dirty="0"/>
                  <a:t>使得 </a:t>
                </a:r>
                <a:r>
                  <a:rPr lang="en-US" altLang="zh-CN" dirty="0"/>
                  <a:t>a*</a:t>
                </a:r>
                <a:r>
                  <a:rPr lang="en-US" altLang="zh-CN" dirty="0" err="1"/>
                  <a:t>x’+b</a:t>
                </a:r>
                <a:r>
                  <a:rPr lang="en-US" altLang="zh-CN" dirty="0"/>
                  <a:t>*y’=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，那么只要我们求得 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b,a</a:t>
                </a:r>
                <a:r>
                  <a:rPr lang="en-US" altLang="zh-CN" dirty="0"/>
                  <a:t> mod b) </a:t>
                </a:r>
                <a:r>
                  <a:rPr lang="zh-CN" altLang="en-US" dirty="0"/>
                  <a:t>关于该方程的解</a:t>
                </a:r>
                <a:r>
                  <a:rPr lang="en-US" altLang="zh-CN" dirty="0" err="1"/>
                  <a:t>x,y</a:t>
                </a:r>
                <a:r>
                  <a:rPr lang="zh-CN" altLang="en-US" dirty="0"/>
                  <a:t>，我们就能知道 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) </a:t>
                </a:r>
                <a:r>
                  <a:rPr lang="zh-CN" altLang="en-US" dirty="0"/>
                  <a:t>关于方程的解</a:t>
                </a:r>
                <a:r>
                  <a:rPr lang="en-US" altLang="zh-CN" dirty="0" err="1"/>
                  <a:t>x’,y</a:t>
                </a:r>
                <a:r>
                  <a:rPr lang="en-US" altLang="zh-CN" dirty="0"/>
                  <a:t>’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也就是说，我们可以改造我们的欧几里得算法，在最后一步计算出一个</a:t>
                </a:r>
                <a:r>
                  <a:rPr lang="en-US" altLang="zh-CN" dirty="0"/>
                  <a:t>x=1,y=0</a:t>
                </a:r>
                <a:r>
                  <a:rPr lang="zh-CN" altLang="en-US" dirty="0"/>
                  <a:t>，然后向上回溯的一个个计算各个子问题的解 </a:t>
                </a:r>
                <a:r>
                  <a:rPr lang="en-US" altLang="zh-CN" dirty="0" err="1"/>
                  <a:t>x,y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直到最终解决 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) </a:t>
                </a:r>
                <a:r>
                  <a:rPr lang="zh-CN" altLang="en-US" dirty="0"/>
                  <a:t>关于该方程的解。由于任意整数的</a:t>
                </a:r>
                <a:r>
                  <a:rPr lang="en-US" altLang="zh-CN" dirty="0" err="1"/>
                  <a:t>gcd</a:t>
                </a:r>
                <a:r>
                  <a:rPr lang="zh-CN" altLang="en-US" dirty="0"/>
                  <a:t>一定存在，所以对于任意 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) </a:t>
                </a:r>
                <a:r>
                  <a:rPr lang="zh-CN" altLang="en-US" dirty="0"/>
                  <a:t>它的解存在。</a:t>
                </a:r>
                <a:endParaRPr lang="en-US" altLang="zh-CN" dirty="0"/>
              </a:p>
              <a:p>
                <a:pPr algn="l"/>
                <a:r>
                  <a:rPr lang="zh-CN" altLang="en-US" dirty="0"/>
                  <a:t>证毕。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运用上述推理，我们实际上得到了扩展欧几里得算法（</a:t>
                </a:r>
                <a:r>
                  <a:rPr lang="en-US" altLang="zh-CN" dirty="0" err="1"/>
                  <a:t>exgcd</a:t>
                </a:r>
                <a:r>
                  <a:rPr lang="zh-CN" altLang="en-US" dirty="0"/>
                  <a:t>），可以帮助我们求得裴蜀定理中方程的解。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一个显然的推论： 若 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互质，则存在一对整数</a:t>
                </a:r>
                <a:r>
                  <a:rPr lang="en-US" altLang="zh-CN" dirty="0" err="1"/>
                  <a:t>x,y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使得 </a:t>
                </a:r>
                <a:r>
                  <a:rPr lang="en-US" altLang="zh-CN" dirty="0"/>
                  <a:t>a*</a:t>
                </a:r>
                <a:r>
                  <a:rPr lang="en-US" altLang="zh-CN" dirty="0" err="1"/>
                  <a:t>x+b</a:t>
                </a:r>
                <a:r>
                  <a:rPr lang="en-US" altLang="zh-CN" dirty="0"/>
                  <a:t>*y=1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C0D4803-DB34-73DD-3B11-F23CF6F08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515979"/>
                <a:ext cx="9340248" cy="5121467"/>
              </a:xfrm>
              <a:prstGeom prst="rect">
                <a:avLst/>
              </a:prstGeom>
              <a:blipFill>
                <a:blip r:embed="rId2"/>
                <a:stretch>
                  <a:fillRect l="-1500" t="-1548" r="-3196" b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27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590A14A-CC16-D9AB-6F57-04EFEFB64F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扩展欧几里得算法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A225-7DC8-4458-0CE2-00ED4040DC47}"/>
              </a:ext>
            </a:extLst>
          </p:cNvPr>
          <p:cNvSpPr txBox="1"/>
          <p:nvPr/>
        </p:nvSpPr>
        <p:spPr>
          <a:xfrm>
            <a:off x="660400" y="1400476"/>
            <a:ext cx="8392160" cy="4431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实现扩展欧几里得算法代码如下：</a:t>
            </a:r>
            <a:endParaRPr lang="en-US" altLang="zh-CN" dirty="0"/>
          </a:p>
          <a:p>
            <a:pPr algn="l"/>
            <a:endParaRPr lang="en-US" altLang="zh-CN" dirty="0"/>
          </a:p>
          <a:p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exgcd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&amp;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x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){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;}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exgcd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</a:t>
            </a:r>
            <a:r>
              <a:rPr lang="en-US" altLang="zh-CN" b="0" dirty="0" err="1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x</a:t>
            </a:r>
            <a:r>
              <a:rPr lang="en-US" altLang="zh-CN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);</a:t>
            </a:r>
            <a:r>
              <a:rPr lang="en-US" altLang="zh-CN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    //</a:t>
            </a:r>
            <a:r>
              <a:rPr lang="zh-CN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求得 </a:t>
            </a:r>
            <a:r>
              <a:rPr lang="en-US" altLang="zh-CN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b,a%b</a:t>
            </a:r>
            <a:r>
              <a:rPr lang="en-US" altLang="zh-CN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 </a:t>
            </a:r>
            <a:r>
              <a:rPr lang="zh-CN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的解</a:t>
            </a:r>
            <a:endParaRPr lang="zh-CN" alt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  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  //</a:t>
            </a:r>
            <a:r>
              <a:rPr lang="zh-CN" alt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计算该层解</a:t>
            </a:r>
            <a:endParaRPr lang="zh-CN" alt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zh-CN" dirty="0"/>
          </a:p>
          <a:p>
            <a:pPr algn="l"/>
            <a:r>
              <a:rPr lang="zh-CN" altLang="en-US" b="1" dirty="0">
                <a:solidFill>
                  <a:srgbClr val="FF0000"/>
                </a:solidFill>
              </a:rPr>
              <a:t>对于更一般的不定方程，</a:t>
            </a:r>
            <a:r>
              <a:rPr lang="en-US" altLang="zh-CN" b="1" dirty="0">
                <a:solidFill>
                  <a:srgbClr val="FF0000"/>
                </a:solidFill>
              </a:rPr>
              <a:t>a*</a:t>
            </a:r>
            <a:r>
              <a:rPr lang="en-US" altLang="zh-CN" b="1" dirty="0" err="1">
                <a:solidFill>
                  <a:srgbClr val="FF0000"/>
                </a:solidFill>
              </a:rPr>
              <a:t>x+b</a:t>
            </a:r>
            <a:r>
              <a:rPr lang="en-US" altLang="zh-CN" b="1" dirty="0">
                <a:solidFill>
                  <a:srgbClr val="FF0000"/>
                </a:solidFill>
              </a:rPr>
              <a:t>*y=c</a:t>
            </a:r>
            <a:r>
              <a:rPr lang="zh-CN" altLang="en-US" b="1" dirty="0">
                <a:solidFill>
                  <a:srgbClr val="FF0000"/>
                </a:solidFill>
              </a:rPr>
              <a:t>，它有解当且仅当 </a:t>
            </a:r>
            <a:r>
              <a:rPr lang="en-US" altLang="zh-CN" b="1" dirty="0">
                <a:solidFill>
                  <a:srgbClr val="FF0000"/>
                </a:solidFill>
              </a:rPr>
              <a:t>c </a:t>
            </a:r>
            <a:r>
              <a:rPr lang="zh-CN" altLang="en-US" b="1" dirty="0">
                <a:solidFill>
                  <a:srgbClr val="FF0000"/>
                </a:solidFill>
              </a:rPr>
              <a:t>是 </a:t>
            </a:r>
            <a:r>
              <a:rPr lang="en-US" altLang="zh-CN" b="1" dirty="0">
                <a:solidFill>
                  <a:srgbClr val="FF0000"/>
                </a:solidFill>
              </a:rPr>
              <a:t>d=</a:t>
            </a:r>
            <a:r>
              <a:rPr lang="en-US" altLang="zh-CN" b="1" dirty="0" err="1">
                <a:solidFill>
                  <a:srgbClr val="FF0000"/>
                </a:solidFill>
              </a:rPr>
              <a:t>gcd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a,b</a:t>
            </a:r>
            <a:r>
              <a:rPr lang="en-US" altLang="zh-CN" b="1" dirty="0">
                <a:solidFill>
                  <a:srgbClr val="FF0000"/>
                </a:solidFill>
              </a:rPr>
              <a:t>) </a:t>
            </a:r>
            <a:r>
              <a:rPr lang="zh-CN" altLang="en-US" b="1" dirty="0">
                <a:solidFill>
                  <a:srgbClr val="FF0000"/>
                </a:solidFill>
              </a:rPr>
              <a:t>的整数倍</a:t>
            </a:r>
            <a:r>
              <a:rPr lang="zh-CN" altLang="en-US" dirty="0"/>
              <a:t>，我们这里不作证明，只作利用，也就是说，当 </a:t>
            </a:r>
            <a:r>
              <a:rPr lang="en-US" altLang="zh-CN" dirty="0"/>
              <a:t>c=k*d </a:t>
            </a:r>
            <a:r>
              <a:rPr lang="zh-CN" altLang="en-US" dirty="0"/>
              <a:t>时，我们可以先求出 </a:t>
            </a:r>
            <a:r>
              <a:rPr lang="en-US" altLang="zh-CN" dirty="0"/>
              <a:t>a*</a:t>
            </a:r>
            <a:r>
              <a:rPr lang="en-US" altLang="zh-CN" dirty="0" err="1"/>
              <a:t>x+b</a:t>
            </a:r>
            <a:r>
              <a:rPr lang="en-US" altLang="zh-CN" dirty="0"/>
              <a:t>*y=d </a:t>
            </a:r>
            <a:r>
              <a:rPr lang="zh-CN" altLang="en-US" dirty="0"/>
              <a:t>的解 </a:t>
            </a:r>
            <a:r>
              <a:rPr lang="en-US" altLang="zh-CN" dirty="0"/>
              <a:t>x0,y0</a:t>
            </a:r>
            <a:r>
              <a:rPr lang="zh-CN" altLang="en-US" dirty="0"/>
              <a:t>，之后将它们整体乘上 </a:t>
            </a:r>
            <a:r>
              <a:rPr lang="en-US" altLang="zh-CN" dirty="0"/>
              <a:t>k </a:t>
            </a:r>
            <a:r>
              <a:rPr lang="zh-CN" altLang="en-US" dirty="0"/>
              <a:t>则有 </a:t>
            </a:r>
            <a:r>
              <a:rPr lang="en-US" altLang="zh-CN" dirty="0"/>
              <a:t>a*x0*c/</a:t>
            </a:r>
            <a:r>
              <a:rPr lang="en-US" altLang="zh-CN" dirty="0" err="1"/>
              <a:t>d+b</a:t>
            </a:r>
            <a:r>
              <a:rPr lang="en-US" altLang="zh-CN" dirty="0"/>
              <a:t>*y0*c/d=c, </a:t>
            </a:r>
            <a:r>
              <a:rPr lang="zh-CN" altLang="en-US" dirty="0"/>
              <a:t>即得到了原不定方程的一个解。</a:t>
            </a:r>
            <a:endParaRPr lang="en-US" altLang="zh-CN" dirty="0"/>
          </a:p>
          <a:p>
            <a:pPr algn="l"/>
            <a:r>
              <a:rPr lang="zh-CN" altLang="en-US" dirty="0"/>
              <a:t>而事实上，该不定方程的通解可以写作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x=x0*c/</a:t>
            </a:r>
            <a:r>
              <a:rPr lang="en-US" altLang="zh-CN" dirty="0" err="1"/>
              <a:t>d+k</a:t>
            </a:r>
            <a:r>
              <a:rPr lang="en-US" altLang="zh-CN" dirty="0"/>
              <a:t>*b/</a:t>
            </a:r>
            <a:r>
              <a:rPr lang="en-US" altLang="zh-CN" dirty="0" err="1"/>
              <a:t>d,y</a:t>
            </a:r>
            <a:r>
              <a:rPr lang="en-US" altLang="zh-CN" dirty="0"/>
              <a:t>=y0*c/d-k*</a:t>
            </a:r>
            <a:r>
              <a:rPr lang="en-US" altLang="zh-CN" dirty="0" err="1"/>
              <a:t>a/d</a:t>
            </a:r>
            <a:r>
              <a:rPr lang="en-US" altLang="zh-CN" dirty="0"/>
              <a:t> ,</a:t>
            </a:r>
            <a:r>
              <a:rPr lang="zh-CN" altLang="en-US" dirty="0"/>
              <a:t>把他们带入原方程，由</a:t>
            </a:r>
            <a:r>
              <a:rPr lang="en-US" altLang="zh-CN" dirty="0"/>
              <a:t>a*x0*c/</a:t>
            </a:r>
            <a:r>
              <a:rPr lang="en-US" altLang="zh-CN" dirty="0" err="1"/>
              <a:t>d+b</a:t>
            </a:r>
            <a:r>
              <a:rPr lang="en-US" altLang="zh-CN" dirty="0"/>
              <a:t>*y0*c/d=c</a:t>
            </a:r>
            <a:r>
              <a:rPr lang="zh-CN" altLang="en-US" dirty="0"/>
              <a:t>，显然等式仍然成立。</a:t>
            </a:r>
          </a:p>
        </p:txBody>
      </p:sp>
    </p:spTree>
    <p:extLst>
      <p:ext uri="{BB962C8B-B14F-4D97-AF65-F5344CB8AC3E}">
        <p14:creationId xmlns:p14="http://schemas.microsoft.com/office/powerpoint/2010/main" val="214973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42612B0-9E77-5C55-DFA3-5AFD39860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乘法逆元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7A36870-F046-A3E7-FB26-FDC1B57C7243}"/>
                  </a:ext>
                </a:extLst>
              </p:cNvPr>
              <p:cNvSpPr txBox="1"/>
              <p:nvPr/>
            </p:nvSpPr>
            <p:spPr>
              <a:xfrm>
                <a:off x="660400" y="1381225"/>
                <a:ext cx="9989954" cy="51732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在同余式中，</a:t>
                </a:r>
                <a:r>
                  <a:rPr lang="en-US" altLang="zh-CN" dirty="0"/>
                  <a:t>+-* </a:t>
                </a:r>
                <a:r>
                  <a:rPr lang="zh-CN" altLang="en-US" dirty="0"/>
                  <a:t>运算都是符合直觉的，即</a:t>
                </a:r>
                <a:endParaRPr lang="en-US" altLang="zh-CN" dirty="0"/>
              </a:p>
              <a:p>
                <a:pPr algn="l"/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(a +  b) % p = (</a:t>
                </a:r>
                <a:r>
                  <a:rPr lang="en-US" altLang="zh-CN" b="0" i="0" dirty="0" err="1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a%p</a:t>
                </a:r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 +  </a:t>
                </a:r>
                <a:r>
                  <a:rPr lang="en-US" altLang="zh-CN" b="0" i="0" dirty="0" err="1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b%p</a:t>
                </a:r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) %p  </a:t>
                </a:r>
                <a:r>
                  <a:rPr lang="zh-CN" altLang="en-US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（对）</a:t>
                </a:r>
              </a:p>
              <a:p>
                <a:pPr algn="l"/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(a  -  b) % p = (</a:t>
                </a:r>
                <a:r>
                  <a:rPr lang="en-US" altLang="zh-CN" b="0" i="0" dirty="0" err="1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a%p</a:t>
                </a:r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  -  </a:t>
                </a:r>
                <a:r>
                  <a:rPr lang="en-US" altLang="zh-CN" b="0" i="0" dirty="0" err="1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b%p</a:t>
                </a:r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) %p  </a:t>
                </a:r>
                <a:r>
                  <a:rPr lang="zh-CN" altLang="en-US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（对）</a:t>
                </a:r>
              </a:p>
              <a:p>
                <a:pPr algn="l"/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(a  *  b) % p = (</a:t>
                </a:r>
                <a:r>
                  <a:rPr lang="en-US" altLang="zh-CN" b="0" i="0" dirty="0" err="1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a%p</a:t>
                </a:r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 *  </a:t>
                </a:r>
                <a:r>
                  <a:rPr lang="en-US" altLang="zh-CN" b="0" i="0" dirty="0" err="1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b%p</a:t>
                </a:r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) %p  </a:t>
                </a:r>
                <a:r>
                  <a:rPr lang="zh-CN" altLang="en-US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（对）</a:t>
                </a:r>
              </a:p>
              <a:p>
                <a:pPr algn="l"/>
                <a:r>
                  <a:rPr lang="zh-CN" altLang="en-US" dirty="0"/>
                  <a:t>而除法运算 </a:t>
                </a:r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(a  /  b) % p = (</a:t>
                </a:r>
                <a:r>
                  <a:rPr lang="en-US" altLang="zh-CN" b="0" i="0" dirty="0" err="1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a%p</a:t>
                </a:r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  /  </a:t>
                </a:r>
                <a:r>
                  <a:rPr lang="en-US" altLang="zh-CN" b="0" i="0" dirty="0" err="1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b%p</a:t>
                </a:r>
                <a:r>
                  <a:rPr lang="en-US" altLang="zh-CN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) %p  </a:t>
                </a:r>
                <a:r>
                  <a:rPr lang="zh-CN" altLang="en-US" b="0" i="0" dirty="0">
                    <a:solidFill>
                      <a:srgbClr val="4D4D4D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（错）</a:t>
                </a:r>
                <a:endParaRPr lang="en-US" altLang="zh-CN" dirty="0"/>
              </a:p>
              <a:p>
                <a:pPr algn="l"/>
                <a:r>
                  <a:rPr lang="zh-CN" altLang="en-US" dirty="0"/>
                  <a:t>于是为了处理除法运算，我们引出了逆元的概念：</a:t>
                </a:r>
                <a:endParaRPr lang="en-US" altLang="zh-CN" dirty="0"/>
              </a:p>
              <a:p>
                <a:pPr algn="l"/>
                <a:r>
                  <a:rPr lang="zh-CN" altLang="en-US" dirty="0"/>
                  <a:t>当且仅当 整数 </a:t>
                </a:r>
                <a:r>
                  <a:rPr lang="en-US" altLang="zh-CN" dirty="0" err="1"/>
                  <a:t>b,m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互质，且 </a:t>
                </a:r>
                <a:r>
                  <a:rPr lang="en-US" altLang="zh-CN" dirty="0" err="1"/>
                  <a:t>b|a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能够整除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），则存在一个整数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使得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则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被称作 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在模 </a:t>
                </a:r>
                <a:r>
                  <a:rPr lang="en-US" altLang="zh-CN" dirty="0"/>
                  <a:t>m </a:t>
                </a:r>
                <a:r>
                  <a:rPr lang="zh-CN" altLang="en-US" dirty="0"/>
                  <a:t>意义下的乘法逆元，记作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r>
                  <a:rPr lang="zh-CN" altLang="en-US" dirty="0"/>
                  <a:t>因为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，所以 </a:t>
                </a:r>
                <a:r>
                  <a:rPr lang="en-US" altLang="zh-CN" dirty="0"/>
                  <a:t>1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如果保证 </a:t>
                </a:r>
                <a:r>
                  <a:rPr lang="en-US" altLang="zh-CN" dirty="0"/>
                  <a:t>m </a:t>
                </a:r>
                <a:r>
                  <a:rPr lang="zh-CN" altLang="en-US" dirty="0"/>
                  <a:t>是质数，</a:t>
                </a:r>
                <a:r>
                  <a:rPr lang="en-US" altLang="zh-CN" dirty="0"/>
                  <a:t>b&lt;m, </a:t>
                </a:r>
                <a:r>
                  <a:rPr lang="zh-CN" altLang="en-US" dirty="0"/>
                  <a:t>那么由费马小定理，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)，</m:t>
                    </m:r>
                  </m:oMath>
                </a14:m>
                <a:r>
                  <a:rPr lang="zh-CN" altLang="en-US" dirty="0"/>
                  <a:t>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r>
                  <a:rPr lang="zh-CN" altLang="en-US" dirty="0"/>
                  <a:t>此时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就是 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在模 </a:t>
                </a:r>
                <a:r>
                  <a:rPr lang="en-US" altLang="zh-CN" dirty="0"/>
                  <a:t>m </a:t>
                </a:r>
                <a:r>
                  <a:rPr lang="zh-CN" altLang="en-US" dirty="0"/>
                  <a:t>意义下的逆元。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如果 </a:t>
                </a:r>
                <a:r>
                  <a:rPr lang="en-US" altLang="zh-CN" dirty="0"/>
                  <a:t>m </a:t>
                </a:r>
                <a:r>
                  <a:rPr lang="zh-CN" altLang="en-US" dirty="0"/>
                  <a:t>不是质数，那么我们需要求解同余方程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来得到</a:t>
                </a:r>
                <a:r>
                  <a:rPr lang="en-US" altLang="zh-CN" dirty="0"/>
                  <a:t> b </a:t>
                </a:r>
                <a:r>
                  <a:rPr lang="zh-CN" altLang="en-US" dirty="0"/>
                  <a:t>的逆元，稍后介绍如何解该方程。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7A36870-F046-A3E7-FB26-FDC1B57C7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381225"/>
                <a:ext cx="9989954" cy="5173211"/>
              </a:xfrm>
              <a:prstGeom prst="rect">
                <a:avLst/>
              </a:prstGeom>
              <a:blipFill>
                <a:blip r:embed="rId2"/>
                <a:stretch>
                  <a:fillRect l="-1403" t="-1533" r="-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69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FEE9263-6D8D-4AA4-462E-1B0520FC1F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530226"/>
            <a:ext cx="7906084" cy="554037"/>
          </a:xfrm>
        </p:spPr>
        <p:txBody>
          <a:bodyPr/>
          <a:lstStyle/>
          <a:p>
            <a:r>
              <a:rPr lang="en-US" altLang="zh-CN" dirty="0"/>
              <a:t>The luckiest number(</a:t>
            </a:r>
            <a:r>
              <a:rPr lang="zh-CN" altLang="en-US" dirty="0"/>
              <a:t>逆元</a:t>
            </a:r>
            <a:r>
              <a:rPr lang="en-US" altLang="zh-CN" dirty="0"/>
              <a:t>/</a:t>
            </a:r>
            <a:r>
              <a:rPr lang="zh-CN" altLang="en-US" dirty="0"/>
              <a:t>欧拉定理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10EB2A-A6F1-4758-C126-BFE895B805CE}"/>
                  </a:ext>
                </a:extLst>
              </p:cNvPr>
              <p:cNvSpPr txBox="1"/>
              <p:nvPr/>
            </p:nvSpPr>
            <p:spPr>
              <a:xfrm>
                <a:off x="660400" y="1491916"/>
                <a:ext cx="10216147" cy="41252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dirty="0"/>
                  <a:t>x </a:t>
                </a:r>
                <a:r>
                  <a:rPr lang="zh-CN" altLang="en-US" dirty="0"/>
                  <a:t>个连在一起的 </a:t>
                </a:r>
                <a:r>
                  <a:rPr lang="en-US" altLang="zh-CN" dirty="0"/>
                  <a:t>8 </a:t>
                </a:r>
                <a:r>
                  <a:rPr lang="zh-CN" altLang="en-US" dirty="0"/>
                  <a:t>可以表达为</a:t>
                </a:r>
                <a:r>
                  <a:rPr lang="en-US" altLang="zh-CN" dirty="0"/>
                  <a:t> S=8*(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−1)/9</m:t>
                    </m:r>
                  </m:oMath>
                </a14:m>
                <a:r>
                  <a:rPr lang="zh-CN" altLang="en-US" dirty="0"/>
                  <a:t> ，于是题目可以转化为求得一个最小的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，使得 </a:t>
                </a:r>
                <a:r>
                  <a:rPr lang="en-US" altLang="zh-CN" dirty="0"/>
                  <a:t>L </a:t>
                </a:r>
                <a:r>
                  <a:rPr lang="zh-CN" altLang="en-US" dirty="0"/>
                  <a:t>能整除 </a:t>
                </a:r>
                <a:r>
                  <a:rPr lang="en-US" altLang="zh-CN" dirty="0"/>
                  <a:t>8*(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−1)/9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也就是 </a:t>
                </a:r>
                <a:r>
                  <a:rPr lang="en-US" altLang="zh-CN" dirty="0"/>
                  <a:t>S%L==0,</a:t>
                </a:r>
                <a:r>
                  <a:rPr lang="zh-CN" altLang="en-US" dirty="0"/>
                  <a:t>即存在 </a:t>
                </a:r>
                <a:r>
                  <a:rPr lang="en-US" altLang="zh-CN" dirty="0"/>
                  <a:t>k,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	</a:t>
                </a:r>
                <a:r>
                  <a:rPr lang="zh-CN" altLang="en-US" dirty="0"/>
                  <a:t>使得</a:t>
                </a:r>
                <a:r>
                  <a:rPr lang="en-US" altLang="zh-CN" dirty="0"/>
                  <a:t> k*L=8*(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−1)/9</m:t>
                    </m:r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k*L*9=8*(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令 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(L,8)=d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k*L*9/8=(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由原式都是整数，</a:t>
                </a:r>
                <a:r>
                  <a:rPr lang="en-US" altLang="zh-CN" dirty="0"/>
                  <a:t>k*L</a:t>
                </a:r>
                <a:r>
                  <a:rPr lang="zh-CN" altLang="en-US" dirty="0"/>
                  <a:t>能够整除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，则</a:t>
                </a:r>
                <a:r>
                  <a:rPr lang="en-US" altLang="zh-CN" dirty="0"/>
                  <a:t>k*L/8=k1*L/d</a:t>
                </a:r>
                <a:r>
                  <a:rPr lang="zh-CN" altLang="en-US" dirty="0"/>
                  <a:t>，即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不能整除的部分由 </a:t>
                </a:r>
                <a:r>
                  <a:rPr lang="en-US" altLang="zh-CN" dirty="0"/>
                  <a:t>k </a:t>
                </a:r>
                <a:r>
                  <a:rPr lang="zh-CN" altLang="en-US" dirty="0"/>
                  <a:t>来整除掉。</a:t>
                </a:r>
                <a:r>
                  <a:rPr lang="en-US" altLang="zh-CN" dirty="0"/>
                  <a:t>			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则最终</a:t>
                </a:r>
                <a:r>
                  <a:rPr lang="en-US" altLang="zh-CN" dirty="0"/>
                  <a:t>S%L==0 </a:t>
                </a:r>
                <a:r>
                  <a:rPr lang="zh-CN" altLang="en-US" dirty="0"/>
                  <a:t>转化的等式为   </a:t>
                </a:r>
                <a:r>
                  <a:rPr lang="en-US" altLang="zh-CN" dirty="0"/>
                  <a:t>k1*L*9/d=(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pos m:val="top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zh-CN" altLang="en-US" i="1" dirty="0">
                            <a:latin typeface="Cambria Math" panose="02040503050406030204" pitchFamily="18" charset="0"/>
                          </a:rPr>
                          <m:t>两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边</m:t>
                        </m:r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同时</m:t>
                        </m:r>
                        <m:r>
                          <m:rPr>
                            <m:sty m:val="p"/>
                            <m:brk m:alnAt="1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od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∗9/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groupChr>
                  </m:oMath>
                </a14:m>
                <a:r>
                  <a:rPr lang="en-US" altLang="zh-CN" dirty="0"/>
                  <a:t>	0=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𝑚𝑜𝑑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∗9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mod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∗9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r>
                  <a:rPr lang="en-US" altLang="zh-CN" dirty="0"/>
                  <a:t>				</a:t>
                </a:r>
                <a:r>
                  <a:rPr lang="zh-CN" altLang="en-US" dirty="0"/>
                  <a:t>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∗9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那么问题就转化为求得最小的正整数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使得该同余式成立。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由乘法逆元的知识可以知道，原式子可以化作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∗9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，那么 </a:t>
                </a:r>
                <a:r>
                  <a:rPr lang="en-US" altLang="zh-CN" dirty="0"/>
                  <a:t>10 </a:t>
                </a:r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/>
                  <a:t>逆元就应当互为逆元，根据逆元存在的条件得 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(10,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∗9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dirty="0"/>
                  <a:t>)=1</a:t>
                </a:r>
                <a:r>
                  <a:rPr lang="zh-CN" altLang="en-US" dirty="0"/>
                  <a:t>，若不满足该条件则不存在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使得同余式成立。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10EB2A-A6F1-4758-C126-BFE895B80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491916"/>
                <a:ext cx="10216147" cy="4125296"/>
              </a:xfrm>
              <a:prstGeom prst="rect">
                <a:avLst/>
              </a:prstGeom>
              <a:blipFill>
                <a:blip r:embed="rId2"/>
                <a:stretch>
                  <a:fillRect l="-1372" t="-1923" r="-1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26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FEE9263-6D8D-4AA4-462E-1B0520FC1F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530226"/>
            <a:ext cx="8815672" cy="554037"/>
          </a:xfrm>
        </p:spPr>
        <p:txBody>
          <a:bodyPr/>
          <a:lstStyle/>
          <a:p>
            <a:r>
              <a:rPr lang="en-US" altLang="zh-CN" dirty="0"/>
              <a:t>The luckiest number (</a:t>
            </a:r>
            <a:r>
              <a:rPr lang="zh-CN" altLang="en-US" dirty="0"/>
              <a:t>逆元</a:t>
            </a:r>
            <a:r>
              <a:rPr lang="en-US" altLang="zh-CN" dirty="0"/>
              <a:t>/</a:t>
            </a:r>
            <a:r>
              <a:rPr lang="zh-CN" altLang="en-US" dirty="0"/>
              <a:t>欧拉定理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10EB2A-A6F1-4758-C126-BFE895B805CE}"/>
                  </a:ext>
                </a:extLst>
              </p:cNvPr>
              <p:cNvSpPr txBox="1"/>
              <p:nvPr/>
            </p:nvSpPr>
            <p:spPr>
              <a:xfrm>
                <a:off x="660400" y="1491916"/>
                <a:ext cx="10216147" cy="28977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dirty="0"/>
                  <a:t>引理：</a:t>
                </a:r>
                <a:endParaRPr lang="en-US" altLang="zh-CN" dirty="0"/>
              </a:p>
              <a:p>
                <a:r>
                  <a:rPr lang="en-US" altLang="zh-CN" dirty="0"/>
                  <a:t>	</a:t>
                </a:r>
                <a:r>
                  <a:rPr lang="zh-CN" altLang="en-US" dirty="0"/>
                  <a:t>若 </a:t>
                </a:r>
                <a:r>
                  <a:rPr lang="en-US" altLang="zh-CN" dirty="0" err="1"/>
                  <a:t>a,n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互质，则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的最小正整数解是 </a:t>
                </a:r>
                <a:r>
                  <a:rPr lang="en-US" altLang="zh-CN" dirty="0"/>
                  <a:t>φ(n) </a:t>
                </a:r>
                <a:r>
                  <a:rPr lang="zh-CN" altLang="en-US" dirty="0"/>
                  <a:t>的约数。</a:t>
                </a:r>
                <a:endParaRPr lang="en-US" altLang="zh-CN" dirty="0"/>
              </a:p>
              <a:p>
                <a:r>
                  <a:rPr lang="zh-CN" altLang="en-US" dirty="0"/>
                  <a:t> 反证法：</a:t>
                </a:r>
                <a:endParaRPr lang="en-US" altLang="zh-CN" dirty="0"/>
              </a:p>
              <a:p>
                <a:r>
                  <a:rPr lang="en-US" altLang="zh-CN" dirty="0"/>
                  <a:t>	</a:t>
                </a:r>
                <a:r>
                  <a:rPr lang="zh-CN" altLang="en-US" dirty="0"/>
                  <a:t>假设最小正整数解 </a:t>
                </a:r>
                <a:r>
                  <a:rPr lang="en-US" altLang="zh-CN" dirty="0"/>
                  <a:t>x0 </a:t>
                </a:r>
                <a:r>
                  <a:rPr lang="zh-CN" altLang="en-US" dirty="0"/>
                  <a:t>不是 </a:t>
                </a:r>
                <a:r>
                  <a:rPr lang="en-US" altLang="zh-CN" dirty="0"/>
                  <a:t>φ(n) </a:t>
                </a:r>
                <a:r>
                  <a:rPr lang="zh-CN" altLang="en-US" dirty="0"/>
                  <a:t>的约数，那么 </a:t>
                </a:r>
                <a:r>
                  <a:rPr lang="en-US" altLang="zh-CN" dirty="0"/>
                  <a:t>φ(n)=k*x0+r (0&lt;r&lt;x0)</a:t>
                </a:r>
                <a:r>
                  <a:rPr lang="zh-CN" altLang="en-US" dirty="0"/>
                  <a:t>，因为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所以 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, </a:t>
                </a:r>
                <a:r>
                  <a:rPr lang="zh-CN" altLang="en-US" dirty="0"/>
                  <a:t>由欧拉定理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，结合同余乘法，应当有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r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dirty="0"/>
                  <a:t>，这与 </a:t>
                </a:r>
                <a:r>
                  <a:rPr lang="en-US" altLang="zh-CN" dirty="0"/>
                  <a:t>x0 </a:t>
                </a:r>
                <a:r>
                  <a:rPr lang="zh-CN" altLang="en-US" dirty="0"/>
                  <a:t>是最小正整数解矛盾。 证毕。</a:t>
                </a:r>
                <a:endParaRPr lang="en-US" altLang="zh-CN" dirty="0"/>
              </a:p>
              <a:p>
                <a:r>
                  <a:rPr lang="en-US" altLang="zh-CN" dirty="0"/>
                  <a:t>	</a:t>
                </a:r>
                <a:r>
                  <a:rPr lang="zh-CN" altLang="en-US" dirty="0"/>
                  <a:t>于是我们可以枚举 </a:t>
                </a:r>
                <a:r>
                  <a:rPr lang="en-US" altLang="zh-CN" dirty="0"/>
                  <a:t>φ(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∗9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dirty="0"/>
                  <a:t>) </a:t>
                </a:r>
                <a:r>
                  <a:rPr lang="zh-CN" altLang="en-US" dirty="0"/>
                  <a:t>的约数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然后通过快速幂来验证该同余式是否成立，直到得到一个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使得同余成立。</a:t>
                </a:r>
                <a:endParaRPr lang="en-US" altLang="zh-CN" dirty="0"/>
              </a:p>
              <a:p>
                <a:r>
                  <a:rPr lang="zh-CN" altLang="en-US" dirty="0"/>
                  <a:t> 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10EB2A-A6F1-4758-C126-BFE895B80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491916"/>
                <a:ext cx="10216147" cy="2897781"/>
              </a:xfrm>
              <a:prstGeom prst="rect">
                <a:avLst/>
              </a:prstGeom>
              <a:blipFill>
                <a:blip r:embed="rId2"/>
                <a:stretch>
                  <a:fillRect l="-1372" t="-2737" r="-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55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23DCB4B-5556-135C-E505-253E53910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530226"/>
            <a:ext cx="5485331" cy="554037"/>
          </a:xfrm>
        </p:spPr>
        <p:txBody>
          <a:bodyPr/>
          <a:lstStyle/>
          <a:p>
            <a:r>
              <a:rPr lang="en-US" altLang="zh-CN" dirty="0" err="1"/>
              <a:t>Sumdiv</a:t>
            </a:r>
            <a:r>
              <a:rPr lang="zh-CN" altLang="en-US" dirty="0"/>
              <a:t>（约数和</a:t>
            </a:r>
            <a:r>
              <a:rPr lang="en-US" altLang="zh-CN" dirty="0"/>
              <a:t>/</a:t>
            </a:r>
            <a:r>
              <a:rPr lang="zh-CN" altLang="en-US" dirty="0"/>
              <a:t>逆元）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D874E95-CD04-9B8B-5913-5DAC953C97DA}"/>
                  </a:ext>
                </a:extLst>
              </p:cNvPr>
              <p:cNvSpPr txBox="1"/>
              <p:nvPr/>
            </p:nvSpPr>
            <p:spPr>
              <a:xfrm>
                <a:off x="660400" y="1515979"/>
                <a:ext cx="9182501" cy="3909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对于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的约数之和，将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的质因数处理之后，我们先前有结论：</a:t>
                </a:r>
                <a:endParaRPr lang="en-US" altLang="zh-CN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+…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+…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那么对于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它的约数和是</a:t>
                </a:r>
                <a:endParaRPr lang="en-US" altLang="zh-CN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+…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+…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那么由等比数列求和公式，</a:t>
                </a:r>
                <a:r>
                  <a:rPr lang="en-US" altLang="zh-CN" dirty="0"/>
                  <a:t>a0*(1-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)/(1-q)</a:t>
                </a:r>
                <a:r>
                  <a:rPr lang="zh-CN" altLang="en-US" dirty="0"/>
                  <a:t>我们可以化简该约数和：</a:t>
                </a:r>
                <a:endParaRPr lang="en-US" altLang="zh-CN" dirty="0"/>
              </a:p>
              <a:p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1+1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−1)/(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−1)/(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那么我们在取模的情况下想要计算该算式，就要求出各个 （</a:t>
                </a:r>
                <a:r>
                  <a:rPr lang="en-US" altLang="zh-CN" dirty="0"/>
                  <a:t>p-1</a:t>
                </a:r>
                <a:r>
                  <a:rPr lang="zh-CN" altLang="en-US" dirty="0"/>
                  <a:t>）的逆元，由于模数为质数，因此 它的逆元是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特别的，要注意的是如果 </a:t>
                </a:r>
                <a:r>
                  <a:rPr lang="en-US" altLang="zh-CN" dirty="0"/>
                  <a:t>p </a:t>
                </a:r>
                <a:r>
                  <a:rPr lang="zh-CN" altLang="en-US" dirty="0"/>
                  <a:t>是 </a:t>
                </a:r>
                <a:r>
                  <a:rPr lang="en-US" altLang="zh-CN" dirty="0"/>
                  <a:t>mod </a:t>
                </a:r>
                <a:r>
                  <a:rPr lang="zh-CN" altLang="en-US" dirty="0"/>
                  <a:t>的倍数，二者公约数便不是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，那么 </a:t>
                </a:r>
                <a:r>
                  <a:rPr lang="en-US" altLang="zh-CN" dirty="0"/>
                  <a:t>p-1 </a:t>
                </a:r>
                <a:r>
                  <a:rPr lang="zh-CN" altLang="en-US" dirty="0"/>
                  <a:t>的逆元实际上不存在，不过对于原式来说，</a:t>
                </a:r>
                <a:r>
                  <a:rPr lang="en-US" altLang="zh-CN" dirty="0" err="1"/>
                  <a:t>p%mod</a:t>
                </a:r>
                <a:r>
                  <a:rPr lang="en-US" altLang="zh-CN" dirty="0"/>
                  <a:t>=1</a:t>
                </a:r>
                <a:r>
                  <a:rPr lang="zh-CN" altLang="en-US" dirty="0"/>
                  <a:t>，因此它的贡献就是 </a:t>
                </a:r>
                <a:r>
                  <a:rPr lang="en-US" altLang="zh-CN" dirty="0"/>
                  <a:t>1+1+…+1=B*c1+1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D874E95-CD04-9B8B-5913-5DAC953C9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515979"/>
                <a:ext cx="9182501" cy="3909788"/>
              </a:xfrm>
              <a:prstGeom prst="rect">
                <a:avLst/>
              </a:prstGeom>
              <a:blipFill>
                <a:blip r:embed="rId2"/>
                <a:stretch>
                  <a:fillRect l="-1526" t="-2028" r="-2920" b="-2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29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D406A74-863D-A036-F917-90F14E37E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线性同余方程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D35E8A-2A80-258D-B6D4-77F6C3C66945}"/>
                  </a:ext>
                </a:extLst>
              </p:cNvPr>
              <p:cNvSpPr txBox="1"/>
              <p:nvPr/>
            </p:nvSpPr>
            <p:spPr>
              <a:xfrm>
                <a:off x="660400" y="1564105"/>
                <a:ext cx="9349874" cy="2492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给定整数 </a:t>
                </a:r>
                <a:r>
                  <a:rPr lang="en-US" altLang="zh-CN" dirty="0" err="1"/>
                  <a:t>a,b,m</a:t>
                </a:r>
                <a:r>
                  <a:rPr lang="zh-CN" altLang="en-US" dirty="0"/>
                  <a:t>，求一个整数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使得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或者给出无解，因为未知数的指数为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，我们称它为一次同余方程，也称作线性同余方程。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等价于 </a:t>
                </a:r>
                <a:r>
                  <a:rPr lang="en-US" altLang="zh-CN" dirty="0"/>
                  <a:t>a*x-b </a:t>
                </a:r>
                <a:r>
                  <a:rPr lang="zh-CN" altLang="en-US" dirty="0"/>
                  <a:t>是 </a:t>
                </a:r>
                <a:r>
                  <a:rPr lang="en-US" altLang="zh-CN" dirty="0"/>
                  <a:t>m </a:t>
                </a:r>
                <a:r>
                  <a:rPr lang="zh-CN" altLang="en-US" dirty="0"/>
                  <a:t>的倍数，不妨设为 </a:t>
                </a:r>
                <a:r>
                  <a:rPr lang="en-US" altLang="zh-CN" dirty="0"/>
                  <a:t>–y </a:t>
                </a:r>
                <a:r>
                  <a:rPr lang="zh-CN" altLang="en-US" dirty="0"/>
                  <a:t>倍，则方程可化为 </a:t>
                </a:r>
                <a:r>
                  <a:rPr lang="en-US" altLang="zh-CN" dirty="0"/>
                  <a:t>a*</a:t>
                </a:r>
                <a:r>
                  <a:rPr lang="en-US" altLang="zh-CN" dirty="0" err="1"/>
                  <a:t>x+m</a:t>
                </a:r>
                <a:r>
                  <a:rPr lang="en-US" altLang="zh-CN" dirty="0"/>
                  <a:t>*y=b</a:t>
                </a:r>
              </a:p>
              <a:p>
                <a:pPr algn="l"/>
                <a:r>
                  <a:rPr lang="zh-CN" altLang="en-US" dirty="0"/>
                  <a:t> </a:t>
                </a:r>
                <a:endParaRPr lang="en-US" altLang="zh-CN" dirty="0"/>
              </a:p>
              <a:p>
                <a:pPr algn="l"/>
                <a:r>
                  <a:rPr lang="zh-CN" altLang="en-US" dirty="0"/>
                  <a:t>所以该问题可以转化为求不定方程的解，当且仅当 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a,m</a:t>
                </a:r>
                <a:r>
                  <a:rPr lang="en-US" altLang="zh-CN" dirty="0"/>
                  <a:t>)|b </a:t>
                </a:r>
                <a:r>
                  <a:rPr lang="zh-CN" altLang="en-US" dirty="0"/>
                  <a:t>存在解，采用扩展欧几里得算法来求解，可以先求 </a:t>
                </a:r>
                <a:r>
                  <a:rPr lang="en-US" altLang="zh-CN" dirty="0"/>
                  <a:t>a*</a:t>
                </a:r>
                <a:r>
                  <a:rPr lang="en-US" altLang="zh-CN" dirty="0" err="1"/>
                  <a:t>x+m</a:t>
                </a:r>
                <a:r>
                  <a:rPr lang="en-US" altLang="zh-CN" dirty="0"/>
                  <a:t>*y=d</a:t>
                </a:r>
                <a:r>
                  <a:rPr lang="zh-CN" altLang="en-US" dirty="0"/>
                  <a:t>，得到 </a:t>
                </a:r>
                <a:r>
                  <a:rPr lang="en-US" altLang="zh-CN" dirty="0"/>
                  <a:t>x0,y0</a:t>
                </a:r>
                <a:r>
                  <a:rPr lang="zh-CN" altLang="en-US" dirty="0"/>
                  <a:t>，则得到一个特解 </a:t>
                </a:r>
                <a:r>
                  <a:rPr lang="en-US" altLang="zh-CN" dirty="0"/>
                  <a:t>x1=x0*b/d,y1=y0*b/d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先前提到过，该方程的通解是 </a:t>
                </a:r>
                <a:r>
                  <a:rPr lang="en-US" altLang="zh-CN" dirty="0"/>
                  <a:t>x1+k*m/d</a:t>
                </a:r>
                <a:r>
                  <a:rPr lang="zh-CN" altLang="en-US" dirty="0"/>
                  <a:t>，即在模 </a:t>
                </a:r>
                <a:r>
                  <a:rPr lang="en-US" altLang="zh-CN" dirty="0"/>
                  <a:t>m/d </a:t>
                </a:r>
                <a:r>
                  <a:rPr lang="zh-CN" altLang="en-US" dirty="0"/>
                  <a:t>的意义下与 </a:t>
                </a:r>
                <a:r>
                  <a:rPr lang="en-US" altLang="zh-CN" dirty="0"/>
                  <a:t>x1 </a:t>
                </a:r>
                <a:r>
                  <a:rPr lang="zh-CN" altLang="en-US" dirty="0"/>
                  <a:t>同余的数。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D35E8A-2A80-258D-B6D4-77F6C3C66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564105"/>
                <a:ext cx="9349874" cy="2492990"/>
              </a:xfrm>
              <a:prstGeom prst="rect">
                <a:avLst/>
              </a:prstGeom>
              <a:blipFill>
                <a:blip r:embed="rId2"/>
                <a:stretch>
                  <a:fillRect l="-1499" t="-3178" r="-587" b="-4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84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7E5E8FE-8320-28D5-6504-F05C448A4A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530226"/>
            <a:ext cx="6457482" cy="554037"/>
          </a:xfrm>
        </p:spPr>
        <p:txBody>
          <a:bodyPr/>
          <a:lstStyle/>
          <a:p>
            <a:r>
              <a:rPr lang="zh-CN" altLang="en-US" dirty="0"/>
              <a:t>同余方程</a:t>
            </a:r>
            <a:r>
              <a:rPr lang="en-US" altLang="zh-CN" dirty="0"/>
              <a:t>(</a:t>
            </a:r>
            <a:r>
              <a:rPr lang="zh-CN" altLang="en-US" dirty="0"/>
              <a:t>线性同余方程应用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920B59-8DF1-8D1F-EFA2-DE8AE6FC3A9C}"/>
                  </a:ext>
                </a:extLst>
              </p:cNvPr>
              <p:cNvSpPr txBox="1"/>
              <p:nvPr/>
            </p:nvSpPr>
            <p:spPr>
              <a:xfrm>
                <a:off x="660399" y="1453415"/>
                <a:ext cx="9287309" cy="2492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zh-CN" altLang="en-US" dirty="0"/>
                  <a:t>这道题既是一个同余方程的模板题，也是在模数不为质数的情况下逆元求法的模板题目。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只需要把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化作 </a:t>
                </a:r>
                <a:r>
                  <a:rPr lang="en-US" altLang="zh-CN" dirty="0"/>
                  <a:t>a*</a:t>
                </a:r>
                <a:r>
                  <a:rPr lang="en-US" altLang="zh-CN" dirty="0" err="1"/>
                  <a:t>x+b</a:t>
                </a:r>
                <a:r>
                  <a:rPr lang="en-US" altLang="zh-CN" dirty="0"/>
                  <a:t>*y=1 </a:t>
                </a:r>
                <a:r>
                  <a:rPr lang="zh-CN" altLang="en-US" dirty="0"/>
                  <a:t>然后用扩展欧几里得算法来解该方程即可。观察该式不难得知 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)=1 </a:t>
                </a:r>
                <a:r>
                  <a:rPr lang="zh-CN" altLang="en-US" dirty="0"/>
                  <a:t>时存在解方程的解（同时存在逆元）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至于得到最小正整数解，我们前面说通解就是在 </a:t>
                </a:r>
                <a:r>
                  <a:rPr lang="en-US" altLang="zh-CN" dirty="0"/>
                  <a:t>mod b/</a:t>
                </a:r>
                <a:r>
                  <a:rPr lang="en-US" altLang="zh-CN" dirty="0" err="1"/>
                  <a:t>gcd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) </a:t>
                </a:r>
                <a:r>
                  <a:rPr lang="zh-CN" altLang="en-US" dirty="0"/>
                  <a:t>即 </a:t>
                </a:r>
                <a:r>
                  <a:rPr lang="en-US" altLang="zh-CN" dirty="0"/>
                  <a:t>mod b </a:t>
                </a:r>
                <a:r>
                  <a:rPr lang="zh-CN" altLang="en-US" dirty="0"/>
                  <a:t>意义下与特解 </a:t>
                </a:r>
                <a:r>
                  <a:rPr lang="en-US" altLang="zh-CN" dirty="0"/>
                  <a:t>x1 </a:t>
                </a:r>
                <a:r>
                  <a:rPr lang="zh-CN" altLang="en-US" dirty="0"/>
                  <a:t>同余的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，那么 </a:t>
                </a:r>
                <a:r>
                  <a:rPr lang="en-US" altLang="zh-CN" dirty="0"/>
                  <a:t>(x1%b+x1)%b </a:t>
                </a:r>
                <a:r>
                  <a:rPr lang="zh-CN" altLang="en-US" dirty="0"/>
                  <a:t>即可得到该最小正整数解。</a:t>
                </a:r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r>
                  <a:rPr lang="zh-CN" altLang="en-US" dirty="0"/>
                  <a:t>算法复杂度 </a:t>
                </a:r>
                <a:r>
                  <a:rPr lang="en-US" altLang="zh-CN" dirty="0"/>
                  <a:t>O(</a:t>
                </a:r>
                <a:r>
                  <a:rPr lang="en-US" altLang="zh-CN" dirty="0" err="1"/>
                  <a:t>logn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920B59-8DF1-8D1F-EFA2-DE8AE6FC3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99" y="1453415"/>
                <a:ext cx="9287309" cy="2492990"/>
              </a:xfrm>
              <a:prstGeom prst="rect">
                <a:avLst/>
              </a:prstGeom>
              <a:blipFill>
                <a:blip r:embed="rId2"/>
                <a:stretch>
                  <a:fillRect l="-1509" t="-3178" r="-1312" b="-4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64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D589488-18CF-3B14-9054-404B7AD8CE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478D6B-B6C8-DEE1-FFDC-A3F1C759CF96}"/>
              </a:ext>
            </a:extLst>
          </p:cNvPr>
          <p:cNvSpPr txBox="1"/>
          <p:nvPr/>
        </p:nvSpPr>
        <p:spPr>
          <a:xfrm>
            <a:off x="660400" y="1645919"/>
            <a:ext cx="7963836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青蛙的约会（推不定方程解题）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zh-CN" altLang="en-US" dirty="0"/>
              <a:t>求逆元 （模板</a:t>
            </a:r>
            <a:r>
              <a:rPr lang="en-US" altLang="zh-CN" dirty="0"/>
              <a:t>+</a:t>
            </a:r>
            <a:r>
              <a:rPr lang="zh-CN" altLang="en-US" dirty="0"/>
              <a:t>一点推导）</a:t>
            </a:r>
          </a:p>
        </p:txBody>
      </p:sp>
    </p:spTree>
    <p:extLst>
      <p:ext uri="{BB962C8B-B14F-4D97-AF65-F5344CB8AC3E}">
        <p14:creationId xmlns:p14="http://schemas.microsoft.com/office/powerpoint/2010/main" val="288123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B40B5E-1AB3-4E77-A4A5-7989F4EF4A6F}"/>
              </a:ext>
            </a:extLst>
          </p:cNvPr>
          <p:cNvSpPr txBox="1"/>
          <p:nvPr/>
        </p:nvSpPr>
        <p:spPr>
          <a:xfrm>
            <a:off x="660400" y="4081353"/>
            <a:ext cx="1352934" cy="6068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600" spc="300" dirty="0" err="1">
                <a:solidFill>
                  <a:schemeClr val="bg1">
                    <a:lumMod val="50000"/>
                  </a:schemeClr>
                </a:solidFill>
              </a:rPr>
              <a:t>Explorerxx</a:t>
            </a:r>
            <a:endParaRPr lang="en-US" altLang="zh-CN" sz="1600" spc="300" dirty="0">
              <a:solidFill>
                <a:schemeClr val="bg1">
                  <a:lumMod val="50000"/>
                </a:schemeClr>
              </a:solidFill>
            </a:endParaRPr>
          </a:p>
          <a:p>
            <a:pPr algn="l">
              <a:lnSpc>
                <a:spcPct val="130000"/>
              </a:lnSpc>
            </a:pPr>
            <a:endParaRPr lang="en-US" altLang="zh-CN" sz="1600" spc="3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210514-9FC8-48E6-B707-149BF009A6C9}"/>
              </a:ext>
            </a:extLst>
          </p:cNvPr>
          <p:cNvSpPr txBox="1"/>
          <p:nvPr/>
        </p:nvSpPr>
        <p:spPr>
          <a:xfrm>
            <a:off x="829680" y="2010456"/>
            <a:ext cx="5669732" cy="73866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4800" b="1" dirty="0">
                <a:solidFill>
                  <a:schemeClr val="accent2"/>
                </a:solidFill>
                <a:latin typeface="+mj-ea"/>
                <a:ea typeface="+mj-ea"/>
              </a:rPr>
              <a:t>组合计数</a:t>
            </a:r>
            <a:endParaRPr lang="en-US" altLang="zh-CN" sz="48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80755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计数原理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设集合    的一系列子集                   满足                                         ，且对于</a:t>
            </a:r>
          </a:p>
          <a:p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不相等的                ，有                 ，那么我们称                   是    的一个划分 </a:t>
            </a:r>
          </a:p>
          <a:p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根据这个定义，一个划分中可以存在空集，所以理论上划分可以包含无限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多的子集，但是空集是没有意义的，所以我们通常不予考虑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2133600" y="1894840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894840"/>
                <a:ext cx="274320" cy="3479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4302125" y="1851025"/>
                <a:ext cx="1546225" cy="44926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125" y="1851025"/>
                <a:ext cx="1546225" cy="4492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6531611" y="1644015"/>
                <a:ext cx="3441700" cy="8496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∪⋯∪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611" y="1644015"/>
                <a:ext cx="3441700" cy="8496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hlinkClick r:id="" action="ppaction://ole?verb=0"/>
              </p:cNvPr>
              <p:cNvSpPr txBox="1"/>
              <p:nvPr/>
            </p:nvSpPr>
            <p:spPr>
              <a:xfrm>
                <a:off x="2219961" y="2759075"/>
                <a:ext cx="1322070" cy="40005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∈[1,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对象 8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961" y="2759075"/>
                <a:ext cx="1322070" cy="400050"/>
              </a:xfrm>
              <a:prstGeom prst="rect">
                <a:avLst/>
              </a:prstGeom>
              <a:blipFill>
                <a:blip r:embed="rId6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>
                <a:hlinkClick r:id="" action="ppaction://ole?verb=0"/>
              </p:cNvPr>
              <p:cNvSpPr txBox="1"/>
              <p:nvPr/>
            </p:nvSpPr>
            <p:spPr>
              <a:xfrm>
                <a:off x="4162426" y="2759710"/>
                <a:ext cx="1471930" cy="4749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对象 10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426" y="2759710"/>
                <a:ext cx="1471930" cy="4749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>
                <a:hlinkClick r:id="" action="ppaction://ole?verb=0"/>
              </p:cNvPr>
              <p:cNvSpPr txBox="1"/>
              <p:nvPr/>
            </p:nvSpPr>
            <p:spPr>
              <a:xfrm>
                <a:off x="7429183" y="2758440"/>
                <a:ext cx="1546225" cy="4495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对象 12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183" y="2758440"/>
                <a:ext cx="1546225" cy="4495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4">
                <a:hlinkClick r:id="" action="ppaction://ole?verb=0"/>
              </p:cNvPr>
              <p:cNvSpPr txBox="1"/>
              <p:nvPr/>
            </p:nvSpPr>
            <p:spPr>
              <a:xfrm>
                <a:off x="9361170" y="2790825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对象 1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170" y="2790825"/>
                <a:ext cx="274320" cy="3479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计数原理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加法原理：若集合   的一个划分为                   ，则    中对象的数目</a:t>
            </a:r>
          </a:p>
          <a:p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乘法原理：若集合                                   ，      是集合，则   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中对象的数目</a:t>
            </a:r>
          </a:p>
          <a:p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减法原理：若集合    被划分为了两部分       ，则    中对象的数目</a:t>
            </a:r>
          </a:p>
          <a:p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3651568" y="3241993"/>
                <a:ext cx="2943225" cy="3994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568" y="3241993"/>
                <a:ext cx="2943225" cy="399415"/>
              </a:xfrm>
              <a:prstGeom prst="rect">
                <a:avLst/>
              </a:prstGeom>
              <a:blipFill>
                <a:blip r:embed="rId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5738178" y="1851025"/>
                <a:ext cx="1546225" cy="4495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178" y="1851025"/>
                <a:ext cx="1546225" cy="449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7967980" y="1884045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980" y="1884045"/>
                <a:ext cx="274320" cy="3479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hlinkClick r:id="" action="ppaction://ole?verb=0"/>
              </p:cNvPr>
              <p:cNvSpPr txBox="1"/>
              <p:nvPr/>
            </p:nvSpPr>
            <p:spPr>
              <a:xfrm>
                <a:off x="3941763" y="2348548"/>
                <a:ext cx="3545205" cy="84899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" name="对象 8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63" y="2348548"/>
                <a:ext cx="3545205" cy="848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>
                <a:hlinkClick r:id="" action="ppaction://ole?verb=0"/>
              </p:cNvPr>
              <p:cNvSpPr txBox="1"/>
              <p:nvPr/>
            </p:nvSpPr>
            <p:spPr>
              <a:xfrm>
                <a:off x="6792913" y="3246438"/>
                <a:ext cx="598805" cy="3994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对象 10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913" y="3246438"/>
                <a:ext cx="598805" cy="3994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>
                <a:hlinkClick r:id="" action="ppaction://ole?verb=0"/>
              </p:cNvPr>
              <p:cNvSpPr txBox="1"/>
              <p:nvPr/>
            </p:nvSpPr>
            <p:spPr>
              <a:xfrm>
                <a:off x="8941435" y="3228975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对象 12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1435" y="3228975"/>
                <a:ext cx="274320" cy="3479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4">
                <a:hlinkClick r:id="" action="ppaction://ole?verb=0"/>
              </p:cNvPr>
              <p:cNvSpPr txBox="1"/>
              <p:nvPr/>
            </p:nvSpPr>
            <p:spPr>
              <a:xfrm>
                <a:off x="4903471" y="3881756"/>
                <a:ext cx="1623060" cy="40005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|⋅|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对象 1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471" y="3881756"/>
                <a:ext cx="1623060" cy="400050"/>
              </a:xfrm>
              <a:prstGeom prst="rect">
                <a:avLst/>
              </a:prstGeom>
              <a:blipFill>
                <a:blip r:embed="rId9"/>
                <a:stretch>
                  <a:fillRect l="-1124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>
                <a:hlinkClick r:id="" action="ppaction://ole?verb=0"/>
              </p:cNvPr>
              <p:cNvSpPr txBox="1"/>
              <p:nvPr/>
            </p:nvSpPr>
            <p:spPr>
              <a:xfrm>
                <a:off x="3607435" y="1875155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对象 1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435" y="1875155"/>
                <a:ext cx="274320" cy="3479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8">
                <a:hlinkClick r:id="" action="ppaction://ole?verb=0"/>
              </p:cNvPr>
              <p:cNvSpPr txBox="1"/>
              <p:nvPr/>
            </p:nvSpPr>
            <p:spPr>
              <a:xfrm>
                <a:off x="3647440" y="4610100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对象 18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440" y="4610100"/>
                <a:ext cx="274320" cy="3479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20">
                <a:hlinkClick r:id="" action="ppaction://ole?verb=0"/>
              </p:cNvPr>
              <p:cNvSpPr txBox="1"/>
              <p:nvPr/>
            </p:nvSpPr>
            <p:spPr>
              <a:xfrm>
                <a:off x="6376670" y="4563745"/>
                <a:ext cx="622300" cy="4495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̄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" name="对象 20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70" y="4563745"/>
                <a:ext cx="622300" cy="449580"/>
              </a:xfrm>
              <a:prstGeom prst="rect">
                <a:avLst/>
              </a:prstGeom>
              <a:blipFill>
                <a:blip r:embed="rId12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对象 22">
                <a:hlinkClick r:id="" action="ppaction://ole?verb=0"/>
              </p:cNvPr>
              <p:cNvSpPr txBox="1"/>
              <p:nvPr/>
            </p:nvSpPr>
            <p:spPr>
              <a:xfrm>
                <a:off x="7621270" y="4621848"/>
                <a:ext cx="299720" cy="32448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3" name="对象 22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270" y="4621848"/>
                <a:ext cx="299720" cy="3244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24">
                <a:hlinkClick r:id="" action="ppaction://ole?verb=0"/>
              </p:cNvPr>
              <p:cNvSpPr txBox="1"/>
              <p:nvPr/>
            </p:nvSpPr>
            <p:spPr>
              <a:xfrm>
                <a:off x="4855846" y="5116514"/>
                <a:ext cx="1772920" cy="4502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|=|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|−|</m:t>
                      </m:r>
                      <m:acc>
                        <m:accPr>
                          <m:chr m:val="̄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5" name="对象 2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846" y="5116514"/>
                <a:ext cx="1772920" cy="450215"/>
              </a:xfrm>
              <a:prstGeom prst="rect">
                <a:avLst/>
              </a:prstGeom>
              <a:blipFill>
                <a:blip r:embed="rId14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>
          <a:xfrm>
            <a:off x="1180466" y="1823720"/>
            <a:ext cx="10625454" cy="4207352"/>
          </a:xfrm>
        </p:spPr>
        <p:txBody>
          <a:bodyPr/>
          <a:lstStyle/>
          <a:p>
            <a:r>
              <a:rPr lang="zh-CN" altLang="en-US" sz="2400" dirty="0"/>
              <a:t>排列：从   个元素中选出    个排成一列的方案数，记作    或      ，由乘法原理</a:t>
            </a:r>
          </a:p>
          <a:p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dirty="0"/>
              <a:t>组合：</a:t>
            </a:r>
            <a:r>
              <a:rPr lang="zh-CN" altLang="en-US" sz="2400" dirty="0">
                <a:sym typeface="+mn-ea"/>
              </a:rPr>
              <a:t>从   个元素中选出    个的方案数，记作      或        ，由乘法原理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17708" y="393700"/>
            <a:ext cx="10439400" cy="1368425"/>
          </a:xfrm>
        </p:spPr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排列组合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>
                <a:hlinkClick r:id="" action="ppaction://ole?verb=0"/>
              </p:cNvPr>
              <p:cNvSpPr txBox="1"/>
              <p:nvPr/>
            </p:nvSpPr>
            <p:spPr>
              <a:xfrm>
                <a:off x="2427923" y="1871663"/>
                <a:ext cx="249555" cy="27495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" name="对象 1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923" y="1871663"/>
                <a:ext cx="249555" cy="2749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4523423" y="1819593"/>
                <a:ext cx="324485" cy="27495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423" y="1819593"/>
                <a:ext cx="324485" cy="2749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8424864" y="1828165"/>
                <a:ext cx="450215" cy="4749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864" y="1828165"/>
                <a:ext cx="450215" cy="4749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3246438" y="2315210"/>
                <a:ext cx="5051425" cy="825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−1)×⋯×(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438" y="2315210"/>
                <a:ext cx="5051425" cy="825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2427923" y="3301048"/>
                <a:ext cx="249555" cy="27495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923" y="3301048"/>
                <a:ext cx="249555" cy="2749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hlinkClick r:id="" action="ppaction://ole?verb=0"/>
              </p:cNvPr>
              <p:cNvSpPr txBox="1"/>
              <p:nvPr/>
            </p:nvSpPr>
            <p:spPr>
              <a:xfrm>
                <a:off x="4523423" y="3295333"/>
                <a:ext cx="324485" cy="27495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对象 11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423" y="3295333"/>
                <a:ext cx="324485" cy="2749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3">
                <a:hlinkClick r:id="" action="ppaction://ole?verb=0"/>
              </p:cNvPr>
              <p:cNvSpPr txBox="1"/>
              <p:nvPr/>
            </p:nvSpPr>
            <p:spPr>
              <a:xfrm>
                <a:off x="7307581" y="3202305"/>
                <a:ext cx="450850" cy="4749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对象 1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581" y="3202305"/>
                <a:ext cx="450850" cy="4749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hlinkClick r:id="" action="ppaction://ole?verb=0"/>
              </p:cNvPr>
              <p:cNvSpPr txBox="1"/>
              <p:nvPr/>
            </p:nvSpPr>
            <p:spPr>
              <a:xfrm>
                <a:off x="8142606" y="3009900"/>
                <a:ext cx="600710" cy="9004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对象 1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606" y="3009900"/>
                <a:ext cx="600710" cy="9004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9">
                <a:hlinkClick r:id="" action="ppaction://ole?verb=0"/>
              </p:cNvPr>
              <p:cNvSpPr txBox="1"/>
              <p:nvPr/>
            </p:nvSpPr>
            <p:spPr>
              <a:xfrm>
                <a:off x="3648076" y="3902711"/>
                <a:ext cx="4077970" cy="9004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对象 1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076" y="3902711"/>
                <a:ext cx="4077970" cy="9004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21">
                <a:hlinkClick r:id="" action="ppaction://ole?verb=0"/>
              </p:cNvPr>
              <p:cNvSpPr txBox="1"/>
              <p:nvPr/>
            </p:nvSpPr>
            <p:spPr>
              <a:xfrm>
                <a:off x="9153526" y="1823720"/>
                <a:ext cx="450850" cy="4749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对象 21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526" y="1823720"/>
                <a:ext cx="450850" cy="4749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8315CD0-880B-5284-6A15-ABC1E2D575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组合数的基础常用性质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132C255-F514-534B-6148-ED699B1A9986}"/>
                  </a:ext>
                </a:extLst>
              </p:cNvPr>
              <p:cNvSpPr txBox="1"/>
              <p:nvPr/>
            </p:nvSpPr>
            <p:spPr>
              <a:xfrm>
                <a:off x="660400" y="1539240"/>
                <a:ext cx="8275320" cy="287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由组合数的展开式不难证明，从理论上来说，选择其中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个也相当于选择其中 </a:t>
                </a:r>
                <a:r>
                  <a:rPr lang="en-US" altLang="zh-CN" dirty="0"/>
                  <a:t>n-m </a:t>
                </a:r>
                <a:r>
                  <a:rPr lang="zh-CN" altLang="en-US" dirty="0"/>
                  <a:t>个</a:t>
                </a:r>
                <a:endParaRPr lang="en-US" altLang="zh-CN" dirty="0"/>
              </a:p>
              <a:p>
                <a:pPr marL="342900" indent="-342900">
                  <a:buAutoNum type="arabicPeriod"/>
                </a:pPr>
                <a:endParaRPr lang="en-US" altLang="zh-CN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zh-CN" altLang="en-US" i="1" dirty="0">
                    <a:latin typeface="Cambria Math" panose="02040503050406030204" pitchFamily="18" charset="0"/>
                  </a:rPr>
                  <a:t>杨辉三角递推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AutoNum type="arabicPeriod"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dirty="0"/>
                  <a:t>+……+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/>
                  <a:t> ，选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个到选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个的方案加起来，相当于每个物品可以选择选还是不选，因此方案数量是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342900" indent="-342900">
                  <a:buAutoNum type="arabicPeriod"/>
                </a:pPr>
                <a:endParaRPr lang="en-US" altLang="zh-CN" dirty="0"/>
              </a:p>
              <a:p>
                <a:pPr marL="342900" indent="-342900">
                  <a:buAutoNum type="arabicPeriod"/>
                </a:pPr>
                <a:r>
                  <a:rPr lang="zh-CN" altLang="en-US" dirty="0"/>
                  <a:t>二项式定理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pt-BR" altLang="zh-CN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altLang="zh-CN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altLang="zh-CN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altLang="zh-CN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altLang="zh-CN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altLang="zh-CN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dirty="0"/>
                  <a:t> ，带入 </a:t>
                </a:r>
                <a:r>
                  <a:rPr lang="en-US" altLang="zh-CN" dirty="0"/>
                  <a:t>x=1,a=1, </a:t>
                </a:r>
                <a:r>
                  <a:rPr lang="zh-CN" altLang="en-US" dirty="0"/>
                  <a:t>可以得到性质三的结论。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132C255-F514-534B-6148-ED699B1A9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539240"/>
                <a:ext cx="8275320" cy="2876878"/>
              </a:xfrm>
              <a:prstGeom prst="rect">
                <a:avLst/>
              </a:prstGeom>
              <a:blipFill>
                <a:blip r:embed="rId2"/>
                <a:stretch>
                  <a:fillRect l="-515" t="-1274" r="-147" b="-13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1748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不定方程的解数</a:t>
            </a:r>
            <a:r>
              <a:rPr lang="en-US" altLang="zh-CN" dirty="0"/>
              <a:t>——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求不定方程                             的正整数解个数</a:t>
            </a:r>
          </a:p>
          <a:p>
            <a:endParaRPr lang="zh-CN" altLang="en-US" sz="2400" dirty="0"/>
          </a:p>
          <a:p>
            <a:r>
              <a:rPr lang="zh-CN" altLang="en-US" sz="2400" dirty="0"/>
              <a:t>这个问题等价于</a:t>
            </a:r>
            <a:r>
              <a:rPr lang="zh-CN" altLang="en-US" sz="2400" dirty="0">
                <a:sym typeface="+mn-ea"/>
              </a:rPr>
              <a:t>把    个完全相同的球放入   个盒子每个盒子至少放一个球</a:t>
            </a:r>
          </a:p>
          <a:p>
            <a:pPr marL="0" indent="0">
              <a:buNone/>
            </a:pPr>
            <a:endParaRPr lang="zh-CN" altLang="en-US" sz="2400" dirty="0"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的方案数，即</a:t>
            </a:r>
            <a:endParaRPr lang="zh-CN" altLang="en-US" sz="2400" dirty="0"/>
          </a:p>
          <a:p>
            <a:endParaRPr lang="zh-CN" altLang="en-US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>
                <a:hlinkClick r:id="" action="ppaction://ole?verb=0"/>
              </p:cNvPr>
              <p:cNvSpPr txBox="1"/>
              <p:nvPr/>
            </p:nvSpPr>
            <p:spPr>
              <a:xfrm>
                <a:off x="2742248" y="1851979"/>
                <a:ext cx="2383155" cy="4514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对象 1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248" y="1851979"/>
                <a:ext cx="2383155" cy="4514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5490845" y="732790"/>
                <a:ext cx="2354580" cy="6445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LEVEL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845" y="732790"/>
                <a:ext cx="2354580" cy="6445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3696018" y="2851469"/>
                <a:ext cx="250825" cy="27622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018" y="2851469"/>
                <a:ext cx="250825" cy="276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6716713" y="2782572"/>
                <a:ext cx="250825" cy="35052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713" y="2782572"/>
                <a:ext cx="250825" cy="350520"/>
              </a:xfrm>
              <a:prstGeom prst="rect">
                <a:avLst/>
              </a:prstGeom>
              <a:blipFill>
                <a:blip r:embed="rId6"/>
                <a:stretch>
                  <a:fillRect r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2837181" y="3403602"/>
                <a:ext cx="902970" cy="90297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181" y="3403602"/>
                <a:ext cx="902970" cy="9029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不定方程的解数</a:t>
            </a:r>
            <a:r>
              <a:rPr lang="en-US" altLang="zh-CN">
                <a:sym typeface="+mn-ea"/>
              </a:rPr>
              <a:t>——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ym typeface="+mn-ea"/>
              </a:rPr>
              <a:t>求不定方程                             的非负整数解个数</a:t>
            </a:r>
          </a:p>
          <a:p>
            <a:endParaRPr lang="zh-CN" altLang="en-US" sz="2400" dirty="0">
              <a:sym typeface="+mn-ea"/>
            </a:endParaRPr>
          </a:p>
          <a:p>
            <a:r>
              <a:rPr lang="zh-CN" altLang="en-US" sz="2400" dirty="0">
                <a:sym typeface="+mn-ea"/>
              </a:rPr>
              <a:t>这个问题等价于把        个完全相同的球放入   个盒子每个盒子至少放一个</a:t>
            </a:r>
          </a:p>
          <a:p>
            <a:pPr marL="0" indent="0">
              <a:buNone/>
            </a:pPr>
            <a:endParaRPr lang="zh-CN" altLang="en-US" sz="2400" dirty="0"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球的方案数，即</a:t>
            </a:r>
            <a:endParaRPr lang="zh-CN" altLang="en-US" sz="2400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5466715" y="732790"/>
                <a:ext cx="2447290" cy="6445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LEVEL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715" y="732790"/>
                <a:ext cx="2447290" cy="644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>
                <a:hlinkClick r:id="" action="ppaction://ole?verb=0"/>
              </p:cNvPr>
              <p:cNvSpPr txBox="1"/>
              <p:nvPr/>
            </p:nvSpPr>
            <p:spPr>
              <a:xfrm>
                <a:off x="2742248" y="1851979"/>
                <a:ext cx="2383155" cy="4514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对象 1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248" y="1851979"/>
                <a:ext cx="2383155" cy="4514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3664903" y="2774317"/>
                <a:ext cx="677545" cy="35052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903" y="2774317"/>
                <a:ext cx="677545" cy="350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7050088" y="2778127"/>
                <a:ext cx="250825" cy="35052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088" y="2778127"/>
                <a:ext cx="250825" cy="350520"/>
              </a:xfrm>
              <a:prstGeom prst="rect">
                <a:avLst/>
              </a:prstGeom>
              <a:blipFill>
                <a:blip r:embed="rId6"/>
                <a:stretch>
                  <a:fillRect r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3146426" y="3438527"/>
                <a:ext cx="1304290" cy="90297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426" y="3438527"/>
                <a:ext cx="1304290" cy="9029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不定方程的解数</a:t>
            </a:r>
            <a:r>
              <a:rPr lang="en-US" altLang="zh-CN">
                <a:sym typeface="+mn-ea"/>
              </a:rPr>
              <a:t>——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ym typeface="+mn-ea"/>
              </a:rPr>
              <a:t>求不定方程                             的整数解个数，其中</a:t>
            </a:r>
          </a:p>
          <a:p>
            <a:endParaRPr lang="zh-CN" altLang="en-US" sz="2400" dirty="0">
              <a:sym typeface="+mn-ea"/>
            </a:endParaRPr>
          </a:p>
          <a:p>
            <a:r>
              <a:rPr lang="zh-CN" altLang="en-US" sz="2400" dirty="0">
                <a:sym typeface="+mn-ea"/>
              </a:rPr>
              <a:t>这个问题等价于                                                     的非负整数解个数，因此</a:t>
            </a:r>
          </a:p>
          <a:p>
            <a:endParaRPr lang="zh-CN" altLang="en-US" sz="2400" dirty="0"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方案数为</a:t>
            </a: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5489575" y="732790"/>
                <a:ext cx="2401570" cy="6445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LEVEL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3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575" y="732790"/>
                <a:ext cx="2401570" cy="644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>
                <a:hlinkClick r:id="" action="ppaction://ole?verb=0"/>
              </p:cNvPr>
              <p:cNvSpPr txBox="1"/>
              <p:nvPr/>
            </p:nvSpPr>
            <p:spPr>
              <a:xfrm>
                <a:off x="2742248" y="1851979"/>
                <a:ext cx="2383155" cy="4514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对象 1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248" y="1851979"/>
                <a:ext cx="2383155" cy="4514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7944486" y="1825309"/>
                <a:ext cx="3161030" cy="4514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486" y="1825309"/>
                <a:ext cx="3161030" cy="4514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3328671" y="2738439"/>
                <a:ext cx="4465320" cy="4514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671" y="2738439"/>
                <a:ext cx="4465320" cy="4514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2260283" y="3398522"/>
                <a:ext cx="2182495" cy="125349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283" y="3398522"/>
                <a:ext cx="2182495" cy="12534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循环排列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刚才我们接触的排列都是把对象排成一条线，即线性排列</a:t>
            </a:r>
          </a:p>
          <a:p>
            <a:r>
              <a:rPr lang="zh-CN" altLang="en-US" sz="2400" dirty="0"/>
              <a:t>然而如果排成圆圈的话，对应的排列数量将会变少</a:t>
            </a:r>
          </a:p>
          <a:p>
            <a:endParaRPr lang="zh-CN" altLang="en-US" sz="2400" dirty="0"/>
          </a:p>
          <a:p>
            <a:r>
              <a:rPr lang="zh-CN" altLang="en-US" sz="2400" dirty="0"/>
              <a:t>循环排列：</a:t>
            </a:r>
            <a:r>
              <a:rPr lang="zh-CN" altLang="en-US" sz="2400" dirty="0">
                <a:sym typeface="+mn-ea"/>
              </a:rPr>
              <a:t>从   个元素中选出    个排成圆圈的方案数，相当于线性排列时</a:t>
            </a:r>
          </a:p>
          <a:p>
            <a:endParaRPr lang="zh-CN" altLang="en-US" sz="2400" dirty="0"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固定第一个数的方案数，即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>
                <a:hlinkClick r:id="" action="ppaction://ole?verb=0"/>
              </p:cNvPr>
              <p:cNvSpPr txBox="1"/>
              <p:nvPr/>
            </p:nvSpPr>
            <p:spPr>
              <a:xfrm>
                <a:off x="3035301" y="3295334"/>
                <a:ext cx="251460" cy="27622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对象 1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301" y="3295334"/>
                <a:ext cx="251460" cy="276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5124769" y="3299779"/>
                <a:ext cx="327025" cy="27622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769" y="3299779"/>
                <a:ext cx="327025" cy="276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4682809" y="3905252"/>
                <a:ext cx="528955" cy="82931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809" y="3905252"/>
                <a:ext cx="528955" cy="8293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多重集合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6000" y="1852295"/>
            <a:ext cx="11316000" cy="4320000"/>
          </a:xfrm>
        </p:spPr>
        <p:txBody>
          <a:bodyPr/>
          <a:lstStyle/>
          <a:p>
            <a:r>
              <a:rPr lang="zh-CN" altLang="en-US" sz="2400" dirty="0"/>
              <a:t>我们把含有相同元素的集合称为多重集合</a:t>
            </a:r>
          </a:p>
          <a:p>
            <a:r>
              <a:rPr lang="zh-CN" altLang="en-US" sz="2400" dirty="0"/>
              <a:t>设多重集合   中有   种不同的元素，每一种元素都有无限多个，那么从    中</a:t>
            </a:r>
          </a:p>
          <a:p>
            <a:pPr marL="0" indent="0">
              <a:buNone/>
            </a:pPr>
            <a:r>
              <a:rPr lang="zh-CN" altLang="en-US" sz="2400" dirty="0"/>
              <a:t>选出    个元素排成一列的方案数为</a:t>
            </a:r>
          </a:p>
          <a:p>
            <a:r>
              <a:rPr lang="zh-CN" altLang="en-US" sz="2400" dirty="0">
                <a:sym typeface="+mn-ea"/>
              </a:rPr>
              <a:t>设多重集合   中有   种不同的元素，每一种元素都有有限多个，分别为</a:t>
            </a:r>
          </a:p>
          <a:p>
            <a:pPr marL="0" indent="0">
              <a:buNone/>
            </a:pPr>
            <a:endParaRPr lang="zh-CN" altLang="en-US" sz="2400" dirty="0"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设    的大小为   ，那么把    中的元素排成一列的方案数为</a:t>
            </a:r>
            <a:endParaRPr lang="zh-CN" altLang="en-US" sz="2400" dirty="0"/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8">
                <a:hlinkClick r:id="" action="ppaction://ole?verb=0"/>
              </p:cNvPr>
              <p:cNvSpPr txBox="1"/>
              <p:nvPr/>
            </p:nvSpPr>
            <p:spPr>
              <a:xfrm>
                <a:off x="2704465" y="2341245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对象 18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465" y="2341245"/>
                <a:ext cx="274320" cy="3479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3598228" y="2334260"/>
                <a:ext cx="249555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228" y="2334260"/>
                <a:ext cx="249555" cy="347980"/>
              </a:xfrm>
              <a:prstGeom prst="rect">
                <a:avLst/>
              </a:prstGeom>
              <a:blipFill>
                <a:blip r:embed="rId4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10593070" y="2341245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070" y="2341245"/>
                <a:ext cx="274320" cy="3479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1601788" y="2847658"/>
                <a:ext cx="324485" cy="27495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788" y="2847658"/>
                <a:ext cx="324485" cy="2749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5593398" y="2744788"/>
                <a:ext cx="399415" cy="3994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398" y="2744788"/>
                <a:ext cx="399415" cy="399415"/>
              </a:xfrm>
              <a:prstGeom prst="rect">
                <a:avLst/>
              </a:prstGeom>
              <a:blipFill>
                <a:blip r:embed="rId7"/>
                <a:stretch>
                  <a:fillRect r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hlinkClick r:id="" action="ppaction://ole?verb=0"/>
              </p:cNvPr>
              <p:cNvSpPr txBox="1"/>
              <p:nvPr/>
            </p:nvSpPr>
            <p:spPr>
              <a:xfrm>
                <a:off x="2700655" y="3235325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对象 11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655" y="3235325"/>
                <a:ext cx="274320" cy="3479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3">
                <a:hlinkClick r:id="" action="ppaction://ole?verb=0"/>
              </p:cNvPr>
              <p:cNvSpPr txBox="1"/>
              <p:nvPr/>
            </p:nvSpPr>
            <p:spPr>
              <a:xfrm>
                <a:off x="3594418" y="3228340"/>
                <a:ext cx="249555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对象 1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18" y="3228340"/>
                <a:ext cx="249555" cy="347980"/>
              </a:xfrm>
              <a:prstGeom prst="rect">
                <a:avLst/>
              </a:prstGeom>
              <a:blipFill>
                <a:blip r:embed="rId9"/>
                <a:stretch>
                  <a:fillRect r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hlinkClick r:id="" action="ppaction://ole?verb=0"/>
              </p:cNvPr>
              <p:cNvSpPr txBox="1"/>
              <p:nvPr/>
            </p:nvSpPr>
            <p:spPr>
              <a:xfrm>
                <a:off x="10553065" y="3195320"/>
                <a:ext cx="1446530" cy="4495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对象 1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3065" y="3195320"/>
                <a:ext cx="1446530" cy="4495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对象 23">
                <a:hlinkClick r:id="" action="ppaction://ole?verb=0"/>
              </p:cNvPr>
              <p:cNvSpPr txBox="1"/>
              <p:nvPr/>
            </p:nvSpPr>
            <p:spPr>
              <a:xfrm>
                <a:off x="1310005" y="4146550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" name="对象 2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005" y="4146550"/>
                <a:ext cx="274320" cy="3479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对象 27">
                <a:hlinkClick r:id="" action="ppaction://ole?verb=0"/>
              </p:cNvPr>
              <p:cNvSpPr txBox="1"/>
              <p:nvPr/>
            </p:nvSpPr>
            <p:spPr>
              <a:xfrm>
                <a:off x="2844166" y="4210368"/>
                <a:ext cx="250190" cy="27495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8" name="对象 2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166" y="4210368"/>
                <a:ext cx="250190" cy="27495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对象 29">
                <a:hlinkClick r:id="" action="ppaction://ole?verb=0"/>
              </p:cNvPr>
              <p:cNvSpPr txBox="1"/>
              <p:nvPr/>
            </p:nvSpPr>
            <p:spPr>
              <a:xfrm>
                <a:off x="4318635" y="4151630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0" name="对象 2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635" y="4151630"/>
                <a:ext cx="274320" cy="3479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对象 31">
                <a:hlinkClick r:id="" action="ppaction://ole?verb=0"/>
              </p:cNvPr>
              <p:cNvSpPr txBox="1"/>
              <p:nvPr/>
            </p:nvSpPr>
            <p:spPr>
              <a:xfrm>
                <a:off x="8667434" y="3932238"/>
                <a:ext cx="1426845" cy="85026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!⋯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2" name="对象 31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434" y="3932238"/>
                <a:ext cx="1426845" cy="8502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对象 33">
                <a:hlinkClick r:id="" action="ppaction://ole?verb=0"/>
              </p:cNvPr>
              <p:cNvSpPr txBox="1"/>
              <p:nvPr/>
            </p:nvSpPr>
            <p:spPr>
              <a:xfrm>
                <a:off x="2700655" y="2348230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4" name="对象 3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655" y="2348230"/>
                <a:ext cx="274320" cy="34798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对象 35">
                <a:hlinkClick r:id="" action="ppaction://ole?verb=0"/>
              </p:cNvPr>
              <p:cNvSpPr txBox="1"/>
              <p:nvPr/>
            </p:nvSpPr>
            <p:spPr>
              <a:xfrm>
                <a:off x="3594418" y="2341245"/>
                <a:ext cx="249555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6" name="对象 3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18" y="2341245"/>
                <a:ext cx="249555" cy="347980"/>
              </a:xfrm>
              <a:prstGeom prst="rect">
                <a:avLst/>
              </a:prstGeom>
              <a:blipFill>
                <a:blip r:embed="rId16"/>
                <a:stretch>
                  <a:fillRect r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多重集合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ym typeface="+mn-ea"/>
              </a:rPr>
              <a:t>设多重集合   中有   种不同的元素，每一种元素都有无限多个，那么从    中</a:t>
            </a:r>
          </a:p>
          <a:p>
            <a:pPr marL="0" indent="0">
              <a:buNone/>
            </a:pPr>
            <a:endParaRPr lang="zh-CN" altLang="en-US" sz="2400" dirty="0"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选出    个元素排成一列的方案数为</a:t>
            </a:r>
          </a:p>
          <a:p>
            <a:endParaRPr lang="zh-CN" altLang="en-US" sz="2400" dirty="0">
              <a:sym typeface="+mn-ea"/>
            </a:endParaRPr>
          </a:p>
          <a:p>
            <a:r>
              <a:rPr lang="zh-CN" altLang="en-US" sz="2400" dirty="0">
                <a:sym typeface="+mn-ea"/>
              </a:rPr>
              <a:t>设每一种元素选取个数为                 ，那么它们需要满足</a:t>
            </a:r>
          </a:p>
          <a:p>
            <a:endParaRPr lang="zh-CN" altLang="en-US" sz="2400" dirty="0">
              <a:sym typeface="+mn-ea"/>
            </a:endParaRPr>
          </a:p>
          <a:p>
            <a:pPr marL="0" indent="0">
              <a:buNone/>
            </a:pPr>
            <a:endParaRPr lang="zh-CN" altLang="en-US" sz="2400" dirty="0"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由隔板法得出解的个数为</a:t>
            </a: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10593070" y="1870075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070" y="1870075"/>
                <a:ext cx="274320" cy="3479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1608138" y="2824798"/>
                <a:ext cx="324485" cy="27495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138" y="2824798"/>
                <a:ext cx="324485" cy="2749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对象 33">
                <a:hlinkClick r:id="" action="ppaction://ole?verb=0"/>
              </p:cNvPr>
              <p:cNvSpPr txBox="1"/>
              <p:nvPr/>
            </p:nvSpPr>
            <p:spPr>
              <a:xfrm>
                <a:off x="2700655" y="1877060"/>
                <a:ext cx="274320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4" name="对象 3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655" y="1877060"/>
                <a:ext cx="274320" cy="3479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对象 35">
                <a:hlinkClick r:id="" action="ppaction://ole?verb=0"/>
              </p:cNvPr>
              <p:cNvSpPr txBox="1"/>
              <p:nvPr/>
            </p:nvSpPr>
            <p:spPr>
              <a:xfrm>
                <a:off x="3594418" y="1870075"/>
                <a:ext cx="249555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6" name="对象 3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18" y="1870075"/>
                <a:ext cx="249555" cy="347980"/>
              </a:xfrm>
              <a:prstGeom prst="rect">
                <a:avLst/>
              </a:prstGeom>
              <a:blipFill>
                <a:blip r:embed="rId6"/>
                <a:stretch>
                  <a:fillRect r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5702301" y="2530476"/>
                <a:ext cx="1372870" cy="9004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301" y="2530476"/>
                <a:ext cx="1372870" cy="9004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hlinkClick r:id="" action="ppaction://ole?verb=0"/>
              </p:cNvPr>
              <p:cNvSpPr txBox="1"/>
              <p:nvPr/>
            </p:nvSpPr>
            <p:spPr>
              <a:xfrm>
                <a:off x="4568191" y="3644583"/>
                <a:ext cx="1447800" cy="4502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对象 11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91" y="3644583"/>
                <a:ext cx="1447800" cy="4502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3">
                <a:hlinkClick r:id="" action="ppaction://ole?verb=0"/>
              </p:cNvPr>
              <p:cNvSpPr txBox="1"/>
              <p:nvPr/>
            </p:nvSpPr>
            <p:spPr>
              <a:xfrm>
                <a:off x="4692969" y="4221798"/>
                <a:ext cx="2446655" cy="4502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对象 1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969" y="4221798"/>
                <a:ext cx="2446655" cy="4502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hlinkClick r:id="" action="ppaction://ole?verb=0"/>
              </p:cNvPr>
              <p:cNvSpPr txBox="1"/>
              <p:nvPr/>
            </p:nvSpPr>
            <p:spPr>
              <a:xfrm>
                <a:off x="4396106" y="4826001"/>
                <a:ext cx="1372870" cy="9004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对象 1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106" y="4826001"/>
                <a:ext cx="1372870" cy="9004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鸽巢原理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鸽巢原理：把        个物品放入   个盒子中，那么至少有一个盒子包含两个</a:t>
            </a:r>
          </a:p>
          <a:p>
            <a:pPr marL="0" indent="0">
              <a:buNone/>
            </a:pPr>
            <a:r>
              <a:rPr lang="zh-CN" altLang="en-US" sz="2400" dirty="0"/>
              <a:t>或两个以上的物品</a:t>
            </a:r>
          </a:p>
          <a:p>
            <a:endParaRPr lang="zh-CN" altLang="en-US" sz="2400" dirty="0"/>
          </a:p>
          <a:p>
            <a:r>
              <a:rPr lang="zh-CN" altLang="en-US" sz="2400" dirty="0"/>
              <a:t>可以用反证法证明，如果所有盒子中的物品都至多有一个物品，那么物品</a:t>
            </a:r>
          </a:p>
          <a:p>
            <a:pPr marL="0" indent="0">
              <a:buNone/>
            </a:pPr>
            <a:r>
              <a:rPr lang="zh-CN" altLang="en-US" sz="2400" dirty="0"/>
              <a:t>数至多为   ，导出矛盾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对象 35">
                <a:hlinkClick r:id="" action="ppaction://ole?verb=0"/>
              </p:cNvPr>
              <p:cNvSpPr txBox="1"/>
              <p:nvPr/>
            </p:nvSpPr>
            <p:spPr>
              <a:xfrm>
                <a:off x="3041651" y="1856740"/>
                <a:ext cx="599440" cy="34798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6" name="对象 3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1" y="1856740"/>
                <a:ext cx="599440" cy="3479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5233671" y="1932623"/>
                <a:ext cx="250190" cy="27495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71" y="1932623"/>
                <a:ext cx="250190" cy="2749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2191386" y="3755073"/>
                <a:ext cx="250190" cy="27495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386" y="3755073"/>
                <a:ext cx="250190" cy="2749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鸽巢原理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应用一：在    个人中存在两个人，他们的生日在同一个月份里</a:t>
            </a:r>
          </a:p>
          <a:p>
            <a:r>
              <a:rPr lang="zh-CN" altLang="en-US" sz="2400" dirty="0"/>
              <a:t>应用二：给定序列                  ，存在                   使得</a:t>
            </a:r>
          </a:p>
          <a:p>
            <a:endParaRPr lang="zh-CN" altLang="en-US" sz="2400" dirty="0"/>
          </a:p>
          <a:p>
            <a:r>
              <a:rPr lang="zh-CN" altLang="en-US" sz="2400" dirty="0"/>
              <a:t>设                          ，那么   序列中有        个数，因此存在                   使得</a:t>
            </a:r>
          </a:p>
          <a:p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dirty="0"/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对象 35">
                <a:hlinkClick r:id="" action="ppaction://ole?verb=0"/>
              </p:cNvPr>
              <p:cNvSpPr txBox="1"/>
              <p:nvPr/>
            </p:nvSpPr>
            <p:spPr>
              <a:xfrm>
                <a:off x="2731453" y="1885950"/>
                <a:ext cx="348615" cy="3479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6" name="对象 3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453" y="1885950"/>
                <a:ext cx="348615" cy="347980"/>
              </a:xfrm>
              <a:prstGeom prst="rect">
                <a:avLst/>
              </a:prstGeom>
              <a:blipFill>
                <a:blip r:embed="rId3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3648076" y="2270125"/>
                <a:ext cx="1499870" cy="4495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076" y="2270125"/>
                <a:ext cx="1499870" cy="449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6103304" y="2333943"/>
                <a:ext cx="1550035" cy="34861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304" y="2333943"/>
                <a:ext cx="1550035" cy="3486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8288021" y="2292985"/>
                <a:ext cx="2725420" cy="4495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021" y="2292985"/>
                <a:ext cx="2725420" cy="4495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1502093" y="3000375"/>
                <a:ext cx="2225675" cy="8496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093" y="3000375"/>
                <a:ext cx="2225675" cy="8496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hlinkClick r:id="" action="ppaction://ole?verb=0"/>
              </p:cNvPr>
              <p:cNvSpPr txBox="1"/>
              <p:nvPr/>
            </p:nvSpPr>
            <p:spPr>
              <a:xfrm>
                <a:off x="4615816" y="3238183"/>
                <a:ext cx="275590" cy="34861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对象 11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816" y="3238183"/>
                <a:ext cx="275590" cy="3486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3">
                <a:hlinkClick r:id="" action="ppaction://ole?verb=0"/>
              </p:cNvPr>
              <p:cNvSpPr txBox="1"/>
              <p:nvPr/>
            </p:nvSpPr>
            <p:spPr>
              <a:xfrm>
                <a:off x="6076951" y="3232468"/>
                <a:ext cx="676910" cy="348615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对象 1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951" y="3232468"/>
                <a:ext cx="676910" cy="3486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hlinkClick r:id="" action="ppaction://ole?verb=0"/>
              </p:cNvPr>
              <p:cNvSpPr txBox="1"/>
              <p:nvPr/>
            </p:nvSpPr>
            <p:spPr>
              <a:xfrm>
                <a:off x="8922386" y="3245803"/>
                <a:ext cx="1554480" cy="34861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对象 1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386" y="3245803"/>
                <a:ext cx="1554480" cy="34861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17">
                <a:hlinkClick r:id="" action="ppaction://ole?verb=0"/>
              </p:cNvPr>
              <p:cNvSpPr txBox="1"/>
              <p:nvPr/>
            </p:nvSpPr>
            <p:spPr>
              <a:xfrm>
                <a:off x="5079684" y="3864928"/>
                <a:ext cx="2131695" cy="4502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" name="对象 1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684" y="3864928"/>
                <a:ext cx="2131695" cy="45021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9">
                <a:hlinkClick r:id="" action="ppaction://ole?verb=0"/>
              </p:cNvPr>
              <p:cNvSpPr txBox="1"/>
              <p:nvPr/>
            </p:nvSpPr>
            <p:spPr>
              <a:xfrm>
                <a:off x="1599884" y="4579303"/>
                <a:ext cx="4714875" cy="4502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对象 1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884" y="4579303"/>
                <a:ext cx="4714875" cy="45021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二项式定理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二项式定理：                           ，其中   是正整数</a:t>
            </a:r>
          </a:p>
          <a:p>
            <a:endParaRPr lang="zh-CN" altLang="en-US" sz="2400" dirty="0"/>
          </a:p>
          <a:p>
            <a:r>
              <a:rPr lang="zh-CN" altLang="en-US" sz="2400" dirty="0"/>
              <a:t>广义二项式定理：                           ，其中   是任意实数</a:t>
            </a:r>
          </a:p>
          <a:p>
            <a:endParaRPr lang="zh-CN" altLang="en-US" sz="2400" dirty="0"/>
          </a:p>
          <a:p>
            <a:r>
              <a:rPr lang="zh-CN" altLang="en-US" sz="2400" dirty="0"/>
              <a:t>广义二项式定理的展开式是一个无穷级数，需要考虑收敛性问题</a:t>
            </a:r>
          </a:p>
          <a:p>
            <a:endParaRPr lang="zh-CN" altLang="en-US" sz="2400" dirty="0"/>
          </a:p>
          <a:p>
            <a:r>
              <a:rPr lang="zh-CN" altLang="en-US" sz="2400" dirty="0"/>
              <a:t>例如：                                                      ，与泰勒展开的结果一致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2959418" y="1617980"/>
                <a:ext cx="2389505" cy="83947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418" y="1617980"/>
                <a:ext cx="2389505" cy="8394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6247131" y="1930400"/>
                <a:ext cx="204470" cy="256540"/>
              </a:xfrm>
              <a:prstGeom prst="rect">
                <a:avLst/>
              </a:prstGeom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131" y="1930400"/>
                <a:ext cx="204470" cy="256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3581718" y="2560955"/>
                <a:ext cx="2389505" cy="83947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718" y="2560955"/>
                <a:ext cx="2389505" cy="8394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6837046" y="2828925"/>
                <a:ext cx="204470" cy="256540"/>
              </a:xfrm>
              <a:prstGeom prst="rect">
                <a:avLst/>
              </a:prstGeom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046" y="2828925"/>
                <a:ext cx="204470" cy="2565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hlinkClick r:id="" action="ppaction://ole?verb=0"/>
              </p:cNvPr>
              <p:cNvSpPr txBox="1"/>
              <p:nvPr/>
            </p:nvSpPr>
            <p:spPr>
              <a:xfrm>
                <a:off x="2016760" y="4356418"/>
                <a:ext cx="4636770" cy="88709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128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对象 11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760" y="4356418"/>
                <a:ext cx="4636770" cy="8870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二项式系数的数论性质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若   是素数，那么                         都能被    整除</a:t>
            </a:r>
          </a:p>
          <a:p>
            <a:endParaRPr lang="zh-CN" altLang="en-US" sz="2400" dirty="0"/>
          </a:p>
          <a:p>
            <a:r>
              <a:rPr lang="zh-CN" altLang="en-US" sz="2400" dirty="0"/>
              <a:t>证明：对于              ，有</a:t>
            </a:r>
          </a:p>
          <a:p>
            <a:endParaRPr lang="zh-CN" altLang="en-US" sz="2400" dirty="0"/>
          </a:p>
          <a:p>
            <a:r>
              <a:rPr lang="zh-CN" altLang="en-US" sz="2400" dirty="0"/>
              <a:t>因为                                    且           ，所以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1508761" y="1913255"/>
                <a:ext cx="245110" cy="303530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761" y="1913255"/>
                <a:ext cx="245110" cy="3035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3605531" y="1649095"/>
                <a:ext cx="2042160" cy="83947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531" y="1649095"/>
                <a:ext cx="2042160" cy="8394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6650356" y="1917065"/>
                <a:ext cx="245110" cy="303530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356" y="1917065"/>
                <a:ext cx="245110" cy="3035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2713991" y="2802890"/>
                <a:ext cx="1205230" cy="373380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991" y="2802890"/>
                <a:ext cx="1205230" cy="3733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hlinkClick r:id="" action="ppaction://ole?verb=0"/>
              </p:cNvPr>
              <p:cNvSpPr txBox="1"/>
              <p:nvPr/>
            </p:nvSpPr>
            <p:spPr>
              <a:xfrm>
                <a:off x="4594861" y="2560955"/>
                <a:ext cx="3472180" cy="83947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−2)⋯(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对象 11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861" y="2560955"/>
                <a:ext cx="3472180" cy="8394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3">
                <a:hlinkClick r:id="" action="ppaction://ole?verb=0"/>
              </p:cNvPr>
              <p:cNvSpPr txBox="1"/>
              <p:nvPr/>
            </p:nvSpPr>
            <p:spPr>
              <a:xfrm>
                <a:off x="1808481" y="3710940"/>
                <a:ext cx="3044190" cy="37338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−2)⋯(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对象 1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81" y="3710940"/>
                <a:ext cx="3044190" cy="3733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hlinkClick r:id="" action="ppaction://ole?verb=0"/>
              </p:cNvPr>
              <p:cNvSpPr txBox="1"/>
              <p:nvPr/>
            </p:nvSpPr>
            <p:spPr>
              <a:xfrm>
                <a:off x="5131436" y="3706495"/>
                <a:ext cx="939800" cy="37338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对象 1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436" y="3706495"/>
                <a:ext cx="939800" cy="3733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17">
                <a:hlinkClick r:id="" action="ppaction://ole?verb=0"/>
              </p:cNvPr>
              <p:cNvSpPr txBox="1"/>
              <p:nvPr/>
            </p:nvSpPr>
            <p:spPr>
              <a:xfrm>
                <a:off x="7086284" y="3459798"/>
                <a:ext cx="3902075" cy="84010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!|(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−2)⋯(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" name="对象 1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284" y="3459798"/>
                <a:ext cx="3902075" cy="8401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卢卡斯定理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卢卡斯定理：若    是素数，则</a:t>
            </a:r>
          </a:p>
          <a:p>
            <a:endParaRPr lang="zh-CN" altLang="en-US" sz="2400" dirty="0"/>
          </a:p>
          <a:p>
            <a:r>
              <a:rPr lang="zh-CN" altLang="en-US" sz="2400" dirty="0"/>
              <a:t>证明：由二项式定理可得</a:t>
            </a:r>
          </a:p>
          <a:p>
            <a:endParaRPr lang="zh-CN" altLang="en-US" sz="2400" dirty="0"/>
          </a:p>
          <a:p>
            <a:r>
              <a:rPr lang="zh-CN" altLang="en-US" sz="2400" dirty="0"/>
              <a:t>因此</a:t>
            </a:r>
          </a:p>
          <a:p>
            <a:endParaRPr lang="zh-CN" altLang="en-US" sz="2400" dirty="0"/>
          </a:p>
          <a:p>
            <a:r>
              <a:rPr lang="zh-CN" altLang="en-US" sz="2400" dirty="0"/>
              <a:t>二项式定理展开两边得到：</a:t>
            </a:r>
          </a:p>
          <a:p>
            <a:endParaRPr lang="zh-CN" altLang="en-US" sz="2400" dirty="0"/>
          </a:p>
          <a:p>
            <a:r>
              <a:rPr lang="zh-CN" altLang="en-US" sz="2400" dirty="0"/>
              <a:t>由    项系数相等可以得到：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3350261" y="1914525"/>
                <a:ext cx="245110" cy="303530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261" y="1914525"/>
                <a:ext cx="245110" cy="3035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5251134" y="1622425"/>
                <a:ext cx="3065145" cy="88773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134" y="1622425"/>
                <a:ext cx="3065145" cy="8877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hlinkClick r:id="" action="ppaction://ole?verb=0"/>
              </p:cNvPr>
              <p:cNvSpPr txBox="1"/>
              <p:nvPr/>
            </p:nvSpPr>
            <p:spPr>
              <a:xfrm>
                <a:off x="4647884" y="2567940"/>
                <a:ext cx="3535045" cy="84074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≡1+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" name="对象 8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884" y="2567940"/>
                <a:ext cx="3535045" cy="8407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>
                <a:hlinkClick r:id="" action="ppaction://ole?verb=0"/>
              </p:cNvPr>
              <p:cNvSpPr txBox="1"/>
              <p:nvPr/>
            </p:nvSpPr>
            <p:spPr>
              <a:xfrm>
                <a:off x="1856105" y="3630930"/>
                <a:ext cx="6804025" cy="46355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≡(1+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≡(1+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对象 12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105" y="3630930"/>
                <a:ext cx="6804025" cy="463550"/>
              </a:xfrm>
              <a:prstGeom prst="rect">
                <a:avLst/>
              </a:prstGeom>
              <a:blipFill>
                <a:blip r:embed="rId6"/>
                <a:stretch>
                  <a:fillRect l="-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4">
                <a:hlinkClick r:id="" action="ppaction://ole?verb=0"/>
              </p:cNvPr>
              <p:cNvSpPr txBox="1"/>
              <p:nvPr/>
            </p:nvSpPr>
            <p:spPr>
              <a:xfrm>
                <a:off x="4744085" y="4324985"/>
                <a:ext cx="5611495" cy="9271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≡(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sup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𝑝𝑖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对象 1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085" y="4324985"/>
                <a:ext cx="5611495" cy="92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>
                <a:hlinkClick r:id="" action="ppaction://ole?verb=0"/>
              </p:cNvPr>
              <p:cNvSpPr txBox="1"/>
              <p:nvPr/>
            </p:nvSpPr>
            <p:spPr>
              <a:xfrm>
                <a:off x="1537653" y="5481638"/>
                <a:ext cx="285115" cy="37401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对象 1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53" y="5481638"/>
                <a:ext cx="285115" cy="374015"/>
              </a:xfrm>
              <a:prstGeom prst="rect">
                <a:avLst/>
              </a:prstGeom>
              <a:blipFill>
                <a:blip r:embed="rId8"/>
                <a:stretch>
                  <a:fillRect r="-19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20">
                <a:hlinkClick r:id="" action="ppaction://ole?verb=0"/>
              </p:cNvPr>
              <p:cNvSpPr txBox="1"/>
              <p:nvPr/>
            </p:nvSpPr>
            <p:spPr>
              <a:xfrm>
                <a:off x="4739959" y="5355590"/>
                <a:ext cx="3065145" cy="88773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" name="对象 20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959" y="5355590"/>
                <a:ext cx="3065145" cy="8877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容斥原理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用于计算集合    中不具备性质   </a:t>
            </a:r>
            <a:r>
              <a:rPr lang="en-US" altLang="zh-CN" sz="2400" dirty="0"/>
              <a:t>	            </a:t>
            </a:r>
            <a:r>
              <a:rPr lang="zh-CN" altLang="en-US" sz="2400" dirty="0"/>
              <a:t>的元素个数</a:t>
            </a:r>
          </a:p>
          <a:p>
            <a:r>
              <a:rPr lang="zh-CN" altLang="en-US" sz="2400" dirty="0"/>
              <a:t>设性质</a:t>
            </a:r>
            <a:r>
              <a:rPr lang="en-US" altLang="zh-CN" sz="2400" dirty="0"/>
              <a:t>	         </a:t>
            </a:r>
            <a:r>
              <a:rPr lang="zh-CN" altLang="en-US" sz="2400" dirty="0"/>
              <a:t>对应的集合是</a:t>
            </a:r>
          </a:p>
          <a:p>
            <a:endParaRPr lang="zh-CN" altLang="en-US" sz="2000" dirty="0"/>
          </a:p>
          <a:p>
            <a:endParaRPr lang="zh-CN" altLang="en-US" sz="2400" dirty="0"/>
          </a:p>
          <a:p>
            <a:endParaRPr lang="zh-CN" altLang="en-US" sz="2000" dirty="0"/>
          </a:p>
          <a:p>
            <a:endParaRPr lang="zh-CN" altLang="en-US" sz="1800" dirty="0"/>
          </a:p>
          <a:p>
            <a:r>
              <a:rPr lang="zh-CN" altLang="en-US" sz="2400" dirty="0"/>
              <a:t>其中     表示不具备性质    的集合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5190173" y="1847850"/>
                <a:ext cx="1389380" cy="44640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173" y="1847850"/>
                <a:ext cx="1389380" cy="4464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2802890" y="2825750"/>
                <a:ext cx="5606415" cy="116649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ba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⊆{1,2...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≠∅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∩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890" y="2825750"/>
                <a:ext cx="5606415" cy="1166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1755140" y="4309110"/>
                <a:ext cx="426720" cy="56959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140" y="4309110"/>
                <a:ext cx="426720" cy="5695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4324350" y="4363720"/>
                <a:ext cx="370840" cy="5137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350" y="4363720"/>
                <a:ext cx="370840" cy="5137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hlinkClick r:id="" action="ppaction://ole?verb=0"/>
              </p:cNvPr>
              <p:cNvSpPr txBox="1"/>
              <p:nvPr/>
            </p:nvSpPr>
            <p:spPr>
              <a:xfrm>
                <a:off x="2119948" y="2308860"/>
                <a:ext cx="1389380" cy="44640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" name="对象 8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948" y="2308860"/>
                <a:ext cx="1389380" cy="4464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>
                <a:hlinkClick r:id="" action="ppaction://ole?verb=0"/>
              </p:cNvPr>
              <p:cNvSpPr txBox="1"/>
              <p:nvPr/>
            </p:nvSpPr>
            <p:spPr>
              <a:xfrm>
                <a:off x="5397500" y="2299970"/>
                <a:ext cx="1574165" cy="4648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对象 10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0" y="2299970"/>
                <a:ext cx="1574165" cy="4648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>
                <a:hlinkClick r:id="" action="ppaction://ole?verb=0"/>
              </p:cNvPr>
              <p:cNvSpPr txBox="1"/>
              <p:nvPr/>
            </p:nvSpPr>
            <p:spPr>
              <a:xfrm>
                <a:off x="3042603" y="1872615"/>
                <a:ext cx="273050" cy="34607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对象 12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603" y="1872615"/>
                <a:ext cx="273050" cy="3460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例题：</a:t>
            </a:r>
            <a:r>
              <a:rPr lang="zh-CN" altLang="en-US"/>
              <a:t>8的倍数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给出   个数，以及区间        </a:t>
            </a:r>
          </a:p>
          <a:p>
            <a:r>
              <a:rPr lang="zh-CN" altLang="en-US" sz="2400" dirty="0">
                <a:sym typeface="+mn-ea"/>
              </a:rPr>
              <a:t>问在区间内有多少数是 </a:t>
            </a:r>
            <a:r>
              <a:rPr lang="en-US" altLang="zh-CN" sz="2400" dirty="0">
                <a:sym typeface="+mn-ea"/>
              </a:rPr>
              <a:t>8 </a:t>
            </a:r>
            <a:r>
              <a:rPr lang="zh-CN" altLang="en-US" sz="2400" dirty="0">
                <a:sym typeface="+mn-ea"/>
              </a:rPr>
              <a:t>的倍数且不能被这   个数整除</a:t>
            </a:r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dirty="0"/>
              <a:t>数据范围：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>
                <a:hlinkClick r:id="" action="ppaction://ole?verb=0"/>
              </p:cNvPr>
              <p:cNvSpPr txBox="1"/>
              <p:nvPr/>
            </p:nvSpPr>
            <p:spPr>
              <a:xfrm>
                <a:off x="1819910" y="1928178"/>
                <a:ext cx="248285" cy="273050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对象 12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910" y="1928178"/>
                <a:ext cx="248285" cy="273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4191635" y="1848168"/>
                <a:ext cx="695325" cy="39751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635" y="1848168"/>
                <a:ext cx="695325" cy="397510"/>
              </a:xfrm>
              <a:prstGeom prst="rect">
                <a:avLst/>
              </a:prstGeom>
              <a:blipFill>
                <a:blip r:embed="rId4"/>
                <a:stretch>
                  <a:fillRect l="-3509" r="-1754"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5815330" y="2381568"/>
                <a:ext cx="248285" cy="273050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330" y="2381568"/>
                <a:ext cx="248285" cy="273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2615248" y="3255328"/>
                <a:ext cx="793750" cy="34671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248" y="3255328"/>
                <a:ext cx="793750" cy="3467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7023735" y="2381568"/>
                <a:ext cx="248285" cy="273050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35" y="2381568"/>
                <a:ext cx="248285" cy="273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例题：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的倍数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问题符合区间减法，即      </a:t>
            </a:r>
            <a:r>
              <a:rPr lang="en-US" altLang="zh-CN" sz="2400" dirty="0"/>
              <a:t>  </a:t>
            </a:r>
            <a:r>
              <a:rPr lang="zh-CN" altLang="en-US" sz="2400" dirty="0"/>
              <a:t>的答案减去      </a:t>
            </a:r>
            <a:r>
              <a:rPr lang="en-US" altLang="zh-CN" sz="2400" dirty="0"/>
              <a:t>      </a:t>
            </a:r>
            <a:r>
              <a:rPr lang="zh-CN" altLang="en-US" sz="2400" dirty="0"/>
              <a:t>的答案</a:t>
            </a:r>
          </a:p>
          <a:p>
            <a:r>
              <a:rPr lang="zh-CN" altLang="en-US" sz="2400" dirty="0"/>
              <a:t>我们枚举这 </a:t>
            </a:r>
            <a:r>
              <a:rPr lang="en-US" altLang="zh-CN" sz="2400" dirty="0"/>
              <a:t>  </a:t>
            </a:r>
            <a:r>
              <a:rPr lang="zh-CN" altLang="en-US" sz="2400" dirty="0"/>
              <a:t>个数的子集，用最小公倍数统计答案就行了</a:t>
            </a:r>
          </a:p>
          <a:p>
            <a:r>
              <a:rPr lang="zh-CN" altLang="en-US" sz="2400" dirty="0"/>
              <a:t>核心代码：</a:t>
            </a:r>
          </a:p>
          <a:p>
            <a:endParaRPr lang="zh-CN" altLang="en-US" sz="2400" dirty="0"/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3235960"/>
            <a:ext cx="10546080" cy="2491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4294505" y="1865313"/>
                <a:ext cx="645795" cy="39751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505" y="1865313"/>
                <a:ext cx="645795" cy="397510"/>
              </a:xfrm>
              <a:prstGeom prst="rect">
                <a:avLst/>
              </a:prstGeom>
              <a:blipFill>
                <a:blip r:embed="rId3"/>
                <a:stretch>
                  <a:fillRect l="-2830" r="-10377"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6475413" y="1869758"/>
                <a:ext cx="969010" cy="39751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413" y="1869758"/>
                <a:ext cx="969010" cy="3975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2738120" y="2393633"/>
                <a:ext cx="248285" cy="273050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120" y="2393633"/>
                <a:ext cx="248285" cy="273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推导错排公式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错排问题：把   个数排成一行，使得第 </a:t>
            </a:r>
            <a:r>
              <a:rPr lang="en-US" altLang="zh-CN" sz="2400" dirty="0"/>
              <a:t> </a:t>
            </a:r>
            <a:r>
              <a:rPr lang="zh-CN" altLang="en-US" sz="2400" dirty="0"/>
              <a:t>个位置上的数不等于  ，求方案数</a:t>
            </a:r>
          </a:p>
          <a:p>
            <a:r>
              <a:rPr lang="zh-CN" altLang="en-US" sz="2400" dirty="0"/>
              <a:t>我们应用容斥原理，枚举有多少个位置不满足条件</a:t>
            </a:r>
          </a:p>
          <a:p>
            <a:endParaRPr lang="zh-CN" altLang="en-US" sz="2400" dirty="0"/>
          </a:p>
          <a:p>
            <a:r>
              <a:rPr lang="zh-CN" altLang="en-US" sz="2400" dirty="0"/>
              <a:t>那么</a:t>
            </a:r>
          </a:p>
          <a:p>
            <a:endParaRPr lang="zh-CN" altLang="en-US" sz="2400" dirty="0"/>
          </a:p>
          <a:p>
            <a:r>
              <a:rPr lang="zh-CN" altLang="en-US" sz="2400" dirty="0"/>
              <a:t>这就是错排公式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1786890" y="2942908"/>
                <a:ext cx="5114290" cy="100774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890" y="2942908"/>
                <a:ext cx="5114290" cy="10077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>
                <a:hlinkClick r:id="" action="ppaction://ole?verb=0"/>
              </p:cNvPr>
              <p:cNvSpPr txBox="1"/>
              <p:nvPr/>
            </p:nvSpPr>
            <p:spPr>
              <a:xfrm>
                <a:off x="3054986" y="1940243"/>
                <a:ext cx="248285" cy="273050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对象 12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986" y="1940243"/>
                <a:ext cx="248285" cy="273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6328094" y="1892935"/>
                <a:ext cx="172720" cy="32321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094" y="1892935"/>
                <a:ext cx="172720" cy="323215"/>
              </a:xfrm>
              <a:prstGeom prst="rect">
                <a:avLst/>
              </a:prstGeom>
              <a:blipFill>
                <a:blip r:embed="rId4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9248459" y="1892935"/>
                <a:ext cx="172720" cy="32321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8459" y="1892935"/>
                <a:ext cx="172720" cy="323215"/>
              </a:xfrm>
              <a:prstGeom prst="rect">
                <a:avLst/>
              </a:prstGeom>
              <a:blipFill>
                <a:blip r:embed="rId5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不定方程的解数</a:t>
            </a:r>
            <a:r>
              <a:rPr lang="en-US" altLang="zh-CN"/>
              <a:t>——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ym typeface="+mn-ea"/>
              </a:rPr>
              <a:t>求不定方程                             的整数解个数，其中</a:t>
            </a:r>
          </a:p>
          <a:p>
            <a:endParaRPr lang="zh-CN" altLang="en-US" sz="2400" dirty="0">
              <a:sym typeface="+mn-ea"/>
            </a:endParaRPr>
          </a:p>
          <a:p>
            <a:r>
              <a:rPr lang="zh-CN" altLang="en-US" sz="2400" dirty="0">
                <a:sym typeface="+mn-ea"/>
              </a:rPr>
              <a:t>首先把方程等价为                                      ，其中</a:t>
            </a:r>
          </a:p>
          <a:p>
            <a:endParaRPr lang="zh-CN" altLang="en-US" sz="2400" dirty="0">
              <a:sym typeface="+mn-ea"/>
            </a:endParaRPr>
          </a:p>
          <a:p>
            <a:r>
              <a:rPr lang="zh-CN" altLang="en-US" sz="2400" dirty="0">
                <a:sym typeface="+mn-ea"/>
              </a:rPr>
              <a:t>接下来使用容斥原理，那么不满足条件的情况就是</a:t>
            </a:r>
          </a:p>
          <a:p>
            <a:r>
              <a:rPr lang="zh-CN" altLang="en-US" sz="2400" dirty="0">
                <a:sym typeface="+mn-ea"/>
              </a:rPr>
              <a:t>求出对应的方案数即可</a:t>
            </a: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5462270" y="732790"/>
                <a:ext cx="2447290" cy="6445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LEVEL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4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270" y="732790"/>
                <a:ext cx="2447290" cy="6445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>
                <a:hlinkClick r:id="" action="ppaction://ole?verb=0"/>
              </p:cNvPr>
              <p:cNvSpPr txBox="1"/>
              <p:nvPr/>
            </p:nvSpPr>
            <p:spPr>
              <a:xfrm>
                <a:off x="2742248" y="1851979"/>
                <a:ext cx="2383155" cy="4514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对象 1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248" y="1851979"/>
                <a:ext cx="2383155" cy="4514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7918451" y="1819594"/>
                <a:ext cx="1355090" cy="451485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8451" y="1819594"/>
                <a:ext cx="1355090" cy="4514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3663951" y="2543494"/>
                <a:ext cx="3261360" cy="852805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951" y="2543494"/>
                <a:ext cx="3261360" cy="8528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7762559" y="2761934"/>
                <a:ext cx="1757045" cy="451485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559" y="2761934"/>
                <a:ext cx="1757045" cy="4514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hlinkClick r:id="" action="ppaction://ole?verb=0"/>
              </p:cNvPr>
              <p:cNvSpPr txBox="1"/>
              <p:nvPr/>
            </p:nvSpPr>
            <p:spPr>
              <a:xfrm>
                <a:off x="7909562" y="3651569"/>
                <a:ext cx="1705610" cy="451485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对象 11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562" y="3651569"/>
                <a:ext cx="1705610" cy="4514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luoguP5505</a:t>
            </a:r>
            <a:r>
              <a:rPr lang="zh-CN" altLang="en-US" dirty="0"/>
              <a:t>  分特产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JYY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带队参加了若干场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ACM/ICPC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比赛，带回了许多土特产，要分给实验室的同学们。</a:t>
            </a:r>
          </a:p>
          <a:p>
            <a:pPr algn="l"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JYY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想知道，把这些特产分给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n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个同学，一共有多少种不同的分法？当然，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JYY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不希望任何一个同学因为没有拿到特产而感到失落，所以每个同学都必须至少分得一个特产。</a:t>
            </a:r>
          </a:p>
          <a:p>
            <a:pPr algn="l"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例如，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JYY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带来了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22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 袋麻花和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11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 袋包子，分给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A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和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B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 两位同学，那么共有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4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种不同的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分配方法：</a:t>
            </a:r>
          </a:p>
          <a:p>
            <a:pPr algn="l"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A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：麻花，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B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：麻花、包子</a:t>
            </a:r>
          </a:p>
          <a:p>
            <a:pPr algn="l"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A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：麻花、麻花，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B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：包子</a:t>
            </a:r>
          </a:p>
          <a:p>
            <a:pPr algn="l"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A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：包子，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B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：麻花、麻花</a:t>
            </a:r>
          </a:p>
          <a:p>
            <a:pPr marL="0" indent="0" algn="l"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A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：麻花、包子， 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KaTeX_Main"/>
              </a:rPr>
              <a:t>B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rriweather" panose="020F0502020204030204" pitchFamily="2" charset="0"/>
              </a:rPr>
              <a:t>：麻花</a:t>
            </a:r>
          </a:p>
          <a:p>
            <a:endParaRPr lang="zh-CN" altLang="en-US" sz="2400" dirty="0"/>
          </a:p>
          <a:p>
            <a:r>
              <a:rPr lang="zh-CN" altLang="en-US" sz="2000" dirty="0"/>
              <a:t>所有输入数据都在</a:t>
            </a:r>
            <a:r>
              <a:rPr lang="en-US" altLang="zh-CN" sz="2000" dirty="0"/>
              <a:t>1000</a:t>
            </a:r>
            <a:r>
              <a:rPr lang="zh-CN" altLang="en-US" sz="2000" dirty="0"/>
              <a:t>范围内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luoguP5505 </a:t>
            </a:r>
            <a:r>
              <a:rPr lang="zh-CN" altLang="en-US" dirty="0">
                <a:sym typeface="+mn-ea"/>
              </a:rPr>
              <a:t>分特产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每一种特产对应了一个不定方程</a:t>
            </a:r>
          </a:p>
          <a:p>
            <a:r>
              <a:rPr lang="zh-CN" altLang="en-US" sz="2400" dirty="0"/>
              <a:t>我们只需要枚举多少个同学没有分到特产即可进行容斥</a:t>
            </a:r>
          </a:p>
          <a:p>
            <a:r>
              <a:rPr lang="zh-CN" altLang="en-US" sz="2400" dirty="0"/>
              <a:t>若有   个同学没有分到特产，则不定方程为</a:t>
            </a:r>
          </a:p>
          <a:p>
            <a:endParaRPr lang="zh-CN" altLang="en-US" sz="2400" dirty="0"/>
          </a:p>
          <a:p>
            <a:r>
              <a:rPr lang="zh-CN" altLang="en-US" sz="2400" dirty="0"/>
              <a:t>因此，答案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hlinkClick r:id="" action="ppaction://ole?verb=0"/>
              </p:cNvPr>
              <p:cNvSpPr txBox="1"/>
              <p:nvPr/>
            </p:nvSpPr>
            <p:spPr>
              <a:xfrm>
                <a:off x="6976111" y="2745107"/>
                <a:ext cx="2665730" cy="4521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111" y="2745107"/>
                <a:ext cx="2665730" cy="452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hlinkClick r:id="" action="ppaction://ole?verb=0"/>
              </p:cNvPr>
              <p:cNvSpPr txBox="1"/>
              <p:nvPr/>
            </p:nvSpPr>
            <p:spPr>
              <a:xfrm>
                <a:off x="2694942" y="3430907"/>
                <a:ext cx="4476750" cy="90424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𝐴𝑛𝑠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nary>
                            <m:naryPr>
                              <m:chr m:val="∏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对象 3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942" y="3430907"/>
                <a:ext cx="4476750" cy="904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1815149" y="2782572"/>
                <a:ext cx="252095" cy="35052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149" y="2782572"/>
                <a:ext cx="252095" cy="350520"/>
              </a:xfrm>
              <a:prstGeom prst="rect">
                <a:avLst/>
              </a:prstGeom>
              <a:blipFill>
                <a:blip r:embed="rId4"/>
                <a:stretch>
                  <a:fillRect r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45"/>
</p:tagLst>
</file>

<file path=ppt/theme/theme1.xml><?xml version="1.0" encoding="utf-8"?>
<a:theme xmlns:a="http://schemas.openxmlformats.org/drawingml/2006/main" name="Office 主题​​">
  <a:themeElements>
    <a:clrScheme name="微软">
      <a:dk1>
        <a:srgbClr val="000000"/>
      </a:dk1>
      <a:lt1>
        <a:srgbClr val="FFFFFF"/>
      </a:lt1>
      <a:dk2>
        <a:srgbClr val="232934"/>
      </a:dk2>
      <a:lt2>
        <a:srgbClr val="DCEEF7"/>
      </a:lt2>
      <a:accent1>
        <a:srgbClr val="286FF0"/>
      </a:accent1>
      <a:accent2>
        <a:srgbClr val="0F5AE1"/>
      </a:accent2>
      <a:accent3>
        <a:srgbClr val="7CDFA5"/>
      </a:accent3>
      <a:accent4>
        <a:srgbClr val="22AA9B"/>
      </a:accent4>
      <a:accent5>
        <a:srgbClr val="FB9785"/>
      </a:accent5>
      <a:accent6>
        <a:srgbClr val="FA7598"/>
      </a:accent6>
      <a:hlink>
        <a:srgbClr val="F39209"/>
      </a:hlink>
      <a:folHlink>
        <a:srgbClr val="8DE0D3"/>
      </a:folHlink>
    </a:clrScheme>
    <a:fontScheme name="OPs">
      <a:majorFont>
        <a:latin typeface="Arial Black"/>
        <a:ea typeface="微软雅黑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F5FCC8C2-3F56-427A-B7D8-329A215072C3}" vid="{BBCD203E-503B-4AA7-9E30-00EFCBA822A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真空白模板</Template>
  <TotalTime>14351</TotalTime>
  <Words>8318</Words>
  <Application>Microsoft Office PowerPoint</Application>
  <PresentationFormat>宽屏</PresentationFormat>
  <Paragraphs>682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3" baseType="lpstr">
      <vt:lpstr>-apple-system</vt:lpstr>
      <vt:lpstr>KaTeX_Main</vt:lpstr>
      <vt:lpstr>等线</vt:lpstr>
      <vt:lpstr>微软雅黑</vt:lpstr>
      <vt:lpstr>Arial</vt:lpstr>
      <vt:lpstr>Cambria Math</vt:lpstr>
      <vt:lpstr>Consolas</vt:lpstr>
      <vt:lpstr>Merriweather</vt:lpstr>
      <vt:lpstr>Segoe UI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计数原理</vt:lpstr>
      <vt:lpstr>计数原理</vt:lpstr>
      <vt:lpstr>排列组合</vt:lpstr>
      <vt:lpstr>PowerPoint 演示文稿</vt:lpstr>
      <vt:lpstr>不定方程的解数——</vt:lpstr>
      <vt:lpstr>不定方程的解数——</vt:lpstr>
      <vt:lpstr>不定方程的解数——</vt:lpstr>
      <vt:lpstr>循环排列</vt:lpstr>
      <vt:lpstr>多重集合</vt:lpstr>
      <vt:lpstr>多重集合</vt:lpstr>
      <vt:lpstr>鸽巢原理</vt:lpstr>
      <vt:lpstr>鸽巢原理</vt:lpstr>
      <vt:lpstr>二项式定理</vt:lpstr>
      <vt:lpstr>二项式系数的数论性质</vt:lpstr>
      <vt:lpstr>卢卡斯定理</vt:lpstr>
      <vt:lpstr>容斥原理</vt:lpstr>
      <vt:lpstr>例题：8的倍数</vt:lpstr>
      <vt:lpstr>例题：8的倍数</vt:lpstr>
      <vt:lpstr>推导错排公式</vt:lpstr>
      <vt:lpstr>不定方程的解数——</vt:lpstr>
      <vt:lpstr>luoguP5505  分特产</vt:lpstr>
      <vt:lpstr>luoguP5505 分特产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梁 浩彬</dc:creator>
  <cp:lastModifiedBy>explorer xx</cp:lastModifiedBy>
  <cp:revision>1541</cp:revision>
  <dcterms:created xsi:type="dcterms:W3CDTF">2021-10-24T09:11:52Z</dcterms:created>
  <dcterms:modified xsi:type="dcterms:W3CDTF">2025-05-17T14:20:12Z</dcterms:modified>
</cp:coreProperties>
</file>