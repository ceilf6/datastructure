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</p:sldMasterIdLst>
  <p:notesMasterIdLst>
    <p:notesMasterId r:id="rId6"/>
  </p:notesMasterIdLst>
  <p:handoutMasterIdLst>
    <p:handoutMasterId r:id="rId33"/>
  </p:handoutMasterIdLst>
  <p:sldIdLst>
    <p:sldId id="318" r:id="rId4"/>
    <p:sldId id="296" r:id="rId5"/>
    <p:sldId id="357" r:id="rId7"/>
    <p:sldId id="358" r:id="rId8"/>
    <p:sldId id="359" r:id="rId9"/>
    <p:sldId id="360" r:id="rId10"/>
    <p:sldId id="361" r:id="rId11"/>
    <p:sldId id="362" r:id="rId12"/>
    <p:sldId id="364" r:id="rId13"/>
    <p:sldId id="363" r:id="rId14"/>
    <p:sldId id="365" r:id="rId15"/>
    <p:sldId id="366" r:id="rId16"/>
    <p:sldId id="367" r:id="rId17"/>
    <p:sldId id="368" r:id="rId18"/>
    <p:sldId id="369" r:id="rId19"/>
    <p:sldId id="370" r:id="rId20"/>
    <p:sldId id="371" r:id="rId21"/>
    <p:sldId id="372" r:id="rId22"/>
    <p:sldId id="373" r:id="rId23"/>
    <p:sldId id="375" r:id="rId24"/>
    <p:sldId id="374" r:id="rId25"/>
    <p:sldId id="376" r:id="rId26"/>
    <p:sldId id="380" r:id="rId27"/>
    <p:sldId id="378" r:id="rId28"/>
    <p:sldId id="381" r:id="rId29"/>
    <p:sldId id="382" r:id="rId30"/>
    <p:sldId id="379" r:id="rId31"/>
    <p:sldId id="319" r:id="rId32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6" userDrawn="1">
          <p15:clr>
            <a:srgbClr val="A4A3A4"/>
          </p15:clr>
        </p15:guide>
        <p15:guide id="2" pos="37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CF52"/>
    <a:srgbClr val="FFFFFF"/>
    <a:srgbClr val="23A0D6"/>
    <a:srgbClr val="65B9FF"/>
    <a:srgbClr val="00335D"/>
    <a:srgbClr val="A3E1E7"/>
    <a:srgbClr val="B6E7EC"/>
    <a:srgbClr val="B2DCFF"/>
    <a:srgbClr val="1796FF"/>
    <a:srgbClr val="28B4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37" autoAdjust="0"/>
    <p:restoredTop sz="94660"/>
  </p:normalViewPr>
  <p:slideViewPr>
    <p:cSldViewPr snapToGrid="0" showGuides="1">
      <p:cViewPr>
        <p:scale>
          <a:sx n="118" d="100"/>
          <a:sy n="118" d="100"/>
        </p:scale>
        <p:origin x="-72" y="84"/>
      </p:cViewPr>
      <p:guideLst>
        <p:guide orient="horz" pos="2276"/>
        <p:guide pos="379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7" Type="http://schemas.openxmlformats.org/officeDocument/2006/relationships/tags" Target="tags/tag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1-69E9-4A98-9642-CD532B4D46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DEC2-1BC6-4ED3-B53C-76D3917170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1-69E9-4A98-9642-CD532B4D46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DEC2-1BC6-4ED3-B53C-76D3917170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1-69E9-4A98-9642-CD532B4D46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DEC2-1BC6-4ED3-B53C-76D3917170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1-69E9-4A98-9642-CD532B4D46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DEC2-1BC6-4ED3-B53C-76D3917170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1-69E9-4A98-9642-CD532B4D46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DEC2-1BC6-4ED3-B53C-76D3917170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1-69E9-4A98-9642-CD532B4D46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DEC2-1BC6-4ED3-B53C-76D3917170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1-69E9-4A98-9642-CD532B4D46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DEC2-1BC6-4ED3-B53C-76D3917170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1-69E9-4A98-9642-CD532B4D46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DEC2-1BC6-4ED3-B53C-76D3917170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1-69E9-4A98-9642-CD532B4D46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DEC2-1BC6-4ED3-B53C-76D3917170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1-69E9-4A98-9642-CD532B4D46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DEC2-1BC6-4ED3-B53C-76D3917170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1-69E9-4A98-9642-CD532B4D46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DEC2-1BC6-4ED3-B53C-76D3917170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3F8BD901-69E9-4A98-9642-CD532B4D46C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ABACDEC2-1BC6-4ED3-B53C-76D391717058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5557" y="-460379"/>
            <a:ext cx="12804169" cy="5315763"/>
            <a:chOff x="317" y="-453394"/>
            <a:chExt cx="12804169" cy="5315763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367" b="23699"/>
            <a:stretch>
              <a:fillRect/>
            </a:stretch>
          </p:blipFill>
          <p:spPr>
            <a:xfrm>
              <a:off x="2086" y="-453394"/>
              <a:ext cx="12189914" cy="4708094"/>
            </a:xfrm>
            <a:prstGeom prst="rect">
              <a:avLst/>
            </a:prstGeom>
          </p:spPr>
        </p:pic>
        <p:sp>
          <p:nvSpPr>
            <p:cNvPr id="8" name="任意多边形: 形状 7"/>
            <p:cNvSpPr/>
            <p:nvPr/>
          </p:nvSpPr>
          <p:spPr>
            <a:xfrm>
              <a:off x="614572" y="1230406"/>
              <a:ext cx="12189914" cy="3631963"/>
            </a:xfrm>
            <a:custGeom>
              <a:avLst/>
              <a:gdLst>
                <a:gd name="connsiteX0" fmla="*/ 68366 w 12152119"/>
                <a:gd name="connsiteY0" fmla="*/ 3221765 h 3631963"/>
                <a:gd name="connsiteX1" fmla="*/ 136732 w 12152119"/>
                <a:gd name="connsiteY1" fmla="*/ 3196128 h 3631963"/>
                <a:gd name="connsiteX2" fmla="*/ 324740 w 12152119"/>
                <a:gd name="connsiteY2" fmla="*/ 3110670 h 3631963"/>
                <a:gd name="connsiteX3" fmla="*/ 1204957 w 12152119"/>
                <a:gd name="connsiteY3" fmla="*/ 2820113 h 3631963"/>
                <a:gd name="connsiteX4" fmla="*/ 1392964 w 12152119"/>
                <a:gd name="connsiteY4" fmla="*/ 2768838 h 3631963"/>
                <a:gd name="connsiteX5" fmla="*/ 1888620 w 12152119"/>
                <a:gd name="connsiteY5" fmla="*/ 2657743 h 3631963"/>
                <a:gd name="connsiteX6" fmla="*/ 2264635 w 12152119"/>
                <a:gd name="connsiteY6" fmla="*/ 2580830 h 3631963"/>
                <a:gd name="connsiteX7" fmla="*/ 2982482 w 12152119"/>
                <a:gd name="connsiteY7" fmla="*/ 2469735 h 3631963"/>
                <a:gd name="connsiteX8" fmla="*/ 3503775 w 12152119"/>
                <a:gd name="connsiteY8" fmla="*/ 2350094 h 3631963"/>
                <a:gd name="connsiteX9" fmla="*/ 3828516 w 12152119"/>
                <a:gd name="connsiteY9" fmla="*/ 2247544 h 3631963"/>
                <a:gd name="connsiteX10" fmla="*/ 3965248 w 12152119"/>
                <a:gd name="connsiteY10" fmla="*/ 2213361 h 3631963"/>
                <a:gd name="connsiteX11" fmla="*/ 4127618 w 12152119"/>
                <a:gd name="connsiteY11" fmla="*/ 2162086 h 3631963"/>
                <a:gd name="connsiteX12" fmla="*/ 4289988 w 12152119"/>
                <a:gd name="connsiteY12" fmla="*/ 2127903 h 3631963"/>
                <a:gd name="connsiteX13" fmla="*/ 4956560 w 12152119"/>
                <a:gd name="connsiteY13" fmla="*/ 2016808 h 3631963"/>
                <a:gd name="connsiteX14" fmla="*/ 5255663 w 12152119"/>
                <a:gd name="connsiteY14" fmla="*/ 1999716 h 3631963"/>
                <a:gd name="connsiteX15" fmla="*/ 5828231 w 12152119"/>
                <a:gd name="connsiteY15" fmla="*/ 1905713 h 3631963"/>
                <a:gd name="connsiteX16" fmla="*/ 5982056 w 12152119"/>
                <a:gd name="connsiteY16" fmla="*/ 1862984 h 3631963"/>
                <a:gd name="connsiteX17" fmla="*/ 6187155 w 12152119"/>
                <a:gd name="connsiteY17" fmla="*/ 1828800 h 3631963"/>
                <a:gd name="connsiteX18" fmla="*/ 6366616 w 12152119"/>
                <a:gd name="connsiteY18" fmla="*/ 1803163 h 3631963"/>
                <a:gd name="connsiteX19" fmla="*/ 6725540 w 12152119"/>
                <a:gd name="connsiteY19" fmla="*/ 1734797 h 3631963"/>
                <a:gd name="connsiteX20" fmla="*/ 7084463 w 12152119"/>
                <a:gd name="connsiteY20" fmla="*/ 1649339 h 3631963"/>
                <a:gd name="connsiteX21" fmla="*/ 7238287 w 12152119"/>
                <a:gd name="connsiteY21" fmla="*/ 1615156 h 3631963"/>
                <a:gd name="connsiteX22" fmla="*/ 7742489 w 12152119"/>
                <a:gd name="connsiteY22" fmla="*/ 1427148 h 3631963"/>
                <a:gd name="connsiteX23" fmla="*/ 7768127 w 12152119"/>
                <a:gd name="connsiteY23" fmla="*/ 1401511 h 3631963"/>
                <a:gd name="connsiteX24" fmla="*/ 7785218 w 12152119"/>
                <a:gd name="connsiteY24" fmla="*/ 1367328 h 3631963"/>
                <a:gd name="connsiteX25" fmla="*/ 7853585 w 12152119"/>
                <a:gd name="connsiteY25" fmla="*/ 1358782 h 3631963"/>
                <a:gd name="connsiteX26" fmla="*/ 7981772 w 12152119"/>
                <a:gd name="connsiteY26" fmla="*/ 1341690 h 3631963"/>
                <a:gd name="connsiteX27" fmla="*/ 8041592 w 12152119"/>
                <a:gd name="connsiteY27" fmla="*/ 1333144 h 3631963"/>
                <a:gd name="connsiteX28" fmla="*/ 8212508 w 12152119"/>
                <a:gd name="connsiteY28" fmla="*/ 1290415 h 3631963"/>
                <a:gd name="connsiteX29" fmla="*/ 8588523 w 12152119"/>
                <a:gd name="connsiteY29" fmla="*/ 1204957 h 3631963"/>
                <a:gd name="connsiteX30" fmla="*/ 8716710 w 12152119"/>
                <a:gd name="connsiteY30" fmla="*/ 1170774 h 3631963"/>
                <a:gd name="connsiteX31" fmla="*/ 8810714 w 12152119"/>
                <a:gd name="connsiteY31" fmla="*/ 1153683 h 3631963"/>
                <a:gd name="connsiteX32" fmla="*/ 8938901 w 12152119"/>
                <a:gd name="connsiteY32" fmla="*/ 1110954 h 3631963"/>
                <a:gd name="connsiteX33" fmla="*/ 9058542 w 12152119"/>
                <a:gd name="connsiteY33" fmla="*/ 1085316 h 3631963"/>
                <a:gd name="connsiteX34" fmla="*/ 9161091 w 12152119"/>
                <a:gd name="connsiteY34" fmla="*/ 1059679 h 3631963"/>
                <a:gd name="connsiteX35" fmla="*/ 9246549 w 12152119"/>
                <a:gd name="connsiteY35" fmla="*/ 1016950 h 3631963"/>
                <a:gd name="connsiteX36" fmla="*/ 9306370 w 12152119"/>
                <a:gd name="connsiteY36" fmla="*/ 991313 h 3631963"/>
                <a:gd name="connsiteX37" fmla="*/ 9383282 w 12152119"/>
                <a:gd name="connsiteY37" fmla="*/ 948584 h 3631963"/>
                <a:gd name="connsiteX38" fmla="*/ 9485831 w 12152119"/>
                <a:gd name="connsiteY38" fmla="*/ 914400 h 3631963"/>
                <a:gd name="connsiteX39" fmla="*/ 9588381 w 12152119"/>
                <a:gd name="connsiteY39" fmla="*/ 863126 h 3631963"/>
                <a:gd name="connsiteX40" fmla="*/ 9767843 w 12152119"/>
                <a:gd name="connsiteY40" fmla="*/ 769122 h 3631963"/>
                <a:gd name="connsiteX41" fmla="*/ 9904575 w 12152119"/>
                <a:gd name="connsiteY41" fmla="*/ 734939 h 3631963"/>
                <a:gd name="connsiteX42" fmla="*/ 9998579 w 12152119"/>
                <a:gd name="connsiteY42" fmla="*/ 700756 h 3631963"/>
                <a:gd name="connsiteX43" fmla="*/ 10032762 w 12152119"/>
                <a:gd name="connsiteY43" fmla="*/ 692210 h 3631963"/>
                <a:gd name="connsiteX44" fmla="*/ 10066945 w 12152119"/>
                <a:gd name="connsiteY44" fmla="*/ 675118 h 3631963"/>
                <a:gd name="connsiteX45" fmla="*/ 10109674 w 12152119"/>
                <a:gd name="connsiteY45" fmla="*/ 666572 h 3631963"/>
                <a:gd name="connsiteX46" fmla="*/ 10135312 w 12152119"/>
                <a:gd name="connsiteY46" fmla="*/ 658027 h 3631963"/>
                <a:gd name="connsiteX47" fmla="*/ 10220770 w 12152119"/>
                <a:gd name="connsiteY47" fmla="*/ 632389 h 3631963"/>
                <a:gd name="connsiteX48" fmla="*/ 10272044 w 12152119"/>
                <a:gd name="connsiteY48" fmla="*/ 615298 h 3631963"/>
                <a:gd name="connsiteX49" fmla="*/ 10306228 w 12152119"/>
                <a:gd name="connsiteY49" fmla="*/ 606752 h 3631963"/>
                <a:gd name="connsiteX50" fmla="*/ 10348957 w 12152119"/>
                <a:gd name="connsiteY50" fmla="*/ 589660 h 3631963"/>
                <a:gd name="connsiteX51" fmla="*/ 10468598 w 12152119"/>
                <a:gd name="connsiteY51" fmla="*/ 564023 h 3631963"/>
                <a:gd name="connsiteX52" fmla="*/ 10545510 w 12152119"/>
                <a:gd name="connsiteY52" fmla="*/ 538386 h 3631963"/>
                <a:gd name="connsiteX53" fmla="*/ 10622422 w 12152119"/>
                <a:gd name="connsiteY53" fmla="*/ 512748 h 3631963"/>
                <a:gd name="connsiteX54" fmla="*/ 10648059 w 12152119"/>
                <a:gd name="connsiteY54" fmla="*/ 487111 h 3631963"/>
                <a:gd name="connsiteX55" fmla="*/ 10682243 w 12152119"/>
                <a:gd name="connsiteY55" fmla="*/ 478565 h 3631963"/>
                <a:gd name="connsiteX56" fmla="*/ 10716426 w 12152119"/>
                <a:gd name="connsiteY56" fmla="*/ 461473 h 3631963"/>
                <a:gd name="connsiteX57" fmla="*/ 10759155 w 12152119"/>
                <a:gd name="connsiteY57" fmla="*/ 444382 h 3631963"/>
                <a:gd name="connsiteX58" fmla="*/ 10784792 w 12152119"/>
                <a:gd name="connsiteY58" fmla="*/ 427290 h 3631963"/>
                <a:gd name="connsiteX59" fmla="*/ 10810430 w 12152119"/>
                <a:gd name="connsiteY59" fmla="*/ 418744 h 3631963"/>
                <a:gd name="connsiteX60" fmla="*/ 10853159 w 12152119"/>
                <a:gd name="connsiteY60" fmla="*/ 401653 h 3631963"/>
                <a:gd name="connsiteX61" fmla="*/ 10938616 w 12152119"/>
                <a:gd name="connsiteY61" fmla="*/ 376015 h 3631963"/>
                <a:gd name="connsiteX62" fmla="*/ 10964254 w 12152119"/>
                <a:gd name="connsiteY62" fmla="*/ 358924 h 3631963"/>
                <a:gd name="connsiteX63" fmla="*/ 11024074 w 12152119"/>
                <a:gd name="connsiteY63" fmla="*/ 341832 h 3631963"/>
                <a:gd name="connsiteX64" fmla="*/ 11049712 w 12152119"/>
                <a:gd name="connsiteY64" fmla="*/ 333286 h 3631963"/>
                <a:gd name="connsiteX65" fmla="*/ 11075349 w 12152119"/>
                <a:gd name="connsiteY65" fmla="*/ 316195 h 3631963"/>
                <a:gd name="connsiteX66" fmla="*/ 11135170 w 12152119"/>
                <a:gd name="connsiteY66" fmla="*/ 299103 h 3631963"/>
                <a:gd name="connsiteX67" fmla="*/ 11169353 w 12152119"/>
                <a:gd name="connsiteY67" fmla="*/ 282012 h 3631963"/>
                <a:gd name="connsiteX68" fmla="*/ 11263357 w 12152119"/>
                <a:gd name="connsiteY68" fmla="*/ 247829 h 3631963"/>
                <a:gd name="connsiteX69" fmla="*/ 11331723 w 12152119"/>
                <a:gd name="connsiteY69" fmla="*/ 213645 h 3631963"/>
                <a:gd name="connsiteX70" fmla="*/ 11400089 w 12152119"/>
                <a:gd name="connsiteY70" fmla="*/ 179462 h 3631963"/>
                <a:gd name="connsiteX71" fmla="*/ 11434273 w 12152119"/>
                <a:gd name="connsiteY71" fmla="*/ 162371 h 3631963"/>
                <a:gd name="connsiteX72" fmla="*/ 11468456 w 12152119"/>
                <a:gd name="connsiteY72" fmla="*/ 145279 h 3631963"/>
                <a:gd name="connsiteX73" fmla="*/ 11528276 w 12152119"/>
                <a:gd name="connsiteY73" fmla="*/ 128187 h 3631963"/>
                <a:gd name="connsiteX74" fmla="*/ 11571005 w 12152119"/>
                <a:gd name="connsiteY74" fmla="*/ 111096 h 3631963"/>
                <a:gd name="connsiteX75" fmla="*/ 11605188 w 12152119"/>
                <a:gd name="connsiteY75" fmla="*/ 102550 h 3631963"/>
                <a:gd name="connsiteX76" fmla="*/ 11682101 w 12152119"/>
                <a:gd name="connsiteY76" fmla="*/ 76913 h 3631963"/>
                <a:gd name="connsiteX77" fmla="*/ 11818833 w 12152119"/>
                <a:gd name="connsiteY77" fmla="*/ 34184 h 3631963"/>
                <a:gd name="connsiteX78" fmla="*/ 11955566 w 12152119"/>
                <a:gd name="connsiteY78" fmla="*/ 0 h 3631963"/>
                <a:gd name="connsiteX79" fmla="*/ 12075207 w 12152119"/>
                <a:gd name="connsiteY79" fmla="*/ 51275 h 3631963"/>
                <a:gd name="connsiteX80" fmla="*/ 12117936 w 12152119"/>
                <a:gd name="connsiteY80" fmla="*/ 145279 h 3631963"/>
                <a:gd name="connsiteX81" fmla="*/ 12152119 w 12152119"/>
                <a:gd name="connsiteY81" fmla="*/ 341832 h 3631963"/>
                <a:gd name="connsiteX82" fmla="*/ 12135028 w 12152119"/>
                <a:gd name="connsiteY82" fmla="*/ 974221 h 3631963"/>
                <a:gd name="connsiteX83" fmla="*/ 12100844 w 12152119"/>
                <a:gd name="connsiteY83" fmla="*/ 1213503 h 3631963"/>
                <a:gd name="connsiteX84" fmla="*/ 11955566 w 12152119"/>
                <a:gd name="connsiteY84" fmla="*/ 1888621 h 3631963"/>
                <a:gd name="connsiteX85" fmla="*/ 11947020 w 12152119"/>
                <a:gd name="connsiteY85" fmla="*/ 2367186 h 3631963"/>
                <a:gd name="connsiteX86" fmla="*/ 11989749 w 12152119"/>
                <a:gd name="connsiteY86" fmla="*/ 2572285 h 3631963"/>
                <a:gd name="connsiteX87" fmla="*/ 12006841 w 12152119"/>
                <a:gd name="connsiteY87" fmla="*/ 2777384 h 3631963"/>
                <a:gd name="connsiteX88" fmla="*/ 12049570 w 12152119"/>
                <a:gd name="connsiteY88" fmla="*/ 3127761 h 3631963"/>
                <a:gd name="connsiteX89" fmla="*/ 11981203 w 12152119"/>
                <a:gd name="connsiteY89" fmla="*/ 3537959 h 3631963"/>
                <a:gd name="connsiteX90" fmla="*/ 11895745 w 12152119"/>
                <a:gd name="connsiteY90" fmla="*/ 3597780 h 3631963"/>
                <a:gd name="connsiteX91" fmla="*/ 11741921 w 12152119"/>
                <a:gd name="connsiteY91" fmla="*/ 3631963 h 3631963"/>
                <a:gd name="connsiteX92" fmla="*/ 10998437 w 12152119"/>
                <a:gd name="connsiteY92" fmla="*/ 3572143 h 3631963"/>
                <a:gd name="connsiteX93" fmla="*/ 10571147 w 12152119"/>
                <a:gd name="connsiteY93" fmla="*/ 3546505 h 3631963"/>
                <a:gd name="connsiteX94" fmla="*/ 9990033 w 12152119"/>
                <a:gd name="connsiteY94" fmla="*/ 3478139 h 3631963"/>
                <a:gd name="connsiteX95" fmla="*/ 9836209 w 12152119"/>
                <a:gd name="connsiteY95" fmla="*/ 3461047 h 3631963"/>
                <a:gd name="connsiteX96" fmla="*/ 8998721 w 12152119"/>
                <a:gd name="connsiteY96" fmla="*/ 3469593 h 3631963"/>
                <a:gd name="connsiteX97" fmla="*/ 8545794 w 12152119"/>
                <a:gd name="connsiteY97" fmla="*/ 3503776 h 3631963"/>
                <a:gd name="connsiteX98" fmla="*/ 8024501 w 12152119"/>
                <a:gd name="connsiteY98" fmla="*/ 3537959 h 3631963"/>
                <a:gd name="connsiteX99" fmla="*/ 6520441 w 12152119"/>
                <a:gd name="connsiteY99" fmla="*/ 3529414 h 3631963"/>
                <a:gd name="connsiteX100" fmla="*/ 6058968 w 12152119"/>
                <a:gd name="connsiteY100" fmla="*/ 3520868 h 3631963"/>
                <a:gd name="connsiteX101" fmla="*/ 4879648 w 12152119"/>
                <a:gd name="connsiteY101" fmla="*/ 3529414 h 3631963"/>
                <a:gd name="connsiteX102" fmla="*/ 4520725 w 12152119"/>
                <a:gd name="connsiteY102" fmla="*/ 3555051 h 3631963"/>
                <a:gd name="connsiteX103" fmla="*/ 3725966 w 12152119"/>
                <a:gd name="connsiteY103" fmla="*/ 3580688 h 3631963"/>
                <a:gd name="connsiteX104" fmla="*/ 2512463 w 12152119"/>
                <a:gd name="connsiteY104" fmla="*/ 3606326 h 3631963"/>
                <a:gd name="connsiteX105" fmla="*/ 1640792 w 12152119"/>
                <a:gd name="connsiteY105" fmla="*/ 3614872 h 3631963"/>
                <a:gd name="connsiteX106" fmla="*/ 914400 w 12152119"/>
                <a:gd name="connsiteY106" fmla="*/ 3589234 h 3631963"/>
                <a:gd name="connsiteX107" fmla="*/ 769121 w 12152119"/>
                <a:gd name="connsiteY107" fmla="*/ 3580688 h 3631963"/>
                <a:gd name="connsiteX108" fmla="*/ 376015 w 12152119"/>
                <a:gd name="connsiteY108" fmla="*/ 3512322 h 3631963"/>
                <a:gd name="connsiteX109" fmla="*/ 324740 w 12152119"/>
                <a:gd name="connsiteY109" fmla="*/ 3503776 h 3631963"/>
                <a:gd name="connsiteX110" fmla="*/ 153824 w 12152119"/>
                <a:gd name="connsiteY110" fmla="*/ 3435410 h 3631963"/>
                <a:gd name="connsiteX111" fmla="*/ 94003 w 12152119"/>
                <a:gd name="connsiteY111" fmla="*/ 3384135 h 3631963"/>
                <a:gd name="connsiteX112" fmla="*/ 42729 w 12152119"/>
                <a:gd name="connsiteY112" fmla="*/ 3341406 h 3631963"/>
                <a:gd name="connsiteX113" fmla="*/ 0 w 12152119"/>
                <a:gd name="connsiteY113" fmla="*/ 3281586 h 3631963"/>
                <a:gd name="connsiteX114" fmla="*/ 8545 w 12152119"/>
                <a:gd name="connsiteY114" fmla="*/ 3255948 h 3631963"/>
                <a:gd name="connsiteX115" fmla="*/ 68366 w 12152119"/>
                <a:gd name="connsiteY115" fmla="*/ 3230311 h 3631963"/>
                <a:gd name="connsiteX116" fmla="*/ 68366 w 12152119"/>
                <a:gd name="connsiteY116" fmla="*/ 3221765 h 363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2152119" h="3631963">
                  <a:moveTo>
                    <a:pt x="68366" y="3221765"/>
                  </a:moveTo>
                  <a:cubicBezTo>
                    <a:pt x="79760" y="3216068"/>
                    <a:pt x="114400" y="3205805"/>
                    <a:pt x="136732" y="3196128"/>
                  </a:cubicBezTo>
                  <a:cubicBezTo>
                    <a:pt x="199896" y="3168757"/>
                    <a:pt x="260754" y="3136061"/>
                    <a:pt x="324740" y="3110670"/>
                  </a:cubicBezTo>
                  <a:cubicBezTo>
                    <a:pt x="599166" y="3001771"/>
                    <a:pt x="926692" y="2896004"/>
                    <a:pt x="1204957" y="2820113"/>
                  </a:cubicBezTo>
                  <a:cubicBezTo>
                    <a:pt x="1267626" y="2803021"/>
                    <a:pt x="1329876" y="2784312"/>
                    <a:pt x="1392964" y="2768838"/>
                  </a:cubicBezTo>
                  <a:cubicBezTo>
                    <a:pt x="1421003" y="2761960"/>
                    <a:pt x="1842552" y="2667476"/>
                    <a:pt x="1888620" y="2657743"/>
                  </a:cubicBezTo>
                  <a:cubicBezTo>
                    <a:pt x="2013791" y="2631298"/>
                    <a:pt x="2137987" y="2598922"/>
                    <a:pt x="2264635" y="2580830"/>
                  </a:cubicBezTo>
                  <a:cubicBezTo>
                    <a:pt x="2439361" y="2555869"/>
                    <a:pt x="2791313" y="2509562"/>
                    <a:pt x="2982482" y="2469735"/>
                  </a:cubicBezTo>
                  <a:cubicBezTo>
                    <a:pt x="3157017" y="2433374"/>
                    <a:pt x="3331340" y="2395380"/>
                    <a:pt x="3503775" y="2350094"/>
                  </a:cubicBezTo>
                  <a:cubicBezTo>
                    <a:pt x="3613568" y="2321259"/>
                    <a:pt x="3719677" y="2279793"/>
                    <a:pt x="3828516" y="2247544"/>
                  </a:cubicBezTo>
                  <a:cubicBezTo>
                    <a:pt x="3873560" y="2234197"/>
                    <a:pt x="3920076" y="2226267"/>
                    <a:pt x="3965248" y="2213361"/>
                  </a:cubicBezTo>
                  <a:cubicBezTo>
                    <a:pt x="4019822" y="2197768"/>
                    <a:pt x="4072729" y="2176531"/>
                    <a:pt x="4127618" y="2162086"/>
                  </a:cubicBezTo>
                  <a:cubicBezTo>
                    <a:pt x="4181107" y="2148010"/>
                    <a:pt x="4235691" y="2138438"/>
                    <a:pt x="4289988" y="2127903"/>
                  </a:cubicBezTo>
                  <a:cubicBezTo>
                    <a:pt x="4496570" y="2087820"/>
                    <a:pt x="4740993" y="2036707"/>
                    <a:pt x="4956560" y="2016808"/>
                  </a:cubicBezTo>
                  <a:cubicBezTo>
                    <a:pt x="5056001" y="2007629"/>
                    <a:pt x="5155962" y="2005413"/>
                    <a:pt x="5255663" y="1999716"/>
                  </a:cubicBezTo>
                  <a:cubicBezTo>
                    <a:pt x="5485868" y="1966830"/>
                    <a:pt x="5616631" y="1954922"/>
                    <a:pt x="5828231" y="1905713"/>
                  </a:cubicBezTo>
                  <a:cubicBezTo>
                    <a:pt x="5880064" y="1893659"/>
                    <a:pt x="5929564" y="1871733"/>
                    <a:pt x="5982056" y="1862984"/>
                  </a:cubicBezTo>
                  <a:lnTo>
                    <a:pt x="6187155" y="1828800"/>
                  </a:lnTo>
                  <a:cubicBezTo>
                    <a:pt x="6246865" y="1819512"/>
                    <a:pt x="6307470" y="1815542"/>
                    <a:pt x="6366616" y="1803163"/>
                  </a:cubicBezTo>
                  <a:cubicBezTo>
                    <a:pt x="6751009" y="1722709"/>
                    <a:pt x="6365577" y="1770792"/>
                    <a:pt x="6725540" y="1734797"/>
                  </a:cubicBezTo>
                  <a:lnTo>
                    <a:pt x="7084463" y="1649339"/>
                  </a:lnTo>
                  <a:cubicBezTo>
                    <a:pt x="7135614" y="1637404"/>
                    <a:pt x="7188248" y="1631126"/>
                    <a:pt x="7238287" y="1615156"/>
                  </a:cubicBezTo>
                  <a:cubicBezTo>
                    <a:pt x="7486953" y="1535795"/>
                    <a:pt x="7572243" y="1540646"/>
                    <a:pt x="7742489" y="1427148"/>
                  </a:cubicBezTo>
                  <a:cubicBezTo>
                    <a:pt x="7752545" y="1420444"/>
                    <a:pt x="7759581" y="1410057"/>
                    <a:pt x="7768127" y="1401511"/>
                  </a:cubicBezTo>
                  <a:cubicBezTo>
                    <a:pt x="7773824" y="1390117"/>
                    <a:pt x="7773824" y="1373025"/>
                    <a:pt x="7785218" y="1367328"/>
                  </a:cubicBezTo>
                  <a:cubicBezTo>
                    <a:pt x="7805760" y="1357057"/>
                    <a:pt x="7830776" y="1361465"/>
                    <a:pt x="7853585" y="1358782"/>
                  </a:cubicBezTo>
                  <a:cubicBezTo>
                    <a:pt x="8005158" y="1340950"/>
                    <a:pt x="7866469" y="1359429"/>
                    <a:pt x="7981772" y="1341690"/>
                  </a:cubicBezTo>
                  <a:cubicBezTo>
                    <a:pt x="8001680" y="1338627"/>
                    <a:pt x="8021929" y="1337514"/>
                    <a:pt x="8041592" y="1333144"/>
                  </a:cubicBezTo>
                  <a:cubicBezTo>
                    <a:pt x="8098919" y="1320405"/>
                    <a:pt x="8154923" y="1301932"/>
                    <a:pt x="8212508" y="1290415"/>
                  </a:cubicBezTo>
                  <a:cubicBezTo>
                    <a:pt x="8351733" y="1262571"/>
                    <a:pt x="8419698" y="1249977"/>
                    <a:pt x="8588523" y="1204957"/>
                  </a:cubicBezTo>
                  <a:cubicBezTo>
                    <a:pt x="8631252" y="1193563"/>
                    <a:pt x="8673620" y="1180718"/>
                    <a:pt x="8716710" y="1170774"/>
                  </a:cubicBezTo>
                  <a:cubicBezTo>
                    <a:pt x="8747743" y="1163613"/>
                    <a:pt x="8779961" y="1161963"/>
                    <a:pt x="8810714" y="1153683"/>
                  </a:cubicBezTo>
                  <a:cubicBezTo>
                    <a:pt x="8854206" y="1141974"/>
                    <a:pt x="8895482" y="1122932"/>
                    <a:pt x="8938901" y="1110954"/>
                  </a:cubicBezTo>
                  <a:cubicBezTo>
                    <a:pt x="8978218" y="1100108"/>
                    <a:pt x="9018801" y="1094487"/>
                    <a:pt x="9058542" y="1085316"/>
                  </a:cubicBezTo>
                  <a:cubicBezTo>
                    <a:pt x="9092875" y="1077393"/>
                    <a:pt x="9126908" y="1068225"/>
                    <a:pt x="9161091" y="1059679"/>
                  </a:cubicBezTo>
                  <a:cubicBezTo>
                    <a:pt x="9189577" y="1045436"/>
                    <a:pt x="9217732" y="1030511"/>
                    <a:pt x="9246549" y="1016950"/>
                  </a:cubicBezTo>
                  <a:cubicBezTo>
                    <a:pt x="9266178" y="1007713"/>
                    <a:pt x="9286966" y="1001015"/>
                    <a:pt x="9306370" y="991313"/>
                  </a:cubicBezTo>
                  <a:cubicBezTo>
                    <a:pt x="9332602" y="978197"/>
                    <a:pt x="9356325" y="960137"/>
                    <a:pt x="9383282" y="948584"/>
                  </a:cubicBezTo>
                  <a:cubicBezTo>
                    <a:pt x="9416401" y="934390"/>
                    <a:pt x="9452571" y="928259"/>
                    <a:pt x="9485831" y="914400"/>
                  </a:cubicBezTo>
                  <a:cubicBezTo>
                    <a:pt x="9521109" y="899701"/>
                    <a:pt x="9555198" y="882087"/>
                    <a:pt x="9588381" y="863126"/>
                  </a:cubicBezTo>
                  <a:cubicBezTo>
                    <a:pt x="9671513" y="815623"/>
                    <a:pt x="9666408" y="794481"/>
                    <a:pt x="9767843" y="769122"/>
                  </a:cubicBezTo>
                  <a:cubicBezTo>
                    <a:pt x="9813420" y="757728"/>
                    <a:pt x="9859474" y="748094"/>
                    <a:pt x="9904575" y="734939"/>
                  </a:cubicBezTo>
                  <a:cubicBezTo>
                    <a:pt x="10003759" y="706010"/>
                    <a:pt x="9941568" y="717044"/>
                    <a:pt x="9998579" y="700756"/>
                  </a:cubicBezTo>
                  <a:cubicBezTo>
                    <a:pt x="10009872" y="697529"/>
                    <a:pt x="10021765" y="696334"/>
                    <a:pt x="10032762" y="692210"/>
                  </a:cubicBezTo>
                  <a:cubicBezTo>
                    <a:pt x="10044690" y="687737"/>
                    <a:pt x="10054859" y="679147"/>
                    <a:pt x="10066945" y="675118"/>
                  </a:cubicBezTo>
                  <a:cubicBezTo>
                    <a:pt x="10080725" y="670525"/>
                    <a:pt x="10095583" y="670095"/>
                    <a:pt x="10109674" y="666572"/>
                  </a:cubicBezTo>
                  <a:cubicBezTo>
                    <a:pt x="10118413" y="664387"/>
                    <a:pt x="10126766" y="660875"/>
                    <a:pt x="10135312" y="658027"/>
                  </a:cubicBezTo>
                  <a:cubicBezTo>
                    <a:pt x="10184905" y="624964"/>
                    <a:pt x="10136668" y="651797"/>
                    <a:pt x="10220770" y="632389"/>
                  </a:cubicBezTo>
                  <a:cubicBezTo>
                    <a:pt x="10238324" y="628338"/>
                    <a:pt x="10254788" y="620475"/>
                    <a:pt x="10272044" y="615298"/>
                  </a:cubicBezTo>
                  <a:cubicBezTo>
                    <a:pt x="10283294" y="611923"/>
                    <a:pt x="10295085" y="610466"/>
                    <a:pt x="10306228" y="606752"/>
                  </a:cubicBezTo>
                  <a:cubicBezTo>
                    <a:pt x="10320781" y="601901"/>
                    <a:pt x="10334404" y="594511"/>
                    <a:pt x="10348957" y="589660"/>
                  </a:cubicBezTo>
                  <a:cubicBezTo>
                    <a:pt x="10372359" y="581859"/>
                    <a:pt x="10467996" y="564152"/>
                    <a:pt x="10468598" y="564023"/>
                  </a:cubicBezTo>
                  <a:cubicBezTo>
                    <a:pt x="10517711" y="553498"/>
                    <a:pt x="10491813" y="557564"/>
                    <a:pt x="10545510" y="538386"/>
                  </a:cubicBezTo>
                  <a:cubicBezTo>
                    <a:pt x="10570960" y="529297"/>
                    <a:pt x="10622422" y="512748"/>
                    <a:pt x="10622422" y="512748"/>
                  </a:cubicBezTo>
                  <a:cubicBezTo>
                    <a:pt x="10630968" y="504202"/>
                    <a:pt x="10637566" y="493107"/>
                    <a:pt x="10648059" y="487111"/>
                  </a:cubicBezTo>
                  <a:cubicBezTo>
                    <a:pt x="10658257" y="481284"/>
                    <a:pt x="10671246" y="482689"/>
                    <a:pt x="10682243" y="478565"/>
                  </a:cubicBezTo>
                  <a:cubicBezTo>
                    <a:pt x="10694171" y="474092"/>
                    <a:pt x="10704785" y="466647"/>
                    <a:pt x="10716426" y="461473"/>
                  </a:cubicBezTo>
                  <a:cubicBezTo>
                    <a:pt x="10730444" y="455243"/>
                    <a:pt x="10745434" y="451242"/>
                    <a:pt x="10759155" y="444382"/>
                  </a:cubicBezTo>
                  <a:cubicBezTo>
                    <a:pt x="10768341" y="439789"/>
                    <a:pt x="10775606" y="431883"/>
                    <a:pt x="10784792" y="427290"/>
                  </a:cubicBezTo>
                  <a:cubicBezTo>
                    <a:pt x="10792849" y="423261"/>
                    <a:pt x="10801995" y="421907"/>
                    <a:pt x="10810430" y="418744"/>
                  </a:cubicBezTo>
                  <a:cubicBezTo>
                    <a:pt x="10824793" y="413358"/>
                    <a:pt x="10838742" y="406895"/>
                    <a:pt x="10853159" y="401653"/>
                  </a:cubicBezTo>
                  <a:cubicBezTo>
                    <a:pt x="10898937" y="385007"/>
                    <a:pt x="10897802" y="386219"/>
                    <a:pt x="10938616" y="376015"/>
                  </a:cubicBezTo>
                  <a:cubicBezTo>
                    <a:pt x="10947162" y="370318"/>
                    <a:pt x="10955067" y="363517"/>
                    <a:pt x="10964254" y="358924"/>
                  </a:cubicBezTo>
                  <a:cubicBezTo>
                    <a:pt x="10977916" y="352093"/>
                    <a:pt x="11011294" y="345484"/>
                    <a:pt x="11024074" y="341832"/>
                  </a:cubicBezTo>
                  <a:cubicBezTo>
                    <a:pt x="11032736" y="339357"/>
                    <a:pt x="11041655" y="337315"/>
                    <a:pt x="11049712" y="333286"/>
                  </a:cubicBezTo>
                  <a:cubicBezTo>
                    <a:pt x="11058898" y="328693"/>
                    <a:pt x="11065813" y="320009"/>
                    <a:pt x="11075349" y="316195"/>
                  </a:cubicBezTo>
                  <a:cubicBezTo>
                    <a:pt x="11094604" y="308493"/>
                    <a:pt x="11115680" y="306190"/>
                    <a:pt x="11135170" y="299103"/>
                  </a:cubicBezTo>
                  <a:cubicBezTo>
                    <a:pt x="11147142" y="294750"/>
                    <a:pt x="11157525" y="286743"/>
                    <a:pt x="11169353" y="282012"/>
                  </a:cubicBezTo>
                  <a:cubicBezTo>
                    <a:pt x="11236636" y="255099"/>
                    <a:pt x="11202661" y="275843"/>
                    <a:pt x="11263357" y="247829"/>
                  </a:cubicBezTo>
                  <a:cubicBezTo>
                    <a:pt x="11286491" y="237152"/>
                    <a:pt x="11308934" y="225039"/>
                    <a:pt x="11331723" y="213645"/>
                  </a:cubicBezTo>
                  <a:lnTo>
                    <a:pt x="11400089" y="179462"/>
                  </a:lnTo>
                  <a:lnTo>
                    <a:pt x="11434273" y="162371"/>
                  </a:lnTo>
                  <a:cubicBezTo>
                    <a:pt x="11445667" y="156674"/>
                    <a:pt x="11456097" y="148369"/>
                    <a:pt x="11468456" y="145279"/>
                  </a:cubicBezTo>
                  <a:cubicBezTo>
                    <a:pt x="11495398" y="138543"/>
                    <a:pt x="11503753" y="137383"/>
                    <a:pt x="11528276" y="128187"/>
                  </a:cubicBezTo>
                  <a:cubicBezTo>
                    <a:pt x="11542639" y="122801"/>
                    <a:pt x="11556452" y="115947"/>
                    <a:pt x="11571005" y="111096"/>
                  </a:cubicBezTo>
                  <a:cubicBezTo>
                    <a:pt x="11582147" y="107382"/>
                    <a:pt x="11594046" y="106264"/>
                    <a:pt x="11605188" y="102550"/>
                  </a:cubicBezTo>
                  <a:cubicBezTo>
                    <a:pt x="11701710" y="70375"/>
                    <a:pt x="11600197" y="97387"/>
                    <a:pt x="11682101" y="76913"/>
                  </a:cubicBezTo>
                  <a:cubicBezTo>
                    <a:pt x="11789344" y="23290"/>
                    <a:pt x="11589018" y="120366"/>
                    <a:pt x="11818833" y="34184"/>
                  </a:cubicBezTo>
                  <a:cubicBezTo>
                    <a:pt x="11908704" y="482"/>
                    <a:pt x="11863049" y="11565"/>
                    <a:pt x="11955566" y="0"/>
                  </a:cubicBezTo>
                  <a:cubicBezTo>
                    <a:pt x="11995446" y="17092"/>
                    <a:pt x="12042872" y="22344"/>
                    <a:pt x="12075207" y="51275"/>
                  </a:cubicBezTo>
                  <a:cubicBezTo>
                    <a:pt x="12100858" y="74226"/>
                    <a:pt x="12107446" y="112497"/>
                    <a:pt x="12117936" y="145279"/>
                  </a:cubicBezTo>
                  <a:cubicBezTo>
                    <a:pt x="12140831" y="216828"/>
                    <a:pt x="12144221" y="270752"/>
                    <a:pt x="12152119" y="341832"/>
                  </a:cubicBezTo>
                  <a:cubicBezTo>
                    <a:pt x="12146422" y="552628"/>
                    <a:pt x="12147411" y="763712"/>
                    <a:pt x="12135028" y="974221"/>
                  </a:cubicBezTo>
                  <a:cubicBezTo>
                    <a:pt x="12130297" y="1054652"/>
                    <a:pt x="12115798" y="1134333"/>
                    <a:pt x="12100844" y="1213503"/>
                  </a:cubicBezTo>
                  <a:cubicBezTo>
                    <a:pt x="12040518" y="1532877"/>
                    <a:pt x="12014269" y="1639131"/>
                    <a:pt x="11955566" y="1888621"/>
                  </a:cubicBezTo>
                  <a:cubicBezTo>
                    <a:pt x="11930437" y="2114773"/>
                    <a:pt x="11928886" y="2064952"/>
                    <a:pt x="11947020" y="2367186"/>
                  </a:cubicBezTo>
                  <a:cubicBezTo>
                    <a:pt x="11950633" y="2427402"/>
                    <a:pt x="11975302" y="2514496"/>
                    <a:pt x="11989749" y="2572285"/>
                  </a:cubicBezTo>
                  <a:cubicBezTo>
                    <a:pt x="11994128" y="2633594"/>
                    <a:pt x="11998760" y="2714356"/>
                    <a:pt x="12006841" y="2777384"/>
                  </a:cubicBezTo>
                  <a:cubicBezTo>
                    <a:pt x="12050801" y="3120272"/>
                    <a:pt x="12032005" y="2916985"/>
                    <a:pt x="12049570" y="3127761"/>
                  </a:cubicBezTo>
                  <a:cubicBezTo>
                    <a:pt x="12043288" y="3211524"/>
                    <a:pt x="12079467" y="3439695"/>
                    <a:pt x="11981203" y="3537959"/>
                  </a:cubicBezTo>
                  <a:cubicBezTo>
                    <a:pt x="11956616" y="3562546"/>
                    <a:pt x="11928109" y="3585066"/>
                    <a:pt x="11895745" y="3597780"/>
                  </a:cubicBezTo>
                  <a:cubicBezTo>
                    <a:pt x="11846857" y="3616986"/>
                    <a:pt x="11793196" y="3620569"/>
                    <a:pt x="11741921" y="3631963"/>
                  </a:cubicBezTo>
                  <a:cubicBezTo>
                    <a:pt x="11112581" y="3614481"/>
                    <a:pt x="11786358" y="3642354"/>
                    <a:pt x="10998437" y="3572143"/>
                  </a:cubicBezTo>
                  <a:cubicBezTo>
                    <a:pt x="10856314" y="3559479"/>
                    <a:pt x="10713384" y="3557819"/>
                    <a:pt x="10571147" y="3546505"/>
                  </a:cubicBezTo>
                  <a:cubicBezTo>
                    <a:pt x="10308605" y="3525621"/>
                    <a:pt x="10237117" y="3509025"/>
                    <a:pt x="9990033" y="3478139"/>
                  </a:cubicBezTo>
                  <a:cubicBezTo>
                    <a:pt x="9938841" y="3471740"/>
                    <a:pt x="9887484" y="3466744"/>
                    <a:pt x="9836209" y="3461047"/>
                  </a:cubicBezTo>
                  <a:lnTo>
                    <a:pt x="8998721" y="3469593"/>
                  </a:lnTo>
                  <a:cubicBezTo>
                    <a:pt x="8847399" y="3474604"/>
                    <a:pt x="8696764" y="3492310"/>
                    <a:pt x="8545794" y="3503776"/>
                  </a:cubicBezTo>
                  <a:cubicBezTo>
                    <a:pt x="8207352" y="3529481"/>
                    <a:pt x="8420191" y="3515349"/>
                    <a:pt x="8024501" y="3537959"/>
                  </a:cubicBezTo>
                  <a:lnTo>
                    <a:pt x="6520441" y="3529414"/>
                  </a:lnTo>
                  <a:lnTo>
                    <a:pt x="6058968" y="3520868"/>
                  </a:lnTo>
                  <a:lnTo>
                    <a:pt x="4879648" y="3529414"/>
                  </a:lnTo>
                  <a:cubicBezTo>
                    <a:pt x="4760007" y="3537960"/>
                    <a:pt x="4640515" y="3548939"/>
                    <a:pt x="4520725" y="3555051"/>
                  </a:cubicBezTo>
                  <a:cubicBezTo>
                    <a:pt x="4354478" y="3563533"/>
                    <a:pt x="3925829" y="3576004"/>
                    <a:pt x="3725966" y="3580688"/>
                  </a:cubicBezTo>
                  <a:lnTo>
                    <a:pt x="2512463" y="3606326"/>
                  </a:lnTo>
                  <a:lnTo>
                    <a:pt x="1640792" y="3614872"/>
                  </a:lnTo>
                  <a:lnTo>
                    <a:pt x="914400" y="3589234"/>
                  </a:lnTo>
                  <a:cubicBezTo>
                    <a:pt x="865927" y="3587333"/>
                    <a:pt x="817334" y="3586045"/>
                    <a:pt x="769121" y="3580688"/>
                  </a:cubicBezTo>
                  <a:cubicBezTo>
                    <a:pt x="678541" y="3570624"/>
                    <a:pt x="447852" y="3525383"/>
                    <a:pt x="376015" y="3512322"/>
                  </a:cubicBezTo>
                  <a:cubicBezTo>
                    <a:pt x="358967" y="3509222"/>
                    <a:pt x="324740" y="3503776"/>
                    <a:pt x="324740" y="3503776"/>
                  </a:cubicBezTo>
                  <a:cubicBezTo>
                    <a:pt x="273000" y="3484962"/>
                    <a:pt x="203456" y="3462135"/>
                    <a:pt x="153824" y="3435410"/>
                  </a:cubicBezTo>
                  <a:cubicBezTo>
                    <a:pt x="123107" y="3418870"/>
                    <a:pt x="118568" y="3405970"/>
                    <a:pt x="94003" y="3384135"/>
                  </a:cubicBezTo>
                  <a:cubicBezTo>
                    <a:pt x="77375" y="3369354"/>
                    <a:pt x="58461" y="3357138"/>
                    <a:pt x="42729" y="3341406"/>
                  </a:cubicBezTo>
                  <a:cubicBezTo>
                    <a:pt x="32125" y="3330802"/>
                    <a:pt x="9707" y="3296147"/>
                    <a:pt x="0" y="3281586"/>
                  </a:cubicBezTo>
                  <a:cubicBezTo>
                    <a:pt x="2848" y="3273040"/>
                    <a:pt x="2918" y="3262982"/>
                    <a:pt x="8545" y="3255948"/>
                  </a:cubicBezTo>
                  <a:cubicBezTo>
                    <a:pt x="24929" y="3235467"/>
                    <a:pt x="45976" y="3237774"/>
                    <a:pt x="68366" y="3230311"/>
                  </a:cubicBezTo>
                  <a:cubicBezTo>
                    <a:pt x="74409" y="3228297"/>
                    <a:pt x="56972" y="3227462"/>
                    <a:pt x="68366" y="32217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: 形状 9"/>
            <p:cNvSpPr/>
            <p:nvPr/>
          </p:nvSpPr>
          <p:spPr>
            <a:xfrm rot="16200000" flipV="1">
              <a:off x="4413250" y="-3201670"/>
              <a:ext cx="3581400" cy="12407265"/>
            </a:xfrm>
            <a:custGeom>
              <a:avLst/>
              <a:gdLst>
                <a:gd name="connsiteX0" fmla="*/ 2810026 w 2810026"/>
                <a:gd name="connsiteY0" fmla="*/ 0 h 9800055"/>
                <a:gd name="connsiteX1" fmla="*/ 2737363 w 2810026"/>
                <a:gd name="connsiteY1" fmla="*/ 136747 h 9800055"/>
                <a:gd name="connsiteX2" fmla="*/ 23479 w 2810026"/>
                <a:gd name="connsiteY2" fmla="*/ 9595584 h 9800055"/>
                <a:gd name="connsiteX3" fmla="*/ 0 w 2810026"/>
                <a:gd name="connsiteY3" fmla="*/ 9800055 h 9800055"/>
                <a:gd name="connsiteX4" fmla="*/ 1573645 w 2810026"/>
                <a:gd name="connsiteY4" fmla="*/ 9800055 h 9800055"/>
                <a:gd name="connsiteX5" fmla="*/ 1538476 w 2810026"/>
                <a:gd name="connsiteY5" fmla="*/ 9610454 h 9800055"/>
                <a:gd name="connsiteX6" fmla="*/ 1516232 w 2810026"/>
                <a:gd name="connsiteY6" fmla="*/ 4688137 h 9800055"/>
                <a:gd name="connsiteX7" fmla="*/ 2694530 w 2810026"/>
                <a:gd name="connsiteY7" fmla="*/ 248668 h 9800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0026" h="9800055">
                  <a:moveTo>
                    <a:pt x="2810026" y="0"/>
                  </a:moveTo>
                  <a:lnTo>
                    <a:pt x="2737363" y="136747"/>
                  </a:lnTo>
                  <a:cubicBezTo>
                    <a:pt x="1705466" y="2149342"/>
                    <a:pt x="562729" y="5385523"/>
                    <a:pt x="23479" y="9595584"/>
                  </a:cubicBezTo>
                  <a:lnTo>
                    <a:pt x="0" y="9800055"/>
                  </a:lnTo>
                  <a:lnTo>
                    <a:pt x="1573645" y="9800055"/>
                  </a:lnTo>
                  <a:lnTo>
                    <a:pt x="1538476" y="9610454"/>
                  </a:lnTo>
                  <a:cubicBezTo>
                    <a:pt x="1298883" y="8206647"/>
                    <a:pt x="1273950" y="6500478"/>
                    <a:pt x="1516232" y="4688137"/>
                  </a:cubicBezTo>
                  <a:cubicBezTo>
                    <a:pt x="1739876" y="3015206"/>
                    <a:pt x="2159448" y="1489373"/>
                    <a:pt x="2694530" y="248668"/>
                  </a:cubicBezTo>
                  <a:close/>
                </a:path>
              </a:pathLst>
            </a:custGeom>
            <a:solidFill>
              <a:srgbClr val="65B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任意多边形: 形状 8"/>
            <p:cNvSpPr/>
            <p:nvPr/>
          </p:nvSpPr>
          <p:spPr>
            <a:xfrm rot="16200000">
              <a:off x="6742103" y="-1102375"/>
              <a:ext cx="2776456" cy="8123339"/>
            </a:xfrm>
            <a:custGeom>
              <a:avLst/>
              <a:gdLst>
                <a:gd name="connsiteX0" fmla="*/ 2776456 w 2776456"/>
                <a:gd name="connsiteY0" fmla="*/ 8123339 h 8123339"/>
                <a:gd name="connsiteX1" fmla="*/ 1957904 w 2776456"/>
                <a:gd name="connsiteY1" fmla="*/ 8123339 h 8123339"/>
                <a:gd name="connsiteX2" fmla="*/ 1868286 w 2776456"/>
                <a:gd name="connsiteY2" fmla="*/ 7892035 h 8123339"/>
                <a:gd name="connsiteX3" fmla="*/ 0 w 2776456"/>
                <a:gd name="connsiteY3" fmla="*/ 0 h 8123339"/>
                <a:gd name="connsiteX4" fmla="*/ 2772099 w 2776456"/>
                <a:gd name="connsiteY4" fmla="*/ 8115855 h 812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6456" h="8123339">
                  <a:moveTo>
                    <a:pt x="2776456" y="8123339"/>
                  </a:moveTo>
                  <a:lnTo>
                    <a:pt x="1957904" y="8123339"/>
                  </a:lnTo>
                  <a:lnTo>
                    <a:pt x="1868286" y="7892035"/>
                  </a:lnTo>
                  <a:cubicBezTo>
                    <a:pt x="981740" y="5508696"/>
                    <a:pt x="211299" y="2209782"/>
                    <a:pt x="0" y="0"/>
                  </a:cubicBezTo>
                  <a:cubicBezTo>
                    <a:pt x="229146" y="1366984"/>
                    <a:pt x="1189579" y="5244114"/>
                    <a:pt x="2772099" y="8115855"/>
                  </a:cubicBezTo>
                  <a:close/>
                </a:path>
              </a:pathLst>
            </a:custGeom>
            <a:solidFill>
              <a:srgbClr val="23A0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" name="任意多边形: 形状 6"/>
          <p:cNvSpPr/>
          <p:nvPr/>
        </p:nvSpPr>
        <p:spPr>
          <a:xfrm rot="1140000" flipH="1">
            <a:off x="-621030" y="5240655"/>
            <a:ext cx="3036570" cy="1713865"/>
          </a:xfrm>
          <a:custGeom>
            <a:avLst/>
            <a:gdLst>
              <a:gd name="connsiteX0" fmla="*/ 3677357 w 4778059"/>
              <a:gd name="connsiteY0" fmla="*/ 4217702 h 4217702"/>
              <a:gd name="connsiteX1" fmla="*/ 4778059 w 4778059"/>
              <a:gd name="connsiteY1" fmla="*/ 4217702 h 4217702"/>
              <a:gd name="connsiteX2" fmla="*/ 4778059 w 4778059"/>
              <a:gd name="connsiteY2" fmla="*/ 4045655 h 4217702"/>
              <a:gd name="connsiteX3" fmla="*/ 4585969 w 4778059"/>
              <a:gd name="connsiteY3" fmla="*/ 3971370 h 4217702"/>
              <a:gd name="connsiteX4" fmla="*/ 0 w 4778059"/>
              <a:gd name="connsiteY4" fmla="*/ 0 h 4217702"/>
              <a:gd name="connsiteX5" fmla="*/ 3635676 w 4778059"/>
              <a:gd name="connsiteY5" fmla="*/ 4193791 h 4217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78059" h="4217702">
                <a:moveTo>
                  <a:pt x="3677357" y="4217702"/>
                </a:moveTo>
                <a:lnTo>
                  <a:pt x="4778059" y="4217702"/>
                </a:lnTo>
                <a:lnTo>
                  <a:pt x="4778059" y="4045655"/>
                </a:lnTo>
                <a:lnTo>
                  <a:pt x="4585969" y="3971370"/>
                </a:lnTo>
                <a:cubicBezTo>
                  <a:pt x="2462772" y="3078523"/>
                  <a:pt x="945610" y="1369522"/>
                  <a:pt x="0" y="0"/>
                </a:cubicBezTo>
                <a:cubicBezTo>
                  <a:pt x="884776" y="1755512"/>
                  <a:pt x="2188897" y="3312815"/>
                  <a:pt x="3635676" y="4193791"/>
                </a:cubicBezTo>
                <a:close/>
              </a:path>
            </a:pathLst>
          </a:custGeom>
          <a:solidFill>
            <a:srgbClr val="23A0D6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0" name="任意多边形: 形状 1"/>
          <p:cNvSpPr/>
          <p:nvPr/>
        </p:nvSpPr>
        <p:spPr>
          <a:xfrm rot="6840000" flipH="1">
            <a:off x="-111125" y="3481705"/>
            <a:ext cx="3313430" cy="3696970"/>
          </a:xfrm>
          <a:custGeom>
            <a:avLst/>
            <a:gdLst>
              <a:gd name="connsiteX0" fmla="*/ 4941729 w 4941729"/>
              <a:gd name="connsiteY0" fmla="*/ 0 h 6197963"/>
              <a:gd name="connsiteX1" fmla="*/ 1269635 w 4941729"/>
              <a:gd name="connsiteY1" fmla="*/ 5879556 h 6197963"/>
              <a:gd name="connsiteX2" fmla="*/ 1249843 w 4941729"/>
              <a:gd name="connsiteY2" fmla="*/ 6197963 h 6197963"/>
              <a:gd name="connsiteX3" fmla="*/ 0 w 4941729"/>
              <a:gd name="connsiteY3" fmla="*/ 6197963 h 6197963"/>
              <a:gd name="connsiteX4" fmla="*/ 49904 w 4941729"/>
              <a:gd name="connsiteY4" fmla="*/ 5916364 h 6197963"/>
              <a:gd name="connsiteX5" fmla="*/ 4941729 w 4941729"/>
              <a:gd name="connsiteY5" fmla="*/ 0 h 6197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1729" h="6197963">
                <a:moveTo>
                  <a:pt x="4941729" y="0"/>
                </a:moveTo>
                <a:cubicBezTo>
                  <a:pt x="3186936" y="1017598"/>
                  <a:pt x="1512793" y="3522305"/>
                  <a:pt x="1269635" y="5879556"/>
                </a:cubicBezTo>
                <a:lnTo>
                  <a:pt x="1249843" y="6197963"/>
                </a:lnTo>
                <a:lnTo>
                  <a:pt x="0" y="6197963"/>
                </a:lnTo>
                <a:lnTo>
                  <a:pt x="49904" y="5916364"/>
                </a:lnTo>
                <a:cubicBezTo>
                  <a:pt x="538504" y="3775712"/>
                  <a:pt x="2726053" y="1130288"/>
                  <a:pt x="4941729" y="0"/>
                </a:cubicBezTo>
                <a:close/>
              </a:path>
            </a:pathLst>
          </a:custGeom>
          <a:solidFill>
            <a:srgbClr val="65B9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454525" y="4189730"/>
            <a:ext cx="7527925" cy="9220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335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动态规划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00335D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321986" y="5591958"/>
            <a:ext cx="4729018" cy="374213"/>
            <a:chOff x="10173" y="8839"/>
            <a:chExt cx="7447" cy="589"/>
          </a:xfrm>
          <a:solidFill>
            <a:srgbClr val="65B9FF"/>
          </a:solidFill>
        </p:grpSpPr>
        <p:sp>
          <p:nvSpPr>
            <p:cNvPr id="3" name="矩形: 圆角 52"/>
            <p:cNvSpPr/>
            <p:nvPr/>
          </p:nvSpPr>
          <p:spPr>
            <a:xfrm>
              <a:off x="10173" y="8839"/>
              <a:ext cx="3285" cy="58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9" name="矩形: 圆角 51"/>
            <p:cNvSpPr/>
            <p:nvPr/>
          </p:nvSpPr>
          <p:spPr>
            <a:xfrm>
              <a:off x="14335" y="8839"/>
              <a:ext cx="3285" cy="58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0" name="文本框 8"/>
            <p:cNvSpPr txBox="1"/>
            <p:nvPr/>
          </p:nvSpPr>
          <p:spPr>
            <a:xfrm>
              <a:off x="10388" y="8852"/>
              <a:ext cx="2856" cy="5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汇报人：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fangcy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1" name="文本框 7"/>
            <p:cNvSpPr txBox="1"/>
            <p:nvPr/>
          </p:nvSpPr>
          <p:spPr>
            <a:xfrm>
              <a:off x="14486" y="8852"/>
              <a:ext cx="2856" cy="5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时间：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2025.5.5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3172514" cy="1411605"/>
            <a:chOff x="0" y="0"/>
            <a:chExt cx="4996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99" y="688"/>
              <a:ext cx="3597" cy="1014"/>
              <a:chOff x="120866" y="312371"/>
              <a:chExt cx="2284239" cy="643702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6015" y="331421"/>
                <a:ext cx="1209090" cy="533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01</a:t>
                </a: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背包</a:t>
                </a:r>
                <a:endParaRPr lang="zh-CN" sz="2400" b="1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20866" y="312371"/>
                <a:ext cx="777777" cy="6437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01.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113155" y="1217295"/>
            <a:ext cx="10276840" cy="4363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sz="2400"/>
              <a:t>现在你有一个背包，背包最多能装下</a:t>
            </a:r>
            <a:r>
              <a:rPr lang="en-US" altLang="zh-CN" sz="2400"/>
              <a:t>m</a:t>
            </a:r>
            <a:r>
              <a:rPr lang="zh-CN" altLang="en-US" sz="2400"/>
              <a:t>的重量。给定</a:t>
            </a:r>
            <a:r>
              <a:rPr lang="en-US" altLang="zh-CN" sz="2400"/>
              <a:t>n</a:t>
            </a:r>
            <a:r>
              <a:rPr lang="zh-CN" altLang="en-US" sz="2400"/>
              <a:t>个物品，每个物品的重量为</a:t>
            </a:r>
            <a:r>
              <a:rPr lang="en-US" altLang="zh-CN" sz="2400"/>
              <a:t>wi</a:t>
            </a:r>
            <a:r>
              <a:rPr lang="zh-CN" altLang="en-US" sz="2400"/>
              <a:t>，价值为</a:t>
            </a:r>
            <a:r>
              <a:rPr lang="en-US" altLang="zh-CN" sz="2400"/>
              <a:t>vi</a:t>
            </a:r>
            <a:endParaRPr lang="en-US" altLang="zh-CN" sz="2400"/>
          </a:p>
          <a:p>
            <a:pPr indent="457200"/>
            <a:r>
              <a:rPr lang="zh-CN" altLang="en-US" sz="2400"/>
              <a:t>求最多能装下价值为多少的物品？时间复杂度要求</a:t>
            </a:r>
            <a:r>
              <a:rPr lang="en-US" altLang="zh-CN" sz="2400"/>
              <a:t>O(nm)</a:t>
            </a:r>
            <a:endParaRPr lang="zh-CN" altLang="en-US" sz="2400"/>
          </a:p>
          <a:p>
            <a:pPr indent="457200"/>
            <a:endParaRPr lang="zh-CN" altLang="en-US" sz="2400"/>
          </a:p>
          <a:p>
            <a:pPr indent="457200"/>
            <a:r>
              <a:rPr lang="zh-CN" altLang="en-US" sz="2400"/>
              <a:t>洛谷</a:t>
            </a:r>
            <a:r>
              <a:rPr lang="en-US" altLang="zh-CN" sz="2400"/>
              <a:t>P1048</a:t>
            </a:r>
            <a:endParaRPr lang="zh-CN" altLang="en-US" sz="2400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3172514" cy="1411605"/>
            <a:chOff x="0" y="0"/>
            <a:chExt cx="4996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99" y="688"/>
              <a:ext cx="3597" cy="1014"/>
              <a:chOff x="120866" y="312371"/>
              <a:chExt cx="2284239" cy="643702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6015" y="331421"/>
                <a:ext cx="1209090" cy="533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01</a:t>
                </a: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背包</a:t>
                </a:r>
                <a:endParaRPr lang="zh-CN" sz="2400" b="1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20866" y="312371"/>
                <a:ext cx="777777" cy="6437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01.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113155" y="1217295"/>
            <a:ext cx="10276840" cy="4363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2400"/>
              <a:t>设</a:t>
            </a:r>
            <a:r>
              <a:rPr lang="en-US" altLang="zh-CN" sz="2400"/>
              <a:t>f[i,j]</a:t>
            </a:r>
            <a:r>
              <a:rPr lang="zh-CN" altLang="en-US" sz="2400"/>
              <a:t>表示考虑了前</a:t>
            </a:r>
            <a:r>
              <a:rPr lang="en-US" altLang="zh-CN" sz="2400"/>
              <a:t>i</a:t>
            </a:r>
            <a:r>
              <a:rPr lang="zh-CN" altLang="en-US" sz="2400"/>
              <a:t>个物品，装了</a:t>
            </a:r>
            <a:r>
              <a:rPr lang="en-US" altLang="zh-CN" sz="2400"/>
              <a:t>j</a:t>
            </a:r>
            <a:r>
              <a:rPr lang="zh-CN" altLang="en-US" sz="2400"/>
              <a:t>重量物品的最大价值。</a:t>
            </a:r>
            <a:endParaRPr lang="zh-CN" altLang="en-US" sz="2400"/>
          </a:p>
          <a:p>
            <a:endParaRPr lang="zh-CN" altLang="en-US" sz="2400"/>
          </a:p>
          <a:p>
            <a:r>
              <a:rPr lang="en-US" altLang="zh-CN" sz="2400"/>
              <a:t>f[i,j]=max{f[i-1,j],f[i-1,j-wi]+vi}</a:t>
            </a:r>
            <a:endParaRPr lang="en-US" altLang="zh-CN" sz="2400"/>
          </a:p>
          <a:p>
            <a:endParaRPr lang="en-US" altLang="zh-CN" sz="2400"/>
          </a:p>
          <a:p>
            <a:r>
              <a:rPr lang="zh-CN" altLang="en-US" sz="2400"/>
              <a:t>分别表示，装了这个物品或者不装这个物品。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555" y="3251200"/>
            <a:ext cx="4090035" cy="3409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3172514" cy="1411605"/>
            <a:chOff x="0" y="0"/>
            <a:chExt cx="4996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99" y="688"/>
              <a:ext cx="3597" cy="1014"/>
              <a:chOff x="120866" y="312371"/>
              <a:chExt cx="2284239" cy="643702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6015" y="331421"/>
                <a:ext cx="1209090" cy="533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01</a:t>
                </a: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背包</a:t>
                </a:r>
                <a:endParaRPr lang="zh-CN" sz="2400" b="1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20866" y="312371"/>
                <a:ext cx="777777" cy="6437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01.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113155" y="1217295"/>
            <a:ext cx="10276840" cy="4363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为了优化空间复杂度，注意到第</a:t>
            </a:r>
            <a:r>
              <a:rPr lang="en-US" altLang="zh-CN" sz="2000"/>
              <a:t>i</a:t>
            </a:r>
            <a:r>
              <a:rPr lang="zh-CN" altLang="en-US" sz="2000"/>
              <a:t>个物品的</a:t>
            </a:r>
            <a:r>
              <a:rPr lang="en-US" altLang="zh-CN" sz="2000"/>
              <a:t>f</a:t>
            </a:r>
            <a:r>
              <a:rPr lang="zh-CN" altLang="en-US" sz="2000"/>
              <a:t>数组只和第</a:t>
            </a:r>
            <a:r>
              <a:rPr lang="en-US" altLang="zh-CN" sz="2000"/>
              <a:t>i-1</a:t>
            </a:r>
            <a:r>
              <a:rPr lang="zh-CN" altLang="en-US" sz="2000"/>
              <a:t>个物品有关，我们可以只记录上一层的信息。使用滚动数组。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555" y="2062480"/>
            <a:ext cx="5598160" cy="42335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3172514" cy="1411605"/>
            <a:chOff x="0" y="0"/>
            <a:chExt cx="4996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99" y="688"/>
              <a:ext cx="3597" cy="1014"/>
              <a:chOff x="120866" y="312371"/>
              <a:chExt cx="2284239" cy="643702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6015" y="331421"/>
                <a:ext cx="1209090" cy="533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01</a:t>
                </a: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背包</a:t>
                </a:r>
                <a:endParaRPr lang="zh-CN" sz="2400" b="1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20866" y="312371"/>
                <a:ext cx="777777" cy="6437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01.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113155" y="1217295"/>
            <a:ext cx="10276840" cy="4363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2000"/>
              <a:t>可不可以只开一维数组？从大到小枚举重量，这样更新</a:t>
            </a:r>
            <a:r>
              <a:rPr lang="en-US" altLang="zh-CN" sz="2000"/>
              <a:t>j</a:t>
            </a:r>
            <a:r>
              <a:rPr lang="zh-CN" altLang="en-US" sz="2000"/>
              <a:t>时，</a:t>
            </a:r>
            <a:r>
              <a:rPr lang="en-US" altLang="zh-CN" sz="2000"/>
              <a:t>j-w</a:t>
            </a:r>
            <a:r>
              <a:rPr lang="zh-CN" altLang="en-US" sz="2000"/>
              <a:t>还没有更新过，</a:t>
            </a:r>
            <a:r>
              <a:rPr lang="en-US" altLang="zh-CN" sz="2000"/>
              <a:t>f[j-w]</a:t>
            </a:r>
            <a:r>
              <a:rPr lang="zh-CN" altLang="en-US" sz="2000"/>
              <a:t>的值是只考虑前</a:t>
            </a:r>
            <a:r>
              <a:rPr lang="en-US" altLang="zh-CN" sz="2000"/>
              <a:t>i-1</a:t>
            </a:r>
            <a:r>
              <a:rPr lang="zh-CN" altLang="en-US" sz="2000"/>
              <a:t>个物品的值，确保了每个物品只考虑一次。</a:t>
            </a:r>
            <a:endParaRPr lang="zh-CN" sz="2000"/>
          </a:p>
          <a:p>
            <a:endParaRPr lang="en-US" altLang="zh-CN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555" y="2254885"/>
            <a:ext cx="5494655" cy="4178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4171264" cy="1411605"/>
            <a:chOff x="0" y="0"/>
            <a:chExt cx="6569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83" y="688"/>
              <a:ext cx="5186" cy="1074"/>
              <a:chOff x="110639" y="312371"/>
              <a:chExt cx="3293262" cy="681791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5904" y="331415"/>
                <a:ext cx="2207997" cy="53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多重背包</a:t>
                </a:r>
                <a:endParaRPr lang="zh-CN" sz="2400" b="1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0639" y="312371"/>
                <a:ext cx="798232" cy="681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02.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113155" y="1217295"/>
            <a:ext cx="10276840" cy="4363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sz="3200">
                <a:sym typeface="+mn-ea"/>
              </a:rPr>
              <a:t>现在你有一个背包，背包最多能装下</a:t>
            </a:r>
            <a:r>
              <a:rPr lang="en-US" altLang="zh-CN" sz="3200">
                <a:sym typeface="+mn-ea"/>
              </a:rPr>
              <a:t>m</a:t>
            </a:r>
            <a:r>
              <a:rPr lang="zh-CN" altLang="en-US" sz="3200">
                <a:sym typeface="+mn-ea"/>
              </a:rPr>
              <a:t>的重量。给定</a:t>
            </a:r>
            <a:r>
              <a:rPr lang="en-US" altLang="zh-CN" sz="3200">
                <a:sym typeface="+mn-ea"/>
              </a:rPr>
              <a:t>n</a:t>
            </a:r>
            <a:r>
              <a:rPr lang="zh-CN" altLang="en-US" sz="3200">
                <a:solidFill>
                  <a:srgbClr val="FF0000"/>
                </a:solidFill>
                <a:sym typeface="+mn-ea"/>
              </a:rPr>
              <a:t>种</a:t>
            </a:r>
            <a:r>
              <a:rPr lang="zh-CN" altLang="en-US" sz="3200">
                <a:sym typeface="+mn-ea"/>
              </a:rPr>
              <a:t>物品，每</a:t>
            </a:r>
            <a:r>
              <a:rPr lang="zh-CN" altLang="en-US" sz="3200">
                <a:solidFill>
                  <a:srgbClr val="FF0000"/>
                </a:solidFill>
                <a:sym typeface="+mn-ea"/>
              </a:rPr>
              <a:t>种</a:t>
            </a:r>
            <a:r>
              <a:rPr lang="zh-CN" altLang="en-US" sz="3200">
                <a:sym typeface="+mn-ea"/>
              </a:rPr>
              <a:t>物品的重量为</a:t>
            </a:r>
            <a:r>
              <a:rPr lang="en-US" altLang="zh-CN" sz="3200">
                <a:sym typeface="+mn-ea"/>
              </a:rPr>
              <a:t>wi</a:t>
            </a:r>
            <a:r>
              <a:rPr lang="zh-CN" altLang="en-US" sz="3200">
                <a:sym typeface="+mn-ea"/>
              </a:rPr>
              <a:t>，价值为</a:t>
            </a:r>
            <a:r>
              <a:rPr lang="en-US" altLang="zh-CN" sz="3200">
                <a:sym typeface="+mn-ea"/>
              </a:rPr>
              <a:t>vi</a:t>
            </a:r>
            <a:endParaRPr lang="en-US" altLang="zh-CN" sz="3200">
              <a:sym typeface="+mn-ea"/>
            </a:endParaRPr>
          </a:p>
          <a:p>
            <a:pPr indent="457200"/>
            <a:r>
              <a:rPr lang="zh-CN" altLang="en-US" sz="3200">
                <a:solidFill>
                  <a:schemeClr val="tx1"/>
                </a:solidFill>
                <a:sym typeface="+mn-ea"/>
              </a:rPr>
              <a:t>每种物品可以取</a:t>
            </a:r>
            <a:r>
              <a:rPr lang="zh-CN" altLang="en-US" sz="3200">
                <a:solidFill>
                  <a:srgbClr val="FF0000"/>
                </a:solidFill>
                <a:sym typeface="+mn-ea"/>
              </a:rPr>
              <a:t>任意多个</a:t>
            </a:r>
            <a:endParaRPr lang="en-US" altLang="zh-CN" sz="3200">
              <a:solidFill>
                <a:srgbClr val="FF0000"/>
              </a:solidFill>
            </a:endParaRPr>
          </a:p>
          <a:p>
            <a:pPr indent="457200"/>
            <a:r>
              <a:rPr lang="zh-CN" altLang="en-US" sz="3200">
                <a:sym typeface="+mn-ea"/>
              </a:rPr>
              <a:t>求最多能装下价值为多少的物品？时间复杂度要求</a:t>
            </a:r>
            <a:r>
              <a:rPr lang="en-US" altLang="zh-CN" sz="3200">
                <a:sym typeface="+mn-ea"/>
              </a:rPr>
              <a:t>O(nm)</a:t>
            </a:r>
            <a:endParaRPr lang="zh-CN" altLang="en-US" sz="3200"/>
          </a:p>
          <a:p>
            <a:pPr indent="457200"/>
            <a:endParaRPr lang="zh-CN" altLang="en-US" sz="3200"/>
          </a:p>
          <a:p>
            <a:pPr indent="457200"/>
            <a:r>
              <a:rPr lang="zh-CN" altLang="en-US" sz="3200">
                <a:sym typeface="+mn-ea"/>
              </a:rPr>
              <a:t>洛谷</a:t>
            </a:r>
            <a:r>
              <a:rPr lang="en-US" altLang="zh-CN" sz="3200"/>
              <a:t>P1616</a:t>
            </a:r>
            <a:endParaRPr lang="en-US" altLang="zh-CN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4171264" cy="1411605"/>
            <a:chOff x="0" y="0"/>
            <a:chExt cx="6569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83" y="688"/>
              <a:ext cx="5186" cy="1074"/>
              <a:chOff x="110639" y="312371"/>
              <a:chExt cx="3293262" cy="681791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5904" y="331415"/>
                <a:ext cx="2207997" cy="53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多重背包</a:t>
                </a:r>
                <a:endParaRPr lang="zh-CN" sz="2400" b="1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0639" y="312371"/>
                <a:ext cx="798232" cy="681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02.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113155" y="1217295"/>
            <a:ext cx="10276840" cy="4363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sz="2000"/>
              <a:t>在</a:t>
            </a:r>
            <a:r>
              <a:rPr lang="en-US" altLang="zh-CN" sz="2000"/>
              <a:t>01</a:t>
            </a:r>
            <a:r>
              <a:rPr lang="zh-CN" altLang="en-US" sz="2000"/>
              <a:t>背包的基础上，我们只需要修改一行，将重量从小到大枚举。这样考虑</a:t>
            </a:r>
            <a:r>
              <a:rPr lang="en-US" altLang="zh-CN" sz="2000"/>
              <a:t>j</a:t>
            </a:r>
            <a:r>
              <a:rPr lang="zh-CN" altLang="en-US" sz="2000"/>
              <a:t>时，</a:t>
            </a:r>
            <a:r>
              <a:rPr lang="en-US" altLang="zh-CN" sz="2000"/>
              <a:t>j-w</a:t>
            </a:r>
            <a:r>
              <a:rPr lang="zh-CN" altLang="en-US" sz="2000"/>
              <a:t>已经更新过，已经考虑了第</a:t>
            </a:r>
            <a:r>
              <a:rPr lang="en-US" altLang="zh-CN" sz="2000"/>
              <a:t>i</a:t>
            </a:r>
            <a:r>
              <a:rPr lang="zh-CN" altLang="en-US" sz="2000"/>
              <a:t>个物品，也就是说，每个物品会重复被取到。</a:t>
            </a:r>
            <a:endParaRPr lang="zh-CN" altLang="en-US" sz="2000"/>
          </a:p>
          <a:p>
            <a:pPr indent="457200"/>
            <a:endParaRPr lang="zh-CN" altLang="en-US" sz="2000"/>
          </a:p>
          <a:p>
            <a:pPr indent="457200"/>
            <a:endParaRPr lang="en-US" altLang="zh-CN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4135" y="2251075"/>
            <a:ext cx="5337175" cy="3947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4171264" cy="1411605"/>
            <a:chOff x="0" y="0"/>
            <a:chExt cx="6569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83" y="688"/>
              <a:ext cx="5186" cy="1074"/>
              <a:chOff x="110635" y="312371"/>
              <a:chExt cx="3293266" cy="681791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5904" y="331415"/>
                <a:ext cx="2207997" cy="53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区间动态规划</a:t>
                </a:r>
                <a:endParaRPr lang="zh-CN" sz="2400" b="1" kern="0" spc="80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0635" y="312371"/>
                <a:ext cx="798242" cy="681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03.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113155" y="1217295"/>
            <a:ext cx="10276840" cy="4363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endParaRPr lang="zh-CN" altLang="en-US" sz="2000"/>
          </a:p>
          <a:p>
            <a:pPr indent="457200"/>
            <a:r>
              <a:rPr lang="zh-CN" altLang="en-US" sz="2000"/>
              <a:t>动态规划状态设计时，要注意</a:t>
            </a:r>
            <a:r>
              <a:rPr lang="en-US" altLang="zh-CN" sz="2000"/>
              <a:t>“</a:t>
            </a:r>
            <a:r>
              <a:rPr lang="zh-CN" altLang="en-US" sz="2000"/>
              <a:t>无后效性</a:t>
            </a:r>
            <a:r>
              <a:rPr lang="en-US" altLang="zh-CN" sz="2000"/>
              <a:t>”</a:t>
            </a:r>
            <a:r>
              <a:rPr lang="zh-CN" altLang="en-US" sz="2000"/>
              <a:t>，即转移时，后面的状态不会影响前面的状态。</a:t>
            </a:r>
            <a:endParaRPr lang="zh-CN" altLang="en-US" sz="2000"/>
          </a:p>
          <a:p>
            <a:pPr indent="457200"/>
            <a:endParaRPr lang="zh-CN" altLang="en-US" sz="2000"/>
          </a:p>
          <a:p>
            <a:pPr indent="457200"/>
            <a:endParaRPr lang="zh-CN" altLang="en-US" sz="2000"/>
          </a:p>
          <a:p>
            <a:pPr indent="457200"/>
            <a:r>
              <a:rPr lang="zh-CN" altLang="en-US" sz="2000"/>
              <a:t>例题：</a:t>
            </a:r>
            <a:endParaRPr lang="zh-CN" altLang="en-US" sz="2000"/>
          </a:p>
          <a:p>
            <a:pPr indent="457200"/>
            <a:r>
              <a:rPr lang="zh-CN" altLang="en-US" sz="2000"/>
              <a:t>在一个圆形操场的四周摆放</a:t>
            </a:r>
            <a:r>
              <a:rPr lang="en-US" altLang="zh-CN" sz="2000"/>
              <a:t> N </a:t>
            </a:r>
            <a:r>
              <a:rPr lang="zh-CN" altLang="en-US" sz="2000"/>
              <a:t>堆石子，现要将石子有次序地合并成一堆，规定每次只能选相邻的</a:t>
            </a:r>
            <a:r>
              <a:rPr lang="en-US" altLang="zh-CN" sz="2000"/>
              <a:t> 2 </a:t>
            </a:r>
            <a:r>
              <a:rPr lang="zh-CN" altLang="en-US" sz="2000"/>
              <a:t>堆合并成新的一堆，并将新的一堆的石子数，记为该次合并的得分。</a:t>
            </a:r>
            <a:endParaRPr lang="zh-CN" altLang="en-US" sz="2000"/>
          </a:p>
          <a:p>
            <a:pPr indent="457200"/>
            <a:endParaRPr lang="en-US" altLang="zh-CN" sz="2000"/>
          </a:p>
          <a:p>
            <a:pPr indent="457200"/>
            <a:r>
              <a:rPr lang="zh-CN" altLang="en-US" sz="2000"/>
              <a:t>试设计出一个算法</a:t>
            </a:r>
            <a:r>
              <a:rPr lang="en-US" altLang="zh-CN" sz="2000"/>
              <a:t>,</a:t>
            </a:r>
            <a:r>
              <a:rPr lang="zh-CN" altLang="en-US" sz="2000"/>
              <a:t>计算出将</a:t>
            </a:r>
            <a:r>
              <a:rPr lang="en-US" altLang="zh-CN" sz="2000"/>
              <a:t> N </a:t>
            </a:r>
            <a:r>
              <a:rPr lang="zh-CN" altLang="en-US" sz="2000"/>
              <a:t>堆石子合并成</a:t>
            </a:r>
            <a:r>
              <a:rPr lang="en-US" altLang="zh-CN" sz="2000"/>
              <a:t> 1 </a:t>
            </a:r>
            <a:r>
              <a:rPr lang="zh-CN" altLang="en-US" sz="2000"/>
              <a:t>堆的最小得分和最大得分。</a:t>
            </a:r>
            <a:endParaRPr lang="zh-CN" altLang="en-US" sz="2000"/>
          </a:p>
          <a:p>
            <a:pPr indent="457200"/>
            <a:endParaRPr lang="zh-CN" altLang="en-US" sz="2000"/>
          </a:p>
          <a:p>
            <a:pPr indent="457200"/>
            <a:r>
              <a:rPr lang="en-US" altLang="zh-CN" sz="2000"/>
              <a:t>N&lt;=100</a:t>
            </a:r>
            <a:endParaRPr lang="en-US" altLang="zh-CN" sz="2000"/>
          </a:p>
          <a:p>
            <a:pPr indent="457200"/>
            <a:endParaRPr lang="en-US" altLang="zh-CN" sz="2000"/>
          </a:p>
          <a:p>
            <a:pPr indent="457200"/>
            <a:r>
              <a:rPr lang="zh-CN" altLang="en-US" sz="2000"/>
              <a:t>洛谷</a:t>
            </a:r>
            <a:r>
              <a:rPr lang="en-US" altLang="zh-CN" sz="2000"/>
              <a:t> P1880</a:t>
            </a:r>
            <a:endParaRPr lang="en-US" altLang="zh-CN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4171264" cy="1411605"/>
            <a:chOff x="0" y="0"/>
            <a:chExt cx="6569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83" y="688"/>
              <a:ext cx="5186" cy="1074"/>
              <a:chOff x="110635" y="312371"/>
              <a:chExt cx="3293266" cy="681791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5904" y="331415"/>
                <a:ext cx="2207997" cy="53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区间动态规划</a:t>
                </a:r>
                <a:endParaRPr lang="zh-CN" sz="2400" b="1" kern="0" spc="80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0635" y="312371"/>
                <a:ext cx="798242" cy="681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03.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113155" y="1217295"/>
            <a:ext cx="10276840" cy="4363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endParaRPr lang="en-US" sz="2000"/>
          </a:p>
          <a:p>
            <a:pPr indent="457200"/>
            <a:r>
              <a:rPr lang="zh-CN" altLang="en-US" sz="2000"/>
              <a:t>先计算长度小的区间，再计算长度大的区间。设</a:t>
            </a:r>
            <a:r>
              <a:rPr lang="en-US" altLang="zh-CN" sz="2000"/>
              <a:t>f[i,j]</a:t>
            </a:r>
            <a:r>
              <a:rPr lang="zh-CN" altLang="en-US" sz="2000"/>
              <a:t>表示区间</a:t>
            </a:r>
            <a:r>
              <a:rPr lang="en-US" altLang="zh-CN" sz="2000"/>
              <a:t>[l,r]</a:t>
            </a:r>
            <a:r>
              <a:rPr lang="zh-CN" altLang="en-US" sz="2000"/>
              <a:t>的答案，则可以将两个长度小的区间合并为长度大的区间进行计算。</a:t>
            </a:r>
            <a:endParaRPr lang="zh-CN" altLang="en-US" sz="2000"/>
          </a:p>
          <a:p>
            <a:pPr indent="457200"/>
            <a:endParaRPr lang="zh-CN" altLang="en-US" sz="2000"/>
          </a:p>
          <a:p>
            <a:pPr indent="457200"/>
            <a:r>
              <a:rPr lang="zh-CN" altLang="en-US" sz="2000"/>
              <a:t>先计算小的，再计算长度大的，保证了动态规划状态转移的无后效性。</a:t>
            </a:r>
            <a:endParaRPr lang="zh-CN" altLang="en-US" sz="2000"/>
          </a:p>
          <a:p>
            <a:pPr indent="457200"/>
            <a:endParaRPr lang="zh-CN" altLang="en-US" sz="2000"/>
          </a:p>
          <a:p>
            <a:pPr indent="457200"/>
            <a:r>
              <a:rPr lang="zh-CN" altLang="en-US" sz="2000"/>
              <a:t>同时，这也是区间动态规划的一般策略。</a:t>
            </a:r>
            <a:endParaRPr lang="zh-CN" altLang="en-US" sz="2000"/>
          </a:p>
          <a:p>
            <a:pPr indent="457200"/>
            <a:endParaRPr lang="zh-CN" altLang="en-US" sz="2000"/>
          </a:p>
          <a:p>
            <a:pPr indent="457200"/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110" y="3802380"/>
            <a:ext cx="6927850" cy="23094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4171264" cy="1411605"/>
            <a:chOff x="0" y="0"/>
            <a:chExt cx="6569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83" y="688"/>
              <a:ext cx="5186" cy="1074"/>
              <a:chOff x="110634" y="312371"/>
              <a:chExt cx="3293267" cy="681791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5904" y="331415"/>
                <a:ext cx="2207997" cy="53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数位</a:t>
                </a:r>
                <a:r>
                  <a:rPr lang="en-US" alt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dp</a:t>
                </a:r>
                <a:endParaRPr lang="en-US" altLang="zh-CN" sz="2400" b="1" kern="0" spc="80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0634" y="312371"/>
                <a:ext cx="798243" cy="681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04.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878205" y="1217295"/>
            <a:ext cx="10276840" cy="4363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endParaRPr lang="zh-CN" altLang="en-US" sz="2000"/>
          </a:p>
          <a:p>
            <a:pPr indent="457200"/>
            <a:r>
              <a:rPr lang="zh-CN" altLang="en-US" sz="2800"/>
              <a:t>由这样一个问题引入：</a:t>
            </a:r>
            <a:endParaRPr lang="zh-CN" altLang="en-US" sz="2800"/>
          </a:p>
          <a:p>
            <a:pPr indent="457200"/>
            <a:endParaRPr lang="en-US" altLang="zh-CN" sz="2800"/>
          </a:p>
          <a:p>
            <a:pPr indent="457200"/>
            <a:r>
              <a:rPr lang="zh-CN" altLang="en-US" sz="2800"/>
              <a:t>有</a:t>
            </a:r>
            <a:r>
              <a:rPr lang="en-US" altLang="zh-CN" sz="2800"/>
              <a:t>T</a:t>
            </a:r>
            <a:r>
              <a:rPr lang="zh-CN" altLang="en-US" sz="2800"/>
              <a:t>次询问，每次询问时求</a:t>
            </a:r>
            <a:r>
              <a:rPr lang="en-US" altLang="zh-CN" sz="2800"/>
              <a:t>[L,R]</a:t>
            </a:r>
            <a:r>
              <a:rPr lang="zh-CN" altLang="en-US" sz="2800"/>
              <a:t>区间内的所有数的数位和的和。</a:t>
            </a:r>
            <a:endParaRPr lang="zh-CN" altLang="en-US" sz="2800"/>
          </a:p>
          <a:p>
            <a:pPr indent="457200"/>
            <a:endParaRPr lang="zh-CN" altLang="en-US" sz="2800"/>
          </a:p>
          <a:p>
            <a:pPr indent="457200"/>
            <a:r>
              <a:rPr lang="en-US" altLang="zh-CN" sz="2800"/>
              <a:t>T&lt;=20  L,R&lt;=1e18</a:t>
            </a:r>
            <a:endParaRPr lang="en-US" altLang="zh-CN" sz="2800"/>
          </a:p>
          <a:p>
            <a:pPr indent="457200"/>
            <a:endParaRPr lang="en-US" altLang="zh-CN" sz="2800"/>
          </a:p>
          <a:p>
            <a:pPr indent="457200"/>
            <a:r>
              <a:rPr lang="zh-CN" altLang="en-US" sz="2800"/>
              <a:t>洛谷</a:t>
            </a:r>
            <a:r>
              <a:rPr lang="en-US" altLang="zh-CN" sz="2800"/>
              <a:t>P4999</a:t>
            </a:r>
            <a:endParaRPr lang="en-US" altLang="zh-CN" sz="2800"/>
          </a:p>
          <a:p>
            <a:pPr indent="457200"/>
            <a:endParaRPr lang="en-US" altLang="zh-CN" sz="2800"/>
          </a:p>
          <a:p>
            <a:pPr indent="457200"/>
            <a:endParaRPr lang="en-US" altLang="zh-CN" sz="2000"/>
          </a:p>
          <a:p>
            <a:pPr indent="457200"/>
            <a:endParaRPr lang="en-US" altLang="zh-CN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4171264" cy="1411605"/>
            <a:chOff x="0" y="0"/>
            <a:chExt cx="6569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83" y="688"/>
              <a:ext cx="5186" cy="1074"/>
              <a:chOff x="110634" y="312371"/>
              <a:chExt cx="3293267" cy="681791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5904" y="331415"/>
                <a:ext cx="2207997" cy="53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数位</a:t>
                </a:r>
                <a:r>
                  <a:rPr lang="en-US" alt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dp</a:t>
                </a:r>
                <a:endParaRPr lang="en-US" altLang="zh-CN" sz="2400" b="1" kern="0" spc="80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0634" y="312371"/>
                <a:ext cx="798243" cy="681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04.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878205" y="1217295"/>
            <a:ext cx="10276840" cy="4363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endParaRPr lang="zh-CN" altLang="en-US" sz="2000"/>
          </a:p>
          <a:p>
            <a:pPr indent="457200"/>
            <a:r>
              <a:rPr lang="en-US" altLang="zh-CN" sz="2000"/>
              <a:t>1</a:t>
            </a:r>
            <a:r>
              <a:rPr lang="zh-CN" altLang="en-US" sz="2000"/>
              <a:t>、很多数位</a:t>
            </a:r>
            <a:r>
              <a:rPr lang="en-US" altLang="zh-CN" sz="2000"/>
              <a:t>dp</a:t>
            </a:r>
            <a:r>
              <a:rPr lang="zh-CN" altLang="en-US" sz="2000"/>
              <a:t>都要做这样一个包含前缀和思想的转化：</a:t>
            </a:r>
            <a:endParaRPr lang="zh-CN" altLang="en-US" sz="2000"/>
          </a:p>
          <a:p>
            <a:pPr indent="457200"/>
            <a:r>
              <a:rPr lang="zh-CN" altLang="en-US" sz="2000"/>
              <a:t>把求解区间</a:t>
            </a:r>
            <a:r>
              <a:rPr lang="en-US" altLang="zh-CN" sz="2000"/>
              <a:t>[L,R]</a:t>
            </a:r>
            <a:r>
              <a:rPr lang="zh-CN" altLang="en-US" sz="2000"/>
              <a:t>转变为求解</a:t>
            </a:r>
            <a:r>
              <a:rPr lang="en-US" altLang="zh-CN" sz="2000"/>
              <a:t>[1,R]</a:t>
            </a:r>
            <a:r>
              <a:rPr lang="zh-CN" altLang="en-US" sz="2000"/>
              <a:t>的答案减去</a:t>
            </a:r>
            <a:r>
              <a:rPr lang="en-US" altLang="zh-CN" sz="2000"/>
              <a:t>[1,L-1]</a:t>
            </a:r>
            <a:r>
              <a:rPr lang="zh-CN" altLang="en-US" sz="2000"/>
              <a:t>的答案。</a:t>
            </a:r>
            <a:endParaRPr lang="zh-CN" altLang="en-US" sz="2000"/>
          </a:p>
          <a:p>
            <a:pPr indent="457200"/>
            <a:endParaRPr lang="zh-CN" altLang="en-US" sz="2000"/>
          </a:p>
          <a:p>
            <a:pPr indent="457200"/>
            <a:r>
              <a:rPr lang="en-US" altLang="zh-CN" sz="2000"/>
              <a:t>2</a:t>
            </a:r>
            <a:r>
              <a:rPr lang="zh-CN" altLang="en-US" sz="2000"/>
              <a:t>、如何设计</a:t>
            </a:r>
            <a:r>
              <a:rPr lang="en-US" altLang="zh-CN" sz="2000"/>
              <a:t>dp</a:t>
            </a:r>
            <a:r>
              <a:rPr lang="zh-CN" altLang="en-US" sz="2000"/>
              <a:t>状态？</a:t>
            </a:r>
            <a:endParaRPr lang="zh-CN" altLang="en-US" sz="2000"/>
          </a:p>
          <a:p>
            <a:pPr indent="457200"/>
            <a:r>
              <a:rPr lang="zh-CN" altLang="en-US" sz="2000"/>
              <a:t>我们不关心之前的数具体是怎么样的。我们只关心当前是第几位，之前几位的数位和是多少。</a:t>
            </a:r>
            <a:endParaRPr lang="zh-CN" altLang="en-US" sz="2000"/>
          </a:p>
          <a:p>
            <a:pPr indent="457200"/>
            <a:r>
              <a:rPr lang="zh-CN" altLang="en-US" sz="2000"/>
              <a:t>我们还要确保当前的值不超出上界。设上界为</a:t>
            </a:r>
            <a:r>
              <a:rPr lang="en-US" altLang="zh-CN" sz="2000"/>
              <a:t>x</a:t>
            </a:r>
            <a:r>
              <a:rPr lang="zh-CN" altLang="en-US" sz="2000"/>
              <a:t>，如果当前填好的这几位和</a:t>
            </a:r>
            <a:r>
              <a:rPr lang="en-US" altLang="zh-CN" sz="2000"/>
              <a:t>x</a:t>
            </a:r>
            <a:r>
              <a:rPr lang="zh-CN" altLang="en-US" sz="2000"/>
              <a:t>都相同，那么后面不能随便填，否则可以随便填。</a:t>
            </a:r>
            <a:endParaRPr lang="zh-CN" altLang="en-US" sz="2000"/>
          </a:p>
          <a:p>
            <a:pPr indent="457200"/>
            <a:r>
              <a:rPr lang="zh-CN" altLang="en-US" sz="2000"/>
              <a:t>如：</a:t>
            </a:r>
            <a:r>
              <a:rPr lang="en-US" altLang="zh-CN" sz="2000"/>
              <a:t>x=4123 </a:t>
            </a:r>
            <a:r>
              <a:rPr lang="zh-CN" altLang="en-US" sz="2000"/>
              <a:t>如果我目前填了两位，从高位开始分别是</a:t>
            </a:r>
            <a:r>
              <a:rPr lang="en-US" altLang="zh-CN" sz="2000"/>
              <a:t>4,1</a:t>
            </a:r>
            <a:r>
              <a:rPr lang="zh-CN" altLang="en-US" sz="2000"/>
              <a:t>，那么</a:t>
            </a:r>
            <a:r>
              <a:rPr lang="en-US" altLang="zh-CN" sz="2000"/>
              <a:t>2</a:t>
            </a:r>
            <a:r>
              <a:rPr lang="zh-CN" altLang="en-US" sz="2000"/>
              <a:t>这一位就只能填</a:t>
            </a:r>
            <a:r>
              <a:rPr lang="en-US" altLang="zh-CN" sz="2000"/>
              <a:t>0,1,2</a:t>
            </a:r>
            <a:r>
              <a:rPr lang="zh-CN" altLang="en-US" sz="2000"/>
              <a:t>。如果填的是</a:t>
            </a:r>
            <a:r>
              <a:rPr lang="en-US" altLang="zh-CN" sz="2000"/>
              <a:t>4,0</a:t>
            </a:r>
            <a:r>
              <a:rPr lang="zh-CN" altLang="en-US" sz="2000"/>
              <a:t>，那么下一位就可以</a:t>
            </a:r>
            <a:r>
              <a:rPr lang="en-US" altLang="zh-CN" sz="2000"/>
              <a:t>0~9</a:t>
            </a:r>
            <a:r>
              <a:rPr lang="zh-CN" altLang="en-US" sz="2000"/>
              <a:t>随便填。</a:t>
            </a:r>
            <a:endParaRPr lang="zh-CN" altLang="en-US" sz="2000"/>
          </a:p>
          <a:p>
            <a:pPr indent="457200"/>
            <a:r>
              <a:rPr lang="en-US" altLang="zh-CN" sz="2000"/>
              <a:t>f[pos][sum][limit]</a:t>
            </a:r>
            <a:r>
              <a:rPr lang="zh-CN" altLang="en-US" sz="2000"/>
              <a:t>表示填到第</a:t>
            </a:r>
            <a:r>
              <a:rPr lang="en-US" altLang="zh-CN" sz="2000"/>
              <a:t>pos</a:t>
            </a:r>
            <a:r>
              <a:rPr lang="zh-CN" altLang="en-US" sz="2000"/>
              <a:t>位，已经填好的数位和的值为</a:t>
            </a:r>
            <a:r>
              <a:rPr lang="en-US" altLang="zh-CN" sz="2000"/>
              <a:t>sum</a:t>
            </a:r>
            <a:r>
              <a:rPr lang="zh-CN" altLang="en-US" sz="2000"/>
              <a:t>，</a:t>
            </a:r>
            <a:r>
              <a:rPr lang="en-US" altLang="zh-CN" sz="2000"/>
              <a:t>limit</a:t>
            </a:r>
            <a:r>
              <a:rPr lang="zh-CN" altLang="en-US" sz="2000"/>
              <a:t>是一个</a:t>
            </a:r>
            <a:r>
              <a:rPr lang="en-US" altLang="zh-CN" sz="2000"/>
              <a:t>01</a:t>
            </a:r>
            <a:r>
              <a:rPr lang="zh-CN" altLang="en-US" sz="2000"/>
              <a:t>状态，表示现在能不能随便填。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4171264" cy="1411605"/>
            <a:chOff x="0" y="0"/>
            <a:chExt cx="6569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83" y="688"/>
              <a:ext cx="5186" cy="1074"/>
              <a:chOff x="110634" y="312371"/>
              <a:chExt cx="3293267" cy="681791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5904" y="331415"/>
                <a:ext cx="2207997" cy="53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数位</a:t>
                </a:r>
                <a:r>
                  <a:rPr lang="en-US" alt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dp</a:t>
                </a:r>
                <a:endParaRPr lang="en-US" altLang="zh-CN" sz="2400" b="1" kern="0" spc="80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0634" y="312371"/>
                <a:ext cx="798243" cy="681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04.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878205" y="1217295"/>
            <a:ext cx="10276840" cy="4363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endParaRPr lang="zh-CN" altLang="en-US" sz="2000"/>
          </a:p>
          <a:p>
            <a:pPr indent="457200"/>
            <a:r>
              <a:rPr lang="zh-CN" altLang="en-US" sz="2000"/>
              <a:t>状态太多了，写起来比较复杂，怎么办？</a:t>
            </a:r>
            <a:endParaRPr lang="zh-CN" altLang="en-US" sz="2000"/>
          </a:p>
          <a:p>
            <a:pPr indent="457200"/>
            <a:endParaRPr lang="en-US" altLang="zh-CN" sz="2000"/>
          </a:p>
          <a:p>
            <a:pPr indent="457200"/>
            <a:r>
              <a:rPr lang="zh-CN" altLang="en-US" sz="2000"/>
              <a:t>这里介绍一种思路，记忆化搜索。</a:t>
            </a:r>
            <a:endParaRPr lang="zh-CN" altLang="en-US" sz="2000"/>
          </a:p>
          <a:p>
            <a:pPr indent="457200"/>
            <a:endParaRPr lang="zh-CN" altLang="en-US" sz="2000"/>
          </a:p>
          <a:p>
            <a:pPr indent="457200"/>
            <a:endParaRPr lang="zh-CN" altLang="en-US" sz="2000"/>
          </a:p>
          <a:p>
            <a:pPr indent="457200"/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4171264" cy="1411605"/>
            <a:chOff x="0" y="0"/>
            <a:chExt cx="6569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83" y="688"/>
              <a:ext cx="5186" cy="1074"/>
              <a:chOff x="110634" y="312371"/>
              <a:chExt cx="3293267" cy="681791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5904" y="331415"/>
                <a:ext cx="2207997" cy="53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数位</a:t>
                </a:r>
                <a:r>
                  <a:rPr lang="en-US" alt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dp</a:t>
                </a:r>
                <a:endParaRPr lang="en-US" altLang="zh-CN" sz="2400" b="1" kern="0" spc="80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0634" y="312371"/>
                <a:ext cx="798243" cy="681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04.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4770" y="363855"/>
            <a:ext cx="4159885" cy="61296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34035" y="1628140"/>
            <a:ext cx="4227830" cy="2380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pos</a:t>
            </a:r>
            <a:r>
              <a:rPr lang="zh-CN" altLang="en-US" sz="2400"/>
              <a:t>表示当前剩下了多少位，</a:t>
            </a:r>
            <a:r>
              <a:rPr lang="en-US" altLang="zh-CN" sz="2400"/>
              <a:t>lim</a:t>
            </a:r>
            <a:r>
              <a:rPr lang="zh-CN" altLang="en-US" sz="2400"/>
              <a:t>表示当前位能不能随便填。</a:t>
            </a:r>
            <a:r>
              <a:rPr lang="en-US" altLang="zh-CN" sz="2400"/>
              <a:t>sum</a:t>
            </a:r>
            <a:r>
              <a:rPr lang="zh-CN" altLang="en-US" sz="2400"/>
              <a:t>表示比当前位更高的位的数位和是多少。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4171264" cy="1411605"/>
            <a:chOff x="0" y="0"/>
            <a:chExt cx="6569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83" y="688"/>
              <a:ext cx="5186" cy="1074"/>
              <a:chOff x="110634" y="312371"/>
              <a:chExt cx="3293267" cy="681791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5904" y="331415"/>
                <a:ext cx="2207997" cy="53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数位</a:t>
                </a:r>
                <a:r>
                  <a:rPr lang="en-US" alt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dp</a:t>
                </a:r>
                <a:endParaRPr lang="en-US" altLang="zh-CN" sz="2400" b="1" kern="0" spc="80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0634" y="312371"/>
                <a:ext cx="798243" cy="681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04.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1113155" y="1473835"/>
            <a:ext cx="10308590" cy="4911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</a:t>
            </a:r>
            <a:r>
              <a:rPr lang="zh-CN" altLang="en-US" sz="2400"/>
              <a:t>、一般，我们只记录没有限制的部分。因为有限制的部分每次询问都会不一样。</a:t>
            </a:r>
            <a:endParaRPr lang="zh-CN" altLang="en-US" sz="2400"/>
          </a:p>
          <a:p>
            <a:endParaRPr lang="zh-CN" altLang="en-US" sz="2400"/>
          </a:p>
          <a:p>
            <a:r>
              <a:rPr lang="en-US" altLang="zh-CN" sz="2400"/>
              <a:t>2</a:t>
            </a:r>
            <a:r>
              <a:rPr lang="zh-CN" altLang="en-US" sz="2400"/>
              <a:t>、复杂度分析：</a:t>
            </a:r>
            <a:endParaRPr lang="zh-CN" altLang="en-US" sz="2400"/>
          </a:p>
          <a:p>
            <a:r>
              <a:rPr lang="zh-CN" altLang="en-US" sz="2400"/>
              <a:t>所有无限制的部分的复杂度总和为</a:t>
            </a:r>
            <a:r>
              <a:rPr lang="en-US" altLang="zh-CN" sz="2400"/>
              <a:t>O(</a:t>
            </a:r>
            <a:r>
              <a:rPr lang="zh-CN" altLang="en-US" sz="2400"/>
              <a:t>状态数</a:t>
            </a:r>
            <a:r>
              <a:rPr lang="en-US" altLang="zh-CN" sz="2400"/>
              <a:t>*</a:t>
            </a:r>
            <a:r>
              <a:rPr lang="zh-CN" altLang="en-US" sz="2400"/>
              <a:t>每个状态的运算次数</a:t>
            </a:r>
            <a:r>
              <a:rPr lang="en-US" altLang="zh-CN" sz="2400"/>
              <a:t>)</a:t>
            </a:r>
            <a:endParaRPr lang="en-US" altLang="zh-CN" sz="2400"/>
          </a:p>
          <a:p>
            <a:r>
              <a:rPr lang="zh-CN" altLang="en-US" sz="2400"/>
              <a:t>因为记忆化了，每个状态只会访问一次。</a:t>
            </a:r>
            <a:endParaRPr lang="zh-CN" altLang="en-US" sz="2400"/>
          </a:p>
          <a:p>
            <a:r>
              <a:rPr lang="zh-CN" altLang="en-US" sz="2400"/>
              <a:t>因为我们只记录没有限制的部分。所以在不同询问中，这部分是共享的。总共是</a:t>
            </a:r>
            <a:r>
              <a:rPr lang="en-US" altLang="zh-CN" sz="2400"/>
              <a:t>O(pos*sum*10)</a:t>
            </a:r>
            <a:endParaRPr lang="en-US" altLang="zh-CN" sz="2400"/>
          </a:p>
          <a:p>
            <a:endParaRPr lang="en-US" altLang="zh-CN" sz="2400"/>
          </a:p>
          <a:p>
            <a:r>
              <a:rPr lang="zh-CN" altLang="en-US" sz="2400"/>
              <a:t>对于有限制的部分每次询问复杂度是</a:t>
            </a:r>
            <a:r>
              <a:rPr lang="en-US" altLang="zh-CN" sz="2400"/>
              <a:t>O(pos*10)</a:t>
            </a:r>
            <a:r>
              <a:rPr lang="zh-CN" altLang="en-US" sz="2400"/>
              <a:t>。因为假设当前有限制，想让他继续有限制的话，只有一种取法。其他取法都会让新数无限制，无限制的在上一部分计算过了。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4171264" cy="1411605"/>
            <a:chOff x="0" y="0"/>
            <a:chExt cx="6569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83" y="688"/>
              <a:ext cx="5186" cy="1074"/>
              <a:chOff x="110634" y="312371"/>
              <a:chExt cx="3293267" cy="681791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5904" y="331415"/>
                <a:ext cx="2207997" cy="53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数位</a:t>
                </a:r>
                <a:r>
                  <a:rPr lang="en-US" alt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dp</a:t>
                </a:r>
                <a:endParaRPr lang="en-US" altLang="zh-CN" sz="2400" b="1" kern="0" spc="80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0634" y="312371"/>
                <a:ext cx="798243" cy="681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04.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1113155" y="1473835"/>
            <a:ext cx="10308590" cy="4911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3</a:t>
            </a:r>
            <a:r>
              <a:rPr lang="zh-CN" altLang="en-US" sz="2400"/>
              <a:t>、除了</a:t>
            </a:r>
            <a:r>
              <a:rPr lang="en-US" altLang="zh-CN" sz="2400"/>
              <a:t>pos</a:t>
            </a:r>
            <a:r>
              <a:rPr lang="zh-CN" altLang="en-US" sz="2400"/>
              <a:t>，</a:t>
            </a:r>
            <a:r>
              <a:rPr lang="en-US" altLang="zh-CN" sz="2400"/>
              <a:t>limit</a:t>
            </a:r>
            <a:r>
              <a:rPr lang="zh-CN" altLang="en-US" sz="2400"/>
              <a:t>，</a:t>
            </a:r>
            <a:r>
              <a:rPr lang="en-US" altLang="zh-CN" sz="2400"/>
              <a:t>sum</a:t>
            </a:r>
            <a:r>
              <a:rPr lang="zh-CN" altLang="en-US" sz="2400"/>
              <a:t>以外，我们还可能会设计哪些状态？</a:t>
            </a:r>
            <a:endParaRPr lang="zh-CN" altLang="en-US" sz="2400"/>
          </a:p>
          <a:p>
            <a:endParaRPr lang="zh-CN" altLang="en-US" sz="2400"/>
          </a:p>
          <a:p>
            <a:r>
              <a:rPr lang="en-US" altLang="zh-CN" sz="2400"/>
              <a:t>zer</a:t>
            </a:r>
            <a:r>
              <a:rPr lang="zh-CN" altLang="en-US" sz="2400"/>
              <a:t>：到当前位为止，我们是不是全</a:t>
            </a:r>
            <a:r>
              <a:rPr lang="en-US" altLang="zh-CN" sz="2400"/>
              <a:t>0</a:t>
            </a:r>
            <a:r>
              <a:rPr lang="zh-CN" altLang="en-US" sz="2400"/>
              <a:t>的？因为有的时候前导零不应计算进答案里。</a:t>
            </a:r>
            <a:endParaRPr lang="zh-CN" altLang="en-US" sz="2400"/>
          </a:p>
          <a:p>
            <a:endParaRPr lang="zh-CN" altLang="en-US" sz="2400"/>
          </a:p>
          <a:p>
            <a:r>
              <a:rPr lang="en-US" altLang="zh-CN" sz="2400"/>
              <a:t>last</a:t>
            </a:r>
            <a:r>
              <a:rPr lang="zh-CN" altLang="en-US" sz="2400"/>
              <a:t>：上一位的数码是什么？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设计什么状态取决于题目要我们关心什么。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这就引出我们的下一题：</a:t>
            </a:r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4171264" cy="1411605"/>
            <a:chOff x="0" y="0"/>
            <a:chExt cx="6569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83" y="688"/>
              <a:ext cx="5186" cy="1074"/>
              <a:chOff x="110634" y="312371"/>
              <a:chExt cx="3293267" cy="681791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5904" y="331415"/>
                <a:ext cx="2207997" cy="53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数位</a:t>
                </a:r>
                <a:r>
                  <a:rPr lang="en-US" alt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dp</a:t>
                </a:r>
                <a:endParaRPr lang="en-US" altLang="zh-CN" sz="2400" b="1" kern="0" spc="80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0634" y="312371"/>
                <a:ext cx="798243" cy="681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04.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1113155" y="1473835"/>
            <a:ext cx="10308590" cy="4911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洛谷</a:t>
            </a:r>
            <a:r>
              <a:rPr lang="en-US" altLang="zh-CN" sz="2400"/>
              <a:t>P2602</a:t>
            </a:r>
            <a:endParaRPr lang="zh-CN" altLang="en-US" sz="2400"/>
          </a:p>
          <a:p>
            <a:r>
              <a:rPr lang="zh-CN" altLang="en-US" sz="2400"/>
              <a:t>给定两个正整数</a:t>
            </a:r>
            <a:r>
              <a:rPr lang="en-US" altLang="zh-CN" sz="2400"/>
              <a:t> a </a:t>
            </a:r>
            <a:r>
              <a:rPr lang="zh-CN" altLang="en-US" sz="2400"/>
              <a:t>和</a:t>
            </a:r>
            <a:r>
              <a:rPr lang="en-US" altLang="zh-CN" sz="2400"/>
              <a:t> b</a:t>
            </a:r>
            <a:r>
              <a:rPr lang="zh-CN" altLang="en-US" sz="2400"/>
              <a:t>，求在</a:t>
            </a:r>
            <a:r>
              <a:rPr lang="en-US" altLang="zh-CN" sz="2400"/>
              <a:t> [a,b] </a:t>
            </a:r>
            <a:r>
              <a:rPr lang="zh-CN" altLang="en-US" sz="2400"/>
              <a:t>中的所有整数中，每个数码</a:t>
            </a:r>
            <a:r>
              <a:rPr lang="en-US" altLang="zh-CN" sz="2400"/>
              <a:t>(digit)</a:t>
            </a:r>
            <a:r>
              <a:rPr lang="zh-CN" altLang="en-US" sz="2400"/>
              <a:t>各出现了多少次。</a:t>
            </a:r>
            <a:endParaRPr lang="zh-CN" altLang="en-US" sz="2400"/>
          </a:p>
          <a:p>
            <a:endParaRPr lang="zh-CN" altLang="en-US" sz="2400"/>
          </a:p>
          <a:p>
            <a:r>
              <a:rPr lang="en-US" altLang="zh-CN" sz="2400"/>
              <a:t>a,b&lt;=1e12</a:t>
            </a:r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4171264" cy="1411605"/>
            <a:chOff x="0" y="0"/>
            <a:chExt cx="6569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83" y="688"/>
              <a:ext cx="5186" cy="1074"/>
              <a:chOff x="110634" y="312371"/>
              <a:chExt cx="3293267" cy="681791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5904" y="331415"/>
                <a:ext cx="2207997" cy="53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数位</a:t>
                </a:r>
                <a:r>
                  <a:rPr lang="en-US" alt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dp</a:t>
                </a:r>
                <a:endParaRPr lang="en-US" altLang="zh-CN" sz="2400" b="1" kern="0" spc="80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0634" y="312371"/>
                <a:ext cx="798243" cy="681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04.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1315" y="218440"/>
            <a:ext cx="6540500" cy="6330950"/>
          </a:xfrm>
          <a:prstGeom prst="rect">
            <a:avLst/>
          </a:prstGeom>
        </p:spPr>
      </p:pic>
      <p:cxnSp>
        <p:nvCxnSpPr>
          <p:cNvPr id="3" name="直接箭头连接符 2"/>
          <p:cNvCxnSpPr/>
          <p:nvPr/>
        </p:nvCxnSpPr>
        <p:spPr>
          <a:xfrm flipV="1">
            <a:off x="2345690" y="1113155"/>
            <a:ext cx="2335530" cy="76136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10920" y="1997710"/>
            <a:ext cx="2425065" cy="686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这里相当于搜索树的叶子节点。</a:t>
            </a:r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2472690" y="2807335"/>
            <a:ext cx="2335530" cy="76136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977265" y="3654425"/>
            <a:ext cx="24174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其他部分就比之前多了对于前导</a:t>
            </a:r>
            <a:r>
              <a:rPr lang="en-US" altLang="zh-CN"/>
              <a:t>0</a:t>
            </a:r>
            <a:r>
              <a:rPr lang="zh-CN" altLang="en-US"/>
              <a:t>的讨论。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4171264" cy="1411605"/>
            <a:chOff x="0" y="0"/>
            <a:chExt cx="6569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83" y="688"/>
              <a:ext cx="5186" cy="1074"/>
              <a:chOff x="110634" y="312371"/>
              <a:chExt cx="3293267" cy="681791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5904" y="331415"/>
                <a:ext cx="2207997" cy="53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数位</a:t>
                </a:r>
                <a:r>
                  <a:rPr lang="en-US" alt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dp</a:t>
                </a:r>
                <a:endParaRPr lang="en-US" altLang="zh-CN" sz="2400" b="1" kern="0" spc="80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0634" y="312371"/>
                <a:ext cx="798243" cy="681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04.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1113155" y="1473835"/>
            <a:ext cx="10308590" cy="4911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洛谷</a:t>
            </a:r>
            <a:r>
              <a:rPr lang="en-US" altLang="zh-CN" sz="2400"/>
              <a:t>P2657</a:t>
            </a:r>
            <a:endParaRPr lang="en-US" altLang="zh-CN" sz="2400"/>
          </a:p>
          <a:p>
            <a:endParaRPr lang="en-US" altLang="zh-CN" sz="2400"/>
          </a:p>
          <a:p>
            <a:r>
              <a:rPr lang="zh-CN" altLang="en-US" sz="2400"/>
              <a:t>不含前导零且相邻两个数字之差至少为</a:t>
            </a:r>
            <a:r>
              <a:rPr lang="en-US" altLang="zh-CN" sz="2400"/>
              <a:t> 2 </a:t>
            </a:r>
            <a:r>
              <a:rPr lang="zh-CN" altLang="en-US" sz="2400"/>
              <a:t>的正整数被称为</a:t>
            </a:r>
            <a:r>
              <a:rPr lang="en-US" altLang="zh-CN" sz="2400"/>
              <a:t> windy </a:t>
            </a:r>
            <a:r>
              <a:rPr lang="zh-CN" altLang="en-US" sz="2400"/>
              <a:t>数。</a:t>
            </a:r>
            <a:r>
              <a:rPr lang="en-US" altLang="zh-CN" sz="2400"/>
              <a:t>windy </a:t>
            </a:r>
            <a:r>
              <a:rPr lang="zh-CN" altLang="en-US" sz="2400"/>
              <a:t>想知道，在</a:t>
            </a:r>
            <a:r>
              <a:rPr lang="en-US" altLang="zh-CN" sz="2400"/>
              <a:t> a </a:t>
            </a:r>
            <a:r>
              <a:rPr lang="zh-CN" altLang="en-US" sz="2400"/>
              <a:t>和</a:t>
            </a:r>
            <a:r>
              <a:rPr lang="en-US" altLang="zh-CN" sz="2400"/>
              <a:t> b </a:t>
            </a:r>
            <a:r>
              <a:rPr lang="zh-CN" altLang="en-US" sz="2400"/>
              <a:t>之间，包括</a:t>
            </a:r>
            <a:r>
              <a:rPr lang="en-US" altLang="zh-CN" sz="2400"/>
              <a:t> a </a:t>
            </a:r>
            <a:r>
              <a:rPr lang="zh-CN" altLang="en-US" sz="2400"/>
              <a:t>和</a:t>
            </a:r>
            <a:r>
              <a:rPr lang="en-US" altLang="zh-CN" sz="2400"/>
              <a:t> b </a:t>
            </a:r>
            <a:r>
              <a:rPr lang="zh-CN" altLang="en-US" sz="2400"/>
              <a:t>，总共有多少个</a:t>
            </a:r>
            <a:r>
              <a:rPr lang="en-US" altLang="zh-CN" sz="2400"/>
              <a:t> windy </a:t>
            </a:r>
            <a:r>
              <a:rPr lang="zh-CN" altLang="en-US" sz="2400"/>
              <a:t>数？</a:t>
            </a:r>
            <a:endParaRPr lang="en-US" altLang="zh-CN" sz="2400"/>
          </a:p>
          <a:p>
            <a:endParaRPr lang="en-US" altLang="zh-CN" sz="2400"/>
          </a:p>
          <a:p>
            <a:r>
              <a:rPr lang="en-US" altLang="zh-CN" sz="2400"/>
              <a:t>a,b&lt;=2e9</a:t>
            </a:r>
            <a:endParaRPr lang="en-US" altLang="zh-CN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4171264" cy="1411605"/>
            <a:chOff x="0" y="0"/>
            <a:chExt cx="6569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83" y="688"/>
              <a:ext cx="5186" cy="1074"/>
              <a:chOff x="110634" y="312371"/>
              <a:chExt cx="3293267" cy="681791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5904" y="331415"/>
                <a:ext cx="2207997" cy="53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数位</a:t>
                </a:r>
                <a:r>
                  <a:rPr lang="en-US" alt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dp</a:t>
                </a:r>
                <a:endParaRPr lang="en-US" altLang="zh-CN" sz="2400" b="1" kern="0" spc="80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0634" y="312371"/>
                <a:ext cx="798243" cy="681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04.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0330" y="205740"/>
            <a:ext cx="6109335" cy="64471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75945" y="1771650"/>
            <a:ext cx="3034665" cy="2548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用一个</a:t>
            </a:r>
            <a:r>
              <a:rPr lang="en-US" altLang="zh-CN"/>
              <a:t>last</a:t>
            </a:r>
            <a:r>
              <a:rPr lang="zh-CN" altLang="en-US"/>
              <a:t>来记录上一个数码。一开始</a:t>
            </a:r>
            <a:r>
              <a:rPr lang="en-US" altLang="zh-CN"/>
              <a:t>last</a:t>
            </a:r>
            <a:r>
              <a:rPr lang="zh-CN" altLang="en-US"/>
              <a:t>设为</a:t>
            </a:r>
            <a:r>
              <a:rPr lang="en-US" altLang="zh-CN"/>
              <a:t>11</a:t>
            </a:r>
            <a:r>
              <a:rPr lang="zh-CN" altLang="en-US"/>
              <a:t>，让任何数和他的差大于等于</a:t>
            </a:r>
            <a:r>
              <a:rPr lang="en-US" altLang="zh-CN"/>
              <a:t>2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4171264" cy="1411605"/>
            <a:chOff x="0" y="0"/>
            <a:chExt cx="6569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83" y="688"/>
              <a:ext cx="5186" cy="1074"/>
              <a:chOff x="110634" y="312371"/>
              <a:chExt cx="3293267" cy="681791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5904" y="331415"/>
                <a:ext cx="2207997" cy="53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数位</a:t>
                </a:r>
                <a:r>
                  <a:rPr lang="en-US" alt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dp</a:t>
                </a:r>
                <a:endParaRPr lang="en-US" altLang="zh-CN" sz="2400" b="1" kern="0" spc="80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0634" y="312371"/>
                <a:ext cx="798243" cy="681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04.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1113155" y="1473835"/>
            <a:ext cx="10308590" cy="4911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洛谷</a:t>
            </a:r>
            <a:r>
              <a:rPr lang="en-US" altLang="zh-CN" sz="2400"/>
              <a:t>P6218</a:t>
            </a:r>
            <a:endParaRPr lang="en-US" altLang="zh-CN" sz="2400"/>
          </a:p>
          <a:p>
            <a:endParaRPr lang="en-US" altLang="zh-CN" sz="2400"/>
          </a:p>
          <a:p>
            <a:r>
              <a:rPr lang="zh-CN" altLang="en-US" sz="2400"/>
              <a:t>如果一个正整数的二进制表示中，</a:t>
            </a:r>
            <a:r>
              <a:rPr lang="en-US" altLang="zh-CN" sz="2400"/>
              <a:t>0 </a:t>
            </a:r>
            <a:r>
              <a:rPr lang="zh-CN" altLang="en-US" sz="2400"/>
              <a:t>的数目不小于</a:t>
            </a:r>
            <a:r>
              <a:rPr lang="en-US" altLang="zh-CN" sz="2400"/>
              <a:t> 1 </a:t>
            </a:r>
            <a:r>
              <a:rPr lang="zh-CN" altLang="en-US" sz="2400"/>
              <a:t>的数目，那么它就被称为「圆数」。</a:t>
            </a:r>
            <a:endParaRPr lang="zh-CN" altLang="en-US" sz="2400"/>
          </a:p>
          <a:p>
            <a:endParaRPr lang="en-US" altLang="zh-CN" sz="2400"/>
          </a:p>
          <a:p>
            <a:r>
              <a:rPr lang="zh-CN" altLang="en-US" sz="2400"/>
              <a:t>例如，</a:t>
            </a:r>
            <a:r>
              <a:rPr lang="en-US" altLang="zh-CN" sz="2400"/>
              <a:t>9 </a:t>
            </a:r>
            <a:r>
              <a:rPr lang="zh-CN" altLang="en-US" sz="2400"/>
              <a:t>的二进制表示为</a:t>
            </a:r>
            <a:r>
              <a:rPr lang="en-US" altLang="zh-CN" sz="2400"/>
              <a:t> 1001</a:t>
            </a:r>
            <a:r>
              <a:rPr lang="zh-CN" altLang="en-US" sz="2400"/>
              <a:t>，其中有</a:t>
            </a:r>
            <a:r>
              <a:rPr lang="en-US" altLang="zh-CN" sz="2400"/>
              <a:t> 2 </a:t>
            </a:r>
            <a:r>
              <a:rPr lang="zh-CN" altLang="en-US" sz="2400"/>
              <a:t>个</a:t>
            </a:r>
            <a:r>
              <a:rPr lang="en-US" altLang="zh-CN" sz="2400"/>
              <a:t> 0 </a:t>
            </a:r>
            <a:r>
              <a:rPr lang="zh-CN" altLang="en-US" sz="2400"/>
              <a:t>与</a:t>
            </a:r>
            <a:r>
              <a:rPr lang="en-US" altLang="zh-CN" sz="2400"/>
              <a:t> 2 </a:t>
            </a:r>
            <a:r>
              <a:rPr lang="zh-CN" altLang="en-US" sz="2400"/>
              <a:t>个</a:t>
            </a:r>
            <a:r>
              <a:rPr lang="en-US" altLang="zh-CN" sz="2400"/>
              <a:t> 1</a:t>
            </a:r>
            <a:r>
              <a:rPr lang="zh-CN" altLang="en-US" sz="2400"/>
              <a:t>。因此，</a:t>
            </a:r>
            <a:r>
              <a:rPr lang="en-US" altLang="zh-CN" sz="2400"/>
              <a:t>9 </a:t>
            </a:r>
            <a:r>
              <a:rPr lang="zh-CN" altLang="en-US" sz="2400"/>
              <a:t>是一个「圆数」。</a:t>
            </a:r>
            <a:endParaRPr lang="zh-CN" altLang="en-US" sz="2400"/>
          </a:p>
          <a:p>
            <a:endParaRPr lang="en-US" altLang="zh-CN" sz="2400"/>
          </a:p>
          <a:p>
            <a:r>
              <a:rPr lang="zh-CN" altLang="en-US" sz="2400"/>
              <a:t>请你计算，区间</a:t>
            </a:r>
            <a:r>
              <a:rPr lang="en-US" altLang="zh-CN" sz="2400"/>
              <a:t> [l,r] </a:t>
            </a:r>
            <a:r>
              <a:rPr lang="zh-CN" altLang="en-US" sz="2400"/>
              <a:t>中有多少个「圆数」。</a:t>
            </a:r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4171264" cy="1411605"/>
            <a:chOff x="0" y="0"/>
            <a:chExt cx="6569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83" y="688"/>
              <a:ext cx="5186" cy="1074"/>
              <a:chOff x="110634" y="312371"/>
              <a:chExt cx="3293267" cy="681791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5904" y="331415"/>
                <a:ext cx="2207997" cy="53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数位</a:t>
                </a:r>
                <a:r>
                  <a:rPr lang="en-US" alt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dp</a:t>
                </a:r>
                <a:endParaRPr lang="en-US" altLang="zh-CN" sz="2400" b="1" kern="0" spc="80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0634" y="312371"/>
                <a:ext cx="798243" cy="681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04.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2075" y="106045"/>
            <a:ext cx="5549265" cy="65671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91845" y="1915795"/>
            <a:ext cx="249999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</a:t>
            </a:r>
            <a:r>
              <a:rPr lang="en-US" altLang="zh-CN"/>
              <a:t>sum=32</a:t>
            </a:r>
            <a:r>
              <a:rPr lang="zh-CN" altLang="en-US"/>
              <a:t>作为基准。出现有效的</a:t>
            </a:r>
            <a:r>
              <a:rPr lang="en-US" altLang="zh-CN"/>
              <a:t>0</a:t>
            </a:r>
            <a:r>
              <a:rPr lang="zh-CN" altLang="en-US"/>
              <a:t>，就加</a:t>
            </a:r>
            <a:r>
              <a:rPr lang="en-US" altLang="zh-CN"/>
              <a:t>1</a:t>
            </a:r>
            <a:r>
              <a:rPr lang="zh-CN" altLang="en-US"/>
              <a:t>，出现</a:t>
            </a:r>
            <a:r>
              <a:rPr lang="en-US" altLang="zh-CN"/>
              <a:t>1</a:t>
            </a:r>
            <a:r>
              <a:rPr lang="zh-CN" altLang="en-US"/>
              <a:t>就减</a:t>
            </a:r>
            <a:r>
              <a:rPr lang="en-US" altLang="zh-CN"/>
              <a:t>1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这样最后</a:t>
            </a:r>
            <a:r>
              <a:rPr lang="en-US" altLang="zh-CN"/>
              <a:t>sum</a:t>
            </a:r>
            <a:r>
              <a:rPr lang="zh-CN" altLang="en-US"/>
              <a:t>大于等于</a:t>
            </a:r>
            <a:r>
              <a:rPr lang="en-US" altLang="zh-CN"/>
              <a:t>32</a:t>
            </a:r>
            <a:r>
              <a:rPr lang="zh-CN" altLang="en-US"/>
              <a:t>就是</a:t>
            </a:r>
            <a:r>
              <a:rPr lang="en-US" altLang="zh-CN"/>
              <a:t>0</a:t>
            </a:r>
            <a:r>
              <a:rPr lang="zh-CN" altLang="en-US"/>
              <a:t>比</a:t>
            </a:r>
            <a:r>
              <a:rPr lang="en-US" altLang="zh-CN"/>
              <a:t>1</a:t>
            </a:r>
            <a:r>
              <a:rPr lang="zh-CN" altLang="en-US"/>
              <a:t>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4171264" cy="1411605"/>
            <a:chOff x="0" y="0"/>
            <a:chExt cx="6569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83" y="688"/>
              <a:ext cx="5186" cy="1074"/>
              <a:chOff x="110634" y="312371"/>
              <a:chExt cx="3293267" cy="681791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5904" y="331415"/>
                <a:ext cx="2207997" cy="53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数位</a:t>
                </a:r>
                <a:r>
                  <a:rPr lang="en-US" alt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dp</a:t>
                </a:r>
                <a:endParaRPr lang="en-US" altLang="zh-CN" sz="2400" b="1" kern="0" spc="80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0634" y="312371"/>
                <a:ext cx="798243" cy="681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04.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1113155" y="1473835"/>
            <a:ext cx="10308590" cy="4911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</p:txBody>
      </p:sp>
      <p:sp>
        <p:nvSpPr>
          <p:cNvPr id="2" name="文本框 1"/>
          <p:cNvSpPr txBox="1"/>
          <p:nvPr/>
        </p:nvSpPr>
        <p:spPr>
          <a:xfrm>
            <a:off x="1543050" y="1452880"/>
            <a:ext cx="9136380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练习一下：</a:t>
            </a:r>
            <a:endParaRPr lang="zh-CN" altLang="en-US" sz="2800"/>
          </a:p>
          <a:p>
            <a:endParaRPr lang="zh-CN" altLang="en-US" sz="2800"/>
          </a:p>
          <a:p>
            <a:r>
              <a:rPr lang="en-US" altLang="zh-CN" sz="2800"/>
              <a:t>CF628D</a:t>
            </a:r>
            <a:endParaRPr lang="en-US" altLang="zh-CN" sz="2800"/>
          </a:p>
          <a:p>
            <a:r>
              <a:rPr lang="en-US" altLang="zh-CN" sz="2800"/>
              <a:t>luoguP4124</a:t>
            </a:r>
            <a:endParaRPr lang="en-US" altLang="zh-CN" sz="2800"/>
          </a:p>
          <a:p>
            <a:r>
              <a:rPr lang="en-US" altLang="zh-CN" sz="2800"/>
              <a:t>CF855E</a:t>
            </a:r>
            <a:endParaRPr lang="en-US" altLang="zh-CN" sz="2800"/>
          </a:p>
          <a:p>
            <a:endParaRPr lang="en-US" altLang="zh-CN" sz="2800"/>
          </a:p>
          <a:p>
            <a:r>
              <a:rPr lang="zh-CN" altLang="en-US" sz="2800"/>
              <a:t>这几题和之前套路差不多</a:t>
            </a: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4171264" cy="1411605"/>
            <a:chOff x="0" y="0"/>
            <a:chExt cx="6569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83" y="688"/>
              <a:ext cx="5186" cy="1074"/>
              <a:chOff x="110634" y="312371"/>
              <a:chExt cx="3293267" cy="681791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5904" y="331415"/>
                <a:ext cx="2207997" cy="53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数位</a:t>
                </a:r>
                <a:r>
                  <a:rPr lang="en-US" alt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dp</a:t>
                </a:r>
                <a:endParaRPr lang="en-US" altLang="zh-CN" sz="2400" b="1" kern="0" spc="80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0634" y="312371"/>
                <a:ext cx="798243" cy="681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04.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1113155" y="1473835"/>
            <a:ext cx="10308590" cy="4911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</p:txBody>
      </p:sp>
      <p:sp>
        <p:nvSpPr>
          <p:cNvPr id="2" name="文本框 1"/>
          <p:cNvSpPr txBox="1"/>
          <p:nvPr/>
        </p:nvSpPr>
        <p:spPr>
          <a:xfrm>
            <a:off x="1543050" y="1452880"/>
            <a:ext cx="91363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1172210" y="1792605"/>
            <a:ext cx="9547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337310" y="1771650"/>
            <a:ext cx="8714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96035" y="1864360"/>
            <a:ext cx="9115425" cy="43694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CF628D</a:t>
            </a:r>
            <a:r>
              <a:rPr lang="zh-CN" altLang="en-US" sz="2800"/>
              <a:t>：在之前的模板上把</a:t>
            </a:r>
            <a:r>
              <a:rPr lang="en-US" altLang="zh-CN" sz="2800"/>
              <a:t>sum</a:t>
            </a:r>
            <a:r>
              <a:rPr lang="zh-CN" altLang="en-US" sz="2800"/>
              <a:t>改为维护余数，引入一个新的变量记录这是奇位还是偶位</a:t>
            </a:r>
            <a:endParaRPr lang="zh-CN" altLang="en-US" sz="2800"/>
          </a:p>
          <a:p>
            <a:endParaRPr lang="zh-CN" altLang="en-US" sz="2800"/>
          </a:p>
          <a:p>
            <a:r>
              <a:rPr lang="en-US" altLang="zh-CN" sz="2800">
                <a:sym typeface="+mn-ea"/>
              </a:rPr>
              <a:t>luoguP4124</a:t>
            </a:r>
            <a:r>
              <a:rPr lang="zh-CN" altLang="en-US" sz="2800">
                <a:sym typeface="+mn-ea"/>
              </a:rPr>
              <a:t>：引入新变量来记录当前连续出现了几个数，最大连续的长度。</a:t>
            </a:r>
            <a:endParaRPr lang="en-US" altLang="zh-CN" sz="2800">
              <a:sym typeface="+mn-ea"/>
            </a:endParaRPr>
          </a:p>
          <a:p>
            <a:endParaRPr lang="en-US" altLang="zh-CN" sz="2800"/>
          </a:p>
          <a:p>
            <a:r>
              <a:rPr lang="en-US" altLang="zh-CN" sz="2800">
                <a:sym typeface="+mn-ea"/>
              </a:rPr>
              <a:t>CF855E</a:t>
            </a:r>
            <a:r>
              <a:rPr lang="zh-CN" altLang="en-US" sz="2800">
                <a:sym typeface="+mn-ea"/>
              </a:rPr>
              <a:t>：在模板上，把</a:t>
            </a:r>
            <a:r>
              <a:rPr lang="en-US" altLang="zh-CN" sz="2800">
                <a:sym typeface="+mn-ea"/>
              </a:rPr>
              <a:t>sum</a:t>
            </a:r>
            <a:r>
              <a:rPr lang="zh-CN" altLang="en-US" sz="2800">
                <a:sym typeface="+mn-ea"/>
              </a:rPr>
              <a:t>改成状态压缩，记录每个数码出现的奇偶性。</a:t>
            </a:r>
            <a:endParaRPr lang="en-US" altLang="zh-CN" sz="2800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4171264" cy="1411605"/>
            <a:chOff x="0" y="0"/>
            <a:chExt cx="6569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83" y="688"/>
              <a:ext cx="5186" cy="1074"/>
              <a:chOff x="110634" y="312371"/>
              <a:chExt cx="3293267" cy="681791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5904" y="331415"/>
                <a:ext cx="2207997" cy="53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数位</a:t>
                </a:r>
                <a:r>
                  <a:rPr lang="en-US" alt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dp</a:t>
                </a:r>
                <a:endParaRPr lang="en-US" altLang="zh-CN" sz="2400" b="1" kern="0" spc="80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0634" y="312371"/>
                <a:ext cx="798243" cy="681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04.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1113155" y="1473835"/>
            <a:ext cx="10308590" cy="4911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</p:txBody>
      </p:sp>
      <p:sp>
        <p:nvSpPr>
          <p:cNvPr id="2" name="文本框 1"/>
          <p:cNvSpPr txBox="1"/>
          <p:nvPr/>
        </p:nvSpPr>
        <p:spPr>
          <a:xfrm>
            <a:off x="1543050" y="1452880"/>
            <a:ext cx="91363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1398905" y="1648460"/>
            <a:ext cx="939355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挑战一下：</a:t>
            </a:r>
            <a:endParaRPr lang="zh-CN" altLang="en-US" sz="2800"/>
          </a:p>
          <a:p>
            <a:endParaRPr lang="zh-CN" altLang="en-US" sz="2800"/>
          </a:p>
          <a:p>
            <a:r>
              <a:rPr lang="en-US" altLang="zh-CN" sz="2800"/>
              <a:t>CCPC2022</a:t>
            </a:r>
            <a:r>
              <a:rPr lang="zh-CN" altLang="en-US" sz="2800"/>
              <a:t>广州站</a:t>
            </a:r>
            <a:r>
              <a:rPr lang="en-US" altLang="zh-CN" sz="2800"/>
              <a:t>M</a:t>
            </a:r>
            <a:endParaRPr lang="en-US" altLang="zh-CN" sz="2800"/>
          </a:p>
          <a:p>
            <a:r>
              <a:rPr lang="en-US" altLang="zh-CN" sz="2800"/>
              <a:t>https://codeforces.com/gym/104053/problem/M</a:t>
            </a:r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r>
              <a:rPr lang="en-US" altLang="zh-CN" sz="2800"/>
              <a:t>2023</a:t>
            </a:r>
            <a:r>
              <a:rPr lang="zh-CN" altLang="en-US" sz="2800"/>
              <a:t>湖北省赛</a:t>
            </a:r>
            <a:r>
              <a:rPr lang="en-US" altLang="zh-CN" sz="2800"/>
              <a:t>B</a:t>
            </a:r>
            <a:endParaRPr lang="en-US" altLang="zh-CN" sz="2800"/>
          </a:p>
          <a:p>
            <a:r>
              <a:rPr lang="en-US" altLang="zh-CN" sz="2800"/>
              <a:t>https://codeforces.com/gym/104337/problem/B</a:t>
            </a:r>
            <a:endParaRPr lang="en-US" altLang="zh-CN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4171264" cy="1411605"/>
            <a:chOff x="0" y="0"/>
            <a:chExt cx="6569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83" y="688"/>
              <a:ext cx="5186" cy="1074"/>
              <a:chOff x="110634" y="312371"/>
              <a:chExt cx="3293267" cy="681791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5904" y="331415"/>
                <a:ext cx="2207997" cy="53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数位</a:t>
                </a:r>
                <a:r>
                  <a:rPr lang="en-US" alt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dp</a:t>
                </a:r>
                <a:endParaRPr lang="en-US" altLang="zh-CN" sz="2400" b="1" kern="0" spc="80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0634" y="312371"/>
                <a:ext cx="798243" cy="681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04.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1113155" y="1473835"/>
            <a:ext cx="10308590" cy="4911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</p:txBody>
      </p:sp>
      <p:sp>
        <p:nvSpPr>
          <p:cNvPr id="2" name="文本框 1"/>
          <p:cNvSpPr txBox="1"/>
          <p:nvPr/>
        </p:nvSpPr>
        <p:spPr>
          <a:xfrm>
            <a:off x="1543050" y="1452880"/>
            <a:ext cx="91363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1398905" y="1648460"/>
            <a:ext cx="9393555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800"/>
              <a:t>广州</a:t>
            </a:r>
            <a:r>
              <a:rPr lang="en-US" altLang="zh-CN" sz="2800"/>
              <a:t>M</a:t>
            </a:r>
            <a:r>
              <a:rPr lang="zh-CN" altLang="en-US" sz="2800"/>
              <a:t>：我们一位一位考虑。每一位产生的贡献与这一位有多少个</a:t>
            </a:r>
            <a:r>
              <a:rPr lang="en-US" altLang="zh-CN" sz="2800"/>
              <a:t>1</a:t>
            </a:r>
            <a:r>
              <a:rPr lang="zh-CN" altLang="en-US" sz="2800"/>
              <a:t>有关。</a:t>
            </a:r>
            <a:endParaRPr lang="zh-CN" altLang="en-US" sz="2800"/>
          </a:p>
          <a:p>
            <a:r>
              <a:rPr lang="zh-CN" altLang="en-US" sz="2800"/>
              <a:t>因为每一位的贡献只会影响当前位和高位，不会影响低位，为了无后效性，之前我们都是从高位往低位做，我们这题从低位往高位做。</a:t>
            </a:r>
            <a:endParaRPr lang="zh-CN" altLang="en-US" sz="2800"/>
          </a:p>
          <a:p>
            <a:r>
              <a:rPr lang="zh-CN" altLang="en-US" sz="2800"/>
              <a:t>用</a:t>
            </a:r>
            <a:r>
              <a:rPr lang="en-US" altLang="zh-CN" sz="2800"/>
              <a:t>high</a:t>
            </a:r>
            <a:r>
              <a:rPr lang="zh-CN" altLang="en-US" sz="2800"/>
              <a:t>来记录低位是否是超出上界，是否需要高位中的某一位</a:t>
            </a:r>
            <a:r>
              <a:rPr lang="en-US" altLang="zh-CN" sz="2800"/>
              <a:t>“</a:t>
            </a:r>
            <a:r>
              <a:rPr lang="zh-CN" altLang="en-US" sz="2800"/>
              <a:t>不顶满</a:t>
            </a:r>
            <a:r>
              <a:rPr lang="en-US" altLang="zh-CN" sz="2800"/>
              <a:t>”</a:t>
            </a:r>
            <a:r>
              <a:rPr lang="zh-CN" altLang="en-US" sz="2800"/>
              <a:t>来补偿。</a:t>
            </a: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4171264" cy="1411605"/>
            <a:chOff x="0" y="0"/>
            <a:chExt cx="6569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83" y="688"/>
              <a:ext cx="5186" cy="1074"/>
              <a:chOff x="110634" y="312371"/>
              <a:chExt cx="3293267" cy="681791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5904" y="331415"/>
                <a:ext cx="2207997" cy="53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数位</a:t>
                </a:r>
                <a:r>
                  <a:rPr lang="en-US" alt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dp</a:t>
                </a:r>
                <a:endParaRPr lang="en-US" altLang="zh-CN" sz="2400" b="1" kern="0" spc="80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0634" y="312371"/>
                <a:ext cx="798243" cy="681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04.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1113155" y="1473835"/>
            <a:ext cx="10308590" cy="4911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</p:txBody>
      </p:sp>
      <p:sp>
        <p:nvSpPr>
          <p:cNvPr id="2" name="文本框 1"/>
          <p:cNvSpPr txBox="1"/>
          <p:nvPr/>
        </p:nvSpPr>
        <p:spPr>
          <a:xfrm>
            <a:off x="1543050" y="1452880"/>
            <a:ext cx="91363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1398905" y="1648460"/>
            <a:ext cx="939355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湖北</a:t>
            </a:r>
            <a:r>
              <a:rPr lang="en-US" altLang="zh-CN" sz="2800"/>
              <a:t>B</a:t>
            </a:r>
            <a:r>
              <a:rPr lang="zh-CN" altLang="en-US" sz="2800"/>
              <a:t>：容易想到设计这样的状态：每一个数字出现了几次。</a:t>
            </a:r>
            <a:endParaRPr lang="zh-CN" altLang="en-US" sz="2800"/>
          </a:p>
          <a:p>
            <a:r>
              <a:rPr lang="zh-CN" altLang="en-US" sz="2800"/>
              <a:t>但是状态数逼近</a:t>
            </a:r>
            <a:r>
              <a:rPr lang="en-US" altLang="zh-CN" sz="2800"/>
              <a:t>1e7</a:t>
            </a:r>
            <a:r>
              <a:rPr lang="zh-CN" altLang="en-US" sz="2800"/>
              <a:t>，还有其他开销，无法通过。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由于我们只记搜无限制的部分，我们实际上不关心</a:t>
            </a:r>
            <a:r>
              <a:rPr lang="en-US" altLang="zh-CN" sz="2800"/>
              <a:t>0~9</a:t>
            </a:r>
            <a:r>
              <a:rPr lang="zh-CN" altLang="en-US" sz="2800"/>
              <a:t>每个数出现了几次，我们只关心出现</a:t>
            </a:r>
            <a:r>
              <a:rPr lang="en-US" altLang="zh-CN" sz="2800"/>
              <a:t>1</a:t>
            </a:r>
            <a:r>
              <a:rPr lang="zh-CN" altLang="en-US" sz="2800"/>
              <a:t>次、</a:t>
            </a:r>
            <a:r>
              <a:rPr lang="en-US" altLang="zh-CN" sz="2800"/>
              <a:t>2</a:t>
            </a:r>
            <a:r>
              <a:rPr lang="zh-CN" altLang="en-US" sz="2800"/>
              <a:t>次</a:t>
            </a:r>
            <a:r>
              <a:rPr lang="en-US" altLang="zh-CN" sz="2800"/>
              <a:t>……</a:t>
            </a:r>
            <a:r>
              <a:rPr lang="zh-CN" altLang="en-US" sz="2800"/>
              <a:t>的有几个数，不用知道具体是哪个数。因为无限制之后</a:t>
            </a:r>
            <a:r>
              <a:rPr lang="en-US" altLang="zh-CN" sz="2800"/>
              <a:t>0~9</a:t>
            </a:r>
            <a:r>
              <a:rPr lang="zh-CN" altLang="en-US" sz="2800"/>
              <a:t>等价。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这样状态数是</a:t>
            </a:r>
            <a:r>
              <a:rPr lang="en-US" altLang="zh-CN" sz="2800"/>
              <a:t>1500</a:t>
            </a:r>
            <a:r>
              <a:rPr lang="zh-CN" altLang="en-US" sz="2800"/>
              <a:t>左右</a:t>
            </a: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0"/>
            <a:ext cx="4171264" cy="1411605"/>
            <a:chOff x="0" y="0"/>
            <a:chExt cx="6569" cy="2223"/>
          </a:xfrm>
        </p:grpSpPr>
        <p:grpSp>
          <p:nvGrpSpPr>
            <p:cNvPr id="37" name="组合 36"/>
            <p:cNvGrpSpPr/>
            <p:nvPr/>
          </p:nvGrpSpPr>
          <p:grpSpPr>
            <a:xfrm>
              <a:off x="1383" y="688"/>
              <a:ext cx="5186" cy="1074"/>
              <a:chOff x="110634" y="312371"/>
              <a:chExt cx="3293267" cy="681791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195904" y="331415"/>
                <a:ext cx="2207997" cy="53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数位</a:t>
                </a:r>
                <a:r>
                  <a:rPr lang="en-US" altLang="zh-CN" sz="2400" b="1" kern="0" spc="8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dp</a:t>
                </a:r>
                <a:endParaRPr lang="en-US" altLang="zh-CN" sz="2400" b="1" kern="0" spc="80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0634" y="312371"/>
                <a:ext cx="798243" cy="681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04.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39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1113155" y="1473835"/>
            <a:ext cx="10308590" cy="4911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</p:txBody>
      </p:sp>
      <p:sp>
        <p:nvSpPr>
          <p:cNvPr id="2" name="文本框 1"/>
          <p:cNvSpPr txBox="1"/>
          <p:nvPr/>
        </p:nvSpPr>
        <p:spPr>
          <a:xfrm>
            <a:off x="1543050" y="1452880"/>
            <a:ext cx="91363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1398905" y="1648460"/>
            <a:ext cx="939355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800"/>
              <a:t>参考博客：</a:t>
            </a:r>
            <a:endParaRPr lang="zh-CN" sz="2800"/>
          </a:p>
          <a:p>
            <a:endParaRPr lang="zh-CN" sz="2800"/>
          </a:p>
          <a:p>
            <a:r>
              <a:rPr lang="en-US" altLang="zh-CN" sz="2800"/>
              <a:t>https://zhuanlan.zhihu.com/p/613107701</a:t>
            </a:r>
            <a:endParaRPr lang="en-US" altLang="zh-CN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17" y="-453394"/>
            <a:ext cx="12804169" cy="5315763"/>
            <a:chOff x="317" y="-453394"/>
            <a:chExt cx="12804169" cy="5315763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367" b="23699"/>
            <a:stretch>
              <a:fillRect/>
            </a:stretch>
          </p:blipFill>
          <p:spPr>
            <a:xfrm>
              <a:off x="2086" y="-453394"/>
              <a:ext cx="12189914" cy="4708094"/>
            </a:xfrm>
            <a:prstGeom prst="rect">
              <a:avLst/>
            </a:prstGeom>
          </p:spPr>
        </p:pic>
        <p:sp>
          <p:nvSpPr>
            <p:cNvPr id="8" name="任意多边形: 形状 7"/>
            <p:cNvSpPr/>
            <p:nvPr/>
          </p:nvSpPr>
          <p:spPr>
            <a:xfrm>
              <a:off x="614572" y="1230406"/>
              <a:ext cx="12189914" cy="3631963"/>
            </a:xfrm>
            <a:custGeom>
              <a:avLst/>
              <a:gdLst>
                <a:gd name="connsiteX0" fmla="*/ 68366 w 12152119"/>
                <a:gd name="connsiteY0" fmla="*/ 3221765 h 3631963"/>
                <a:gd name="connsiteX1" fmla="*/ 136732 w 12152119"/>
                <a:gd name="connsiteY1" fmla="*/ 3196128 h 3631963"/>
                <a:gd name="connsiteX2" fmla="*/ 324740 w 12152119"/>
                <a:gd name="connsiteY2" fmla="*/ 3110670 h 3631963"/>
                <a:gd name="connsiteX3" fmla="*/ 1204957 w 12152119"/>
                <a:gd name="connsiteY3" fmla="*/ 2820113 h 3631963"/>
                <a:gd name="connsiteX4" fmla="*/ 1392964 w 12152119"/>
                <a:gd name="connsiteY4" fmla="*/ 2768838 h 3631963"/>
                <a:gd name="connsiteX5" fmla="*/ 1888620 w 12152119"/>
                <a:gd name="connsiteY5" fmla="*/ 2657743 h 3631963"/>
                <a:gd name="connsiteX6" fmla="*/ 2264635 w 12152119"/>
                <a:gd name="connsiteY6" fmla="*/ 2580830 h 3631963"/>
                <a:gd name="connsiteX7" fmla="*/ 2982482 w 12152119"/>
                <a:gd name="connsiteY7" fmla="*/ 2469735 h 3631963"/>
                <a:gd name="connsiteX8" fmla="*/ 3503775 w 12152119"/>
                <a:gd name="connsiteY8" fmla="*/ 2350094 h 3631963"/>
                <a:gd name="connsiteX9" fmla="*/ 3828516 w 12152119"/>
                <a:gd name="connsiteY9" fmla="*/ 2247544 h 3631963"/>
                <a:gd name="connsiteX10" fmla="*/ 3965248 w 12152119"/>
                <a:gd name="connsiteY10" fmla="*/ 2213361 h 3631963"/>
                <a:gd name="connsiteX11" fmla="*/ 4127618 w 12152119"/>
                <a:gd name="connsiteY11" fmla="*/ 2162086 h 3631963"/>
                <a:gd name="connsiteX12" fmla="*/ 4289988 w 12152119"/>
                <a:gd name="connsiteY12" fmla="*/ 2127903 h 3631963"/>
                <a:gd name="connsiteX13" fmla="*/ 4956560 w 12152119"/>
                <a:gd name="connsiteY13" fmla="*/ 2016808 h 3631963"/>
                <a:gd name="connsiteX14" fmla="*/ 5255663 w 12152119"/>
                <a:gd name="connsiteY14" fmla="*/ 1999716 h 3631963"/>
                <a:gd name="connsiteX15" fmla="*/ 5828231 w 12152119"/>
                <a:gd name="connsiteY15" fmla="*/ 1905713 h 3631963"/>
                <a:gd name="connsiteX16" fmla="*/ 5982056 w 12152119"/>
                <a:gd name="connsiteY16" fmla="*/ 1862984 h 3631963"/>
                <a:gd name="connsiteX17" fmla="*/ 6187155 w 12152119"/>
                <a:gd name="connsiteY17" fmla="*/ 1828800 h 3631963"/>
                <a:gd name="connsiteX18" fmla="*/ 6366616 w 12152119"/>
                <a:gd name="connsiteY18" fmla="*/ 1803163 h 3631963"/>
                <a:gd name="connsiteX19" fmla="*/ 6725540 w 12152119"/>
                <a:gd name="connsiteY19" fmla="*/ 1734797 h 3631963"/>
                <a:gd name="connsiteX20" fmla="*/ 7084463 w 12152119"/>
                <a:gd name="connsiteY20" fmla="*/ 1649339 h 3631963"/>
                <a:gd name="connsiteX21" fmla="*/ 7238287 w 12152119"/>
                <a:gd name="connsiteY21" fmla="*/ 1615156 h 3631963"/>
                <a:gd name="connsiteX22" fmla="*/ 7742489 w 12152119"/>
                <a:gd name="connsiteY22" fmla="*/ 1427148 h 3631963"/>
                <a:gd name="connsiteX23" fmla="*/ 7768127 w 12152119"/>
                <a:gd name="connsiteY23" fmla="*/ 1401511 h 3631963"/>
                <a:gd name="connsiteX24" fmla="*/ 7785218 w 12152119"/>
                <a:gd name="connsiteY24" fmla="*/ 1367328 h 3631963"/>
                <a:gd name="connsiteX25" fmla="*/ 7853585 w 12152119"/>
                <a:gd name="connsiteY25" fmla="*/ 1358782 h 3631963"/>
                <a:gd name="connsiteX26" fmla="*/ 7981772 w 12152119"/>
                <a:gd name="connsiteY26" fmla="*/ 1341690 h 3631963"/>
                <a:gd name="connsiteX27" fmla="*/ 8041592 w 12152119"/>
                <a:gd name="connsiteY27" fmla="*/ 1333144 h 3631963"/>
                <a:gd name="connsiteX28" fmla="*/ 8212508 w 12152119"/>
                <a:gd name="connsiteY28" fmla="*/ 1290415 h 3631963"/>
                <a:gd name="connsiteX29" fmla="*/ 8588523 w 12152119"/>
                <a:gd name="connsiteY29" fmla="*/ 1204957 h 3631963"/>
                <a:gd name="connsiteX30" fmla="*/ 8716710 w 12152119"/>
                <a:gd name="connsiteY30" fmla="*/ 1170774 h 3631963"/>
                <a:gd name="connsiteX31" fmla="*/ 8810714 w 12152119"/>
                <a:gd name="connsiteY31" fmla="*/ 1153683 h 3631963"/>
                <a:gd name="connsiteX32" fmla="*/ 8938901 w 12152119"/>
                <a:gd name="connsiteY32" fmla="*/ 1110954 h 3631963"/>
                <a:gd name="connsiteX33" fmla="*/ 9058542 w 12152119"/>
                <a:gd name="connsiteY33" fmla="*/ 1085316 h 3631963"/>
                <a:gd name="connsiteX34" fmla="*/ 9161091 w 12152119"/>
                <a:gd name="connsiteY34" fmla="*/ 1059679 h 3631963"/>
                <a:gd name="connsiteX35" fmla="*/ 9246549 w 12152119"/>
                <a:gd name="connsiteY35" fmla="*/ 1016950 h 3631963"/>
                <a:gd name="connsiteX36" fmla="*/ 9306370 w 12152119"/>
                <a:gd name="connsiteY36" fmla="*/ 991313 h 3631963"/>
                <a:gd name="connsiteX37" fmla="*/ 9383282 w 12152119"/>
                <a:gd name="connsiteY37" fmla="*/ 948584 h 3631963"/>
                <a:gd name="connsiteX38" fmla="*/ 9485831 w 12152119"/>
                <a:gd name="connsiteY38" fmla="*/ 914400 h 3631963"/>
                <a:gd name="connsiteX39" fmla="*/ 9588381 w 12152119"/>
                <a:gd name="connsiteY39" fmla="*/ 863126 h 3631963"/>
                <a:gd name="connsiteX40" fmla="*/ 9767843 w 12152119"/>
                <a:gd name="connsiteY40" fmla="*/ 769122 h 3631963"/>
                <a:gd name="connsiteX41" fmla="*/ 9904575 w 12152119"/>
                <a:gd name="connsiteY41" fmla="*/ 734939 h 3631963"/>
                <a:gd name="connsiteX42" fmla="*/ 9998579 w 12152119"/>
                <a:gd name="connsiteY42" fmla="*/ 700756 h 3631963"/>
                <a:gd name="connsiteX43" fmla="*/ 10032762 w 12152119"/>
                <a:gd name="connsiteY43" fmla="*/ 692210 h 3631963"/>
                <a:gd name="connsiteX44" fmla="*/ 10066945 w 12152119"/>
                <a:gd name="connsiteY44" fmla="*/ 675118 h 3631963"/>
                <a:gd name="connsiteX45" fmla="*/ 10109674 w 12152119"/>
                <a:gd name="connsiteY45" fmla="*/ 666572 h 3631963"/>
                <a:gd name="connsiteX46" fmla="*/ 10135312 w 12152119"/>
                <a:gd name="connsiteY46" fmla="*/ 658027 h 3631963"/>
                <a:gd name="connsiteX47" fmla="*/ 10220770 w 12152119"/>
                <a:gd name="connsiteY47" fmla="*/ 632389 h 3631963"/>
                <a:gd name="connsiteX48" fmla="*/ 10272044 w 12152119"/>
                <a:gd name="connsiteY48" fmla="*/ 615298 h 3631963"/>
                <a:gd name="connsiteX49" fmla="*/ 10306228 w 12152119"/>
                <a:gd name="connsiteY49" fmla="*/ 606752 h 3631963"/>
                <a:gd name="connsiteX50" fmla="*/ 10348957 w 12152119"/>
                <a:gd name="connsiteY50" fmla="*/ 589660 h 3631963"/>
                <a:gd name="connsiteX51" fmla="*/ 10468598 w 12152119"/>
                <a:gd name="connsiteY51" fmla="*/ 564023 h 3631963"/>
                <a:gd name="connsiteX52" fmla="*/ 10545510 w 12152119"/>
                <a:gd name="connsiteY52" fmla="*/ 538386 h 3631963"/>
                <a:gd name="connsiteX53" fmla="*/ 10622422 w 12152119"/>
                <a:gd name="connsiteY53" fmla="*/ 512748 h 3631963"/>
                <a:gd name="connsiteX54" fmla="*/ 10648059 w 12152119"/>
                <a:gd name="connsiteY54" fmla="*/ 487111 h 3631963"/>
                <a:gd name="connsiteX55" fmla="*/ 10682243 w 12152119"/>
                <a:gd name="connsiteY55" fmla="*/ 478565 h 3631963"/>
                <a:gd name="connsiteX56" fmla="*/ 10716426 w 12152119"/>
                <a:gd name="connsiteY56" fmla="*/ 461473 h 3631963"/>
                <a:gd name="connsiteX57" fmla="*/ 10759155 w 12152119"/>
                <a:gd name="connsiteY57" fmla="*/ 444382 h 3631963"/>
                <a:gd name="connsiteX58" fmla="*/ 10784792 w 12152119"/>
                <a:gd name="connsiteY58" fmla="*/ 427290 h 3631963"/>
                <a:gd name="connsiteX59" fmla="*/ 10810430 w 12152119"/>
                <a:gd name="connsiteY59" fmla="*/ 418744 h 3631963"/>
                <a:gd name="connsiteX60" fmla="*/ 10853159 w 12152119"/>
                <a:gd name="connsiteY60" fmla="*/ 401653 h 3631963"/>
                <a:gd name="connsiteX61" fmla="*/ 10938616 w 12152119"/>
                <a:gd name="connsiteY61" fmla="*/ 376015 h 3631963"/>
                <a:gd name="connsiteX62" fmla="*/ 10964254 w 12152119"/>
                <a:gd name="connsiteY62" fmla="*/ 358924 h 3631963"/>
                <a:gd name="connsiteX63" fmla="*/ 11024074 w 12152119"/>
                <a:gd name="connsiteY63" fmla="*/ 341832 h 3631963"/>
                <a:gd name="connsiteX64" fmla="*/ 11049712 w 12152119"/>
                <a:gd name="connsiteY64" fmla="*/ 333286 h 3631963"/>
                <a:gd name="connsiteX65" fmla="*/ 11075349 w 12152119"/>
                <a:gd name="connsiteY65" fmla="*/ 316195 h 3631963"/>
                <a:gd name="connsiteX66" fmla="*/ 11135170 w 12152119"/>
                <a:gd name="connsiteY66" fmla="*/ 299103 h 3631963"/>
                <a:gd name="connsiteX67" fmla="*/ 11169353 w 12152119"/>
                <a:gd name="connsiteY67" fmla="*/ 282012 h 3631963"/>
                <a:gd name="connsiteX68" fmla="*/ 11263357 w 12152119"/>
                <a:gd name="connsiteY68" fmla="*/ 247829 h 3631963"/>
                <a:gd name="connsiteX69" fmla="*/ 11331723 w 12152119"/>
                <a:gd name="connsiteY69" fmla="*/ 213645 h 3631963"/>
                <a:gd name="connsiteX70" fmla="*/ 11400089 w 12152119"/>
                <a:gd name="connsiteY70" fmla="*/ 179462 h 3631963"/>
                <a:gd name="connsiteX71" fmla="*/ 11434273 w 12152119"/>
                <a:gd name="connsiteY71" fmla="*/ 162371 h 3631963"/>
                <a:gd name="connsiteX72" fmla="*/ 11468456 w 12152119"/>
                <a:gd name="connsiteY72" fmla="*/ 145279 h 3631963"/>
                <a:gd name="connsiteX73" fmla="*/ 11528276 w 12152119"/>
                <a:gd name="connsiteY73" fmla="*/ 128187 h 3631963"/>
                <a:gd name="connsiteX74" fmla="*/ 11571005 w 12152119"/>
                <a:gd name="connsiteY74" fmla="*/ 111096 h 3631963"/>
                <a:gd name="connsiteX75" fmla="*/ 11605188 w 12152119"/>
                <a:gd name="connsiteY75" fmla="*/ 102550 h 3631963"/>
                <a:gd name="connsiteX76" fmla="*/ 11682101 w 12152119"/>
                <a:gd name="connsiteY76" fmla="*/ 76913 h 3631963"/>
                <a:gd name="connsiteX77" fmla="*/ 11818833 w 12152119"/>
                <a:gd name="connsiteY77" fmla="*/ 34184 h 3631963"/>
                <a:gd name="connsiteX78" fmla="*/ 11955566 w 12152119"/>
                <a:gd name="connsiteY78" fmla="*/ 0 h 3631963"/>
                <a:gd name="connsiteX79" fmla="*/ 12075207 w 12152119"/>
                <a:gd name="connsiteY79" fmla="*/ 51275 h 3631963"/>
                <a:gd name="connsiteX80" fmla="*/ 12117936 w 12152119"/>
                <a:gd name="connsiteY80" fmla="*/ 145279 h 3631963"/>
                <a:gd name="connsiteX81" fmla="*/ 12152119 w 12152119"/>
                <a:gd name="connsiteY81" fmla="*/ 341832 h 3631963"/>
                <a:gd name="connsiteX82" fmla="*/ 12135028 w 12152119"/>
                <a:gd name="connsiteY82" fmla="*/ 974221 h 3631963"/>
                <a:gd name="connsiteX83" fmla="*/ 12100844 w 12152119"/>
                <a:gd name="connsiteY83" fmla="*/ 1213503 h 3631963"/>
                <a:gd name="connsiteX84" fmla="*/ 11955566 w 12152119"/>
                <a:gd name="connsiteY84" fmla="*/ 1888621 h 3631963"/>
                <a:gd name="connsiteX85" fmla="*/ 11947020 w 12152119"/>
                <a:gd name="connsiteY85" fmla="*/ 2367186 h 3631963"/>
                <a:gd name="connsiteX86" fmla="*/ 11989749 w 12152119"/>
                <a:gd name="connsiteY86" fmla="*/ 2572285 h 3631963"/>
                <a:gd name="connsiteX87" fmla="*/ 12006841 w 12152119"/>
                <a:gd name="connsiteY87" fmla="*/ 2777384 h 3631963"/>
                <a:gd name="connsiteX88" fmla="*/ 12049570 w 12152119"/>
                <a:gd name="connsiteY88" fmla="*/ 3127761 h 3631963"/>
                <a:gd name="connsiteX89" fmla="*/ 11981203 w 12152119"/>
                <a:gd name="connsiteY89" fmla="*/ 3537959 h 3631963"/>
                <a:gd name="connsiteX90" fmla="*/ 11895745 w 12152119"/>
                <a:gd name="connsiteY90" fmla="*/ 3597780 h 3631963"/>
                <a:gd name="connsiteX91" fmla="*/ 11741921 w 12152119"/>
                <a:gd name="connsiteY91" fmla="*/ 3631963 h 3631963"/>
                <a:gd name="connsiteX92" fmla="*/ 10998437 w 12152119"/>
                <a:gd name="connsiteY92" fmla="*/ 3572143 h 3631963"/>
                <a:gd name="connsiteX93" fmla="*/ 10571147 w 12152119"/>
                <a:gd name="connsiteY93" fmla="*/ 3546505 h 3631963"/>
                <a:gd name="connsiteX94" fmla="*/ 9990033 w 12152119"/>
                <a:gd name="connsiteY94" fmla="*/ 3478139 h 3631963"/>
                <a:gd name="connsiteX95" fmla="*/ 9836209 w 12152119"/>
                <a:gd name="connsiteY95" fmla="*/ 3461047 h 3631963"/>
                <a:gd name="connsiteX96" fmla="*/ 8998721 w 12152119"/>
                <a:gd name="connsiteY96" fmla="*/ 3469593 h 3631963"/>
                <a:gd name="connsiteX97" fmla="*/ 8545794 w 12152119"/>
                <a:gd name="connsiteY97" fmla="*/ 3503776 h 3631963"/>
                <a:gd name="connsiteX98" fmla="*/ 8024501 w 12152119"/>
                <a:gd name="connsiteY98" fmla="*/ 3537959 h 3631963"/>
                <a:gd name="connsiteX99" fmla="*/ 6520441 w 12152119"/>
                <a:gd name="connsiteY99" fmla="*/ 3529414 h 3631963"/>
                <a:gd name="connsiteX100" fmla="*/ 6058968 w 12152119"/>
                <a:gd name="connsiteY100" fmla="*/ 3520868 h 3631963"/>
                <a:gd name="connsiteX101" fmla="*/ 4879648 w 12152119"/>
                <a:gd name="connsiteY101" fmla="*/ 3529414 h 3631963"/>
                <a:gd name="connsiteX102" fmla="*/ 4520725 w 12152119"/>
                <a:gd name="connsiteY102" fmla="*/ 3555051 h 3631963"/>
                <a:gd name="connsiteX103" fmla="*/ 3725966 w 12152119"/>
                <a:gd name="connsiteY103" fmla="*/ 3580688 h 3631963"/>
                <a:gd name="connsiteX104" fmla="*/ 2512463 w 12152119"/>
                <a:gd name="connsiteY104" fmla="*/ 3606326 h 3631963"/>
                <a:gd name="connsiteX105" fmla="*/ 1640792 w 12152119"/>
                <a:gd name="connsiteY105" fmla="*/ 3614872 h 3631963"/>
                <a:gd name="connsiteX106" fmla="*/ 914400 w 12152119"/>
                <a:gd name="connsiteY106" fmla="*/ 3589234 h 3631963"/>
                <a:gd name="connsiteX107" fmla="*/ 769121 w 12152119"/>
                <a:gd name="connsiteY107" fmla="*/ 3580688 h 3631963"/>
                <a:gd name="connsiteX108" fmla="*/ 376015 w 12152119"/>
                <a:gd name="connsiteY108" fmla="*/ 3512322 h 3631963"/>
                <a:gd name="connsiteX109" fmla="*/ 324740 w 12152119"/>
                <a:gd name="connsiteY109" fmla="*/ 3503776 h 3631963"/>
                <a:gd name="connsiteX110" fmla="*/ 153824 w 12152119"/>
                <a:gd name="connsiteY110" fmla="*/ 3435410 h 3631963"/>
                <a:gd name="connsiteX111" fmla="*/ 94003 w 12152119"/>
                <a:gd name="connsiteY111" fmla="*/ 3384135 h 3631963"/>
                <a:gd name="connsiteX112" fmla="*/ 42729 w 12152119"/>
                <a:gd name="connsiteY112" fmla="*/ 3341406 h 3631963"/>
                <a:gd name="connsiteX113" fmla="*/ 0 w 12152119"/>
                <a:gd name="connsiteY113" fmla="*/ 3281586 h 3631963"/>
                <a:gd name="connsiteX114" fmla="*/ 8545 w 12152119"/>
                <a:gd name="connsiteY114" fmla="*/ 3255948 h 3631963"/>
                <a:gd name="connsiteX115" fmla="*/ 68366 w 12152119"/>
                <a:gd name="connsiteY115" fmla="*/ 3230311 h 3631963"/>
                <a:gd name="connsiteX116" fmla="*/ 68366 w 12152119"/>
                <a:gd name="connsiteY116" fmla="*/ 3221765 h 363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2152119" h="3631963">
                  <a:moveTo>
                    <a:pt x="68366" y="3221765"/>
                  </a:moveTo>
                  <a:cubicBezTo>
                    <a:pt x="79760" y="3216068"/>
                    <a:pt x="114400" y="3205805"/>
                    <a:pt x="136732" y="3196128"/>
                  </a:cubicBezTo>
                  <a:cubicBezTo>
                    <a:pt x="199896" y="3168757"/>
                    <a:pt x="260754" y="3136061"/>
                    <a:pt x="324740" y="3110670"/>
                  </a:cubicBezTo>
                  <a:cubicBezTo>
                    <a:pt x="599166" y="3001771"/>
                    <a:pt x="926692" y="2896004"/>
                    <a:pt x="1204957" y="2820113"/>
                  </a:cubicBezTo>
                  <a:cubicBezTo>
                    <a:pt x="1267626" y="2803021"/>
                    <a:pt x="1329876" y="2784312"/>
                    <a:pt x="1392964" y="2768838"/>
                  </a:cubicBezTo>
                  <a:cubicBezTo>
                    <a:pt x="1421003" y="2761960"/>
                    <a:pt x="1842552" y="2667476"/>
                    <a:pt x="1888620" y="2657743"/>
                  </a:cubicBezTo>
                  <a:cubicBezTo>
                    <a:pt x="2013791" y="2631298"/>
                    <a:pt x="2137987" y="2598922"/>
                    <a:pt x="2264635" y="2580830"/>
                  </a:cubicBezTo>
                  <a:cubicBezTo>
                    <a:pt x="2439361" y="2555869"/>
                    <a:pt x="2791313" y="2509562"/>
                    <a:pt x="2982482" y="2469735"/>
                  </a:cubicBezTo>
                  <a:cubicBezTo>
                    <a:pt x="3157017" y="2433374"/>
                    <a:pt x="3331340" y="2395380"/>
                    <a:pt x="3503775" y="2350094"/>
                  </a:cubicBezTo>
                  <a:cubicBezTo>
                    <a:pt x="3613568" y="2321259"/>
                    <a:pt x="3719677" y="2279793"/>
                    <a:pt x="3828516" y="2247544"/>
                  </a:cubicBezTo>
                  <a:cubicBezTo>
                    <a:pt x="3873560" y="2234197"/>
                    <a:pt x="3920076" y="2226267"/>
                    <a:pt x="3965248" y="2213361"/>
                  </a:cubicBezTo>
                  <a:cubicBezTo>
                    <a:pt x="4019822" y="2197768"/>
                    <a:pt x="4072729" y="2176531"/>
                    <a:pt x="4127618" y="2162086"/>
                  </a:cubicBezTo>
                  <a:cubicBezTo>
                    <a:pt x="4181107" y="2148010"/>
                    <a:pt x="4235691" y="2138438"/>
                    <a:pt x="4289988" y="2127903"/>
                  </a:cubicBezTo>
                  <a:cubicBezTo>
                    <a:pt x="4496570" y="2087820"/>
                    <a:pt x="4740993" y="2036707"/>
                    <a:pt x="4956560" y="2016808"/>
                  </a:cubicBezTo>
                  <a:cubicBezTo>
                    <a:pt x="5056001" y="2007629"/>
                    <a:pt x="5155962" y="2005413"/>
                    <a:pt x="5255663" y="1999716"/>
                  </a:cubicBezTo>
                  <a:cubicBezTo>
                    <a:pt x="5485868" y="1966830"/>
                    <a:pt x="5616631" y="1954922"/>
                    <a:pt x="5828231" y="1905713"/>
                  </a:cubicBezTo>
                  <a:cubicBezTo>
                    <a:pt x="5880064" y="1893659"/>
                    <a:pt x="5929564" y="1871733"/>
                    <a:pt x="5982056" y="1862984"/>
                  </a:cubicBezTo>
                  <a:lnTo>
                    <a:pt x="6187155" y="1828800"/>
                  </a:lnTo>
                  <a:cubicBezTo>
                    <a:pt x="6246865" y="1819512"/>
                    <a:pt x="6307470" y="1815542"/>
                    <a:pt x="6366616" y="1803163"/>
                  </a:cubicBezTo>
                  <a:cubicBezTo>
                    <a:pt x="6751009" y="1722709"/>
                    <a:pt x="6365577" y="1770792"/>
                    <a:pt x="6725540" y="1734797"/>
                  </a:cubicBezTo>
                  <a:lnTo>
                    <a:pt x="7084463" y="1649339"/>
                  </a:lnTo>
                  <a:cubicBezTo>
                    <a:pt x="7135614" y="1637404"/>
                    <a:pt x="7188248" y="1631126"/>
                    <a:pt x="7238287" y="1615156"/>
                  </a:cubicBezTo>
                  <a:cubicBezTo>
                    <a:pt x="7486953" y="1535795"/>
                    <a:pt x="7572243" y="1540646"/>
                    <a:pt x="7742489" y="1427148"/>
                  </a:cubicBezTo>
                  <a:cubicBezTo>
                    <a:pt x="7752545" y="1420444"/>
                    <a:pt x="7759581" y="1410057"/>
                    <a:pt x="7768127" y="1401511"/>
                  </a:cubicBezTo>
                  <a:cubicBezTo>
                    <a:pt x="7773824" y="1390117"/>
                    <a:pt x="7773824" y="1373025"/>
                    <a:pt x="7785218" y="1367328"/>
                  </a:cubicBezTo>
                  <a:cubicBezTo>
                    <a:pt x="7805760" y="1357057"/>
                    <a:pt x="7830776" y="1361465"/>
                    <a:pt x="7853585" y="1358782"/>
                  </a:cubicBezTo>
                  <a:cubicBezTo>
                    <a:pt x="8005158" y="1340950"/>
                    <a:pt x="7866469" y="1359429"/>
                    <a:pt x="7981772" y="1341690"/>
                  </a:cubicBezTo>
                  <a:cubicBezTo>
                    <a:pt x="8001680" y="1338627"/>
                    <a:pt x="8021929" y="1337514"/>
                    <a:pt x="8041592" y="1333144"/>
                  </a:cubicBezTo>
                  <a:cubicBezTo>
                    <a:pt x="8098919" y="1320405"/>
                    <a:pt x="8154923" y="1301932"/>
                    <a:pt x="8212508" y="1290415"/>
                  </a:cubicBezTo>
                  <a:cubicBezTo>
                    <a:pt x="8351733" y="1262571"/>
                    <a:pt x="8419698" y="1249977"/>
                    <a:pt x="8588523" y="1204957"/>
                  </a:cubicBezTo>
                  <a:cubicBezTo>
                    <a:pt x="8631252" y="1193563"/>
                    <a:pt x="8673620" y="1180718"/>
                    <a:pt x="8716710" y="1170774"/>
                  </a:cubicBezTo>
                  <a:cubicBezTo>
                    <a:pt x="8747743" y="1163613"/>
                    <a:pt x="8779961" y="1161963"/>
                    <a:pt x="8810714" y="1153683"/>
                  </a:cubicBezTo>
                  <a:cubicBezTo>
                    <a:pt x="8854206" y="1141974"/>
                    <a:pt x="8895482" y="1122932"/>
                    <a:pt x="8938901" y="1110954"/>
                  </a:cubicBezTo>
                  <a:cubicBezTo>
                    <a:pt x="8978218" y="1100108"/>
                    <a:pt x="9018801" y="1094487"/>
                    <a:pt x="9058542" y="1085316"/>
                  </a:cubicBezTo>
                  <a:cubicBezTo>
                    <a:pt x="9092875" y="1077393"/>
                    <a:pt x="9126908" y="1068225"/>
                    <a:pt x="9161091" y="1059679"/>
                  </a:cubicBezTo>
                  <a:cubicBezTo>
                    <a:pt x="9189577" y="1045436"/>
                    <a:pt x="9217732" y="1030511"/>
                    <a:pt x="9246549" y="1016950"/>
                  </a:cubicBezTo>
                  <a:cubicBezTo>
                    <a:pt x="9266178" y="1007713"/>
                    <a:pt x="9286966" y="1001015"/>
                    <a:pt x="9306370" y="991313"/>
                  </a:cubicBezTo>
                  <a:cubicBezTo>
                    <a:pt x="9332602" y="978197"/>
                    <a:pt x="9356325" y="960137"/>
                    <a:pt x="9383282" y="948584"/>
                  </a:cubicBezTo>
                  <a:cubicBezTo>
                    <a:pt x="9416401" y="934390"/>
                    <a:pt x="9452571" y="928259"/>
                    <a:pt x="9485831" y="914400"/>
                  </a:cubicBezTo>
                  <a:cubicBezTo>
                    <a:pt x="9521109" y="899701"/>
                    <a:pt x="9555198" y="882087"/>
                    <a:pt x="9588381" y="863126"/>
                  </a:cubicBezTo>
                  <a:cubicBezTo>
                    <a:pt x="9671513" y="815623"/>
                    <a:pt x="9666408" y="794481"/>
                    <a:pt x="9767843" y="769122"/>
                  </a:cubicBezTo>
                  <a:cubicBezTo>
                    <a:pt x="9813420" y="757728"/>
                    <a:pt x="9859474" y="748094"/>
                    <a:pt x="9904575" y="734939"/>
                  </a:cubicBezTo>
                  <a:cubicBezTo>
                    <a:pt x="10003759" y="706010"/>
                    <a:pt x="9941568" y="717044"/>
                    <a:pt x="9998579" y="700756"/>
                  </a:cubicBezTo>
                  <a:cubicBezTo>
                    <a:pt x="10009872" y="697529"/>
                    <a:pt x="10021765" y="696334"/>
                    <a:pt x="10032762" y="692210"/>
                  </a:cubicBezTo>
                  <a:cubicBezTo>
                    <a:pt x="10044690" y="687737"/>
                    <a:pt x="10054859" y="679147"/>
                    <a:pt x="10066945" y="675118"/>
                  </a:cubicBezTo>
                  <a:cubicBezTo>
                    <a:pt x="10080725" y="670525"/>
                    <a:pt x="10095583" y="670095"/>
                    <a:pt x="10109674" y="666572"/>
                  </a:cubicBezTo>
                  <a:cubicBezTo>
                    <a:pt x="10118413" y="664387"/>
                    <a:pt x="10126766" y="660875"/>
                    <a:pt x="10135312" y="658027"/>
                  </a:cubicBezTo>
                  <a:cubicBezTo>
                    <a:pt x="10184905" y="624964"/>
                    <a:pt x="10136668" y="651797"/>
                    <a:pt x="10220770" y="632389"/>
                  </a:cubicBezTo>
                  <a:cubicBezTo>
                    <a:pt x="10238324" y="628338"/>
                    <a:pt x="10254788" y="620475"/>
                    <a:pt x="10272044" y="615298"/>
                  </a:cubicBezTo>
                  <a:cubicBezTo>
                    <a:pt x="10283294" y="611923"/>
                    <a:pt x="10295085" y="610466"/>
                    <a:pt x="10306228" y="606752"/>
                  </a:cubicBezTo>
                  <a:cubicBezTo>
                    <a:pt x="10320781" y="601901"/>
                    <a:pt x="10334404" y="594511"/>
                    <a:pt x="10348957" y="589660"/>
                  </a:cubicBezTo>
                  <a:cubicBezTo>
                    <a:pt x="10372359" y="581859"/>
                    <a:pt x="10467996" y="564152"/>
                    <a:pt x="10468598" y="564023"/>
                  </a:cubicBezTo>
                  <a:cubicBezTo>
                    <a:pt x="10517711" y="553498"/>
                    <a:pt x="10491813" y="557564"/>
                    <a:pt x="10545510" y="538386"/>
                  </a:cubicBezTo>
                  <a:cubicBezTo>
                    <a:pt x="10570960" y="529297"/>
                    <a:pt x="10622422" y="512748"/>
                    <a:pt x="10622422" y="512748"/>
                  </a:cubicBezTo>
                  <a:cubicBezTo>
                    <a:pt x="10630968" y="504202"/>
                    <a:pt x="10637566" y="493107"/>
                    <a:pt x="10648059" y="487111"/>
                  </a:cubicBezTo>
                  <a:cubicBezTo>
                    <a:pt x="10658257" y="481284"/>
                    <a:pt x="10671246" y="482689"/>
                    <a:pt x="10682243" y="478565"/>
                  </a:cubicBezTo>
                  <a:cubicBezTo>
                    <a:pt x="10694171" y="474092"/>
                    <a:pt x="10704785" y="466647"/>
                    <a:pt x="10716426" y="461473"/>
                  </a:cubicBezTo>
                  <a:cubicBezTo>
                    <a:pt x="10730444" y="455243"/>
                    <a:pt x="10745434" y="451242"/>
                    <a:pt x="10759155" y="444382"/>
                  </a:cubicBezTo>
                  <a:cubicBezTo>
                    <a:pt x="10768341" y="439789"/>
                    <a:pt x="10775606" y="431883"/>
                    <a:pt x="10784792" y="427290"/>
                  </a:cubicBezTo>
                  <a:cubicBezTo>
                    <a:pt x="10792849" y="423261"/>
                    <a:pt x="10801995" y="421907"/>
                    <a:pt x="10810430" y="418744"/>
                  </a:cubicBezTo>
                  <a:cubicBezTo>
                    <a:pt x="10824793" y="413358"/>
                    <a:pt x="10838742" y="406895"/>
                    <a:pt x="10853159" y="401653"/>
                  </a:cubicBezTo>
                  <a:cubicBezTo>
                    <a:pt x="10898937" y="385007"/>
                    <a:pt x="10897802" y="386219"/>
                    <a:pt x="10938616" y="376015"/>
                  </a:cubicBezTo>
                  <a:cubicBezTo>
                    <a:pt x="10947162" y="370318"/>
                    <a:pt x="10955067" y="363517"/>
                    <a:pt x="10964254" y="358924"/>
                  </a:cubicBezTo>
                  <a:cubicBezTo>
                    <a:pt x="10977916" y="352093"/>
                    <a:pt x="11011294" y="345484"/>
                    <a:pt x="11024074" y="341832"/>
                  </a:cubicBezTo>
                  <a:cubicBezTo>
                    <a:pt x="11032736" y="339357"/>
                    <a:pt x="11041655" y="337315"/>
                    <a:pt x="11049712" y="333286"/>
                  </a:cubicBezTo>
                  <a:cubicBezTo>
                    <a:pt x="11058898" y="328693"/>
                    <a:pt x="11065813" y="320009"/>
                    <a:pt x="11075349" y="316195"/>
                  </a:cubicBezTo>
                  <a:cubicBezTo>
                    <a:pt x="11094604" y="308493"/>
                    <a:pt x="11115680" y="306190"/>
                    <a:pt x="11135170" y="299103"/>
                  </a:cubicBezTo>
                  <a:cubicBezTo>
                    <a:pt x="11147142" y="294750"/>
                    <a:pt x="11157525" y="286743"/>
                    <a:pt x="11169353" y="282012"/>
                  </a:cubicBezTo>
                  <a:cubicBezTo>
                    <a:pt x="11236636" y="255099"/>
                    <a:pt x="11202661" y="275843"/>
                    <a:pt x="11263357" y="247829"/>
                  </a:cubicBezTo>
                  <a:cubicBezTo>
                    <a:pt x="11286491" y="237152"/>
                    <a:pt x="11308934" y="225039"/>
                    <a:pt x="11331723" y="213645"/>
                  </a:cubicBezTo>
                  <a:lnTo>
                    <a:pt x="11400089" y="179462"/>
                  </a:lnTo>
                  <a:lnTo>
                    <a:pt x="11434273" y="162371"/>
                  </a:lnTo>
                  <a:cubicBezTo>
                    <a:pt x="11445667" y="156674"/>
                    <a:pt x="11456097" y="148369"/>
                    <a:pt x="11468456" y="145279"/>
                  </a:cubicBezTo>
                  <a:cubicBezTo>
                    <a:pt x="11495398" y="138543"/>
                    <a:pt x="11503753" y="137383"/>
                    <a:pt x="11528276" y="128187"/>
                  </a:cubicBezTo>
                  <a:cubicBezTo>
                    <a:pt x="11542639" y="122801"/>
                    <a:pt x="11556452" y="115947"/>
                    <a:pt x="11571005" y="111096"/>
                  </a:cubicBezTo>
                  <a:cubicBezTo>
                    <a:pt x="11582147" y="107382"/>
                    <a:pt x="11594046" y="106264"/>
                    <a:pt x="11605188" y="102550"/>
                  </a:cubicBezTo>
                  <a:cubicBezTo>
                    <a:pt x="11701710" y="70375"/>
                    <a:pt x="11600197" y="97387"/>
                    <a:pt x="11682101" y="76913"/>
                  </a:cubicBezTo>
                  <a:cubicBezTo>
                    <a:pt x="11789344" y="23290"/>
                    <a:pt x="11589018" y="120366"/>
                    <a:pt x="11818833" y="34184"/>
                  </a:cubicBezTo>
                  <a:cubicBezTo>
                    <a:pt x="11908704" y="482"/>
                    <a:pt x="11863049" y="11565"/>
                    <a:pt x="11955566" y="0"/>
                  </a:cubicBezTo>
                  <a:cubicBezTo>
                    <a:pt x="11995446" y="17092"/>
                    <a:pt x="12042872" y="22344"/>
                    <a:pt x="12075207" y="51275"/>
                  </a:cubicBezTo>
                  <a:cubicBezTo>
                    <a:pt x="12100858" y="74226"/>
                    <a:pt x="12107446" y="112497"/>
                    <a:pt x="12117936" y="145279"/>
                  </a:cubicBezTo>
                  <a:cubicBezTo>
                    <a:pt x="12140831" y="216828"/>
                    <a:pt x="12144221" y="270752"/>
                    <a:pt x="12152119" y="341832"/>
                  </a:cubicBezTo>
                  <a:cubicBezTo>
                    <a:pt x="12146422" y="552628"/>
                    <a:pt x="12147411" y="763712"/>
                    <a:pt x="12135028" y="974221"/>
                  </a:cubicBezTo>
                  <a:cubicBezTo>
                    <a:pt x="12130297" y="1054652"/>
                    <a:pt x="12115798" y="1134333"/>
                    <a:pt x="12100844" y="1213503"/>
                  </a:cubicBezTo>
                  <a:cubicBezTo>
                    <a:pt x="12040518" y="1532877"/>
                    <a:pt x="12014269" y="1639131"/>
                    <a:pt x="11955566" y="1888621"/>
                  </a:cubicBezTo>
                  <a:cubicBezTo>
                    <a:pt x="11930437" y="2114773"/>
                    <a:pt x="11928886" y="2064952"/>
                    <a:pt x="11947020" y="2367186"/>
                  </a:cubicBezTo>
                  <a:cubicBezTo>
                    <a:pt x="11950633" y="2427402"/>
                    <a:pt x="11975302" y="2514496"/>
                    <a:pt x="11989749" y="2572285"/>
                  </a:cubicBezTo>
                  <a:cubicBezTo>
                    <a:pt x="11994128" y="2633594"/>
                    <a:pt x="11998760" y="2714356"/>
                    <a:pt x="12006841" y="2777384"/>
                  </a:cubicBezTo>
                  <a:cubicBezTo>
                    <a:pt x="12050801" y="3120272"/>
                    <a:pt x="12032005" y="2916985"/>
                    <a:pt x="12049570" y="3127761"/>
                  </a:cubicBezTo>
                  <a:cubicBezTo>
                    <a:pt x="12043288" y="3211524"/>
                    <a:pt x="12079467" y="3439695"/>
                    <a:pt x="11981203" y="3537959"/>
                  </a:cubicBezTo>
                  <a:cubicBezTo>
                    <a:pt x="11956616" y="3562546"/>
                    <a:pt x="11928109" y="3585066"/>
                    <a:pt x="11895745" y="3597780"/>
                  </a:cubicBezTo>
                  <a:cubicBezTo>
                    <a:pt x="11846857" y="3616986"/>
                    <a:pt x="11793196" y="3620569"/>
                    <a:pt x="11741921" y="3631963"/>
                  </a:cubicBezTo>
                  <a:cubicBezTo>
                    <a:pt x="11112581" y="3614481"/>
                    <a:pt x="11786358" y="3642354"/>
                    <a:pt x="10998437" y="3572143"/>
                  </a:cubicBezTo>
                  <a:cubicBezTo>
                    <a:pt x="10856314" y="3559479"/>
                    <a:pt x="10713384" y="3557819"/>
                    <a:pt x="10571147" y="3546505"/>
                  </a:cubicBezTo>
                  <a:cubicBezTo>
                    <a:pt x="10308605" y="3525621"/>
                    <a:pt x="10237117" y="3509025"/>
                    <a:pt x="9990033" y="3478139"/>
                  </a:cubicBezTo>
                  <a:cubicBezTo>
                    <a:pt x="9938841" y="3471740"/>
                    <a:pt x="9887484" y="3466744"/>
                    <a:pt x="9836209" y="3461047"/>
                  </a:cubicBezTo>
                  <a:lnTo>
                    <a:pt x="8998721" y="3469593"/>
                  </a:lnTo>
                  <a:cubicBezTo>
                    <a:pt x="8847399" y="3474604"/>
                    <a:pt x="8696764" y="3492310"/>
                    <a:pt x="8545794" y="3503776"/>
                  </a:cubicBezTo>
                  <a:cubicBezTo>
                    <a:pt x="8207352" y="3529481"/>
                    <a:pt x="8420191" y="3515349"/>
                    <a:pt x="8024501" y="3537959"/>
                  </a:cubicBezTo>
                  <a:lnTo>
                    <a:pt x="6520441" y="3529414"/>
                  </a:lnTo>
                  <a:lnTo>
                    <a:pt x="6058968" y="3520868"/>
                  </a:lnTo>
                  <a:lnTo>
                    <a:pt x="4879648" y="3529414"/>
                  </a:lnTo>
                  <a:cubicBezTo>
                    <a:pt x="4760007" y="3537960"/>
                    <a:pt x="4640515" y="3548939"/>
                    <a:pt x="4520725" y="3555051"/>
                  </a:cubicBezTo>
                  <a:cubicBezTo>
                    <a:pt x="4354478" y="3563533"/>
                    <a:pt x="3925829" y="3576004"/>
                    <a:pt x="3725966" y="3580688"/>
                  </a:cubicBezTo>
                  <a:lnTo>
                    <a:pt x="2512463" y="3606326"/>
                  </a:lnTo>
                  <a:lnTo>
                    <a:pt x="1640792" y="3614872"/>
                  </a:lnTo>
                  <a:lnTo>
                    <a:pt x="914400" y="3589234"/>
                  </a:lnTo>
                  <a:cubicBezTo>
                    <a:pt x="865927" y="3587333"/>
                    <a:pt x="817334" y="3586045"/>
                    <a:pt x="769121" y="3580688"/>
                  </a:cubicBezTo>
                  <a:cubicBezTo>
                    <a:pt x="678541" y="3570624"/>
                    <a:pt x="447852" y="3525383"/>
                    <a:pt x="376015" y="3512322"/>
                  </a:cubicBezTo>
                  <a:cubicBezTo>
                    <a:pt x="358967" y="3509222"/>
                    <a:pt x="324740" y="3503776"/>
                    <a:pt x="324740" y="3503776"/>
                  </a:cubicBezTo>
                  <a:cubicBezTo>
                    <a:pt x="273000" y="3484962"/>
                    <a:pt x="203456" y="3462135"/>
                    <a:pt x="153824" y="3435410"/>
                  </a:cubicBezTo>
                  <a:cubicBezTo>
                    <a:pt x="123107" y="3418870"/>
                    <a:pt x="118568" y="3405970"/>
                    <a:pt x="94003" y="3384135"/>
                  </a:cubicBezTo>
                  <a:cubicBezTo>
                    <a:pt x="77375" y="3369354"/>
                    <a:pt x="58461" y="3357138"/>
                    <a:pt x="42729" y="3341406"/>
                  </a:cubicBezTo>
                  <a:cubicBezTo>
                    <a:pt x="32125" y="3330802"/>
                    <a:pt x="9707" y="3296147"/>
                    <a:pt x="0" y="3281586"/>
                  </a:cubicBezTo>
                  <a:cubicBezTo>
                    <a:pt x="2848" y="3273040"/>
                    <a:pt x="2918" y="3262982"/>
                    <a:pt x="8545" y="3255948"/>
                  </a:cubicBezTo>
                  <a:cubicBezTo>
                    <a:pt x="24929" y="3235467"/>
                    <a:pt x="45976" y="3237774"/>
                    <a:pt x="68366" y="3230311"/>
                  </a:cubicBezTo>
                  <a:cubicBezTo>
                    <a:pt x="74409" y="3228297"/>
                    <a:pt x="56972" y="3227462"/>
                    <a:pt x="68366" y="32217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: 形状 9"/>
            <p:cNvSpPr/>
            <p:nvPr/>
          </p:nvSpPr>
          <p:spPr>
            <a:xfrm rot="16200000" flipV="1">
              <a:off x="4413250" y="-3201670"/>
              <a:ext cx="3581400" cy="12407265"/>
            </a:xfrm>
            <a:custGeom>
              <a:avLst/>
              <a:gdLst>
                <a:gd name="connsiteX0" fmla="*/ 2810026 w 2810026"/>
                <a:gd name="connsiteY0" fmla="*/ 0 h 9800055"/>
                <a:gd name="connsiteX1" fmla="*/ 2737363 w 2810026"/>
                <a:gd name="connsiteY1" fmla="*/ 136747 h 9800055"/>
                <a:gd name="connsiteX2" fmla="*/ 23479 w 2810026"/>
                <a:gd name="connsiteY2" fmla="*/ 9595584 h 9800055"/>
                <a:gd name="connsiteX3" fmla="*/ 0 w 2810026"/>
                <a:gd name="connsiteY3" fmla="*/ 9800055 h 9800055"/>
                <a:gd name="connsiteX4" fmla="*/ 1573645 w 2810026"/>
                <a:gd name="connsiteY4" fmla="*/ 9800055 h 9800055"/>
                <a:gd name="connsiteX5" fmla="*/ 1538476 w 2810026"/>
                <a:gd name="connsiteY5" fmla="*/ 9610454 h 9800055"/>
                <a:gd name="connsiteX6" fmla="*/ 1516232 w 2810026"/>
                <a:gd name="connsiteY6" fmla="*/ 4688137 h 9800055"/>
                <a:gd name="connsiteX7" fmla="*/ 2694530 w 2810026"/>
                <a:gd name="connsiteY7" fmla="*/ 248668 h 9800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0026" h="9800055">
                  <a:moveTo>
                    <a:pt x="2810026" y="0"/>
                  </a:moveTo>
                  <a:lnTo>
                    <a:pt x="2737363" y="136747"/>
                  </a:lnTo>
                  <a:cubicBezTo>
                    <a:pt x="1705466" y="2149342"/>
                    <a:pt x="562729" y="5385523"/>
                    <a:pt x="23479" y="9595584"/>
                  </a:cubicBezTo>
                  <a:lnTo>
                    <a:pt x="0" y="9800055"/>
                  </a:lnTo>
                  <a:lnTo>
                    <a:pt x="1573645" y="9800055"/>
                  </a:lnTo>
                  <a:lnTo>
                    <a:pt x="1538476" y="9610454"/>
                  </a:lnTo>
                  <a:cubicBezTo>
                    <a:pt x="1298883" y="8206647"/>
                    <a:pt x="1273950" y="6500478"/>
                    <a:pt x="1516232" y="4688137"/>
                  </a:cubicBezTo>
                  <a:cubicBezTo>
                    <a:pt x="1739876" y="3015206"/>
                    <a:pt x="2159448" y="1489373"/>
                    <a:pt x="2694530" y="248668"/>
                  </a:cubicBezTo>
                  <a:close/>
                </a:path>
              </a:pathLst>
            </a:custGeom>
            <a:solidFill>
              <a:srgbClr val="65B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任意多边形: 形状 8"/>
            <p:cNvSpPr/>
            <p:nvPr/>
          </p:nvSpPr>
          <p:spPr>
            <a:xfrm rot="16200000">
              <a:off x="6742103" y="-1102375"/>
              <a:ext cx="2776456" cy="8123339"/>
            </a:xfrm>
            <a:custGeom>
              <a:avLst/>
              <a:gdLst>
                <a:gd name="connsiteX0" fmla="*/ 2776456 w 2776456"/>
                <a:gd name="connsiteY0" fmla="*/ 8123339 h 8123339"/>
                <a:gd name="connsiteX1" fmla="*/ 1957904 w 2776456"/>
                <a:gd name="connsiteY1" fmla="*/ 8123339 h 8123339"/>
                <a:gd name="connsiteX2" fmla="*/ 1868286 w 2776456"/>
                <a:gd name="connsiteY2" fmla="*/ 7892035 h 8123339"/>
                <a:gd name="connsiteX3" fmla="*/ 0 w 2776456"/>
                <a:gd name="connsiteY3" fmla="*/ 0 h 8123339"/>
                <a:gd name="connsiteX4" fmla="*/ 2772099 w 2776456"/>
                <a:gd name="connsiteY4" fmla="*/ 8115855 h 812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6456" h="8123339">
                  <a:moveTo>
                    <a:pt x="2776456" y="8123339"/>
                  </a:moveTo>
                  <a:lnTo>
                    <a:pt x="1957904" y="8123339"/>
                  </a:lnTo>
                  <a:lnTo>
                    <a:pt x="1868286" y="7892035"/>
                  </a:lnTo>
                  <a:cubicBezTo>
                    <a:pt x="981740" y="5508696"/>
                    <a:pt x="211299" y="2209782"/>
                    <a:pt x="0" y="0"/>
                  </a:cubicBezTo>
                  <a:cubicBezTo>
                    <a:pt x="229146" y="1366984"/>
                    <a:pt x="1189579" y="5244114"/>
                    <a:pt x="2772099" y="8115855"/>
                  </a:cubicBezTo>
                  <a:close/>
                </a:path>
              </a:pathLst>
            </a:custGeom>
            <a:solidFill>
              <a:srgbClr val="23A0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" name="任意多边形: 形状 6"/>
          <p:cNvSpPr/>
          <p:nvPr/>
        </p:nvSpPr>
        <p:spPr>
          <a:xfrm rot="1140000" flipH="1">
            <a:off x="-621030" y="5240655"/>
            <a:ext cx="3036570" cy="1713865"/>
          </a:xfrm>
          <a:custGeom>
            <a:avLst/>
            <a:gdLst>
              <a:gd name="connsiteX0" fmla="*/ 3677357 w 4778059"/>
              <a:gd name="connsiteY0" fmla="*/ 4217702 h 4217702"/>
              <a:gd name="connsiteX1" fmla="*/ 4778059 w 4778059"/>
              <a:gd name="connsiteY1" fmla="*/ 4217702 h 4217702"/>
              <a:gd name="connsiteX2" fmla="*/ 4778059 w 4778059"/>
              <a:gd name="connsiteY2" fmla="*/ 4045655 h 4217702"/>
              <a:gd name="connsiteX3" fmla="*/ 4585969 w 4778059"/>
              <a:gd name="connsiteY3" fmla="*/ 3971370 h 4217702"/>
              <a:gd name="connsiteX4" fmla="*/ 0 w 4778059"/>
              <a:gd name="connsiteY4" fmla="*/ 0 h 4217702"/>
              <a:gd name="connsiteX5" fmla="*/ 3635676 w 4778059"/>
              <a:gd name="connsiteY5" fmla="*/ 4193791 h 4217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78059" h="4217702">
                <a:moveTo>
                  <a:pt x="3677357" y="4217702"/>
                </a:moveTo>
                <a:lnTo>
                  <a:pt x="4778059" y="4217702"/>
                </a:lnTo>
                <a:lnTo>
                  <a:pt x="4778059" y="4045655"/>
                </a:lnTo>
                <a:lnTo>
                  <a:pt x="4585969" y="3971370"/>
                </a:lnTo>
                <a:cubicBezTo>
                  <a:pt x="2462772" y="3078523"/>
                  <a:pt x="945610" y="1369522"/>
                  <a:pt x="0" y="0"/>
                </a:cubicBezTo>
                <a:cubicBezTo>
                  <a:pt x="884776" y="1755512"/>
                  <a:pt x="2188897" y="3312815"/>
                  <a:pt x="3635676" y="4193791"/>
                </a:cubicBezTo>
                <a:close/>
              </a:path>
            </a:pathLst>
          </a:custGeom>
          <a:solidFill>
            <a:srgbClr val="23A0D6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0" name="任意多边形: 形状 1"/>
          <p:cNvSpPr/>
          <p:nvPr/>
        </p:nvSpPr>
        <p:spPr>
          <a:xfrm rot="6840000" flipH="1">
            <a:off x="-111125" y="3481705"/>
            <a:ext cx="3313430" cy="3696970"/>
          </a:xfrm>
          <a:custGeom>
            <a:avLst/>
            <a:gdLst>
              <a:gd name="connsiteX0" fmla="*/ 4941729 w 4941729"/>
              <a:gd name="connsiteY0" fmla="*/ 0 h 6197963"/>
              <a:gd name="connsiteX1" fmla="*/ 1269635 w 4941729"/>
              <a:gd name="connsiteY1" fmla="*/ 5879556 h 6197963"/>
              <a:gd name="connsiteX2" fmla="*/ 1249843 w 4941729"/>
              <a:gd name="connsiteY2" fmla="*/ 6197963 h 6197963"/>
              <a:gd name="connsiteX3" fmla="*/ 0 w 4941729"/>
              <a:gd name="connsiteY3" fmla="*/ 6197963 h 6197963"/>
              <a:gd name="connsiteX4" fmla="*/ 49904 w 4941729"/>
              <a:gd name="connsiteY4" fmla="*/ 5916364 h 6197963"/>
              <a:gd name="connsiteX5" fmla="*/ 4941729 w 4941729"/>
              <a:gd name="connsiteY5" fmla="*/ 0 h 6197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1729" h="6197963">
                <a:moveTo>
                  <a:pt x="4941729" y="0"/>
                </a:moveTo>
                <a:cubicBezTo>
                  <a:pt x="3186936" y="1017598"/>
                  <a:pt x="1512793" y="3522305"/>
                  <a:pt x="1269635" y="5879556"/>
                </a:cubicBezTo>
                <a:lnTo>
                  <a:pt x="1249843" y="6197963"/>
                </a:lnTo>
                <a:lnTo>
                  <a:pt x="0" y="6197963"/>
                </a:lnTo>
                <a:lnTo>
                  <a:pt x="49904" y="5916364"/>
                </a:lnTo>
                <a:cubicBezTo>
                  <a:pt x="538504" y="3775712"/>
                  <a:pt x="2726053" y="1130288"/>
                  <a:pt x="4941729" y="0"/>
                </a:cubicBezTo>
                <a:close/>
              </a:path>
            </a:pathLst>
          </a:custGeom>
          <a:solidFill>
            <a:srgbClr val="65B9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321986" y="5591958"/>
            <a:ext cx="4729018" cy="374213"/>
            <a:chOff x="10173" y="8839"/>
            <a:chExt cx="7447" cy="589"/>
          </a:xfrm>
          <a:solidFill>
            <a:srgbClr val="65B9FF"/>
          </a:solidFill>
        </p:grpSpPr>
        <p:sp>
          <p:nvSpPr>
            <p:cNvPr id="3" name="矩形: 圆角 52"/>
            <p:cNvSpPr/>
            <p:nvPr/>
          </p:nvSpPr>
          <p:spPr>
            <a:xfrm>
              <a:off x="10173" y="8839"/>
              <a:ext cx="3285" cy="58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9" name="矩形: 圆角 51"/>
            <p:cNvSpPr/>
            <p:nvPr/>
          </p:nvSpPr>
          <p:spPr>
            <a:xfrm>
              <a:off x="14335" y="8839"/>
              <a:ext cx="3285" cy="58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0" name="文本框 8"/>
            <p:cNvSpPr txBox="1"/>
            <p:nvPr/>
          </p:nvSpPr>
          <p:spPr>
            <a:xfrm>
              <a:off x="10388" y="8852"/>
              <a:ext cx="2856" cy="5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汇报人：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fangcy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1" name="文本框 7"/>
            <p:cNvSpPr txBox="1"/>
            <p:nvPr/>
          </p:nvSpPr>
          <p:spPr>
            <a:xfrm>
              <a:off x="14486" y="8852"/>
              <a:ext cx="2856" cy="5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时间：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2025.5.5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454525" y="4189730"/>
            <a:ext cx="7527925" cy="9220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335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谢谢大家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00335D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PP_MARK_KEY" val="824e98e2-6b3e-4025-a39a-aa1da46ced59"/>
  <p:tag name="COMMONDATA" val="eyJoZGlkIjoiZWU5ZTM3ZmU5OTcxYWE5YTg2NGI4MDc1NGUzZjk0M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游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3ciys42">
      <a:majorFont>
        <a:latin typeface="思源黑体 CN Normal"/>
        <a:ea typeface="思源黑体 CN Normal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2766</Words>
  <Application>WPS 演示</Application>
  <PresentationFormat>宽屏</PresentationFormat>
  <Paragraphs>311</Paragraphs>
  <Slides>28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1" baseType="lpstr">
      <vt:lpstr>Arial</vt:lpstr>
      <vt:lpstr>宋体</vt:lpstr>
      <vt:lpstr>Wingdings</vt:lpstr>
      <vt:lpstr>思源黑体 CN Normal</vt:lpstr>
      <vt:lpstr>黑体</vt:lpstr>
      <vt:lpstr>微软雅黑</vt:lpstr>
      <vt:lpstr>Calibri</vt:lpstr>
      <vt:lpstr>Wingdings</vt:lpstr>
      <vt:lpstr>Arial</vt:lpstr>
      <vt:lpstr>Arial Unicode MS</vt:lpstr>
      <vt:lpstr>思源黑体 CN Normal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pts</dc:creator>
  <cp:lastModifiedBy>房子~Frank～dfs～NOIP</cp:lastModifiedBy>
  <cp:revision>245</cp:revision>
  <dcterms:created xsi:type="dcterms:W3CDTF">2021-06-30T15:00:00Z</dcterms:created>
  <dcterms:modified xsi:type="dcterms:W3CDTF">2025-05-04T18:34:09Z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87E220BCAA3F45D6B321DBEE4BE013FB</vt:lpwstr>
  </property>
</Properties>
</file>