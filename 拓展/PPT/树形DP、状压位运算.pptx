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61" r:id="rId5"/>
    <p:sldId id="270" r:id="rId6"/>
    <p:sldId id="262" r:id="rId7"/>
    <p:sldId id="257" r:id="rId8"/>
    <p:sldId id="271" r:id="rId9"/>
    <p:sldId id="260" r:id="rId10"/>
    <p:sldId id="258" r:id="rId11"/>
    <p:sldId id="272" r:id="rId12"/>
    <p:sldId id="259" r:id="rId13"/>
    <p:sldId id="263" r:id="rId14"/>
    <p:sldId id="264" r:id="rId15"/>
    <p:sldId id="273" r:id="rId16"/>
    <p:sldId id="265" r:id="rId17"/>
    <p:sldId id="266" r:id="rId18"/>
    <p:sldId id="267" r:id="rId19"/>
    <p:sldId id="274" r:id="rId20"/>
    <p:sldId id="26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树形</a:t>
            </a:r>
            <a:r>
              <a:rPr lang="en-US" altLang="zh-CN"/>
              <a:t>dp</a:t>
            </a:r>
            <a:r>
              <a:rPr lang="zh-CN" altLang="en-US"/>
              <a:t>、状压</a:t>
            </a:r>
            <a:r>
              <a:rPr lang="en-US" altLang="zh-CN"/>
              <a:t>dp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2025/05/10</a:t>
            </a:r>
            <a:endParaRPr lang="en-US" altLang="zh-CN"/>
          </a:p>
          <a:p>
            <a:r>
              <a:rPr lang="zh-CN" altLang="en-US"/>
              <a:t>主讲人：席睿</a:t>
            </a:r>
            <a:r>
              <a:rPr lang="zh-CN" altLang="en-US"/>
              <a:t>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树：头节点没有父亲，其他节点只有一个父亲的有向无环图，直观理解为发散状在树上，从头节点出发到任何节点的路径是唯一的，不管二叉树还是多叉树都如此</a:t>
            </a:r>
            <a:endParaRPr lang="zh-CN" altLang="en-US"/>
          </a:p>
          <a:p>
            <a:r>
              <a:rPr lang="zh-CN" altLang="en-US"/>
              <a:t>树型</a:t>
            </a:r>
            <a:r>
              <a:rPr lang="en-US" altLang="zh-CN"/>
              <a:t>dp</a:t>
            </a:r>
            <a:r>
              <a:rPr lang="zh-CN" altLang="en-US"/>
              <a:t>在树上做动态规划，依赖关系比一般动态规划简单因为绝大部分多数都是父依赖子</a:t>
            </a:r>
            <a:endParaRPr lang="zh-CN" altLang="en-US"/>
          </a:p>
          <a:p>
            <a:r>
              <a:rPr lang="zh-CN" altLang="en-US"/>
              <a:t>树型</a:t>
            </a:r>
            <a:r>
              <a:rPr lang="en-US" altLang="zh-CN"/>
              <a:t>dp</a:t>
            </a:r>
            <a:r>
              <a:rPr lang="zh-CN" altLang="en-US"/>
              <a:t>套路</a:t>
            </a:r>
            <a:endParaRPr lang="zh-CN" altLang="en-US"/>
          </a:p>
          <a:p>
            <a:r>
              <a:rPr lang="en-US" altLang="zh-CN"/>
              <a:t>1)</a:t>
            </a:r>
            <a:r>
              <a:rPr lang="zh-CN" altLang="en-US"/>
              <a:t>分析父树得到答案需要子树的哪些信息</a:t>
            </a:r>
            <a:endParaRPr lang="zh-CN" altLang="en-US"/>
          </a:p>
          <a:p>
            <a:r>
              <a:rPr lang="en-US" altLang="zh-CN"/>
              <a:t>2)</a:t>
            </a:r>
            <a:r>
              <a:rPr lang="zh-CN" altLang="en-US"/>
              <a:t>把子树信息的全集定义成递归返回值</a:t>
            </a:r>
            <a:endParaRPr lang="zh-CN" altLang="en-US"/>
          </a:p>
          <a:p>
            <a:r>
              <a:rPr lang="en-US" altLang="zh-CN"/>
              <a:t>3)</a:t>
            </a:r>
            <a:r>
              <a:rPr lang="zh-CN" altLang="en-US"/>
              <a:t>通过递归让子树返回全集信息</a:t>
            </a:r>
            <a:endParaRPr lang="zh-CN" altLang="en-US"/>
          </a:p>
          <a:p>
            <a:r>
              <a:rPr lang="en-US" altLang="zh-CN"/>
              <a:t>4)</a:t>
            </a:r>
            <a:r>
              <a:rPr lang="zh-CN" altLang="en-US"/>
              <a:t>整合子树的全集信息得到父树的全集信息并返回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zh-CN" sz="2220"/>
              <a:t>https://leetcode.cn/problems/largest-bst-subtree/description/</a:t>
            </a:r>
            <a:endParaRPr lang="en-US" altLang="zh-CN" sz="222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7940" y="1490345"/>
            <a:ext cx="958913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对于每个节点</a:t>
            </a:r>
            <a:r>
              <a:rPr lang="en-US" altLang="zh-CN"/>
              <a:t>x</a:t>
            </a:r>
            <a:r>
              <a:rPr lang="zh-CN" altLang="en-US"/>
              <a:t>，有如下选择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不将</a:t>
            </a:r>
            <a:r>
              <a:rPr lang="en-US" altLang="zh-CN"/>
              <a:t>x</a:t>
            </a:r>
            <a:r>
              <a:rPr lang="zh-CN" altLang="en-US"/>
              <a:t>作为根节点，则</a:t>
            </a:r>
            <a:r>
              <a:rPr lang="en-US" altLang="zh-CN"/>
              <a:t>maxBST</a:t>
            </a:r>
            <a:r>
              <a:rPr lang="zh-CN" altLang="en-US"/>
              <a:t>为其左右子树</a:t>
            </a:r>
            <a:r>
              <a:rPr lang="en-US" altLang="zh-CN"/>
              <a:t>maxBST</a:t>
            </a:r>
            <a:r>
              <a:rPr lang="zh-CN" altLang="en-US"/>
              <a:t>取大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将</a:t>
            </a:r>
            <a:r>
              <a:rPr lang="en-US" altLang="zh-CN"/>
              <a:t>x</a:t>
            </a:r>
            <a:r>
              <a:rPr lang="zh-CN" altLang="en-US"/>
              <a:t>作为根节点，前提是其左右子树为</a:t>
            </a:r>
            <a:r>
              <a:rPr lang="en-US" altLang="zh-CN"/>
              <a:t>BST</a:t>
            </a:r>
            <a:r>
              <a:rPr lang="zh-CN" altLang="en-US"/>
              <a:t>，则其</a:t>
            </a:r>
            <a:r>
              <a:rPr lang="en-US" altLang="zh-CN"/>
              <a:t>BST</a:t>
            </a:r>
            <a:r>
              <a:rPr lang="zh-CN" altLang="en-US"/>
              <a:t>是以</a:t>
            </a:r>
            <a:r>
              <a:rPr lang="en-US" altLang="zh-CN"/>
              <a:t>x</a:t>
            </a:r>
            <a:r>
              <a:rPr lang="zh-CN" altLang="en-US"/>
              <a:t>为根节点的子树大小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3085" y="890905"/>
            <a:ext cx="4713605" cy="57143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905" y="890905"/>
            <a:ext cx="5149850" cy="57219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zh-CN" sz="2220">
                <a:solidFill>
                  <a:schemeClr val="tx1"/>
                </a:solidFill>
              </a:rPr>
              <a:t>https://leetcode.cn/problems/distribute-coins-in-binary-tree/description/</a:t>
            </a:r>
            <a:endParaRPr lang="en-US" altLang="zh-CN" sz="2220">
              <a:solidFill>
                <a:schemeClr val="tx1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62985" y="1490345"/>
            <a:ext cx="505904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设</a:t>
            </a:r>
            <a:r>
              <a:rPr lang="en-US" altLang="zh-CN"/>
              <a:t> dfs(a)</a:t>
            </a:r>
            <a:r>
              <a:rPr lang="zh-CN" altLang="en-US"/>
              <a:t>表示若使得以</a:t>
            </a:r>
            <a:r>
              <a:rPr lang="en-US" altLang="zh-CN"/>
              <a:t>α</a:t>
            </a:r>
            <a:r>
              <a:rPr lang="zh-CN" altLang="en-US"/>
              <a:t>为根节点的子树满足每个节点均只有一个金币时，节点</a:t>
            </a:r>
            <a:r>
              <a:rPr lang="en-US" altLang="zh-CN"/>
              <a:t>a</a:t>
            </a:r>
            <a:r>
              <a:rPr lang="zh-CN" altLang="en-US"/>
              <a:t>的父节点需要从节点</a:t>
            </a:r>
            <a:r>
              <a:rPr lang="en-US" altLang="zh-CN"/>
              <a:t> a</a:t>
            </a:r>
            <a:r>
              <a:rPr lang="zh-CN" altLang="en-US"/>
              <a:t>拿走的金币数目，我们可以定义如下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如果</a:t>
            </a:r>
            <a:r>
              <a:rPr lang="en-US" altLang="zh-CN"/>
              <a:t> dfs(a)&gt;0</a:t>
            </a:r>
            <a:r>
              <a:rPr lang="zh-CN" altLang="en-US"/>
              <a:t>，则表示节点</a:t>
            </a:r>
            <a:r>
              <a:rPr lang="en-US" altLang="zh-CN"/>
              <a:t> a </a:t>
            </a:r>
            <a:r>
              <a:rPr lang="zh-CN" altLang="en-US"/>
              <a:t>需要向</a:t>
            </a:r>
            <a:r>
              <a:rPr lang="en-US" altLang="zh-CN"/>
              <a:t> a</a:t>
            </a:r>
            <a:r>
              <a:rPr lang="zh-CN" altLang="en-US"/>
              <a:t>的父节点移动</a:t>
            </a:r>
            <a:r>
              <a:rPr lang="en-US" altLang="zh-CN"/>
              <a:t> dfs(a)</a:t>
            </a:r>
            <a:r>
              <a:rPr lang="zh-CN" altLang="en-US"/>
              <a:t>个金币</a:t>
            </a:r>
            <a:r>
              <a:rPr lang="en-US" altLang="zh-CN"/>
              <a:t>;</a:t>
            </a:r>
            <a:endParaRPr lang="en-US" altLang="zh-CN"/>
          </a:p>
          <a:p>
            <a:r>
              <a:rPr lang="zh-CN" altLang="en-US"/>
              <a:t>如果</a:t>
            </a:r>
            <a:r>
              <a:rPr lang="en-US" altLang="zh-CN"/>
              <a:t> dfs(a)=0</a:t>
            </a:r>
            <a:r>
              <a:rPr lang="zh-CN" altLang="en-US"/>
              <a:t>，则表示节点</a:t>
            </a:r>
            <a:r>
              <a:rPr lang="en-US" altLang="zh-CN"/>
              <a:t> a</a:t>
            </a:r>
            <a:r>
              <a:rPr lang="zh-CN" altLang="en-US"/>
              <a:t>与</a:t>
            </a:r>
            <a:r>
              <a:rPr lang="en-US" altLang="zh-CN"/>
              <a:t> a</a:t>
            </a:r>
            <a:r>
              <a:rPr lang="zh-CN" altLang="en-US"/>
              <a:t>的父节点之间不需要移动</a:t>
            </a:r>
            <a:r>
              <a:rPr lang="en-US" altLang="zh-CN"/>
              <a:t>;</a:t>
            </a:r>
            <a:endParaRPr lang="en-US" altLang="zh-CN"/>
          </a:p>
          <a:p>
            <a:r>
              <a:rPr lang="zh-CN" altLang="en-US"/>
              <a:t>如果</a:t>
            </a:r>
            <a:r>
              <a:rPr lang="en-US" altLang="zh-CN"/>
              <a:t> dfs(a) &lt;0</a:t>
            </a:r>
            <a:r>
              <a:rPr lang="zh-CN" altLang="en-US"/>
              <a:t>，则表示节点</a:t>
            </a:r>
            <a:r>
              <a:rPr lang="en-US" altLang="zh-CN"/>
              <a:t> a </a:t>
            </a:r>
            <a:r>
              <a:rPr lang="zh-CN" altLang="en-US"/>
              <a:t>的父节点需要向</a:t>
            </a:r>
            <a:r>
              <a:rPr lang="en-US" altLang="zh-CN"/>
              <a:t> a</a:t>
            </a:r>
            <a:r>
              <a:rPr lang="zh-CN" altLang="en-US"/>
              <a:t>移动</a:t>
            </a:r>
            <a:r>
              <a:rPr lang="en-US" altLang="zh-CN"/>
              <a:t> |dfs(a)|</a:t>
            </a:r>
            <a:r>
              <a:rPr lang="zh-CN" altLang="en-US"/>
              <a:t>个金币</a:t>
            </a:r>
            <a:r>
              <a:rPr lang="en-US" altLang="zh-CN"/>
              <a:t>;</a:t>
            </a:r>
            <a:endParaRPr lang="en-US" altLang="zh-CN"/>
          </a:p>
          <a:p>
            <a:r>
              <a:rPr lang="zh-CN" altLang="en-US"/>
              <a:t>综上可知道无论哪个方向移动，节点</a:t>
            </a:r>
            <a:r>
              <a:rPr lang="en-US" altLang="zh-CN"/>
              <a:t>a</a:t>
            </a:r>
            <a:r>
              <a:rPr lang="zh-CN" altLang="en-US"/>
              <a:t>与其父节点之间的金币移动此时一定为</a:t>
            </a:r>
            <a:r>
              <a:rPr lang="en-US" altLang="zh-CN"/>
              <a:t>|dfs(a)|;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66490" y="211455"/>
            <a:ext cx="4859020" cy="64871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sz="2000"/>
              <a:t>https://www.luogu.com.cn/problem/P1352</a:t>
            </a:r>
            <a:endParaRPr lang="en-US" altLang="zh-CN" sz="20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05300" y="1490345"/>
            <a:ext cx="357441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考虑某个以</a:t>
            </a:r>
            <a:r>
              <a:rPr lang="en-US" altLang="zh-CN"/>
              <a:t>x</a:t>
            </a:r>
            <a:r>
              <a:rPr lang="zh-CN" altLang="en-US"/>
              <a:t>为根节点的子树，假设他具有子节点</a:t>
            </a:r>
            <a:r>
              <a:rPr lang="en-US" altLang="zh-CN"/>
              <a:t>x1,x2……xn</a:t>
            </a:r>
            <a:endParaRPr lang="en-US" altLang="zh-CN"/>
          </a:p>
          <a:p>
            <a:r>
              <a:rPr lang="zh-CN" altLang="en-US"/>
              <a:t>对于节点</a:t>
            </a:r>
            <a:r>
              <a:rPr lang="en-US" altLang="zh-CN"/>
              <a:t>x</a:t>
            </a:r>
            <a:r>
              <a:rPr lang="zh-CN" altLang="en-US"/>
              <a:t>，有如下选择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邀请</a:t>
            </a:r>
            <a:r>
              <a:rPr lang="en-US" altLang="zh-CN"/>
              <a:t>x</a:t>
            </a:r>
            <a:r>
              <a:rPr lang="zh-CN" altLang="en-US"/>
              <a:t>参加舞会，则最大的快乐值为</a:t>
            </a:r>
            <a:r>
              <a:rPr lang="en-US" altLang="zh-CN"/>
              <a:t>x1,x2……xn</a:t>
            </a:r>
            <a:r>
              <a:rPr lang="zh-CN" altLang="en-US"/>
              <a:t>不来能获得的最大快乐值之和</a:t>
            </a:r>
            <a:r>
              <a:rPr lang="en-US" altLang="zh-CN"/>
              <a:t>+x</a:t>
            </a:r>
            <a:r>
              <a:rPr lang="zh-CN" altLang="en-US"/>
              <a:t>的快乐值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不邀请</a:t>
            </a:r>
            <a:r>
              <a:rPr lang="en-US" altLang="zh-CN"/>
              <a:t>x</a:t>
            </a:r>
            <a:r>
              <a:rPr lang="zh-CN" altLang="en-US"/>
              <a:t>参加舞会，则最大的快乐值为</a:t>
            </a:r>
            <a:r>
              <a:rPr lang="en-US" altLang="zh-CN"/>
              <a:t>xi</a:t>
            </a:r>
            <a:r>
              <a:rPr lang="zh-CN" altLang="en-US"/>
              <a:t>来或不来能取得的快乐值的较大值之和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55390" y="262255"/>
            <a:ext cx="4316095" cy="65144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位运算</a:t>
            </a:r>
            <a:r>
              <a:rPr lang="zh-CN" altLang="en-US"/>
              <a:t>基础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56995" y="1490345"/>
            <a:ext cx="947102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位运算基础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8890" y="1684020"/>
            <a:ext cx="9442450" cy="4356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状压</a:t>
            </a:r>
            <a:r>
              <a:rPr lang="en-US" altLang="zh-CN"/>
              <a:t>dp</a:t>
            </a:r>
            <a:endParaRPr lang="en-US" altLang="zh-CN"/>
          </a:p>
          <a:p>
            <a:r>
              <a:rPr lang="zh-CN" altLang="en-US"/>
              <a:t>设计一个整型可变参数</a:t>
            </a:r>
            <a:r>
              <a:rPr lang="en-US" altLang="zh-CN"/>
              <a:t>status</a:t>
            </a:r>
            <a:r>
              <a:rPr lang="zh-CN" altLang="en-US"/>
              <a:t>，利用</a:t>
            </a:r>
            <a:r>
              <a:rPr lang="en-US" altLang="zh-CN"/>
              <a:t>status</a:t>
            </a:r>
            <a:r>
              <a:rPr lang="zh-CN" altLang="en-US"/>
              <a:t>的位信息</a:t>
            </a:r>
            <a:r>
              <a:rPr lang="en-US" altLang="zh-CN"/>
              <a:t>:</a:t>
            </a:r>
            <a:r>
              <a:rPr lang="zh-CN" altLang="en-US"/>
              <a:t>来表示</a:t>
            </a:r>
            <a:r>
              <a:rPr lang="en-US" altLang="zh-CN"/>
              <a:t>:</a:t>
            </a:r>
            <a:r>
              <a:rPr lang="zh-CN" altLang="en-US"/>
              <a:t>某个样本是否还能使用，然后利用这个信息进行尝试写出尝试的递归函数</a:t>
            </a:r>
            <a:r>
              <a:rPr lang="en-US" altLang="zh-CN"/>
              <a:t> -&gt;</a:t>
            </a:r>
            <a:r>
              <a:rPr lang="zh-CN" altLang="en-US"/>
              <a:t>记忆化搜索</a:t>
            </a:r>
            <a:r>
              <a:rPr lang="en-US" altLang="zh-CN"/>
              <a:t> -&gt; </a:t>
            </a:r>
            <a:r>
              <a:rPr lang="zh-CN" altLang="en-US"/>
              <a:t>严格位置依赖的动态规划</a:t>
            </a:r>
            <a:r>
              <a:rPr lang="en-US" altLang="zh-CN"/>
              <a:t> -&gt; </a:t>
            </a:r>
            <a:r>
              <a:rPr lang="zh-CN" altLang="en-US"/>
              <a:t>空间压缩等优化。</a:t>
            </a:r>
            <a:endParaRPr lang="zh-CN" altLang="en-US"/>
          </a:p>
          <a:p>
            <a:r>
              <a:rPr lang="zh-CN" altLang="en-US"/>
              <a:t>如果有</a:t>
            </a:r>
            <a:r>
              <a:rPr lang="en-US" altLang="zh-CN"/>
              <a:t>k</a:t>
            </a:r>
            <a:r>
              <a:rPr lang="zh-CN" altLang="en-US"/>
              <a:t>个样本，那么表示这些样本的状态，数量是</a:t>
            </a:r>
            <a:r>
              <a:rPr lang="en-US" altLang="zh-CN"/>
              <a:t>2^k</a:t>
            </a:r>
            <a:r>
              <a:rPr lang="zh-CN" altLang="en-US"/>
              <a:t>所以可变参数</a:t>
            </a:r>
            <a:r>
              <a:rPr lang="en-US" altLang="zh-CN"/>
              <a:t>status</a:t>
            </a:r>
            <a:r>
              <a:rPr lang="zh-CN" altLang="en-US"/>
              <a:t>的范围</a:t>
            </a:r>
            <a:r>
              <a:rPr lang="en-US" altLang="zh-CN"/>
              <a:t>:0~(2k)-1</a:t>
            </a:r>
            <a:endParaRPr lang="en-US" altLang="zh-CN"/>
          </a:p>
          <a:p>
            <a:r>
              <a:rPr lang="zh-CN" altLang="en-US"/>
              <a:t>样本每增加一个，状态的数量是指数级增长的，所以状压</a:t>
            </a:r>
            <a:r>
              <a:rPr lang="en-US" altLang="zh-CN"/>
              <a:t>dp</a:t>
            </a:r>
            <a:r>
              <a:rPr lang="zh-CN" altLang="en-US"/>
              <a:t>能解决的问题往往样本数据量都不大</a:t>
            </a:r>
            <a:r>
              <a:rPr lang="en-US" altLang="zh-CN"/>
              <a:t>-</a:t>
            </a:r>
            <a:r>
              <a:rPr lang="zh-CN" altLang="en-US"/>
              <a:t>般样本数量在</a:t>
            </a:r>
            <a:r>
              <a:rPr lang="en-US" altLang="zh-CN"/>
              <a:t>20</a:t>
            </a:r>
            <a:r>
              <a:rPr lang="zh-CN" altLang="en-US"/>
              <a:t>个以内</a:t>
            </a:r>
            <a:r>
              <a:rPr lang="en-US" altLang="zh-CN"/>
              <a:t>(10^6)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zh-CN" sz="2220"/>
              <a:t>https://leetcode.cn/problems/can-i-win/description/</a:t>
            </a:r>
            <a:endParaRPr lang="en-US" altLang="zh-CN" sz="222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74975" y="1490345"/>
            <a:ext cx="623506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92855" y="525145"/>
            <a:ext cx="4662805" cy="55949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sz="2000"/>
              <a:t>https://www.luogu.com.cn/problem/P1896</a:t>
            </a:r>
            <a:endParaRPr lang="en-US" altLang="zh-CN" sz="20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05455" y="1490345"/>
            <a:ext cx="617347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由于每一行的格子小于等于</a:t>
            </a:r>
            <a:r>
              <a:rPr lang="en-US" altLang="zh-CN"/>
              <a:t>9</a:t>
            </a:r>
            <a:r>
              <a:rPr lang="zh-CN" altLang="en-US"/>
              <a:t>个，每一个格子又只有两种状态</a:t>
            </a:r>
            <a:r>
              <a:rPr lang="en-US" altLang="zh-CN"/>
              <a:t>——</a:t>
            </a:r>
            <a:r>
              <a:rPr lang="zh-CN" altLang="en-US"/>
              <a:t>放国王和不放国王，假设我们吧放了国王记为</a:t>
            </a:r>
            <a:r>
              <a:rPr lang="en-US" altLang="zh-CN"/>
              <a:t>1</a:t>
            </a:r>
            <a:r>
              <a:rPr lang="zh-CN" altLang="en-US"/>
              <a:t>，没放国王记为</a:t>
            </a:r>
            <a:r>
              <a:rPr lang="en-US" altLang="zh-CN"/>
              <a:t>0</a:t>
            </a:r>
            <a:r>
              <a:rPr lang="zh-CN" altLang="en-US"/>
              <a:t>，很显然每一行的状态就是一个</a:t>
            </a:r>
            <a:r>
              <a:rPr lang="en-US" altLang="zh-CN"/>
              <a:t>01</a:t>
            </a:r>
            <a:r>
              <a:rPr lang="zh-CN" altLang="en-US"/>
              <a:t>串，把这个串看过一个二进制数，则他的大小不会超过</a:t>
            </a:r>
            <a:r>
              <a:rPr lang="en-US" altLang="zh-CN"/>
              <a:t>2^9-1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那么我们就完金可以拿一个</a:t>
            </a:r>
            <a:r>
              <a:rPr lang="en-US" altLang="zh-CN"/>
              <a:t>i</a:t>
            </a:r>
            <a:r>
              <a:rPr lang="zh-CN" altLang="en-US"/>
              <a:t>切类型的数来表示每一行的状态。</a:t>
            </a:r>
            <a:endParaRPr lang="zh-CN" altLang="en-US"/>
          </a:p>
          <a:p>
            <a:r>
              <a:rPr lang="zh-CN" altLang="en-US"/>
              <a:t>然后，怎样的获态才是合法的呢</a:t>
            </a:r>
            <a:r>
              <a:rPr lang="en-US" altLang="zh-CN"/>
              <a:t>——</a:t>
            </a:r>
            <a:r>
              <a:rPr lang="zh-CN" altLang="en-US"/>
              <a:t>没有相邻的两个</a:t>
            </a:r>
            <a:r>
              <a:rPr lang="en-US" altLang="zh-CN"/>
              <a:t>1</a:t>
            </a:r>
            <a:r>
              <a:rPr lang="zh-CN" altLang="en-US"/>
              <a:t>，即</a:t>
            </a:r>
            <a:r>
              <a:rPr lang="en-US" altLang="zh-CN"/>
              <a:t>(x&amp;(x&lt;&lt;1))=0</a:t>
            </a:r>
            <a:endParaRPr lang="en-US" altLang="zh-CN"/>
          </a:p>
          <a:p>
            <a:r>
              <a:rPr lang="zh-CN" altLang="en-US"/>
              <a:t>如果层知上一行的状态是</a:t>
            </a:r>
            <a:r>
              <a:rPr lang="en-US" altLang="zh-CN"/>
              <a:t>x</a:t>
            </a:r>
            <a:r>
              <a:rPr lang="zh-CN" altLang="en-US"/>
              <a:t>当前行状态是</a:t>
            </a:r>
            <a:r>
              <a:rPr lang="en-US" altLang="zh-CN"/>
              <a:t>y,xy</a:t>
            </a:r>
            <a:r>
              <a:rPr lang="zh-CN" altLang="en-US"/>
              <a:t>满足什么条件才是合法的</a:t>
            </a:r>
            <a:r>
              <a:rPr lang="en-US" altLang="zh-CN"/>
              <a:t>?</a:t>
            </a:r>
            <a:endParaRPr lang="en-US" altLang="zh-CN"/>
          </a:p>
          <a:p>
            <a:r>
              <a:rPr lang="en-US" altLang="zh-CN"/>
              <a:t>(x&amp;y)==0,(x&amp;(y&lt;&lt;1))==0,(x&amp;(y&gt;&gt;1))==0(x</a:t>
            </a:r>
            <a:r>
              <a:rPr lang="zh-CN" altLang="en-US"/>
              <a:t>行</a:t>
            </a:r>
            <a:r>
              <a:rPr lang="en-US" altLang="zh-CN"/>
              <a:t>1</a:t>
            </a:r>
            <a:r>
              <a:rPr lang="zh-CN" altLang="en-US"/>
              <a:t>下方的三个内没有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同理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确定状态</a:t>
            </a:r>
            <a:endParaRPr lang="zh-CN" altLang="en-US"/>
          </a:p>
          <a:p>
            <a:r>
              <a:rPr lang="en-US" altLang="zh-CN"/>
              <a:t>·f[i][i][k]</a:t>
            </a:r>
            <a:r>
              <a:rPr lang="zh-CN" altLang="en-US"/>
              <a:t>表示第</a:t>
            </a:r>
            <a:r>
              <a:rPr lang="en-US" altLang="zh-CN"/>
              <a:t>i</a:t>
            </a:r>
            <a:r>
              <a:rPr lang="zh-CN" altLang="en-US"/>
              <a:t>行的状态为</a:t>
            </a:r>
            <a:r>
              <a:rPr lang="en-US" altLang="zh-CN"/>
              <a:t>k</a:t>
            </a:r>
            <a:r>
              <a:rPr lang="zh-CN" altLang="en-US"/>
              <a:t>且已经放了</a:t>
            </a:r>
            <a:r>
              <a:rPr lang="en-US" altLang="zh-CN"/>
              <a:t>i</a:t>
            </a:r>
            <a:r>
              <a:rPr lang="zh-CN" altLang="en-US"/>
              <a:t>个国王的方案数确定状态转移方程</a:t>
            </a:r>
            <a:endParaRPr lang="zh-CN" altLang="en-US"/>
          </a:p>
          <a:p>
            <a:r>
              <a:rPr lang="zh-CN" altLang="en-US"/>
              <a:t>转移方程：</a:t>
            </a:r>
            <a:r>
              <a:rPr lang="en-US" altLang="zh-CN"/>
              <a:t>f[i][j][k] += f[i-1][j-num[k]][p] </a:t>
            </a:r>
            <a:endParaRPr lang="en-US" altLang="zh-CN"/>
          </a:p>
          <a:p>
            <a:r>
              <a:rPr lang="en-US" altLang="zh-CN"/>
              <a:t>((k&amp;p)==0,(x&amp;(p&lt;&lt;1))==0,(x&amp;(p&gt;&gt;1))==0)</a:t>
            </a:r>
            <a:r>
              <a:rPr lang="zh-CN" altLang="en-US"/>
              <a:t>，</a:t>
            </a:r>
            <a:r>
              <a:rPr lang="en-US" altLang="zh-CN"/>
              <a:t>(num[k]</a:t>
            </a:r>
            <a:r>
              <a:rPr lang="zh-CN" altLang="en-US"/>
              <a:t>表示</a:t>
            </a:r>
            <a:r>
              <a:rPr lang="en-US" altLang="zh-CN"/>
              <a:t>k</a:t>
            </a:r>
            <a:r>
              <a:rPr lang="zh-CN" altLang="en-US"/>
              <a:t>状态的国王数</a:t>
            </a:r>
            <a:r>
              <a:rPr lang="en-US" altLang="zh-CN"/>
              <a:t>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90925" y="262255"/>
            <a:ext cx="4841240" cy="62591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1548</Words>
  <Application>WPS 演示</Application>
  <PresentationFormat>宽屏</PresentationFormat>
  <Paragraphs>57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树形dp、状压dp</vt:lpstr>
      <vt:lpstr>PowerPoint 演示文稿</vt:lpstr>
      <vt:lpstr>https://leetcode.cn/problems/largest-bst-subtree/description/</vt:lpstr>
      <vt:lpstr>PowerPoint 演示文稿</vt:lpstr>
      <vt:lpstr>PowerPoint 演示文稿</vt:lpstr>
      <vt:lpstr>https://leetcode.cn/problems/distribute-coins-in-binary-tree/description/</vt:lpstr>
      <vt:lpstr>PowerPoint 演示文稿</vt:lpstr>
      <vt:lpstr>PowerPoint 演示文稿</vt:lpstr>
      <vt:lpstr>https://www.luogu.com.cn/problem/P1352</vt:lpstr>
      <vt:lpstr>PowerPoint 演示文稿</vt:lpstr>
      <vt:lpstr>PowerPoint 演示文稿</vt:lpstr>
      <vt:lpstr>位运算基础</vt:lpstr>
      <vt:lpstr>位运算基础</vt:lpstr>
      <vt:lpstr>PowerPoint 演示文稿</vt:lpstr>
      <vt:lpstr>https://leetcode.cn/problems/can-i-win/description/</vt:lpstr>
      <vt:lpstr>PowerPoint 演示文稿</vt:lpstr>
      <vt:lpstr>https://www.luogu.com.cn/problem/P1896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Eagle</cp:lastModifiedBy>
  <cp:revision>159</cp:revision>
  <dcterms:created xsi:type="dcterms:W3CDTF">2019-06-19T02:08:00Z</dcterms:created>
  <dcterms:modified xsi:type="dcterms:W3CDTF">2025-05-10T11:55:01Z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947E2F2922C24B1B83A5C2C648E8D7C6_11</vt:lpwstr>
  </property>
</Properties>
</file>