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0" r:id="rId4"/>
    <p:sldId id="261" r:id="rId5"/>
    <p:sldId id="262" r:id="rId6"/>
    <p:sldId id="263" r:id="rId7"/>
    <p:sldId id="268" r:id="rId8"/>
    <p:sldId id="264" r:id="rId9"/>
    <p:sldId id="265" r:id="rId10"/>
    <p:sldId id="266" r:id="rId11"/>
    <p:sldId id="267" r:id="rId12"/>
    <p:sldId id="280" r:id="rId13"/>
    <p:sldId id="281" r:id="rId14"/>
    <p:sldId id="269" r:id="rId15"/>
    <p:sldId id="270" r:id="rId16"/>
    <p:sldId id="271" r:id="rId17"/>
    <p:sldId id="272" r:id="rId18"/>
    <p:sldId id="273" r:id="rId19"/>
    <p:sldId id="274" r:id="rId20"/>
    <p:sldId id="294" r:id="rId21"/>
    <p:sldId id="295" r:id="rId22"/>
    <p:sldId id="296" r:id="rId23"/>
    <p:sldId id="275" r:id="rId24"/>
    <p:sldId id="276" r:id="rId25"/>
    <p:sldId id="278" r:id="rId26"/>
    <p:sldId id="279" r:id="rId27"/>
    <p:sldId id="282" r:id="rId28"/>
    <p:sldId id="284" r:id="rId29"/>
    <p:sldId id="285" r:id="rId30"/>
    <p:sldId id="286" r:id="rId31"/>
    <p:sldId id="287" r:id="rId32"/>
    <p:sldId id="288" r:id="rId33"/>
    <p:sldId id="289" r:id="rId34"/>
    <p:sldId id="290" r:id="rId35"/>
    <p:sldId id="291" r:id="rId36"/>
    <p:sldId id="292" r:id="rId37"/>
    <p:sldId id="293" r:id="rId3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8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9B65E4-E768-6CE1-14A6-5765F9E66EB0}"/>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8D50830D-B89D-0BF5-D296-9112365A1EC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10F5EA9D-CC22-B85C-6B45-FBAC251763F3}"/>
              </a:ext>
            </a:extLst>
          </p:cNvPr>
          <p:cNvSpPr>
            <a:spLocks noGrp="1"/>
          </p:cNvSpPr>
          <p:nvPr>
            <p:ph type="dt" sz="half" idx="10"/>
          </p:nvPr>
        </p:nvSpPr>
        <p:spPr/>
        <p:txBody>
          <a:bodyPr/>
          <a:lstStyle/>
          <a:p>
            <a:fld id="{96CF05D5-B077-4B30-AB96-C81DC2E22EF3}" type="datetimeFigureOut">
              <a:rPr lang="zh-CN" altLang="en-US" smtClean="0"/>
              <a:t>2025/4/25</a:t>
            </a:fld>
            <a:endParaRPr lang="zh-CN" altLang="en-US"/>
          </a:p>
        </p:txBody>
      </p:sp>
      <p:sp>
        <p:nvSpPr>
          <p:cNvPr id="5" name="页脚占位符 4">
            <a:extLst>
              <a:ext uri="{FF2B5EF4-FFF2-40B4-BE49-F238E27FC236}">
                <a16:creationId xmlns:a16="http://schemas.microsoft.com/office/drawing/2014/main" id="{3A8F0ECD-4F41-BD50-86B4-FF73C57C128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CA9747C-7EE8-9A5A-0581-5918BB4E84DB}"/>
              </a:ext>
            </a:extLst>
          </p:cNvPr>
          <p:cNvSpPr>
            <a:spLocks noGrp="1"/>
          </p:cNvSpPr>
          <p:nvPr>
            <p:ph type="sldNum" sz="quarter" idx="12"/>
          </p:nvPr>
        </p:nvSpPr>
        <p:spPr/>
        <p:txBody>
          <a:bodyPr/>
          <a:lstStyle/>
          <a:p>
            <a:fld id="{69EC742A-C31C-46FF-B56B-F2DDC201662B}" type="slidenum">
              <a:rPr lang="zh-CN" altLang="en-US" smtClean="0"/>
              <a:t>‹#›</a:t>
            </a:fld>
            <a:endParaRPr lang="zh-CN" altLang="en-US"/>
          </a:p>
        </p:txBody>
      </p:sp>
    </p:spTree>
    <p:extLst>
      <p:ext uri="{BB962C8B-B14F-4D97-AF65-F5344CB8AC3E}">
        <p14:creationId xmlns:p14="http://schemas.microsoft.com/office/powerpoint/2010/main" val="35844886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E5EBDE-FF0B-8CA9-D4D9-700B0D3EA48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0ECA1C5-48D8-63D3-9B27-26A2B9B38B71}"/>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B75E274-CACD-93FF-EBF2-58B0BC206459}"/>
              </a:ext>
            </a:extLst>
          </p:cNvPr>
          <p:cNvSpPr>
            <a:spLocks noGrp="1"/>
          </p:cNvSpPr>
          <p:nvPr>
            <p:ph type="dt" sz="half" idx="10"/>
          </p:nvPr>
        </p:nvSpPr>
        <p:spPr/>
        <p:txBody>
          <a:bodyPr/>
          <a:lstStyle/>
          <a:p>
            <a:fld id="{96CF05D5-B077-4B30-AB96-C81DC2E22EF3}" type="datetimeFigureOut">
              <a:rPr lang="zh-CN" altLang="en-US" smtClean="0"/>
              <a:t>2025/4/25</a:t>
            </a:fld>
            <a:endParaRPr lang="zh-CN" altLang="en-US"/>
          </a:p>
        </p:txBody>
      </p:sp>
      <p:sp>
        <p:nvSpPr>
          <p:cNvPr id="5" name="页脚占位符 4">
            <a:extLst>
              <a:ext uri="{FF2B5EF4-FFF2-40B4-BE49-F238E27FC236}">
                <a16:creationId xmlns:a16="http://schemas.microsoft.com/office/drawing/2014/main" id="{8C81012E-A17A-2035-6783-63D48984CE5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8592D3E-11DE-02FA-9D63-CCD1233A553B}"/>
              </a:ext>
            </a:extLst>
          </p:cNvPr>
          <p:cNvSpPr>
            <a:spLocks noGrp="1"/>
          </p:cNvSpPr>
          <p:nvPr>
            <p:ph type="sldNum" sz="quarter" idx="12"/>
          </p:nvPr>
        </p:nvSpPr>
        <p:spPr/>
        <p:txBody>
          <a:bodyPr/>
          <a:lstStyle/>
          <a:p>
            <a:fld id="{69EC742A-C31C-46FF-B56B-F2DDC201662B}" type="slidenum">
              <a:rPr lang="zh-CN" altLang="en-US" smtClean="0"/>
              <a:t>‹#›</a:t>
            </a:fld>
            <a:endParaRPr lang="zh-CN" altLang="en-US"/>
          </a:p>
        </p:txBody>
      </p:sp>
    </p:spTree>
    <p:extLst>
      <p:ext uri="{BB962C8B-B14F-4D97-AF65-F5344CB8AC3E}">
        <p14:creationId xmlns:p14="http://schemas.microsoft.com/office/powerpoint/2010/main" val="1280773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31D59C-4E55-0935-1496-48FAB6541269}"/>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5F6F6C38-A0FE-8EE0-C972-D701A4E6B04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426D35AA-0C89-8087-09F0-D57E44072949}"/>
              </a:ext>
            </a:extLst>
          </p:cNvPr>
          <p:cNvSpPr>
            <a:spLocks noGrp="1"/>
          </p:cNvSpPr>
          <p:nvPr>
            <p:ph type="dt" sz="half" idx="10"/>
          </p:nvPr>
        </p:nvSpPr>
        <p:spPr/>
        <p:txBody>
          <a:bodyPr/>
          <a:lstStyle/>
          <a:p>
            <a:fld id="{96CF05D5-B077-4B30-AB96-C81DC2E22EF3}" type="datetimeFigureOut">
              <a:rPr lang="zh-CN" altLang="en-US" smtClean="0"/>
              <a:t>2025/4/25</a:t>
            </a:fld>
            <a:endParaRPr lang="zh-CN" altLang="en-US"/>
          </a:p>
        </p:txBody>
      </p:sp>
      <p:sp>
        <p:nvSpPr>
          <p:cNvPr id="5" name="页脚占位符 4">
            <a:extLst>
              <a:ext uri="{FF2B5EF4-FFF2-40B4-BE49-F238E27FC236}">
                <a16:creationId xmlns:a16="http://schemas.microsoft.com/office/drawing/2014/main" id="{F40845FE-48FD-F0C4-E031-B7D11DE8EB7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7D94753-C8F1-CE78-DCE7-1187AE67FA4C}"/>
              </a:ext>
            </a:extLst>
          </p:cNvPr>
          <p:cNvSpPr>
            <a:spLocks noGrp="1"/>
          </p:cNvSpPr>
          <p:nvPr>
            <p:ph type="sldNum" sz="quarter" idx="12"/>
          </p:nvPr>
        </p:nvSpPr>
        <p:spPr/>
        <p:txBody>
          <a:bodyPr/>
          <a:lstStyle/>
          <a:p>
            <a:fld id="{69EC742A-C31C-46FF-B56B-F2DDC201662B}" type="slidenum">
              <a:rPr lang="zh-CN" altLang="en-US" smtClean="0"/>
              <a:t>‹#›</a:t>
            </a:fld>
            <a:endParaRPr lang="zh-CN" altLang="en-US"/>
          </a:p>
        </p:txBody>
      </p:sp>
    </p:spTree>
    <p:extLst>
      <p:ext uri="{BB962C8B-B14F-4D97-AF65-F5344CB8AC3E}">
        <p14:creationId xmlns:p14="http://schemas.microsoft.com/office/powerpoint/2010/main" val="2012800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07FF3D-94DB-B267-6406-6664F62DCC7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F66181F-9B88-4241-E5ED-43DDDE91C376}"/>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F720586A-91CD-C774-3302-1825A1F623DB}"/>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4FE9DEA8-7905-164D-163E-EBD273FEBD00}"/>
              </a:ext>
            </a:extLst>
          </p:cNvPr>
          <p:cNvSpPr>
            <a:spLocks noGrp="1"/>
          </p:cNvSpPr>
          <p:nvPr>
            <p:ph type="dt" sz="half" idx="10"/>
          </p:nvPr>
        </p:nvSpPr>
        <p:spPr/>
        <p:txBody>
          <a:bodyPr/>
          <a:lstStyle/>
          <a:p>
            <a:fld id="{96CF05D5-B077-4B30-AB96-C81DC2E22EF3}" type="datetimeFigureOut">
              <a:rPr lang="zh-CN" altLang="en-US" smtClean="0"/>
              <a:t>2025/4/25</a:t>
            </a:fld>
            <a:endParaRPr lang="zh-CN" altLang="en-US"/>
          </a:p>
        </p:txBody>
      </p:sp>
      <p:sp>
        <p:nvSpPr>
          <p:cNvPr id="6" name="页脚占位符 5">
            <a:extLst>
              <a:ext uri="{FF2B5EF4-FFF2-40B4-BE49-F238E27FC236}">
                <a16:creationId xmlns:a16="http://schemas.microsoft.com/office/drawing/2014/main" id="{BFBA696A-AFC5-8898-E852-B5250E6EBF6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3413577-8883-05BB-AEF9-13CA9F228129}"/>
              </a:ext>
            </a:extLst>
          </p:cNvPr>
          <p:cNvSpPr>
            <a:spLocks noGrp="1"/>
          </p:cNvSpPr>
          <p:nvPr>
            <p:ph type="sldNum" sz="quarter" idx="12"/>
          </p:nvPr>
        </p:nvSpPr>
        <p:spPr/>
        <p:txBody>
          <a:bodyPr/>
          <a:lstStyle/>
          <a:p>
            <a:fld id="{69EC742A-C31C-46FF-B56B-F2DDC201662B}" type="slidenum">
              <a:rPr lang="zh-CN" altLang="en-US" smtClean="0"/>
              <a:t>‹#›</a:t>
            </a:fld>
            <a:endParaRPr lang="zh-CN" altLang="en-US"/>
          </a:p>
        </p:txBody>
      </p:sp>
    </p:spTree>
    <p:extLst>
      <p:ext uri="{BB962C8B-B14F-4D97-AF65-F5344CB8AC3E}">
        <p14:creationId xmlns:p14="http://schemas.microsoft.com/office/powerpoint/2010/main" val="25730251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041AD24-65D7-28C2-DA89-53FD721C18A2}"/>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FD6D9FB-F7C2-FEAE-8B9B-3060CB781F4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60F3E2DA-01AB-C190-6C25-764893712DF3}"/>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6A9A1C34-7E10-E900-6202-3E759551E58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1C5B26C7-3BC0-0861-E019-31F314722843}"/>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FCBC3638-F48F-3870-6AC6-70A8051D2EF9}"/>
              </a:ext>
            </a:extLst>
          </p:cNvPr>
          <p:cNvSpPr>
            <a:spLocks noGrp="1"/>
          </p:cNvSpPr>
          <p:nvPr>
            <p:ph type="dt" sz="half" idx="10"/>
          </p:nvPr>
        </p:nvSpPr>
        <p:spPr/>
        <p:txBody>
          <a:bodyPr/>
          <a:lstStyle/>
          <a:p>
            <a:fld id="{96CF05D5-B077-4B30-AB96-C81DC2E22EF3}" type="datetimeFigureOut">
              <a:rPr lang="zh-CN" altLang="en-US" smtClean="0"/>
              <a:t>2025/4/25</a:t>
            </a:fld>
            <a:endParaRPr lang="zh-CN" altLang="en-US"/>
          </a:p>
        </p:txBody>
      </p:sp>
      <p:sp>
        <p:nvSpPr>
          <p:cNvPr id="8" name="页脚占位符 7">
            <a:extLst>
              <a:ext uri="{FF2B5EF4-FFF2-40B4-BE49-F238E27FC236}">
                <a16:creationId xmlns:a16="http://schemas.microsoft.com/office/drawing/2014/main" id="{EC1E8659-3360-24EB-188E-A06EE211A4B0}"/>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E2615132-ACEC-5E64-64CA-B99D290AACD7}"/>
              </a:ext>
            </a:extLst>
          </p:cNvPr>
          <p:cNvSpPr>
            <a:spLocks noGrp="1"/>
          </p:cNvSpPr>
          <p:nvPr>
            <p:ph type="sldNum" sz="quarter" idx="12"/>
          </p:nvPr>
        </p:nvSpPr>
        <p:spPr/>
        <p:txBody>
          <a:bodyPr/>
          <a:lstStyle/>
          <a:p>
            <a:fld id="{69EC742A-C31C-46FF-B56B-F2DDC201662B}" type="slidenum">
              <a:rPr lang="zh-CN" altLang="en-US" smtClean="0"/>
              <a:t>‹#›</a:t>
            </a:fld>
            <a:endParaRPr lang="zh-CN" altLang="en-US"/>
          </a:p>
        </p:txBody>
      </p:sp>
    </p:spTree>
    <p:extLst>
      <p:ext uri="{BB962C8B-B14F-4D97-AF65-F5344CB8AC3E}">
        <p14:creationId xmlns:p14="http://schemas.microsoft.com/office/powerpoint/2010/main" val="31240563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F7D10C-7E45-6233-419D-F898C8BBE255}"/>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87AEDD1E-7AF2-4582-DC90-A813704C82CD}"/>
              </a:ext>
            </a:extLst>
          </p:cNvPr>
          <p:cNvSpPr>
            <a:spLocks noGrp="1"/>
          </p:cNvSpPr>
          <p:nvPr>
            <p:ph type="dt" sz="half" idx="10"/>
          </p:nvPr>
        </p:nvSpPr>
        <p:spPr/>
        <p:txBody>
          <a:bodyPr/>
          <a:lstStyle/>
          <a:p>
            <a:fld id="{96CF05D5-B077-4B30-AB96-C81DC2E22EF3}" type="datetimeFigureOut">
              <a:rPr lang="zh-CN" altLang="en-US" smtClean="0"/>
              <a:t>2025/4/25</a:t>
            </a:fld>
            <a:endParaRPr lang="zh-CN" altLang="en-US"/>
          </a:p>
        </p:txBody>
      </p:sp>
      <p:sp>
        <p:nvSpPr>
          <p:cNvPr id="4" name="页脚占位符 3">
            <a:extLst>
              <a:ext uri="{FF2B5EF4-FFF2-40B4-BE49-F238E27FC236}">
                <a16:creationId xmlns:a16="http://schemas.microsoft.com/office/drawing/2014/main" id="{AC89084D-34D2-2080-90A4-BC20615CBF7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6E698EAF-F710-6F0C-76D4-FE1DEDB5563B}"/>
              </a:ext>
            </a:extLst>
          </p:cNvPr>
          <p:cNvSpPr>
            <a:spLocks noGrp="1"/>
          </p:cNvSpPr>
          <p:nvPr>
            <p:ph type="sldNum" sz="quarter" idx="12"/>
          </p:nvPr>
        </p:nvSpPr>
        <p:spPr/>
        <p:txBody>
          <a:bodyPr/>
          <a:lstStyle/>
          <a:p>
            <a:fld id="{69EC742A-C31C-46FF-B56B-F2DDC201662B}" type="slidenum">
              <a:rPr lang="zh-CN" altLang="en-US" smtClean="0"/>
              <a:t>‹#›</a:t>
            </a:fld>
            <a:endParaRPr lang="zh-CN" altLang="en-US"/>
          </a:p>
        </p:txBody>
      </p:sp>
    </p:spTree>
    <p:extLst>
      <p:ext uri="{BB962C8B-B14F-4D97-AF65-F5344CB8AC3E}">
        <p14:creationId xmlns:p14="http://schemas.microsoft.com/office/powerpoint/2010/main" val="15870436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662C55B-3C9D-F2E3-1458-91538ACC6E26}"/>
              </a:ext>
            </a:extLst>
          </p:cNvPr>
          <p:cNvSpPr>
            <a:spLocks noGrp="1"/>
          </p:cNvSpPr>
          <p:nvPr>
            <p:ph type="dt" sz="half" idx="10"/>
          </p:nvPr>
        </p:nvSpPr>
        <p:spPr/>
        <p:txBody>
          <a:bodyPr/>
          <a:lstStyle/>
          <a:p>
            <a:fld id="{96CF05D5-B077-4B30-AB96-C81DC2E22EF3}" type="datetimeFigureOut">
              <a:rPr lang="zh-CN" altLang="en-US" smtClean="0"/>
              <a:t>2025/4/25</a:t>
            </a:fld>
            <a:endParaRPr lang="zh-CN" altLang="en-US"/>
          </a:p>
        </p:txBody>
      </p:sp>
      <p:sp>
        <p:nvSpPr>
          <p:cNvPr id="3" name="页脚占位符 2">
            <a:extLst>
              <a:ext uri="{FF2B5EF4-FFF2-40B4-BE49-F238E27FC236}">
                <a16:creationId xmlns:a16="http://schemas.microsoft.com/office/drawing/2014/main" id="{442BA473-3B5C-76D0-56C0-88C3707CD2F5}"/>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F6AB5144-1E03-6AB9-81F0-DADEE5B56BEC}"/>
              </a:ext>
            </a:extLst>
          </p:cNvPr>
          <p:cNvSpPr>
            <a:spLocks noGrp="1"/>
          </p:cNvSpPr>
          <p:nvPr>
            <p:ph type="sldNum" sz="quarter" idx="12"/>
          </p:nvPr>
        </p:nvSpPr>
        <p:spPr/>
        <p:txBody>
          <a:bodyPr/>
          <a:lstStyle/>
          <a:p>
            <a:fld id="{69EC742A-C31C-46FF-B56B-F2DDC201662B}" type="slidenum">
              <a:rPr lang="zh-CN" altLang="en-US" smtClean="0"/>
              <a:t>‹#›</a:t>
            </a:fld>
            <a:endParaRPr lang="zh-CN" altLang="en-US"/>
          </a:p>
        </p:txBody>
      </p:sp>
    </p:spTree>
    <p:extLst>
      <p:ext uri="{BB962C8B-B14F-4D97-AF65-F5344CB8AC3E}">
        <p14:creationId xmlns:p14="http://schemas.microsoft.com/office/powerpoint/2010/main" val="37182484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842E1D-A8FB-6AD3-2FFF-AB192AAC2BC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172F4EE2-1F8C-54CE-F7CC-2B15CA8B0FC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29F20AB1-79B8-3CD2-938D-461C621CE8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39C89B4-5E6B-AC93-5E85-2A6A3367FA3A}"/>
              </a:ext>
            </a:extLst>
          </p:cNvPr>
          <p:cNvSpPr>
            <a:spLocks noGrp="1"/>
          </p:cNvSpPr>
          <p:nvPr>
            <p:ph type="dt" sz="half" idx="10"/>
          </p:nvPr>
        </p:nvSpPr>
        <p:spPr/>
        <p:txBody>
          <a:bodyPr/>
          <a:lstStyle/>
          <a:p>
            <a:fld id="{96CF05D5-B077-4B30-AB96-C81DC2E22EF3}" type="datetimeFigureOut">
              <a:rPr lang="zh-CN" altLang="en-US" smtClean="0"/>
              <a:t>2025/4/25</a:t>
            </a:fld>
            <a:endParaRPr lang="zh-CN" altLang="en-US"/>
          </a:p>
        </p:txBody>
      </p:sp>
      <p:sp>
        <p:nvSpPr>
          <p:cNvPr id="6" name="页脚占位符 5">
            <a:extLst>
              <a:ext uri="{FF2B5EF4-FFF2-40B4-BE49-F238E27FC236}">
                <a16:creationId xmlns:a16="http://schemas.microsoft.com/office/drawing/2014/main" id="{62C0688B-B523-626D-514F-9338B122EA2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93D48CD-B214-D5A2-D61B-E24FBD8B593F}"/>
              </a:ext>
            </a:extLst>
          </p:cNvPr>
          <p:cNvSpPr>
            <a:spLocks noGrp="1"/>
          </p:cNvSpPr>
          <p:nvPr>
            <p:ph type="sldNum" sz="quarter" idx="12"/>
          </p:nvPr>
        </p:nvSpPr>
        <p:spPr/>
        <p:txBody>
          <a:bodyPr/>
          <a:lstStyle/>
          <a:p>
            <a:fld id="{69EC742A-C31C-46FF-B56B-F2DDC201662B}" type="slidenum">
              <a:rPr lang="zh-CN" altLang="en-US" smtClean="0"/>
              <a:t>‹#›</a:t>
            </a:fld>
            <a:endParaRPr lang="zh-CN" altLang="en-US"/>
          </a:p>
        </p:txBody>
      </p:sp>
    </p:spTree>
    <p:extLst>
      <p:ext uri="{BB962C8B-B14F-4D97-AF65-F5344CB8AC3E}">
        <p14:creationId xmlns:p14="http://schemas.microsoft.com/office/powerpoint/2010/main" val="2016002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DB332F-2A6B-FA2C-3511-8F1DBBDFE26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99BC6D97-BA71-9EF8-7259-EC338403997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E4321381-BEA4-4BA5-CB82-9A79044EC8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74991AC-39E8-83DB-1EDA-B86EE21BA07C}"/>
              </a:ext>
            </a:extLst>
          </p:cNvPr>
          <p:cNvSpPr>
            <a:spLocks noGrp="1"/>
          </p:cNvSpPr>
          <p:nvPr>
            <p:ph type="dt" sz="half" idx="10"/>
          </p:nvPr>
        </p:nvSpPr>
        <p:spPr/>
        <p:txBody>
          <a:bodyPr/>
          <a:lstStyle/>
          <a:p>
            <a:fld id="{96CF05D5-B077-4B30-AB96-C81DC2E22EF3}" type="datetimeFigureOut">
              <a:rPr lang="zh-CN" altLang="en-US" smtClean="0"/>
              <a:t>2025/4/25</a:t>
            </a:fld>
            <a:endParaRPr lang="zh-CN" altLang="en-US"/>
          </a:p>
        </p:txBody>
      </p:sp>
      <p:sp>
        <p:nvSpPr>
          <p:cNvPr id="6" name="页脚占位符 5">
            <a:extLst>
              <a:ext uri="{FF2B5EF4-FFF2-40B4-BE49-F238E27FC236}">
                <a16:creationId xmlns:a16="http://schemas.microsoft.com/office/drawing/2014/main" id="{1187679F-BCA6-3187-9C1A-3E30C0D88DD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1B0A257-76AA-E1EC-A87E-9E1C8CF22D18}"/>
              </a:ext>
            </a:extLst>
          </p:cNvPr>
          <p:cNvSpPr>
            <a:spLocks noGrp="1"/>
          </p:cNvSpPr>
          <p:nvPr>
            <p:ph type="sldNum" sz="quarter" idx="12"/>
          </p:nvPr>
        </p:nvSpPr>
        <p:spPr/>
        <p:txBody>
          <a:bodyPr/>
          <a:lstStyle/>
          <a:p>
            <a:fld id="{69EC742A-C31C-46FF-B56B-F2DDC201662B}" type="slidenum">
              <a:rPr lang="zh-CN" altLang="en-US" smtClean="0"/>
              <a:t>‹#›</a:t>
            </a:fld>
            <a:endParaRPr lang="zh-CN" altLang="en-US"/>
          </a:p>
        </p:txBody>
      </p:sp>
    </p:spTree>
    <p:extLst>
      <p:ext uri="{BB962C8B-B14F-4D97-AF65-F5344CB8AC3E}">
        <p14:creationId xmlns:p14="http://schemas.microsoft.com/office/powerpoint/2010/main" val="11183309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5A4472-87AF-D39E-46B5-3CCD480C5E40}"/>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CD3CFE77-9CF3-14A2-C9D2-9239AD8A26E9}"/>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14A49A3-B1AE-7C9F-67E8-EDE793B24441}"/>
              </a:ext>
            </a:extLst>
          </p:cNvPr>
          <p:cNvSpPr>
            <a:spLocks noGrp="1"/>
          </p:cNvSpPr>
          <p:nvPr>
            <p:ph type="dt" sz="half" idx="10"/>
          </p:nvPr>
        </p:nvSpPr>
        <p:spPr/>
        <p:txBody>
          <a:bodyPr/>
          <a:lstStyle/>
          <a:p>
            <a:fld id="{96CF05D5-B077-4B30-AB96-C81DC2E22EF3}" type="datetimeFigureOut">
              <a:rPr lang="zh-CN" altLang="en-US" smtClean="0"/>
              <a:t>2025/4/25</a:t>
            </a:fld>
            <a:endParaRPr lang="zh-CN" altLang="en-US"/>
          </a:p>
        </p:txBody>
      </p:sp>
      <p:sp>
        <p:nvSpPr>
          <p:cNvPr id="5" name="页脚占位符 4">
            <a:extLst>
              <a:ext uri="{FF2B5EF4-FFF2-40B4-BE49-F238E27FC236}">
                <a16:creationId xmlns:a16="http://schemas.microsoft.com/office/drawing/2014/main" id="{A9F2B73A-9A17-E6D1-19BF-A9C00B7A6BF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75706B5-C803-C9B5-3530-514D6B1A1684}"/>
              </a:ext>
            </a:extLst>
          </p:cNvPr>
          <p:cNvSpPr>
            <a:spLocks noGrp="1"/>
          </p:cNvSpPr>
          <p:nvPr>
            <p:ph type="sldNum" sz="quarter" idx="12"/>
          </p:nvPr>
        </p:nvSpPr>
        <p:spPr/>
        <p:txBody>
          <a:bodyPr/>
          <a:lstStyle/>
          <a:p>
            <a:fld id="{69EC742A-C31C-46FF-B56B-F2DDC201662B}" type="slidenum">
              <a:rPr lang="zh-CN" altLang="en-US" smtClean="0"/>
              <a:t>‹#›</a:t>
            </a:fld>
            <a:endParaRPr lang="zh-CN" altLang="en-US"/>
          </a:p>
        </p:txBody>
      </p:sp>
    </p:spTree>
    <p:extLst>
      <p:ext uri="{BB962C8B-B14F-4D97-AF65-F5344CB8AC3E}">
        <p14:creationId xmlns:p14="http://schemas.microsoft.com/office/powerpoint/2010/main" val="745974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38E1FB3-974B-0AA6-8A1B-D77D380C6F1D}"/>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B02A7E42-46B1-F144-2646-65031093BF39}"/>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5F7CC4F-5BDA-1EA6-00AA-A1F3ADC2DDA6}"/>
              </a:ext>
            </a:extLst>
          </p:cNvPr>
          <p:cNvSpPr>
            <a:spLocks noGrp="1"/>
          </p:cNvSpPr>
          <p:nvPr>
            <p:ph type="dt" sz="half" idx="10"/>
          </p:nvPr>
        </p:nvSpPr>
        <p:spPr/>
        <p:txBody>
          <a:bodyPr/>
          <a:lstStyle/>
          <a:p>
            <a:fld id="{96CF05D5-B077-4B30-AB96-C81DC2E22EF3}" type="datetimeFigureOut">
              <a:rPr lang="zh-CN" altLang="en-US" smtClean="0"/>
              <a:t>2025/4/25</a:t>
            </a:fld>
            <a:endParaRPr lang="zh-CN" altLang="en-US"/>
          </a:p>
        </p:txBody>
      </p:sp>
      <p:sp>
        <p:nvSpPr>
          <p:cNvPr id="5" name="页脚占位符 4">
            <a:extLst>
              <a:ext uri="{FF2B5EF4-FFF2-40B4-BE49-F238E27FC236}">
                <a16:creationId xmlns:a16="http://schemas.microsoft.com/office/drawing/2014/main" id="{8FB5893B-A8AC-EA8C-50AD-B857338C433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0B34C47-5A7F-492E-F4BF-94C7ACFC3690}"/>
              </a:ext>
            </a:extLst>
          </p:cNvPr>
          <p:cNvSpPr>
            <a:spLocks noGrp="1"/>
          </p:cNvSpPr>
          <p:nvPr>
            <p:ph type="sldNum" sz="quarter" idx="12"/>
          </p:nvPr>
        </p:nvSpPr>
        <p:spPr/>
        <p:txBody>
          <a:bodyPr/>
          <a:lstStyle/>
          <a:p>
            <a:fld id="{69EC742A-C31C-46FF-B56B-F2DDC201662B}" type="slidenum">
              <a:rPr lang="zh-CN" altLang="en-US" smtClean="0"/>
              <a:t>‹#›</a:t>
            </a:fld>
            <a:endParaRPr lang="zh-CN" altLang="en-US"/>
          </a:p>
        </p:txBody>
      </p:sp>
    </p:spTree>
    <p:extLst>
      <p:ext uri="{BB962C8B-B14F-4D97-AF65-F5344CB8AC3E}">
        <p14:creationId xmlns:p14="http://schemas.microsoft.com/office/powerpoint/2010/main" val="15984829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6321B134-C171-A3B1-53CD-658CD0A870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A28DC9C3-6D8C-2999-C5A6-FE917244820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178349B-17D5-0B19-82A6-D6F5B5EB588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CF05D5-B077-4B30-AB96-C81DC2E22EF3}" type="datetimeFigureOut">
              <a:rPr lang="zh-CN" altLang="en-US" smtClean="0"/>
              <a:t>2025/4/25</a:t>
            </a:fld>
            <a:endParaRPr lang="zh-CN" altLang="en-US"/>
          </a:p>
        </p:txBody>
      </p:sp>
      <p:sp>
        <p:nvSpPr>
          <p:cNvPr id="5" name="页脚占位符 4">
            <a:extLst>
              <a:ext uri="{FF2B5EF4-FFF2-40B4-BE49-F238E27FC236}">
                <a16:creationId xmlns:a16="http://schemas.microsoft.com/office/drawing/2014/main" id="{BA6D17F6-9C9D-45CE-848E-4B79F7BFCFF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4FAB1C04-7676-5262-C40C-E876DD7D563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EC742A-C31C-46FF-B56B-F2DDC201662B}" type="slidenum">
              <a:rPr lang="zh-CN" altLang="en-US" smtClean="0"/>
              <a:t>‹#›</a:t>
            </a:fld>
            <a:endParaRPr lang="zh-CN" altLang="en-US"/>
          </a:p>
        </p:txBody>
      </p:sp>
    </p:spTree>
    <p:extLst>
      <p:ext uri="{BB962C8B-B14F-4D97-AF65-F5344CB8AC3E}">
        <p14:creationId xmlns:p14="http://schemas.microsoft.com/office/powerpoint/2010/main" val="5122763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A12EB3-8C6D-9781-4762-78F12AE18595}"/>
              </a:ext>
            </a:extLst>
          </p:cNvPr>
          <p:cNvSpPr>
            <a:spLocks noGrp="1"/>
          </p:cNvSpPr>
          <p:nvPr>
            <p:ph type="ctrTitle"/>
          </p:nvPr>
        </p:nvSpPr>
        <p:spPr/>
        <p:txBody>
          <a:bodyPr/>
          <a:lstStyle/>
          <a:p>
            <a:r>
              <a:rPr lang="zh-CN" altLang="en-US" dirty="0"/>
              <a:t>搜索剪枝</a:t>
            </a:r>
          </a:p>
        </p:txBody>
      </p:sp>
    </p:spTree>
    <p:extLst>
      <p:ext uri="{BB962C8B-B14F-4D97-AF65-F5344CB8AC3E}">
        <p14:creationId xmlns:p14="http://schemas.microsoft.com/office/powerpoint/2010/main" val="40600245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154985-F9E0-05F9-A75F-D306425CD3B1}"/>
              </a:ext>
            </a:extLst>
          </p:cNvPr>
          <p:cNvSpPr>
            <a:spLocks noGrp="1"/>
          </p:cNvSpPr>
          <p:nvPr>
            <p:ph type="title"/>
          </p:nvPr>
        </p:nvSpPr>
        <p:spPr/>
        <p:txBody>
          <a:bodyPr/>
          <a:lstStyle/>
          <a:p>
            <a:r>
              <a:rPr lang="zh-CN" altLang="en-US" dirty="0"/>
              <a:t>搜索剪枝</a:t>
            </a:r>
          </a:p>
        </p:txBody>
      </p:sp>
      <p:sp>
        <p:nvSpPr>
          <p:cNvPr id="3" name="内容占位符 2">
            <a:extLst>
              <a:ext uri="{FF2B5EF4-FFF2-40B4-BE49-F238E27FC236}">
                <a16:creationId xmlns:a16="http://schemas.microsoft.com/office/drawing/2014/main" id="{F5242244-02EC-49F3-9F13-03770CEF2BAE}"/>
              </a:ext>
            </a:extLst>
          </p:cNvPr>
          <p:cNvSpPr>
            <a:spLocks noGrp="1"/>
          </p:cNvSpPr>
          <p:nvPr>
            <p:ph idx="1"/>
          </p:nvPr>
        </p:nvSpPr>
        <p:spPr/>
        <p:txBody>
          <a:bodyPr/>
          <a:lstStyle/>
          <a:p>
            <a:r>
              <a:rPr lang="zh-CN" altLang="en-US" dirty="0"/>
              <a:t>剪枝是一种优化策略，减少搜索中一些不必要的分支从而达到减小复杂度的目的</a:t>
            </a:r>
            <a:endParaRPr lang="en-US" altLang="zh-CN" dirty="0"/>
          </a:p>
          <a:p>
            <a:r>
              <a:rPr lang="zh-CN" altLang="en-US" dirty="0"/>
              <a:t>可行性剪枝</a:t>
            </a:r>
            <a:endParaRPr lang="en-US" altLang="zh-CN" dirty="0"/>
          </a:p>
          <a:p>
            <a:r>
              <a:rPr lang="zh-CN" altLang="en-US" dirty="0"/>
              <a:t>最优性剪枝</a:t>
            </a:r>
            <a:endParaRPr lang="en-US" altLang="zh-CN" dirty="0"/>
          </a:p>
          <a:p>
            <a:r>
              <a:rPr lang="zh-CN" altLang="en-US" dirty="0"/>
              <a:t>重复性剪枝</a:t>
            </a:r>
            <a:endParaRPr lang="en-US" altLang="zh-CN" dirty="0"/>
          </a:p>
          <a:p>
            <a:r>
              <a:rPr lang="zh-CN" altLang="en-US" dirty="0"/>
              <a:t>优化搜索顺序</a:t>
            </a:r>
            <a:endParaRPr lang="en-US" altLang="zh-CN" dirty="0"/>
          </a:p>
          <a:p>
            <a:r>
              <a:rPr lang="zh-CN" altLang="en-US" dirty="0"/>
              <a:t>记忆化搜索</a:t>
            </a:r>
          </a:p>
        </p:txBody>
      </p:sp>
    </p:spTree>
    <p:extLst>
      <p:ext uri="{BB962C8B-B14F-4D97-AF65-F5344CB8AC3E}">
        <p14:creationId xmlns:p14="http://schemas.microsoft.com/office/powerpoint/2010/main" val="35073358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C0F16A-0DED-075A-092F-29029EF1F53E}"/>
              </a:ext>
            </a:extLst>
          </p:cNvPr>
          <p:cNvSpPr>
            <a:spLocks noGrp="1"/>
          </p:cNvSpPr>
          <p:nvPr>
            <p:ph type="title"/>
          </p:nvPr>
        </p:nvSpPr>
        <p:spPr>
          <a:xfrm>
            <a:off x="838200" y="365126"/>
            <a:ext cx="4152014" cy="683954"/>
          </a:xfrm>
        </p:spPr>
        <p:txBody>
          <a:bodyPr>
            <a:normAutofit fontScale="90000"/>
          </a:bodyPr>
          <a:lstStyle/>
          <a:p>
            <a:r>
              <a:rPr lang="en-US" altLang="zh-CN" b="1" i="0" dirty="0">
                <a:effectLst/>
                <a:latin typeface="-apple-system"/>
              </a:rPr>
              <a:t>P1120 </a:t>
            </a:r>
            <a:r>
              <a:rPr lang="zh-CN" altLang="en-US" b="1" i="0" dirty="0">
                <a:effectLst/>
                <a:latin typeface="-apple-system"/>
              </a:rPr>
              <a:t>小木棍</a:t>
            </a:r>
            <a:br>
              <a:rPr lang="zh-CN" altLang="en-US" b="1" i="0" dirty="0">
                <a:effectLst/>
                <a:latin typeface="-apple-system"/>
              </a:rPr>
            </a:br>
            <a:endParaRPr lang="zh-CN" altLang="en-US" dirty="0"/>
          </a:p>
        </p:txBody>
      </p:sp>
      <p:pic>
        <p:nvPicPr>
          <p:cNvPr id="5" name="图片 4">
            <a:extLst>
              <a:ext uri="{FF2B5EF4-FFF2-40B4-BE49-F238E27FC236}">
                <a16:creationId xmlns:a16="http://schemas.microsoft.com/office/drawing/2014/main" id="{795BE519-B2F6-9295-3121-16D49652B6DE}"/>
              </a:ext>
            </a:extLst>
          </p:cNvPr>
          <p:cNvPicPr>
            <a:picLocks noChangeAspect="1"/>
          </p:cNvPicPr>
          <p:nvPr/>
        </p:nvPicPr>
        <p:blipFill>
          <a:blip r:embed="rId2"/>
          <a:stretch>
            <a:fillRect/>
          </a:stretch>
        </p:blipFill>
        <p:spPr>
          <a:xfrm>
            <a:off x="733203" y="1049080"/>
            <a:ext cx="10172700" cy="1685925"/>
          </a:xfrm>
          <a:prstGeom prst="rect">
            <a:avLst/>
          </a:prstGeom>
        </p:spPr>
      </p:pic>
      <p:pic>
        <p:nvPicPr>
          <p:cNvPr id="7" name="图片 6">
            <a:extLst>
              <a:ext uri="{FF2B5EF4-FFF2-40B4-BE49-F238E27FC236}">
                <a16:creationId xmlns:a16="http://schemas.microsoft.com/office/drawing/2014/main" id="{F24CB0EC-5B67-6BF5-FE92-7175734D40B6}"/>
              </a:ext>
            </a:extLst>
          </p:cNvPr>
          <p:cNvPicPr>
            <a:picLocks noChangeAspect="1"/>
          </p:cNvPicPr>
          <p:nvPr/>
        </p:nvPicPr>
        <p:blipFill>
          <a:blip r:embed="rId3"/>
          <a:stretch>
            <a:fillRect/>
          </a:stretch>
        </p:blipFill>
        <p:spPr>
          <a:xfrm>
            <a:off x="838200" y="2994394"/>
            <a:ext cx="5514975" cy="571500"/>
          </a:xfrm>
          <a:prstGeom prst="rect">
            <a:avLst/>
          </a:prstGeom>
        </p:spPr>
      </p:pic>
      <p:pic>
        <p:nvPicPr>
          <p:cNvPr id="9" name="图片 8">
            <a:extLst>
              <a:ext uri="{FF2B5EF4-FFF2-40B4-BE49-F238E27FC236}">
                <a16:creationId xmlns:a16="http://schemas.microsoft.com/office/drawing/2014/main" id="{59B0A950-1960-B37F-D989-051B931CBC3E}"/>
              </a:ext>
            </a:extLst>
          </p:cNvPr>
          <p:cNvPicPr>
            <a:picLocks noChangeAspect="1"/>
          </p:cNvPicPr>
          <p:nvPr/>
        </p:nvPicPr>
        <p:blipFill>
          <a:blip r:embed="rId4"/>
          <a:stretch>
            <a:fillRect/>
          </a:stretch>
        </p:blipFill>
        <p:spPr>
          <a:xfrm>
            <a:off x="823912" y="3954979"/>
            <a:ext cx="10544175" cy="1457325"/>
          </a:xfrm>
          <a:prstGeom prst="rect">
            <a:avLst/>
          </a:prstGeom>
        </p:spPr>
      </p:pic>
    </p:spTree>
    <p:extLst>
      <p:ext uri="{BB962C8B-B14F-4D97-AF65-F5344CB8AC3E}">
        <p14:creationId xmlns:p14="http://schemas.microsoft.com/office/powerpoint/2010/main" val="17416153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D14EC17F-3A7A-E4BF-0F3C-B3CC15F3520F}"/>
              </a:ext>
            </a:extLst>
          </p:cNvPr>
          <p:cNvSpPr>
            <a:spLocks noGrp="1"/>
          </p:cNvSpPr>
          <p:nvPr>
            <p:ph type="ctrTitle"/>
          </p:nvPr>
        </p:nvSpPr>
        <p:spPr/>
        <p:txBody>
          <a:bodyPr/>
          <a:lstStyle/>
          <a:p>
            <a:r>
              <a:rPr lang="zh-CN" altLang="en-US" dirty="0"/>
              <a:t>二叉堆</a:t>
            </a:r>
          </a:p>
        </p:txBody>
      </p:sp>
    </p:spTree>
    <p:extLst>
      <p:ext uri="{BB962C8B-B14F-4D97-AF65-F5344CB8AC3E}">
        <p14:creationId xmlns:p14="http://schemas.microsoft.com/office/powerpoint/2010/main" val="10924313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C2939B-0AD9-3647-CBBE-D113347A3374}"/>
              </a:ext>
            </a:extLst>
          </p:cNvPr>
          <p:cNvSpPr>
            <a:spLocks noGrp="1"/>
          </p:cNvSpPr>
          <p:nvPr>
            <p:ph type="title"/>
          </p:nvPr>
        </p:nvSpPr>
        <p:spPr/>
        <p:txBody>
          <a:bodyPr/>
          <a:lstStyle/>
          <a:p>
            <a:r>
              <a:rPr lang="zh-CN" altLang="en-US" dirty="0"/>
              <a:t>二叉堆</a:t>
            </a:r>
          </a:p>
        </p:txBody>
      </p:sp>
      <p:sp>
        <p:nvSpPr>
          <p:cNvPr id="3" name="内容占位符 2">
            <a:extLst>
              <a:ext uri="{FF2B5EF4-FFF2-40B4-BE49-F238E27FC236}">
                <a16:creationId xmlns:a16="http://schemas.microsoft.com/office/drawing/2014/main" id="{92925943-8EBB-8E7E-303D-CCDFEBB9DC2D}"/>
              </a:ext>
            </a:extLst>
          </p:cNvPr>
          <p:cNvSpPr>
            <a:spLocks noGrp="1"/>
          </p:cNvSpPr>
          <p:nvPr>
            <p:ph idx="1"/>
          </p:nvPr>
        </p:nvSpPr>
        <p:spPr/>
        <p:txBody>
          <a:bodyPr/>
          <a:lstStyle/>
          <a:p>
            <a:r>
              <a:rPr lang="zh-CN" altLang="en-US" b="0" i="0" dirty="0">
                <a:effectLst/>
                <a:latin typeface="Fira Sans" panose="020B0503050000020004" pitchFamily="34" charset="0"/>
              </a:rPr>
              <a:t>堆是一棵树，其每个节点都有一个键值，且每个节点的键值都  大于等于</a:t>
            </a:r>
            <a:r>
              <a:rPr lang="en-US" altLang="zh-CN" b="0" i="0" dirty="0">
                <a:effectLst/>
                <a:latin typeface="Fira Sans" panose="020B0503050000020004" pitchFamily="34" charset="0"/>
              </a:rPr>
              <a:t>/</a:t>
            </a:r>
            <a:r>
              <a:rPr lang="zh-CN" altLang="en-US" b="0" i="0" dirty="0">
                <a:effectLst/>
                <a:latin typeface="Fira Sans" panose="020B0503050000020004" pitchFamily="34" charset="0"/>
              </a:rPr>
              <a:t>小于等于 其父亲的键值。</a:t>
            </a:r>
            <a:endParaRPr lang="en-US" altLang="zh-CN" b="0" i="0" dirty="0">
              <a:effectLst/>
              <a:latin typeface="Fira Sans" panose="020B0503050000020004" pitchFamily="34" charset="0"/>
            </a:endParaRPr>
          </a:p>
          <a:p>
            <a:r>
              <a:rPr lang="zh-CN" altLang="en-US" b="0" i="0" dirty="0">
                <a:effectLst/>
                <a:latin typeface="Fira Sans" panose="020B0503050000020004" pitchFamily="34" charset="0"/>
              </a:rPr>
              <a:t>每个节点的键值都大于等于其父亲键值的堆叫做小根堆，否则叫做大根堆。</a:t>
            </a:r>
            <a:endParaRPr lang="en-US" altLang="zh-CN" b="0" i="0" dirty="0">
              <a:effectLst/>
              <a:latin typeface="Fira Sans" panose="020B0503050000020004" pitchFamily="34" charset="0"/>
            </a:endParaRPr>
          </a:p>
          <a:p>
            <a:r>
              <a:rPr lang="zh-CN" altLang="en-US" dirty="0">
                <a:latin typeface="Fira Sans" panose="020B0503050000020004" pitchFamily="34" charset="0"/>
              </a:rPr>
              <a:t>在</a:t>
            </a:r>
            <a:r>
              <a:rPr lang="en-US" altLang="zh-CN" dirty="0">
                <a:latin typeface="Fira Sans" panose="020B0503050000020004" pitchFamily="34" charset="0"/>
              </a:rPr>
              <a:t>STL</a:t>
            </a:r>
            <a:r>
              <a:rPr lang="zh-CN" altLang="en-US" dirty="0">
                <a:latin typeface="Fira Sans" panose="020B0503050000020004" pitchFamily="34" charset="0"/>
              </a:rPr>
              <a:t>中的</a:t>
            </a:r>
            <a:r>
              <a:rPr lang="en-US" altLang="zh-CN" dirty="0" err="1">
                <a:latin typeface="Fira Sans" panose="020B0503050000020004" pitchFamily="34" charset="0"/>
              </a:rPr>
              <a:t>priority_queue</a:t>
            </a:r>
            <a:r>
              <a:rPr lang="zh-CN" altLang="en-US" dirty="0">
                <a:latin typeface="Fira Sans" panose="020B0503050000020004" pitchFamily="34" charset="0"/>
              </a:rPr>
              <a:t>就是一个堆，可以完美运行堆的所有功能。</a:t>
            </a:r>
            <a:endParaRPr lang="zh-CN" altLang="en-US" b="0" i="0" dirty="0">
              <a:effectLst/>
              <a:latin typeface="Fira Sans" panose="020B0503050000020004" pitchFamily="34" charset="0"/>
            </a:endParaRPr>
          </a:p>
          <a:p>
            <a:endParaRPr lang="zh-CN" altLang="en-US" dirty="0"/>
          </a:p>
        </p:txBody>
      </p:sp>
    </p:spTree>
    <p:extLst>
      <p:ext uri="{BB962C8B-B14F-4D97-AF65-F5344CB8AC3E}">
        <p14:creationId xmlns:p14="http://schemas.microsoft.com/office/powerpoint/2010/main" val="29898719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D5BB5C-24B4-C3E4-7E0A-EE97E38DDBC3}"/>
              </a:ext>
            </a:extLst>
          </p:cNvPr>
          <p:cNvSpPr>
            <a:spLocks noGrp="1"/>
          </p:cNvSpPr>
          <p:nvPr>
            <p:ph type="title"/>
          </p:nvPr>
        </p:nvSpPr>
        <p:spPr>
          <a:xfrm>
            <a:off x="838200" y="365125"/>
            <a:ext cx="4768702" cy="769015"/>
          </a:xfrm>
        </p:spPr>
        <p:txBody>
          <a:bodyPr>
            <a:normAutofit fontScale="90000"/>
          </a:bodyPr>
          <a:lstStyle/>
          <a:p>
            <a:r>
              <a:rPr lang="en-US" altLang="zh-CN" b="1" i="0" dirty="0">
                <a:effectLst/>
                <a:latin typeface="-apple-system"/>
              </a:rPr>
              <a:t>P3378 【</a:t>
            </a:r>
            <a:r>
              <a:rPr lang="zh-CN" altLang="en-US" b="1" i="0" dirty="0">
                <a:effectLst/>
                <a:latin typeface="-apple-system"/>
              </a:rPr>
              <a:t>模板</a:t>
            </a:r>
            <a:r>
              <a:rPr lang="en-US" altLang="zh-CN" b="1" i="0" dirty="0">
                <a:effectLst/>
                <a:latin typeface="-apple-system"/>
              </a:rPr>
              <a:t>】</a:t>
            </a:r>
            <a:r>
              <a:rPr lang="zh-CN" altLang="en-US" b="1" i="0" dirty="0">
                <a:effectLst/>
                <a:latin typeface="-apple-system"/>
              </a:rPr>
              <a:t>堆</a:t>
            </a:r>
            <a:br>
              <a:rPr lang="zh-CN" altLang="en-US" b="1" i="0" dirty="0">
                <a:effectLst/>
                <a:latin typeface="-apple-system"/>
              </a:rPr>
            </a:br>
            <a:endParaRPr lang="zh-CN" altLang="en-US" dirty="0"/>
          </a:p>
        </p:txBody>
      </p:sp>
      <p:pic>
        <p:nvPicPr>
          <p:cNvPr id="5" name="图片 4">
            <a:extLst>
              <a:ext uri="{FF2B5EF4-FFF2-40B4-BE49-F238E27FC236}">
                <a16:creationId xmlns:a16="http://schemas.microsoft.com/office/drawing/2014/main" id="{A547E22C-EEA6-4688-5CAC-F589210F85EB}"/>
              </a:ext>
            </a:extLst>
          </p:cNvPr>
          <p:cNvPicPr>
            <a:picLocks noChangeAspect="1"/>
          </p:cNvPicPr>
          <p:nvPr/>
        </p:nvPicPr>
        <p:blipFill>
          <a:blip r:embed="rId2"/>
          <a:stretch>
            <a:fillRect/>
          </a:stretch>
        </p:blipFill>
        <p:spPr>
          <a:xfrm>
            <a:off x="838200" y="1294071"/>
            <a:ext cx="10858500" cy="2400300"/>
          </a:xfrm>
          <a:prstGeom prst="rect">
            <a:avLst/>
          </a:prstGeom>
        </p:spPr>
      </p:pic>
      <p:pic>
        <p:nvPicPr>
          <p:cNvPr id="7" name="图片 6">
            <a:extLst>
              <a:ext uri="{FF2B5EF4-FFF2-40B4-BE49-F238E27FC236}">
                <a16:creationId xmlns:a16="http://schemas.microsoft.com/office/drawing/2014/main" id="{CD54E13A-4E9D-F89E-B95A-86DDE4079FFA}"/>
              </a:ext>
            </a:extLst>
          </p:cNvPr>
          <p:cNvPicPr>
            <a:picLocks noChangeAspect="1"/>
          </p:cNvPicPr>
          <p:nvPr/>
        </p:nvPicPr>
        <p:blipFill>
          <a:blip r:embed="rId3"/>
          <a:stretch>
            <a:fillRect/>
          </a:stretch>
        </p:blipFill>
        <p:spPr>
          <a:xfrm>
            <a:off x="838200" y="3854302"/>
            <a:ext cx="8543925" cy="1685925"/>
          </a:xfrm>
          <a:prstGeom prst="rect">
            <a:avLst/>
          </a:prstGeom>
        </p:spPr>
      </p:pic>
    </p:spTree>
    <p:extLst>
      <p:ext uri="{BB962C8B-B14F-4D97-AF65-F5344CB8AC3E}">
        <p14:creationId xmlns:p14="http://schemas.microsoft.com/office/powerpoint/2010/main" val="28584076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8027AB-BE01-C3E7-2A24-89D17B52F92F}"/>
              </a:ext>
            </a:extLst>
          </p:cNvPr>
          <p:cNvSpPr>
            <a:spLocks noGrp="1"/>
          </p:cNvSpPr>
          <p:nvPr>
            <p:ph type="title"/>
          </p:nvPr>
        </p:nvSpPr>
        <p:spPr/>
        <p:txBody>
          <a:bodyPr/>
          <a:lstStyle/>
          <a:p>
            <a:r>
              <a:rPr lang="zh-CN" altLang="en-US" dirty="0"/>
              <a:t>优先队列</a:t>
            </a:r>
          </a:p>
        </p:txBody>
      </p:sp>
      <p:pic>
        <p:nvPicPr>
          <p:cNvPr id="5" name="图片 4">
            <a:extLst>
              <a:ext uri="{FF2B5EF4-FFF2-40B4-BE49-F238E27FC236}">
                <a16:creationId xmlns:a16="http://schemas.microsoft.com/office/drawing/2014/main" id="{067DB911-ED35-E536-4CB4-0697495E3FB8}"/>
              </a:ext>
            </a:extLst>
          </p:cNvPr>
          <p:cNvPicPr>
            <a:picLocks noChangeAspect="1"/>
          </p:cNvPicPr>
          <p:nvPr/>
        </p:nvPicPr>
        <p:blipFill>
          <a:blip r:embed="rId2"/>
          <a:stretch>
            <a:fillRect/>
          </a:stretch>
        </p:blipFill>
        <p:spPr>
          <a:xfrm>
            <a:off x="838200" y="1522781"/>
            <a:ext cx="8107326" cy="4335657"/>
          </a:xfrm>
          <a:prstGeom prst="rect">
            <a:avLst/>
          </a:prstGeom>
        </p:spPr>
      </p:pic>
    </p:spTree>
    <p:extLst>
      <p:ext uri="{BB962C8B-B14F-4D97-AF65-F5344CB8AC3E}">
        <p14:creationId xmlns:p14="http://schemas.microsoft.com/office/powerpoint/2010/main" val="19954890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784B14-C8CB-130E-BE01-FD6265FBC22A}"/>
              </a:ext>
            </a:extLst>
          </p:cNvPr>
          <p:cNvSpPr>
            <a:spLocks noGrp="1"/>
          </p:cNvSpPr>
          <p:nvPr>
            <p:ph type="title"/>
          </p:nvPr>
        </p:nvSpPr>
        <p:spPr>
          <a:xfrm>
            <a:off x="838200" y="365126"/>
            <a:ext cx="10127512" cy="641424"/>
          </a:xfrm>
        </p:spPr>
        <p:txBody>
          <a:bodyPr>
            <a:normAutofit fontScale="90000"/>
          </a:bodyPr>
          <a:lstStyle/>
          <a:p>
            <a:pPr algn="l"/>
            <a:r>
              <a:rPr lang="en-US" altLang="zh-CN" b="1" i="0" dirty="0">
                <a:effectLst/>
                <a:latin typeface="-apple-system"/>
              </a:rPr>
              <a:t>P1168 </a:t>
            </a:r>
            <a:r>
              <a:rPr lang="zh-CN" altLang="en-US" b="1" i="0" dirty="0">
                <a:effectLst/>
                <a:latin typeface="-apple-system"/>
              </a:rPr>
              <a:t>中位数</a:t>
            </a:r>
          </a:p>
        </p:txBody>
      </p:sp>
      <p:pic>
        <p:nvPicPr>
          <p:cNvPr id="4" name="图片 3">
            <a:extLst>
              <a:ext uri="{FF2B5EF4-FFF2-40B4-BE49-F238E27FC236}">
                <a16:creationId xmlns:a16="http://schemas.microsoft.com/office/drawing/2014/main" id="{8D5ADC67-1C74-E5EB-3DEC-887432BF653D}"/>
              </a:ext>
            </a:extLst>
          </p:cNvPr>
          <p:cNvPicPr>
            <a:picLocks noChangeAspect="1"/>
          </p:cNvPicPr>
          <p:nvPr/>
        </p:nvPicPr>
        <p:blipFill>
          <a:blip r:embed="rId2"/>
          <a:stretch>
            <a:fillRect/>
          </a:stretch>
        </p:blipFill>
        <p:spPr>
          <a:xfrm>
            <a:off x="752475" y="1237033"/>
            <a:ext cx="10687050" cy="1114425"/>
          </a:xfrm>
          <a:prstGeom prst="rect">
            <a:avLst/>
          </a:prstGeom>
        </p:spPr>
      </p:pic>
      <p:pic>
        <p:nvPicPr>
          <p:cNvPr id="8" name="图片 7">
            <a:extLst>
              <a:ext uri="{FF2B5EF4-FFF2-40B4-BE49-F238E27FC236}">
                <a16:creationId xmlns:a16="http://schemas.microsoft.com/office/drawing/2014/main" id="{4D90AA07-D570-701C-F7BC-2ED77E57EB10}"/>
              </a:ext>
            </a:extLst>
          </p:cNvPr>
          <p:cNvPicPr>
            <a:picLocks noChangeAspect="1"/>
          </p:cNvPicPr>
          <p:nvPr/>
        </p:nvPicPr>
        <p:blipFill>
          <a:blip r:embed="rId3"/>
          <a:stretch>
            <a:fillRect/>
          </a:stretch>
        </p:blipFill>
        <p:spPr>
          <a:xfrm>
            <a:off x="973986" y="5292354"/>
            <a:ext cx="6572250" cy="657225"/>
          </a:xfrm>
          <a:prstGeom prst="rect">
            <a:avLst/>
          </a:prstGeom>
        </p:spPr>
      </p:pic>
      <p:pic>
        <p:nvPicPr>
          <p:cNvPr id="11" name="图片 10">
            <a:extLst>
              <a:ext uri="{FF2B5EF4-FFF2-40B4-BE49-F238E27FC236}">
                <a16:creationId xmlns:a16="http://schemas.microsoft.com/office/drawing/2014/main" id="{68843DAE-9063-63B2-92C8-5793CECD28D6}"/>
              </a:ext>
            </a:extLst>
          </p:cNvPr>
          <p:cNvPicPr>
            <a:picLocks noChangeAspect="1"/>
          </p:cNvPicPr>
          <p:nvPr/>
        </p:nvPicPr>
        <p:blipFill>
          <a:blip r:embed="rId4"/>
          <a:stretch>
            <a:fillRect/>
          </a:stretch>
        </p:blipFill>
        <p:spPr>
          <a:xfrm>
            <a:off x="752475" y="2690812"/>
            <a:ext cx="10648950" cy="2085975"/>
          </a:xfrm>
          <a:prstGeom prst="rect">
            <a:avLst/>
          </a:prstGeom>
        </p:spPr>
      </p:pic>
    </p:spTree>
    <p:extLst>
      <p:ext uri="{BB962C8B-B14F-4D97-AF65-F5344CB8AC3E}">
        <p14:creationId xmlns:p14="http://schemas.microsoft.com/office/powerpoint/2010/main" val="32156424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159CBAAA-EE35-4D0F-F0EF-21726610F993}"/>
              </a:ext>
            </a:extLst>
          </p:cNvPr>
          <p:cNvSpPr>
            <a:spLocks noGrp="1"/>
          </p:cNvSpPr>
          <p:nvPr>
            <p:ph type="ctrTitle"/>
          </p:nvPr>
        </p:nvSpPr>
        <p:spPr/>
        <p:txBody>
          <a:bodyPr/>
          <a:lstStyle/>
          <a:p>
            <a:r>
              <a:rPr lang="zh-CN" altLang="en-US" dirty="0"/>
              <a:t>树状数组</a:t>
            </a:r>
          </a:p>
        </p:txBody>
      </p:sp>
    </p:spTree>
    <p:extLst>
      <p:ext uri="{BB962C8B-B14F-4D97-AF65-F5344CB8AC3E}">
        <p14:creationId xmlns:p14="http://schemas.microsoft.com/office/powerpoint/2010/main" val="6073085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C72AFB-26C7-795F-505A-AEAB38E6A04D}"/>
              </a:ext>
            </a:extLst>
          </p:cNvPr>
          <p:cNvSpPr>
            <a:spLocks noGrp="1"/>
          </p:cNvSpPr>
          <p:nvPr>
            <p:ph type="title"/>
          </p:nvPr>
        </p:nvSpPr>
        <p:spPr/>
        <p:txBody>
          <a:bodyPr/>
          <a:lstStyle/>
          <a:p>
            <a:r>
              <a:rPr lang="zh-CN" altLang="en-US" dirty="0"/>
              <a:t>树状数组</a:t>
            </a:r>
          </a:p>
        </p:txBody>
      </p:sp>
      <p:sp>
        <p:nvSpPr>
          <p:cNvPr id="3" name="内容占位符 2">
            <a:extLst>
              <a:ext uri="{FF2B5EF4-FFF2-40B4-BE49-F238E27FC236}">
                <a16:creationId xmlns:a16="http://schemas.microsoft.com/office/drawing/2014/main" id="{4AA62A45-0C93-6A06-7D1F-4B5E07FBA1B5}"/>
              </a:ext>
            </a:extLst>
          </p:cNvPr>
          <p:cNvSpPr>
            <a:spLocks noGrp="1"/>
          </p:cNvSpPr>
          <p:nvPr>
            <p:ph idx="1"/>
          </p:nvPr>
        </p:nvSpPr>
        <p:spPr/>
        <p:txBody>
          <a:bodyPr/>
          <a:lstStyle/>
          <a:p>
            <a:r>
              <a:rPr lang="zh-CN" altLang="en-US" dirty="0"/>
              <a:t>树状数组是一种能够动态维护前缀和的数据结构</a:t>
            </a:r>
            <a:endParaRPr lang="en-US" altLang="zh-CN" dirty="0"/>
          </a:p>
          <a:p>
            <a:r>
              <a:rPr lang="zh-CN" altLang="en-US" dirty="0"/>
              <a:t>其原理是对数进行二进制拆分从而通过类似分块的方式将数据存入一些块中，以此达到快速查询的目的</a:t>
            </a:r>
          </a:p>
        </p:txBody>
      </p:sp>
      <p:pic>
        <p:nvPicPr>
          <p:cNvPr id="5" name="图片 4">
            <a:extLst>
              <a:ext uri="{FF2B5EF4-FFF2-40B4-BE49-F238E27FC236}">
                <a16:creationId xmlns:a16="http://schemas.microsoft.com/office/drawing/2014/main" id="{E407F37E-0042-6D6D-7665-D44386ACA2D8}"/>
              </a:ext>
            </a:extLst>
          </p:cNvPr>
          <p:cNvPicPr>
            <a:picLocks noChangeAspect="1"/>
          </p:cNvPicPr>
          <p:nvPr/>
        </p:nvPicPr>
        <p:blipFill>
          <a:blip r:embed="rId2"/>
          <a:stretch>
            <a:fillRect/>
          </a:stretch>
        </p:blipFill>
        <p:spPr>
          <a:xfrm>
            <a:off x="913958" y="3429000"/>
            <a:ext cx="10179344" cy="3122015"/>
          </a:xfrm>
          <a:prstGeom prst="rect">
            <a:avLst/>
          </a:prstGeom>
        </p:spPr>
      </p:pic>
    </p:spTree>
    <p:extLst>
      <p:ext uri="{BB962C8B-B14F-4D97-AF65-F5344CB8AC3E}">
        <p14:creationId xmlns:p14="http://schemas.microsoft.com/office/powerpoint/2010/main" val="40295843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5E43F5-F4F9-0FC3-E9E1-B86362F84FA7}"/>
              </a:ext>
            </a:extLst>
          </p:cNvPr>
          <p:cNvSpPr>
            <a:spLocks noGrp="1"/>
          </p:cNvSpPr>
          <p:nvPr>
            <p:ph type="title"/>
          </p:nvPr>
        </p:nvSpPr>
        <p:spPr/>
        <p:txBody>
          <a:bodyPr/>
          <a:lstStyle/>
          <a:p>
            <a:r>
              <a:rPr lang="zh-CN" altLang="en-US" dirty="0"/>
              <a:t>树状数组</a:t>
            </a:r>
          </a:p>
        </p:txBody>
      </p:sp>
      <p:sp>
        <p:nvSpPr>
          <p:cNvPr id="3" name="内容占位符 2">
            <a:extLst>
              <a:ext uri="{FF2B5EF4-FFF2-40B4-BE49-F238E27FC236}">
                <a16:creationId xmlns:a16="http://schemas.microsoft.com/office/drawing/2014/main" id="{5E49D027-3CDC-4132-BFC7-99B30125D353}"/>
              </a:ext>
            </a:extLst>
          </p:cNvPr>
          <p:cNvSpPr>
            <a:spLocks noGrp="1"/>
          </p:cNvSpPr>
          <p:nvPr>
            <p:ph idx="1"/>
          </p:nvPr>
        </p:nvSpPr>
        <p:spPr/>
        <p:txBody>
          <a:bodyPr>
            <a:normAutofit lnSpcReduction="10000"/>
          </a:bodyPr>
          <a:lstStyle/>
          <a:p>
            <a:r>
              <a:rPr lang="en-US" altLang="zh-CN" dirty="0"/>
              <a:t>89 -&gt; 1011001  1000000 (64)</a:t>
            </a:r>
          </a:p>
          <a:p>
            <a:r>
              <a:rPr lang="en-US" altLang="zh-CN" dirty="0"/>
              <a:t>25 -&gt; 0</a:t>
            </a:r>
            <a:r>
              <a:rPr lang="en-US" altLang="zh-CN" sz="2800" dirty="0"/>
              <a:t>011001  0010000 (16)</a:t>
            </a:r>
          </a:p>
          <a:p>
            <a:r>
              <a:rPr lang="en-US" altLang="zh-CN" dirty="0"/>
              <a:t>9   -&gt; 0001001  0001000 (8)</a:t>
            </a:r>
          </a:p>
          <a:p>
            <a:r>
              <a:rPr lang="en-US" altLang="zh-CN" dirty="0"/>
              <a:t>1   -&gt; </a:t>
            </a:r>
            <a:r>
              <a:rPr lang="en-US" altLang="zh-CN" sz="2800" dirty="0"/>
              <a:t>0000001  0000001 (1)</a:t>
            </a:r>
          </a:p>
          <a:p>
            <a:endParaRPr lang="en-US" altLang="zh-CN" dirty="0"/>
          </a:p>
          <a:p>
            <a:r>
              <a:rPr lang="en-US" altLang="zh-CN" dirty="0"/>
              <a:t>89 -&gt; 1011001  0000001 (1)</a:t>
            </a:r>
          </a:p>
          <a:p>
            <a:r>
              <a:rPr lang="en-US" altLang="zh-CN" dirty="0"/>
              <a:t>88 -&gt; 1</a:t>
            </a:r>
            <a:r>
              <a:rPr lang="en-US" altLang="zh-CN" sz="2800" dirty="0"/>
              <a:t>011000  0001000 (8)</a:t>
            </a:r>
          </a:p>
          <a:p>
            <a:r>
              <a:rPr lang="en-US" altLang="zh-CN" dirty="0"/>
              <a:t>80 -&gt; 1010000  0010000 (16)</a:t>
            </a:r>
          </a:p>
          <a:p>
            <a:r>
              <a:rPr lang="en-US" altLang="zh-CN" dirty="0"/>
              <a:t>64 -&gt; 1</a:t>
            </a:r>
            <a:r>
              <a:rPr lang="en-US" altLang="zh-CN" sz="2800" dirty="0"/>
              <a:t>000000  1000000 (64)</a:t>
            </a:r>
          </a:p>
          <a:p>
            <a:endParaRPr lang="en-US" altLang="zh-CN" sz="2800" dirty="0"/>
          </a:p>
        </p:txBody>
      </p:sp>
    </p:spTree>
    <p:extLst>
      <p:ext uri="{BB962C8B-B14F-4D97-AF65-F5344CB8AC3E}">
        <p14:creationId xmlns:p14="http://schemas.microsoft.com/office/powerpoint/2010/main" val="20962028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9FD2F5-830F-FC4F-01FD-A8ADEB2B5DC1}"/>
              </a:ext>
            </a:extLst>
          </p:cNvPr>
          <p:cNvSpPr>
            <a:spLocks noGrp="1"/>
          </p:cNvSpPr>
          <p:nvPr>
            <p:ph type="title"/>
          </p:nvPr>
        </p:nvSpPr>
        <p:spPr>
          <a:xfrm>
            <a:off x="838200" y="365126"/>
            <a:ext cx="8553893" cy="676866"/>
          </a:xfrm>
        </p:spPr>
        <p:txBody>
          <a:bodyPr>
            <a:normAutofit fontScale="90000"/>
          </a:bodyPr>
          <a:lstStyle/>
          <a:p>
            <a:r>
              <a:rPr lang="en-US" altLang="zh-CN" b="1" i="0" dirty="0">
                <a:effectLst/>
                <a:latin typeface="-apple-system"/>
              </a:rPr>
              <a:t>P3374 【</a:t>
            </a:r>
            <a:r>
              <a:rPr lang="zh-CN" altLang="en-US" b="1" i="0" dirty="0">
                <a:effectLst/>
                <a:latin typeface="-apple-system"/>
              </a:rPr>
              <a:t>模板</a:t>
            </a:r>
            <a:r>
              <a:rPr lang="en-US" altLang="zh-CN" b="1" i="0" dirty="0">
                <a:effectLst/>
                <a:latin typeface="-apple-system"/>
              </a:rPr>
              <a:t>】</a:t>
            </a:r>
            <a:r>
              <a:rPr lang="zh-CN" altLang="en-US" b="1" i="0" dirty="0">
                <a:effectLst/>
                <a:latin typeface="-apple-system"/>
              </a:rPr>
              <a:t>树状数组 </a:t>
            </a:r>
            <a:r>
              <a:rPr lang="en-US" altLang="zh-CN" b="1" i="0" dirty="0">
                <a:effectLst/>
                <a:latin typeface="-apple-system"/>
              </a:rPr>
              <a:t>1</a:t>
            </a:r>
            <a:br>
              <a:rPr lang="en-US" altLang="zh-CN" b="1" i="0" dirty="0">
                <a:effectLst/>
                <a:latin typeface="-apple-system"/>
              </a:rPr>
            </a:br>
            <a:endParaRPr lang="zh-CN" altLang="en-US" dirty="0"/>
          </a:p>
        </p:txBody>
      </p:sp>
      <p:pic>
        <p:nvPicPr>
          <p:cNvPr id="5" name="图片 4">
            <a:extLst>
              <a:ext uri="{FF2B5EF4-FFF2-40B4-BE49-F238E27FC236}">
                <a16:creationId xmlns:a16="http://schemas.microsoft.com/office/drawing/2014/main" id="{D690BD2D-AFA4-2419-1116-AFF8017920DD}"/>
              </a:ext>
            </a:extLst>
          </p:cNvPr>
          <p:cNvPicPr>
            <a:picLocks noChangeAspect="1"/>
          </p:cNvPicPr>
          <p:nvPr/>
        </p:nvPicPr>
        <p:blipFill>
          <a:blip r:embed="rId2"/>
          <a:stretch>
            <a:fillRect/>
          </a:stretch>
        </p:blipFill>
        <p:spPr>
          <a:xfrm>
            <a:off x="778502" y="783154"/>
            <a:ext cx="5800725" cy="2314575"/>
          </a:xfrm>
          <a:prstGeom prst="rect">
            <a:avLst/>
          </a:prstGeom>
        </p:spPr>
      </p:pic>
      <p:pic>
        <p:nvPicPr>
          <p:cNvPr id="7" name="图片 6">
            <a:extLst>
              <a:ext uri="{FF2B5EF4-FFF2-40B4-BE49-F238E27FC236}">
                <a16:creationId xmlns:a16="http://schemas.microsoft.com/office/drawing/2014/main" id="{817AD5A6-6535-E095-A250-7909BFDF6EF5}"/>
              </a:ext>
            </a:extLst>
          </p:cNvPr>
          <p:cNvPicPr>
            <a:picLocks noChangeAspect="1"/>
          </p:cNvPicPr>
          <p:nvPr/>
        </p:nvPicPr>
        <p:blipFill>
          <a:blip r:embed="rId3"/>
          <a:stretch>
            <a:fillRect/>
          </a:stretch>
        </p:blipFill>
        <p:spPr>
          <a:xfrm>
            <a:off x="859798" y="3370410"/>
            <a:ext cx="10553700" cy="1095375"/>
          </a:xfrm>
          <a:prstGeom prst="rect">
            <a:avLst/>
          </a:prstGeom>
        </p:spPr>
      </p:pic>
    </p:spTree>
    <p:extLst>
      <p:ext uri="{BB962C8B-B14F-4D97-AF65-F5344CB8AC3E}">
        <p14:creationId xmlns:p14="http://schemas.microsoft.com/office/powerpoint/2010/main" val="25715613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257877-DD2B-B4B6-B211-96CD8EC4EBCB}"/>
              </a:ext>
            </a:extLst>
          </p:cNvPr>
          <p:cNvSpPr>
            <a:spLocks noGrp="1"/>
          </p:cNvSpPr>
          <p:nvPr>
            <p:ph type="title"/>
          </p:nvPr>
        </p:nvSpPr>
        <p:spPr>
          <a:xfrm>
            <a:off x="838200" y="365126"/>
            <a:ext cx="9468293" cy="832810"/>
          </a:xfrm>
        </p:spPr>
        <p:txBody>
          <a:bodyPr>
            <a:normAutofit fontScale="90000"/>
          </a:bodyPr>
          <a:lstStyle/>
          <a:p>
            <a:r>
              <a:rPr lang="en-US" altLang="zh-CN" b="1" i="0" dirty="0">
                <a:effectLst/>
                <a:latin typeface="-apple-system"/>
              </a:rPr>
              <a:t>P3368 【</a:t>
            </a:r>
            <a:r>
              <a:rPr lang="zh-CN" altLang="en-US" b="1" i="0" dirty="0">
                <a:effectLst/>
                <a:latin typeface="-apple-system"/>
              </a:rPr>
              <a:t>模板</a:t>
            </a:r>
            <a:r>
              <a:rPr lang="en-US" altLang="zh-CN" b="1" i="0" dirty="0">
                <a:effectLst/>
                <a:latin typeface="-apple-system"/>
              </a:rPr>
              <a:t>】</a:t>
            </a:r>
            <a:r>
              <a:rPr lang="zh-CN" altLang="en-US" b="1" i="0" dirty="0">
                <a:effectLst/>
                <a:latin typeface="-apple-system"/>
              </a:rPr>
              <a:t>树状数组 </a:t>
            </a:r>
            <a:r>
              <a:rPr lang="en-US" altLang="zh-CN" b="1" i="0" dirty="0">
                <a:effectLst/>
                <a:latin typeface="-apple-system"/>
              </a:rPr>
              <a:t>2</a:t>
            </a:r>
            <a:br>
              <a:rPr lang="en-US" altLang="zh-CN" b="1" i="0" dirty="0">
                <a:effectLst/>
                <a:latin typeface="-apple-system"/>
              </a:rPr>
            </a:br>
            <a:endParaRPr lang="zh-CN" altLang="en-US" dirty="0"/>
          </a:p>
        </p:txBody>
      </p:sp>
      <p:pic>
        <p:nvPicPr>
          <p:cNvPr id="5" name="图片 4">
            <a:extLst>
              <a:ext uri="{FF2B5EF4-FFF2-40B4-BE49-F238E27FC236}">
                <a16:creationId xmlns:a16="http://schemas.microsoft.com/office/drawing/2014/main" id="{F92E00FD-2F81-8DD3-F457-5A58B711833C}"/>
              </a:ext>
            </a:extLst>
          </p:cNvPr>
          <p:cNvPicPr>
            <a:picLocks noChangeAspect="1"/>
          </p:cNvPicPr>
          <p:nvPr/>
        </p:nvPicPr>
        <p:blipFill>
          <a:blip r:embed="rId2"/>
          <a:stretch>
            <a:fillRect/>
          </a:stretch>
        </p:blipFill>
        <p:spPr>
          <a:xfrm>
            <a:off x="838200" y="953275"/>
            <a:ext cx="5657850" cy="2314575"/>
          </a:xfrm>
          <a:prstGeom prst="rect">
            <a:avLst/>
          </a:prstGeom>
        </p:spPr>
      </p:pic>
      <p:pic>
        <p:nvPicPr>
          <p:cNvPr id="7" name="图片 6">
            <a:extLst>
              <a:ext uri="{FF2B5EF4-FFF2-40B4-BE49-F238E27FC236}">
                <a16:creationId xmlns:a16="http://schemas.microsoft.com/office/drawing/2014/main" id="{F68BE339-CC78-73C9-81F8-947040C1C005}"/>
              </a:ext>
            </a:extLst>
          </p:cNvPr>
          <p:cNvPicPr>
            <a:picLocks noChangeAspect="1"/>
          </p:cNvPicPr>
          <p:nvPr/>
        </p:nvPicPr>
        <p:blipFill>
          <a:blip r:embed="rId3"/>
          <a:stretch>
            <a:fillRect/>
          </a:stretch>
        </p:blipFill>
        <p:spPr>
          <a:xfrm>
            <a:off x="785812" y="3429000"/>
            <a:ext cx="10620375" cy="1123950"/>
          </a:xfrm>
          <a:prstGeom prst="rect">
            <a:avLst/>
          </a:prstGeom>
        </p:spPr>
      </p:pic>
    </p:spTree>
    <p:extLst>
      <p:ext uri="{BB962C8B-B14F-4D97-AF65-F5344CB8AC3E}">
        <p14:creationId xmlns:p14="http://schemas.microsoft.com/office/powerpoint/2010/main" val="40842873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C02916-C93C-CF78-B753-43EE096BE97F}"/>
              </a:ext>
            </a:extLst>
          </p:cNvPr>
          <p:cNvSpPr>
            <a:spLocks noGrp="1"/>
          </p:cNvSpPr>
          <p:nvPr>
            <p:ph type="title"/>
          </p:nvPr>
        </p:nvSpPr>
        <p:spPr>
          <a:xfrm>
            <a:off x="838200" y="365125"/>
            <a:ext cx="3684181" cy="747749"/>
          </a:xfrm>
        </p:spPr>
        <p:txBody>
          <a:bodyPr>
            <a:normAutofit fontScale="90000"/>
          </a:bodyPr>
          <a:lstStyle/>
          <a:p>
            <a:r>
              <a:rPr lang="en-US" altLang="zh-CN" b="1" i="0" dirty="0">
                <a:effectLst/>
                <a:latin typeface="-apple-system"/>
              </a:rPr>
              <a:t>P1908 </a:t>
            </a:r>
            <a:r>
              <a:rPr lang="zh-CN" altLang="en-US" b="1" i="0" dirty="0">
                <a:effectLst/>
                <a:latin typeface="-apple-system"/>
              </a:rPr>
              <a:t>逆序对</a:t>
            </a:r>
            <a:br>
              <a:rPr lang="zh-CN" altLang="en-US" b="1" i="0" dirty="0">
                <a:effectLst/>
                <a:latin typeface="-apple-system"/>
              </a:rPr>
            </a:br>
            <a:endParaRPr lang="zh-CN" altLang="en-US" dirty="0"/>
          </a:p>
        </p:txBody>
      </p:sp>
      <p:pic>
        <p:nvPicPr>
          <p:cNvPr id="5" name="图片 4">
            <a:extLst>
              <a:ext uri="{FF2B5EF4-FFF2-40B4-BE49-F238E27FC236}">
                <a16:creationId xmlns:a16="http://schemas.microsoft.com/office/drawing/2014/main" id="{CC7A6218-A33F-CDB9-56CE-9C0DEA6EE9A7}"/>
              </a:ext>
            </a:extLst>
          </p:cNvPr>
          <p:cNvPicPr>
            <a:picLocks noChangeAspect="1"/>
          </p:cNvPicPr>
          <p:nvPr/>
        </p:nvPicPr>
        <p:blipFill>
          <a:blip r:embed="rId2"/>
          <a:stretch>
            <a:fillRect/>
          </a:stretch>
        </p:blipFill>
        <p:spPr>
          <a:xfrm>
            <a:off x="758456" y="1014745"/>
            <a:ext cx="10972800" cy="2914650"/>
          </a:xfrm>
          <a:prstGeom prst="rect">
            <a:avLst/>
          </a:prstGeom>
        </p:spPr>
      </p:pic>
      <p:pic>
        <p:nvPicPr>
          <p:cNvPr id="7" name="图片 6">
            <a:extLst>
              <a:ext uri="{FF2B5EF4-FFF2-40B4-BE49-F238E27FC236}">
                <a16:creationId xmlns:a16="http://schemas.microsoft.com/office/drawing/2014/main" id="{E864B890-4B3D-5739-B580-ED9AC9DBB820}"/>
              </a:ext>
            </a:extLst>
          </p:cNvPr>
          <p:cNvPicPr>
            <a:picLocks noChangeAspect="1"/>
          </p:cNvPicPr>
          <p:nvPr/>
        </p:nvPicPr>
        <p:blipFill>
          <a:blip r:embed="rId3"/>
          <a:stretch>
            <a:fillRect/>
          </a:stretch>
        </p:blipFill>
        <p:spPr>
          <a:xfrm>
            <a:off x="838200" y="3929395"/>
            <a:ext cx="4200525" cy="742950"/>
          </a:xfrm>
          <a:prstGeom prst="rect">
            <a:avLst/>
          </a:prstGeom>
        </p:spPr>
      </p:pic>
      <p:pic>
        <p:nvPicPr>
          <p:cNvPr id="9" name="图片 8">
            <a:extLst>
              <a:ext uri="{FF2B5EF4-FFF2-40B4-BE49-F238E27FC236}">
                <a16:creationId xmlns:a16="http://schemas.microsoft.com/office/drawing/2014/main" id="{4765062E-F6CF-7920-CF9F-F96FA70788D2}"/>
              </a:ext>
            </a:extLst>
          </p:cNvPr>
          <p:cNvPicPr>
            <a:picLocks noChangeAspect="1"/>
          </p:cNvPicPr>
          <p:nvPr/>
        </p:nvPicPr>
        <p:blipFill>
          <a:blip r:embed="rId4"/>
          <a:stretch>
            <a:fillRect/>
          </a:stretch>
        </p:blipFill>
        <p:spPr>
          <a:xfrm>
            <a:off x="5395580" y="3929395"/>
            <a:ext cx="3314700" cy="742950"/>
          </a:xfrm>
          <a:prstGeom prst="rect">
            <a:avLst/>
          </a:prstGeom>
        </p:spPr>
      </p:pic>
      <p:pic>
        <p:nvPicPr>
          <p:cNvPr id="11" name="图片 10">
            <a:extLst>
              <a:ext uri="{FF2B5EF4-FFF2-40B4-BE49-F238E27FC236}">
                <a16:creationId xmlns:a16="http://schemas.microsoft.com/office/drawing/2014/main" id="{51644BD1-A945-A13A-BBF7-9C578A5A393D}"/>
              </a:ext>
            </a:extLst>
          </p:cNvPr>
          <p:cNvPicPr>
            <a:picLocks noChangeAspect="1"/>
          </p:cNvPicPr>
          <p:nvPr/>
        </p:nvPicPr>
        <p:blipFill>
          <a:blip r:embed="rId5"/>
          <a:stretch>
            <a:fillRect/>
          </a:stretch>
        </p:blipFill>
        <p:spPr>
          <a:xfrm>
            <a:off x="758456" y="4891864"/>
            <a:ext cx="10715625" cy="1428750"/>
          </a:xfrm>
          <a:prstGeom prst="rect">
            <a:avLst/>
          </a:prstGeom>
        </p:spPr>
      </p:pic>
    </p:spTree>
    <p:extLst>
      <p:ext uri="{BB962C8B-B14F-4D97-AF65-F5344CB8AC3E}">
        <p14:creationId xmlns:p14="http://schemas.microsoft.com/office/powerpoint/2010/main" val="18487910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462A7A-D674-70D0-D65F-03D5876092AF}"/>
              </a:ext>
            </a:extLst>
          </p:cNvPr>
          <p:cNvSpPr>
            <a:spLocks noGrp="1"/>
          </p:cNvSpPr>
          <p:nvPr>
            <p:ph type="title"/>
          </p:nvPr>
        </p:nvSpPr>
        <p:spPr>
          <a:xfrm>
            <a:off x="838200" y="365126"/>
            <a:ext cx="7660758" cy="641424"/>
          </a:xfrm>
        </p:spPr>
        <p:txBody>
          <a:bodyPr>
            <a:normAutofit fontScale="90000"/>
          </a:bodyPr>
          <a:lstStyle/>
          <a:p>
            <a:r>
              <a:rPr lang="en-US" altLang="zh-CN" b="1" i="0" dirty="0">
                <a:effectLst/>
                <a:latin typeface="-apple-system"/>
              </a:rPr>
              <a:t>P5677 [GZOI2017] </a:t>
            </a:r>
            <a:r>
              <a:rPr lang="zh-CN" altLang="en-US" b="1" i="0" dirty="0">
                <a:effectLst/>
                <a:latin typeface="-apple-system"/>
              </a:rPr>
              <a:t>配对统计</a:t>
            </a:r>
            <a:br>
              <a:rPr lang="zh-CN" altLang="en-US" b="1" i="0" dirty="0">
                <a:effectLst/>
                <a:latin typeface="-apple-system"/>
              </a:rPr>
            </a:br>
            <a:endParaRPr lang="zh-CN" altLang="en-US" dirty="0"/>
          </a:p>
        </p:txBody>
      </p:sp>
      <p:pic>
        <p:nvPicPr>
          <p:cNvPr id="5" name="图片 4">
            <a:extLst>
              <a:ext uri="{FF2B5EF4-FFF2-40B4-BE49-F238E27FC236}">
                <a16:creationId xmlns:a16="http://schemas.microsoft.com/office/drawing/2014/main" id="{99EB775F-9536-DE7C-9F34-F8ED7FC866DC}"/>
              </a:ext>
            </a:extLst>
          </p:cNvPr>
          <p:cNvPicPr>
            <a:picLocks noChangeAspect="1"/>
          </p:cNvPicPr>
          <p:nvPr/>
        </p:nvPicPr>
        <p:blipFill>
          <a:blip r:embed="rId2"/>
          <a:stretch>
            <a:fillRect/>
          </a:stretch>
        </p:blipFill>
        <p:spPr>
          <a:xfrm>
            <a:off x="795337" y="751588"/>
            <a:ext cx="10601325" cy="3143250"/>
          </a:xfrm>
          <a:prstGeom prst="rect">
            <a:avLst/>
          </a:prstGeom>
        </p:spPr>
      </p:pic>
      <p:pic>
        <p:nvPicPr>
          <p:cNvPr id="7" name="图片 6">
            <a:extLst>
              <a:ext uri="{FF2B5EF4-FFF2-40B4-BE49-F238E27FC236}">
                <a16:creationId xmlns:a16="http://schemas.microsoft.com/office/drawing/2014/main" id="{7577447B-76EA-871E-1874-377968F73815}"/>
              </a:ext>
            </a:extLst>
          </p:cNvPr>
          <p:cNvPicPr>
            <a:picLocks noChangeAspect="1"/>
          </p:cNvPicPr>
          <p:nvPr/>
        </p:nvPicPr>
        <p:blipFill>
          <a:blip r:embed="rId3"/>
          <a:stretch>
            <a:fillRect/>
          </a:stretch>
        </p:blipFill>
        <p:spPr>
          <a:xfrm>
            <a:off x="633190" y="3947669"/>
            <a:ext cx="6715125" cy="1514475"/>
          </a:xfrm>
          <a:prstGeom prst="rect">
            <a:avLst/>
          </a:prstGeom>
        </p:spPr>
      </p:pic>
      <p:pic>
        <p:nvPicPr>
          <p:cNvPr id="9" name="图片 8">
            <a:extLst>
              <a:ext uri="{FF2B5EF4-FFF2-40B4-BE49-F238E27FC236}">
                <a16:creationId xmlns:a16="http://schemas.microsoft.com/office/drawing/2014/main" id="{FEF77DA9-CE67-F4F2-F4BA-5474C00864DF}"/>
              </a:ext>
            </a:extLst>
          </p:cNvPr>
          <p:cNvPicPr>
            <a:picLocks noChangeAspect="1"/>
          </p:cNvPicPr>
          <p:nvPr/>
        </p:nvPicPr>
        <p:blipFill>
          <a:blip r:embed="rId4"/>
          <a:stretch>
            <a:fillRect/>
          </a:stretch>
        </p:blipFill>
        <p:spPr>
          <a:xfrm>
            <a:off x="8102566" y="4963412"/>
            <a:ext cx="1914525" cy="1143000"/>
          </a:xfrm>
          <a:prstGeom prst="rect">
            <a:avLst/>
          </a:prstGeom>
        </p:spPr>
      </p:pic>
      <p:pic>
        <p:nvPicPr>
          <p:cNvPr id="11" name="图片 10">
            <a:extLst>
              <a:ext uri="{FF2B5EF4-FFF2-40B4-BE49-F238E27FC236}">
                <a16:creationId xmlns:a16="http://schemas.microsoft.com/office/drawing/2014/main" id="{149D827F-21DB-05B2-4B43-5F5C1A369A2F}"/>
              </a:ext>
            </a:extLst>
          </p:cNvPr>
          <p:cNvPicPr>
            <a:picLocks noChangeAspect="1"/>
          </p:cNvPicPr>
          <p:nvPr/>
        </p:nvPicPr>
        <p:blipFill>
          <a:blip r:embed="rId5"/>
          <a:stretch>
            <a:fillRect/>
          </a:stretch>
        </p:blipFill>
        <p:spPr>
          <a:xfrm>
            <a:off x="3647850" y="5223798"/>
            <a:ext cx="3971925" cy="828675"/>
          </a:xfrm>
          <a:prstGeom prst="rect">
            <a:avLst/>
          </a:prstGeom>
        </p:spPr>
      </p:pic>
      <p:pic>
        <p:nvPicPr>
          <p:cNvPr id="13" name="图片 12">
            <a:extLst>
              <a:ext uri="{FF2B5EF4-FFF2-40B4-BE49-F238E27FC236}">
                <a16:creationId xmlns:a16="http://schemas.microsoft.com/office/drawing/2014/main" id="{DEC67066-1FCC-ACF3-EBAC-C6003B25A575}"/>
              </a:ext>
            </a:extLst>
          </p:cNvPr>
          <p:cNvPicPr>
            <a:picLocks noChangeAspect="1"/>
          </p:cNvPicPr>
          <p:nvPr/>
        </p:nvPicPr>
        <p:blipFill>
          <a:blip r:embed="rId6"/>
          <a:stretch>
            <a:fillRect/>
          </a:stretch>
        </p:blipFill>
        <p:spPr>
          <a:xfrm>
            <a:off x="647475" y="5442652"/>
            <a:ext cx="3000375" cy="371475"/>
          </a:xfrm>
          <a:prstGeom prst="rect">
            <a:avLst/>
          </a:prstGeom>
        </p:spPr>
      </p:pic>
    </p:spTree>
    <p:extLst>
      <p:ext uri="{BB962C8B-B14F-4D97-AF65-F5344CB8AC3E}">
        <p14:creationId xmlns:p14="http://schemas.microsoft.com/office/powerpoint/2010/main" val="4634764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BEC919-0B6E-B6F1-436E-40EF9F4F1795}"/>
              </a:ext>
            </a:extLst>
          </p:cNvPr>
          <p:cNvSpPr>
            <a:spLocks noGrp="1"/>
          </p:cNvSpPr>
          <p:nvPr>
            <p:ph type="title"/>
          </p:nvPr>
        </p:nvSpPr>
        <p:spPr/>
        <p:txBody>
          <a:bodyPr/>
          <a:lstStyle/>
          <a:p>
            <a:r>
              <a:rPr lang="zh-CN" altLang="en-US" dirty="0"/>
              <a:t>树状数组</a:t>
            </a:r>
          </a:p>
        </p:txBody>
      </p:sp>
      <p:sp>
        <p:nvSpPr>
          <p:cNvPr id="3" name="内容占位符 2">
            <a:extLst>
              <a:ext uri="{FF2B5EF4-FFF2-40B4-BE49-F238E27FC236}">
                <a16:creationId xmlns:a16="http://schemas.microsoft.com/office/drawing/2014/main" id="{E9171E4F-8E77-5B1F-EE06-D47AA4630FD0}"/>
              </a:ext>
            </a:extLst>
          </p:cNvPr>
          <p:cNvSpPr>
            <a:spLocks noGrp="1"/>
          </p:cNvSpPr>
          <p:nvPr>
            <p:ph idx="1"/>
          </p:nvPr>
        </p:nvSpPr>
        <p:spPr/>
        <p:txBody>
          <a:bodyPr/>
          <a:lstStyle/>
          <a:p>
            <a:r>
              <a:rPr lang="zh-CN" altLang="en-US" dirty="0"/>
              <a:t>树状数组通常只用来动态维护前缀和，并仅支持单点修改区间查询 和 区间修改和单点查询；但可以通过一些特殊的方法让其支持区间修改区间查询，并扩展到二维上</a:t>
            </a:r>
          </a:p>
        </p:txBody>
      </p:sp>
    </p:spTree>
    <p:extLst>
      <p:ext uri="{BB962C8B-B14F-4D97-AF65-F5344CB8AC3E}">
        <p14:creationId xmlns:p14="http://schemas.microsoft.com/office/powerpoint/2010/main" val="42479907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6DBD3F07-DDB2-9C01-4F4D-C165853C78A7}"/>
              </a:ext>
            </a:extLst>
          </p:cNvPr>
          <p:cNvSpPr>
            <a:spLocks noGrp="1"/>
          </p:cNvSpPr>
          <p:nvPr>
            <p:ph type="ctrTitle"/>
          </p:nvPr>
        </p:nvSpPr>
        <p:spPr/>
        <p:txBody>
          <a:bodyPr/>
          <a:lstStyle/>
          <a:p>
            <a:r>
              <a:rPr lang="zh-CN" altLang="en-US" dirty="0"/>
              <a:t>线段树</a:t>
            </a:r>
          </a:p>
        </p:txBody>
      </p:sp>
    </p:spTree>
    <p:extLst>
      <p:ext uri="{BB962C8B-B14F-4D97-AF65-F5344CB8AC3E}">
        <p14:creationId xmlns:p14="http://schemas.microsoft.com/office/powerpoint/2010/main" val="23960738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193261-4188-7F7C-9F2D-0FAABE8E0BE7}"/>
              </a:ext>
            </a:extLst>
          </p:cNvPr>
          <p:cNvSpPr>
            <a:spLocks noGrp="1"/>
          </p:cNvSpPr>
          <p:nvPr>
            <p:ph type="title"/>
          </p:nvPr>
        </p:nvSpPr>
        <p:spPr/>
        <p:txBody>
          <a:bodyPr/>
          <a:lstStyle/>
          <a:p>
            <a:r>
              <a:rPr lang="zh-CN" altLang="en-US" dirty="0"/>
              <a:t>线段树</a:t>
            </a:r>
          </a:p>
        </p:txBody>
      </p:sp>
      <p:pic>
        <p:nvPicPr>
          <p:cNvPr id="6" name="内容占位符 5">
            <a:extLst>
              <a:ext uri="{FF2B5EF4-FFF2-40B4-BE49-F238E27FC236}">
                <a16:creationId xmlns:a16="http://schemas.microsoft.com/office/drawing/2014/main" id="{45578BDC-39FC-61E0-2CA0-51D9EFA9B052}"/>
              </a:ext>
            </a:extLst>
          </p:cNvPr>
          <p:cNvPicPr>
            <a:picLocks noGrp="1" noChangeAspect="1"/>
          </p:cNvPicPr>
          <p:nvPr>
            <p:ph idx="1"/>
          </p:nvPr>
        </p:nvPicPr>
        <p:blipFill>
          <a:blip r:embed="rId2"/>
          <a:stretch>
            <a:fillRect/>
          </a:stretch>
        </p:blipFill>
        <p:spPr>
          <a:xfrm>
            <a:off x="838200" y="1690688"/>
            <a:ext cx="10515600" cy="1667435"/>
          </a:xfrm>
        </p:spPr>
      </p:pic>
    </p:spTree>
    <p:extLst>
      <p:ext uri="{BB962C8B-B14F-4D97-AF65-F5344CB8AC3E}">
        <p14:creationId xmlns:p14="http://schemas.microsoft.com/office/powerpoint/2010/main" val="20444674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DF9625-58F1-03DB-081E-6D8BF7A0D8E7}"/>
              </a:ext>
            </a:extLst>
          </p:cNvPr>
          <p:cNvSpPr>
            <a:spLocks noGrp="1"/>
          </p:cNvSpPr>
          <p:nvPr>
            <p:ph type="title"/>
          </p:nvPr>
        </p:nvSpPr>
        <p:spPr/>
        <p:txBody>
          <a:bodyPr/>
          <a:lstStyle/>
          <a:p>
            <a:r>
              <a:rPr lang="zh-CN" altLang="en-US" dirty="0"/>
              <a:t>线段树</a:t>
            </a:r>
          </a:p>
        </p:txBody>
      </p:sp>
      <p:sp>
        <p:nvSpPr>
          <p:cNvPr id="3" name="内容占位符 2">
            <a:extLst>
              <a:ext uri="{FF2B5EF4-FFF2-40B4-BE49-F238E27FC236}">
                <a16:creationId xmlns:a16="http://schemas.microsoft.com/office/drawing/2014/main" id="{BF3327A0-D683-766E-E932-8A7A30FAAA7E}"/>
              </a:ext>
            </a:extLst>
          </p:cNvPr>
          <p:cNvSpPr>
            <a:spLocks noGrp="1"/>
          </p:cNvSpPr>
          <p:nvPr>
            <p:ph idx="1"/>
          </p:nvPr>
        </p:nvSpPr>
        <p:spPr>
          <a:xfrm>
            <a:off x="644155" y="1421588"/>
            <a:ext cx="10515600" cy="4351338"/>
          </a:xfrm>
        </p:spPr>
        <p:txBody>
          <a:bodyPr/>
          <a:lstStyle/>
          <a:p>
            <a:r>
              <a:rPr lang="zh-CN" altLang="en-US" dirty="0"/>
              <a:t>线段树通过分治的思想将一个区间不断分成左右两个区间，保证一颗线段树最大深度仅有</a:t>
            </a:r>
            <a:r>
              <a:rPr lang="en-US" altLang="zh-CN" dirty="0"/>
              <a:t>log(n)</a:t>
            </a:r>
            <a:r>
              <a:rPr lang="zh-CN" altLang="en-US" dirty="0"/>
              <a:t>，叶子节点存原来的数据，其父节点存合并后的数据。</a:t>
            </a:r>
          </a:p>
        </p:txBody>
      </p:sp>
      <p:pic>
        <p:nvPicPr>
          <p:cNvPr id="5" name="图片 4">
            <a:extLst>
              <a:ext uri="{FF2B5EF4-FFF2-40B4-BE49-F238E27FC236}">
                <a16:creationId xmlns:a16="http://schemas.microsoft.com/office/drawing/2014/main" id="{8E8E23AE-1DF3-8DF6-57D8-43E026BACB05}"/>
              </a:ext>
            </a:extLst>
          </p:cNvPr>
          <p:cNvPicPr>
            <a:picLocks noChangeAspect="1"/>
          </p:cNvPicPr>
          <p:nvPr/>
        </p:nvPicPr>
        <p:blipFill>
          <a:blip r:embed="rId2"/>
          <a:stretch>
            <a:fillRect/>
          </a:stretch>
        </p:blipFill>
        <p:spPr>
          <a:xfrm>
            <a:off x="1032244" y="2886075"/>
            <a:ext cx="3343565" cy="721906"/>
          </a:xfrm>
          <a:prstGeom prst="rect">
            <a:avLst/>
          </a:prstGeom>
        </p:spPr>
      </p:pic>
      <p:pic>
        <p:nvPicPr>
          <p:cNvPr id="9" name="图片 8">
            <a:extLst>
              <a:ext uri="{FF2B5EF4-FFF2-40B4-BE49-F238E27FC236}">
                <a16:creationId xmlns:a16="http://schemas.microsoft.com/office/drawing/2014/main" id="{589EA492-C398-4394-1466-5DCB9EB96278}"/>
              </a:ext>
            </a:extLst>
          </p:cNvPr>
          <p:cNvPicPr>
            <a:picLocks noChangeAspect="1"/>
          </p:cNvPicPr>
          <p:nvPr/>
        </p:nvPicPr>
        <p:blipFill>
          <a:blip r:embed="rId3"/>
          <a:stretch>
            <a:fillRect/>
          </a:stretch>
        </p:blipFill>
        <p:spPr>
          <a:xfrm>
            <a:off x="4542982" y="2332997"/>
            <a:ext cx="6154922" cy="4159878"/>
          </a:xfrm>
          <a:prstGeom prst="rect">
            <a:avLst/>
          </a:prstGeom>
        </p:spPr>
      </p:pic>
    </p:spTree>
    <p:extLst>
      <p:ext uri="{BB962C8B-B14F-4D97-AF65-F5344CB8AC3E}">
        <p14:creationId xmlns:p14="http://schemas.microsoft.com/office/powerpoint/2010/main" val="751003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FAF9DD-8BF6-CE05-3A6F-7C35927F3F99}"/>
              </a:ext>
            </a:extLst>
          </p:cNvPr>
          <p:cNvSpPr>
            <a:spLocks noGrp="1"/>
          </p:cNvSpPr>
          <p:nvPr>
            <p:ph type="title"/>
          </p:nvPr>
        </p:nvSpPr>
        <p:spPr/>
        <p:txBody>
          <a:bodyPr/>
          <a:lstStyle/>
          <a:p>
            <a:r>
              <a:rPr lang="zh-CN" altLang="en-US" dirty="0"/>
              <a:t>线段树</a:t>
            </a:r>
          </a:p>
        </p:txBody>
      </p:sp>
      <p:sp>
        <p:nvSpPr>
          <p:cNvPr id="3" name="内容占位符 2">
            <a:extLst>
              <a:ext uri="{FF2B5EF4-FFF2-40B4-BE49-F238E27FC236}">
                <a16:creationId xmlns:a16="http://schemas.microsoft.com/office/drawing/2014/main" id="{FCF48920-F43C-E9CD-F992-B9A93A64AF41}"/>
              </a:ext>
            </a:extLst>
          </p:cNvPr>
          <p:cNvSpPr>
            <a:spLocks noGrp="1"/>
          </p:cNvSpPr>
          <p:nvPr>
            <p:ph idx="1"/>
          </p:nvPr>
        </p:nvSpPr>
        <p:spPr/>
        <p:txBody>
          <a:bodyPr/>
          <a:lstStyle/>
          <a:p>
            <a:r>
              <a:rPr lang="zh-CN" altLang="en-US" dirty="0"/>
              <a:t>线段树的区间操作我们需要引入“</a:t>
            </a:r>
            <a:r>
              <a:rPr lang="en-US" altLang="zh-CN" dirty="0"/>
              <a:t>lazy tag</a:t>
            </a:r>
            <a:r>
              <a:rPr lang="zh-CN" altLang="en-US" dirty="0"/>
              <a:t>”（懒标记）</a:t>
            </a:r>
            <a:endParaRPr lang="en-US" altLang="zh-CN" dirty="0"/>
          </a:p>
          <a:p>
            <a:r>
              <a:rPr lang="zh-CN" altLang="en-US" dirty="0"/>
              <a:t>如果我们将更新的数据全部往下传到底，那么每次操作最多就是</a:t>
            </a:r>
            <a:r>
              <a:rPr lang="en-US" altLang="zh-CN" dirty="0"/>
              <a:t>O(n)</a:t>
            </a:r>
            <a:r>
              <a:rPr lang="zh-CN" altLang="en-US" dirty="0"/>
              <a:t>，没有达到我们的预期。</a:t>
            </a:r>
            <a:endParaRPr lang="en-US" altLang="zh-CN" dirty="0"/>
          </a:p>
          <a:p>
            <a:r>
              <a:rPr lang="zh-CN" altLang="en-US" dirty="0"/>
              <a:t>于是我们使用“</a:t>
            </a:r>
            <a:r>
              <a:rPr lang="en-US" altLang="zh-CN" dirty="0"/>
              <a:t>lazy tag</a:t>
            </a:r>
            <a:r>
              <a:rPr lang="zh-CN" altLang="en-US" dirty="0"/>
              <a:t>”来将数据延迟下传，即在更新一个区间（第一个被完全包含的区间）后，我们在这个区间打一个标记，表示“这个区间被更新过了，但它的子区间还需要被更新”，等下次修改或查询到了这个区间时，我们再将这个区间的子区间更新并下传标记</a:t>
            </a:r>
            <a:endParaRPr lang="en-US" altLang="zh-CN" dirty="0"/>
          </a:p>
          <a:p>
            <a:r>
              <a:rPr lang="zh-CN" altLang="en-US" dirty="0"/>
              <a:t>这样我们就实现了每次操作最多为</a:t>
            </a:r>
            <a:r>
              <a:rPr lang="en-US" altLang="zh-CN" dirty="0"/>
              <a:t>O(</a:t>
            </a:r>
            <a:r>
              <a:rPr lang="en-US" altLang="zh-CN" dirty="0" err="1"/>
              <a:t>logn</a:t>
            </a:r>
            <a:r>
              <a:rPr lang="en-US" altLang="zh-CN" dirty="0"/>
              <a:t>)</a:t>
            </a:r>
            <a:endParaRPr lang="zh-CN" altLang="en-US" dirty="0"/>
          </a:p>
        </p:txBody>
      </p:sp>
    </p:spTree>
    <p:extLst>
      <p:ext uri="{BB962C8B-B14F-4D97-AF65-F5344CB8AC3E}">
        <p14:creationId xmlns:p14="http://schemas.microsoft.com/office/powerpoint/2010/main" val="36085270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A5A2C7E5-68E1-9359-C047-3C5EF8BA75D2}"/>
              </a:ext>
            </a:extLst>
          </p:cNvPr>
          <p:cNvPicPr>
            <a:picLocks noChangeAspect="1"/>
          </p:cNvPicPr>
          <p:nvPr/>
        </p:nvPicPr>
        <p:blipFill>
          <a:blip r:embed="rId2"/>
          <a:stretch>
            <a:fillRect/>
          </a:stretch>
        </p:blipFill>
        <p:spPr>
          <a:xfrm>
            <a:off x="799214" y="140549"/>
            <a:ext cx="9344247" cy="6387089"/>
          </a:xfrm>
          <a:prstGeom prst="rect">
            <a:avLst/>
          </a:prstGeom>
        </p:spPr>
      </p:pic>
    </p:spTree>
    <p:extLst>
      <p:ext uri="{BB962C8B-B14F-4D97-AF65-F5344CB8AC3E}">
        <p14:creationId xmlns:p14="http://schemas.microsoft.com/office/powerpoint/2010/main" val="36450900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a:extLst>
              <a:ext uri="{FF2B5EF4-FFF2-40B4-BE49-F238E27FC236}">
                <a16:creationId xmlns:a16="http://schemas.microsoft.com/office/drawing/2014/main" id="{DED4F908-4965-797F-7FBE-15D9A0316F95}"/>
              </a:ext>
            </a:extLst>
          </p:cNvPr>
          <p:cNvPicPr>
            <a:picLocks noChangeAspect="1"/>
          </p:cNvPicPr>
          <p:nvPr/>
        </p:nvPicPr>
        <p:blipFill>
          <a:blip r:embed="rId2"/>
          <a:stretch>
            <a:fillRect/>
          </a:stretch>
        </p:blipFill>
        <p:spPr>
          <a:xfrm>
            <a:off x="260451" y="1213143"/>
            <a:ext cx="5835549" cy="3903921"/>
          </a:xfrm>
          <a:prstGeom prst="rect">
            <a:avLst/>
          </a:prstGeom>
        </p:spPr>
      </p:pic>
      <p:pic>
        <p:nvPicPr>
          <p:cNvPr id="13" name="图片 12">
            <a:extLst>
              <a:ext uri="{FF2B5EF4-FFF2-40B4-BE49-F238E27FC236}">
                <a16:creationId xmlns:a16="http://schemas.microsoft.com/office/drawing/2014/main" id="{75D6D847-8611-CD69-478B-9029E3E8F87C}"/>
              </a:ext>
            </a:extLst>
          </p:cNvPr>
          <p:cNvPicPr>
            <a:picLocks noChangeAspect="1"/>
          </p:cNvPicPr>
          <p:nvPr/>
        </p:nvPicPr>
        <p:blipFill>
          <a:blip r:embed="rId3"/>
          <a:stretch>
            <a:fillRect/>
          </a:stretch>
        </p:blipFill>
        <p:spPr>
          <a:xfrm>
            <a:off x="6283952" y="1213143"/>
            <a:ext cx="5404773" cy="3609459"/>
          </a:xfrm>
          <a:prstGeom prst="rect">
            <a:avLst/>
          </a:prstGeom>
        </p:spPr>
      </p:pic>
    </p:spTree>
    <p:extLst>
      <p:ext uri="{BB962C8B-B14F-4D97-AF65-F5344CB8AC3E}">
        <p14:creationId xmlns:p14="http://schemas.microsoft.com/office/powerpoint/2010/main" val="27225044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91D3FF-D7F5-22B5-C64F-A2C6D94D65F4}"/>
              </a:ext>
            </a:extLst>
          </p:cNvPr>
          <p:cNvSpPr>
            <a:spLocks noGrp="1"/>
          </p:cNvSpPr>
          <p:nvPr>
            <p:ph type="title"/>
          </p:nvPr>
        </p:nvSpPr>
        <p:spPr>
          <a:xfrm>
            <a:off x="838200" y="365125"/>
            <a:ext cx="7256721" cy="747749"/>
          </a:xfrm>
        </p:spPr>
        <p:txBody>
          <a:bodyPr>
            <a:normAutofit fontScale="90000"/>
          </a:bodyPr>
          <a:lstStyle/>
          <a:p>
            <a:r>
              <a:rPr lang="en-US" altLang="zh-CN" b="1" i="0" dirty="0">
                <a:effectLst/>
                <a:latin typeface="-apple-system"/>
              </a:rPr>
              <a:t>P3372 【</a:t>
            </a:r>
            <a:r>
              <a:rPr lang="zh-CN" altLang="en-US" b="1" i="0" dirty="0">
                <a:effectLst/>
                <a:latin typeface="-apple-system"/>
              </a:rPr>
              <a:t>模板</a:t>
            </a:r>
            <a:r>
              <a:rPr lang="en-US" altLang="zh-CN" b="1" i="0" dirty="0">
                <a:effectLst/>
                <a:latin typeface="-apple-system"/>
              </a:rPr>
              <a:t>】</a:t>
            </a:r>
            <a:r>
              <a:rPr lang="zh-CN" altLang="en-US" b="1" i="0" dirty="0">
                <a:effectLst/>
                <a:latin typeface="-apple-system"/>
              </a:rPr>
              <a:t>线段树 </a:t>
            </a:r>
            <a:r>
              <a:rPr lang="en-US" altLang="zh-CN" b="1" i="0" dirty="0">
                <a:effectLst/>
                <a:latin typeface="-apple-system"/>
              </a:rPr>
              <a:t>1</a:t>
            </a:r>
            <a:br>
              <a:rPr lang="en-US" altLang="zh-CN" b="1" i="0" dirty="0">
                <a:effectLst/>
                <a:latin typeface="-apple-system"/>
              </a:rPr>
            </a:br>
            <a:endParaRPr lang="zh-CN" altLang="en-US" dirty="0"/>
          </a:p>
        </p:txBody>
      </p:sp>
      <p:pic>
        <p:nvPicPr>
          <p:cNvPr id="5" name="图片 4">
            <a:extLst>
              <a:ext uri="{FF2B5EF4-FFF2-40B4-BE49-F238E27FC236}">
                <a16:creationId xmlns:a16="http://schemas.microsoft.com/office/drawing/2014/main" id="{BA6D2C5E-2565-06E5-5CCA-B6580A2D5784}"/>
              </a:ext>
            </a:extLst>
          </p:cNvPr>
          <p:cNvPicPr>
            <a:picLocks noChangeAspect="1"/>
          </p:cNvPicPr>
          <p:nvPr/>
        </p:nvPicPr>
        <p:blipFill>
          <a:blip r:embed="rId2"/>
          <a:stretch>
            <a:fillRect/>
          </a:stretch>
        </p:blipFill>
        <p:spPr>
          <a:xfrm>
            <a:off x="838200" y="932674"/>
            <a:ext cx="5772150" cy="2143125"/>
          </a:xfrm>
          <a:prstGeom prst="rect">
            <a:avLst/>
          </a:prstGeom>
        </p:spPr>
      </p:pic>
      <p:pic>
        <p:nvPicPr>
          <p:cNvPr id="7" name="图片 6">
            <a:extLst>
              <a:ext uri="{FF2B5EF4-FFF2-40B4-BE49-F238E27FC236}">
                <a16:creationId xmlns:a16="http://schemas.microsoft.com/office/drawing/2014/main" id="{8D731FC4-F72C-2883-13F3-0AFB88A7FFB2}"/>
              </a:ext>
            </a:extLst>
          </p:cNvPr>
          <p:cNvPicPr>
            <a:picLocks noChangeAspect="1"/>
          </p:cNvPicPr>
          <p:nvPr/>
        </p:nvPicPr>
        <p:blipFill>
          <a:blip r:embed="rId3"/>
          <a:stretch>
            <a:fillRect/>
          </a:stretch>
        </p:blipFill>
        <p:spPr>
          <a:xfrm>
            <a:off x="838200" y="3267852"/>
            <a:ext cx="9658350" cy="514350"/>
          </a:xfrm>
          <a:prstGeom prst="rect">
            <a:avLst/>
          </a:prstGeom>
        </p:spPr>
      </p:pic>
    </p:spTree>
    <p:extLst>
      <p:ext uri="{BB962C8B-B14F-4D97-AF65-F5344CB8AC3E}">
        <p14:creationId xmlns:p14="http://schemas.microsoft.com/office/powerpoint/2010/main" val="34259955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7B0CC2-2424-3545-C2F6-154C089633A8}"/>
              </a:ext>
            </a:extLst>
          </p:cNvPr>
          <p:cNvSpPr>
            <a:spLocks noGrp="1"/>
          </p:cNvSpPr>
          <p:nvPr>
            <p:ph type="title"/>
          </p:nvPr>
        </p:nvSpPr>
        <p:spPr>
          <a:xfrm>
            <a:off x="838200" y="365126"/>
            <a:ext cx="6526619" cy="676866"/>
          </a:xfrm>
        </p:spPr>
        <p:txBody>
          <a:bodyPr>
            <a:normAutofit fontScale="90000"/>
          </a:bodyPr>
          <a:lstStyle/>
          <a:p>
            <a:r>
              <a:rPr lang="en-US" altLang="zh-CN" b="1" i="0" dirty="0">
                <a:effectLst/>
                <a:latin typeface="-apple-system"/>
              </a:rPr>
              <a:t>P3373 【</a:t>
            </a:r>
            <a:r>
              <a:rPr lang="zh-CN" altLang="en-US" b="1" i="0" dirty="0">
                <a:effectLst/>
                <a:latin typeface="-apple-system"/>
              </a:rPr>
              <a:t>模板</a:t>
            </a:r>
            <a:r>
              <a:rPr lang="en-US" altLang="zh-CN" b="1" i="0" dirty="0">
                <a:effectLst/>
                <a:latin typeface="-apple-system"/>
              </a:rPr>
              <a:t>】</a:t>
            </a:r>
            <a:r>
              <a:rPr lang="zh-CN" altLang="en-US" b="1" i="0" dirty="0">
                <a:effectLst/>
                <a:latin typeface="-apple-system"/>
              </a:rPr>
              <a:t>线段树 </a:t>
            </a:r>
            <a:r>
              <a:rPr lang="en-US" altLang="zh-CN" b="1" i="0" dirty="0">
                <a:effectLst/>
                <a:latin typeface="-apple-system"/>
              </a:rPr>
              <a:t>2</a:t>
            </a:r>
            <a:br>
              <a:rPr lang="en-US" altLang="zh-CN" b="1" i="0" dirty="0">
                <a:effectLst/>
                <a:latin typeface="-apple-system"/>
              </a:rPr>
            </a:br>
            <a:endParaRPr lang="zh-CN" altLang="en-US" dirty="0"/>
          </a:p>
        </p:txBody>
      </p:sp>
      <p:pic>
        <p:nvPicPr>
          <p:cNvPr id="5" name="图片 4">
            <a:extLst>
              <a:ext uri="{FF2B5EF4-FFF2-40B4-BE49-F238E27FC236}">
                <a16:creationId xmlns:a16="http://schemas.microsoft.com/office/drawing/2014/main" id="{40542DFA-8705-C391-4215-08F027292505}"/>
              </a:ext>
            </a:extLst>
          </p:cNvPr>
          <p:cNvPicPr>
            <a:picLocks noChangeAspect="1"/>
          </p:cNvPicPr>
          <p:nvPr/>
        </p:nvPicPr>
        <p:blipFill>
          <a:blip r:embed="rId2"/>
          <a:stretch>
            <a:fillRect/>
          </a:stretch>
        </p:blipFill>
        <p:spPr>
          <a:xfrm>
            <a:off x="728662" y="971550"/>
            <a:ext cx="10734675" cy="2457450"/>
          </a:xfrm>
          <a:prstGeom prst="rect">
            <a:avLst/>
          </a:prstGeom>
        </p:spPr>
      </p:pic>
      <p:pic>
        <p:nvPicPr>
          <p:cNvPr id="7" name="图片 6">
            <a:extLst>
              <a:ext uri="{FF2B5EF4-FFF2-40B4-BE49-F238E27FC236}">
                <a16:creationId xmlns:a16="http://schemas.microsoft.com/office/drawing/2014/main" id="{DDC6D9C3-A4BF-9F89-3DA1-B7D2B7C3A671}"/>
              </a:ext>
            </a:extLst>
          </p:cNvPr>
          <p:cNvPicPr>
            <a:picLocks noChangeAspect="1"/>
          </p:cNvPicPr>
          <p:nvPr/>
        </p:nvPicPr>
        <p:blipFill>
          <a:blip r:embed="rId3"/>
          <a:stretch>
            <a:fillRect/>
          </a:stretch>
        </p:blipFill>
        <p:spPr>
          <a:xfrm>
            <a:off x="956376" y="3597274"/>
            <a:ext cx="5629275" cy="438150"/>
          </a:xfrm>
          <a:prstGeom prst="rect">
            <a:avLst/>
          </a:prstGeom>
        </p:spPr>
      </p:pic>
    </p:spTree>
    <p:extLst>
      <p:ext uri="{BB962C8B-B14F-4D97-AF65-F5344CB8AC3E}">
        <p14:creationId xmlns:p14="http://schemas.microsoft.com/office/powerpoint/2010/main" val="9226720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87FE5F-C76A-8505-9339-E71C06BA9136}"/>
              </a:ext>
            </a:extLst>
          </p:cNvPr>
          <p:cNvSpPr>
            <a:spLocks noGrp="1"/>
          </p:cNvSpPr>
          <p:nvPr>
            <p:ph type="title"/>
          </p:nvPr>
        </p:nvSpPr>
        <p:spPr>
          <a:xfrm>
            <a:off x="838200" y="365125"/>
            <a:ext cx="8114414" cy="698131"/>
          </a:xfrm>
        </p:spPr>
        <p:txBody>
          <a:bodyPr>
            <a:normAutofit fontScale="90000"/>
          </a:bodyPr>
          <a:lstStyle/>
          <a:p>
            <a:r>
              <a:rPr lang="en-US" altLang="zh-CN" b="1" i="0" dirty="0">
                <a:effectLst/>
                <a:latin typeface="-apple-system"/>
              </a:rPr>
              <a:t>P1438 </a:t>
            </a:r>
            <a:r>
              <a:rPr lang="zh-CN" altLang="en-US" b="1" i="0" dirty="0">
                <a:effectLst/>
                <a:latin typeface="-apple-system"/>
              </a:rPr>
              <a:t>无聊的数列</a:t>
            </a:r>
            <a:br>
              <a:rPr lang="zh-CN" altLang="en-US" b="1" i="0" dirty="0">
                <a:effectLst/>
                <a:latin typeface="-apple-system"/>
              </a:rPr>
            </a:br>
            <a:endParaRPr lang="zh-CN" altLang="en-US" dirty="0"/>
          </a:p>
        </p:txBody>
      </p:sp>
      <p:pic>
        <p:nvPicPr>
          <p:cNvPr id="5" name="图片 4">
            <a:extLst>
              <a:ext uri="{FF2B5EF4-FFF2-40B4-BE49-F238E27FC236}">
                <a16:creationId xmlns:a16="http://schemas.microsoft.com/office/drawing/2014/main" id="{FE8EEF0D-918F-D71E-15C2-813B19D8ED2C}"/>
              </a:ext>
            </a:extLst>
          </p:cNvPr>
          <p:cNvPicPr>
            <a:picLocks noChangeAspect="1"/>
          </p:cNvPicPr>
          <p:nvPr/>
        </p:nvPicPr>
        <p:blipFill>
          <a:blip r:embed="rId2"/>
          <a:stretch>
            <a:fillRect/>
          </a:stretch>
        </p:blipFill>
        <p:spPr>
          <a:xfrm>
            <a:off x="703410" y="725893"/>
            <a:ext cx="10544175" cy="3067050"/>
          </a:xfrm>
          <a:prstGeom prst="rect">
            <a:avLst/>
          </a:prstGeom>
        </p:spPr>
      </p:pic>
      <p:pic>
        <p:nvPicPr>
          <p:cNvPr id="7" name="图片 6">
            <a:extLst>
              <a:ext uri="{FF2B5EF4-FFF2-40B4-BE49-F238E27FC236}">
                <a16:creationId xmlns:a16="http://schemas.microsoft.com/office/drawing/2014/main" id="{0A4A21C2-6028-0E75-C7BA-CACD01437760}"/>
              </a:ext>
            </a:extLst>
          </p:cNvPr>
          <p:cNvPicPr>
            <a:picLocks noChangeAspect="1"/>
          </p:cNvPicPr>
          <p:nvPr/>
        </p:nvPicPr>
        <p:blipFill>
          <a:blip r:embed="rId3"/>
          <a:stretch>
            <a:fillRect/>
          </a:stretch>
        </p:blipFill>
        <p:spPr>
          <a:xfrm>
            <a:off x="703410" y="3792943"/>
            <a:ext cx="10144125" cy="638175"/>
          </a:xfrm>
          <a:prstGeom prst="rect">
            <a:avLst/>
          </a:prstGeom>
        </p:spPr>
      </p:pic>
    </p:spTree>
    <p:extLst>
      <p:ext uri="{BB962C8B-B14F-4D97-AF65-F5344CB8AC3E}">
        <p14:creationId xmlns:p14="http://schemas.microsoft.com/office/powerpoint/2010/main" val="11619343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932138C7-DB12-80B8-71C2-0D9D87A99313}"/>
              </a:ext>
            </a:extLst>
          </p:cNvPr>
          <p:cNvSpPr>
            <a:spLocks noGrp="1"/>
          </p:cNvSpPr>
          <p:nvPr>
            <p:ph type="ctrTitle"/>
          </p:nvPr>
        </p:nvSpPr>
        <p:spPr/>
        <p:txBody>
          <a:bodyPr/>
          <a:lstStyle/>
          <a:p>
            <a:r>
              <a:rPr lang="zh-CN" altLang="en-US" dirty="0"/>
              <a:t>树</a:t>
            </a:r>
          </a:p>
        </p:txBody>
      </p:sp>
    </p:spTree>
    <p:extLst>
      <p:ext uri="{BB962C8B-B14F-4D97-AF65-F5344CB8AC3E}">
        <p14:creationId xmlns:p14="http://schemas.microsoft.com/office/powerpoint/2010/main" val="20407858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5FA108-5882-5E77-2BDC-5E8F30BDD71D}"/>
              </a:ext>
            </a:extLst>
          </p:cNvPr>
          <p:cNvSpPr>
            <a:spLocks noGrp="1"/>
          </p:cNvSpPr>
          <p:nvPr>
            <p:ph type="title"/>
          </p:nvPr>
        </p:nvSpPr>
        <p:spPr/>
        <p:txBody>
          <a:bodyPr/>
          <a:lstStyle/>
          <a:p>
            <a:r>
              <a:rPr lang="zh-CN" altLang="en-US" dirty="0"/>
              <a:t>树</a:t>
            </a:r>
          </a:p>
        </p:txBody>
      </p:sp>
      <p:sp>
        <p:nvSpPr>
          <p:cNvPr id="3" name="内容占位符 2">
            <a:extLst>
              <a:ext uri="{FF2B5EF4-FFF2-40B4-BE49-F238E27FC236}">
                <a16:creationId xmlns:a16="http://schemas.microsoft.com/office/drawing/2014/main" id="{CAAB9290-E029-F527-34CA-0F7C4D0D7539}"/>
              </a:ext>
            </a:extLst>
          </p:cNvPr>
          <p:cNvSpPr>
            <a:spLocks noGrp="1"/>
          </p:cNvSpPr>
          <p:nvPr>
            <p:ph idx="1"/>
          </p:nvPr>
        </p:nvSpPr>
        <p:spPr/>
        <p:txBody>
          <a:bodyPr/>
          <a:lstStyle/>
          <a:p>
            <a:r>
              <a:rPr lang="zh-CN" altLang="en-US" dirty="0"/>
              <a:t>树是一种特殊的图，即</a:t>
            </a:r>
            <a:r>
              <a:rPr lang="en-US" altLang="zh-CN" dirty="0"/>
              <a:t>n</a:t>
            </a:r>
            <a:r>
              <a:rPr lang="zh-CN" altLang="en-US" dirty="0"/>
              <a:t>个点</a:t>
            </a:r>
            <a:r>
              <a:rPr lang="en-US" altLang="zh-CN" dirty="0"/>
              <a:t>n – 1</a:t>
            </a:r>
            <a:r>
              <a:rPr lang="zh-CN" altLang="en-US" dirty="0"/>
              <a:t>条边的连通图。</a:t>
            </a:r>
            <a:endParaRPr lang="en-US" altLang="zh-CN" dirty="0"/>
          </a:p>
          <a:p>
            <a:r>
              <a:rPr lang="zh-CN" altLang="en-US" dirty="0"/>
              <a:t>树的遍历与图类似，但在无向树中，为了防止子节点走向父节点需要加入一个父节点的参数。</a:t>
            </a:r>
            <a:endParaRPr lang="en-US" altLang="zh-CN" dirty="0"/>
          </a:p>
          <a:p>
            <a:endParaRPr lang="en-US" altLang="zh-CN" dirty="0"/>
          </a:p>
          <a:p>
            <a:endParaRPr lang="zh-CN" altLang="en-US" dirty="0"/>
          </a:p>
        </p:txBody>
      </p:sp>
    </p:spTree>
    <p:extLst>
      <p:ext uri="{BB962C8B-B14F-4D97-AF65-F5344CB8AC3E}">
        <p14:creationId xmlns:p14="http://schemas.microsoft.com/office/powerpoint/2010/main" val="1969457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4C8F38-541D-D29A-AA2B-D7CE57A95B2A}"/>
              </a:ext>
            </a:extLst>
          </p:cNvPr>
          <p:cNvSpPr>
            <a:spLocks noGrp="1"/>
          </p:cNvSpPr>
          <p:nvPr>
            <p:ph type="title"/>
          </p:nvPr>
        </p:nvSpPr>
        <p:spPr/>
        <p:txBody>
          <a:bodyPr/>
          <a:lstStyle/>
          <a:p>
            <a:r>
              <a:rPr lang="zh-CN" altLang="en-US" dirty="0"/>
              <a:t>树的直径</a:t>
            </a:r>
          </a:p>
        </p:txBody>
      </p:sp>
      <p:sp>
        <p:nvSpPr>
          <p:cNvPr id="3" name="内容占位符 2">
            <a:extLst>
              <a:ext uri="{FF2B5EF4-FFF2-40B4-BE49-F238E27FC236}">
                <a16:creationId xmlns:a16="http://schemas.microsoft.com/office/drawing/2014/main" id="{F01BD05B-A69D-AB16-43EB-85150F566FF0}"/>
              </a:ext>
            </a:extLst>
          </p:cNvPr>
          <p:cNvSpPr>
            <a:spLocks noGrp="1"/>
          </p:cNvSpPr>
          <p:nvPr>
            <p:ph idx="1"/>
          </p:nvPr>
        </p:nvSpPr>
        <p:spPr/>
        <p:txBody>
          <a:bodyPr/>
          <a:lstStyle/>
          <a:p>
            <a:r>
              <a:rPr lang="zh-CN" altLang="en-US" b="1" i="0" dirty="0">
                <a:effectLst/>
                <a:latin typeface="Fira Sans" panose="020B0503050000020004" pitchFamily="34" charset="0"/>
              </a:rPr>
              <a:t>树上任意两节点之间最长的简单路径即为树的「直径」。</a:t>
            </a:r>
            <a:endParaRPr lang="en-US" altLang="zh-CN" dirty="0"/>
          </a:p>
          <a:p>
            <a:r>
              <a:rPr lang="zh-CN" altLang="en-US" dirty="0"/>
              <a:t>用两个</a:t>
            </a:r>
            <a:r>
              <a:rPr lang="en-US" altLang="zh-CN" dirty="0" err="1"/>
              <a:t>dfs</a:t>
            </a:r>
            <a:r>
              <a:rPr lang="zh-CN" altLang="en-US" dirty="0"/>
              <a:t> 或 树形</a:t>
            </a:r>
            <a:r>
              <a:rPr lang="en-US" altLang="zh-CN" dirty="0"/>
              <a:t>DP </a:t>
            </a:r>
            <a:r>
              <a:rPr lang="zh-CN" altLang="en-US" dirty="0"/>
              <a:t>求得</a:t>
            </a:r>
            <a:endParaRPr lang="en-US" altLang="zh-CN" dirty="0"/>
          </a:p>
          <a:p>
            <a:r>
              <a:rPr lang="zh-CN" altLang="en-US" dirty="0"/>
              <a:t>第一个</a:t>
            </a:r>
            <a:r>
              <a:rPr lang="en-US" altLang="zh-CN" dirty="0" err="1"/>
              <a:t>dfs</a:t>
            </a:r>
            <a:r>
              <a:rPr lang="zh-CN" altLang="en-US" dirty="0"/>
              <a:t>求得直径的一个点</a:t>
            </a:r>
            <a:endParaRPr lang="en-US" altLang="zh-CN" dirty="0"/>
          </a:p>
          <a:p>
            <a:r>
              <a:rPr lang="zh-CN" altLang="en-US" dirty="0"/>
              <a:t>第二个</a:t>
            </a:r>
            <a:r>
              <a:rPr lang="en-US" altLang="zh-CN" dirty="0" err="1"/>
              <a:t>dfs</a:t>
            </a:r>
            <a:r>
              <a:rPr lang="zh-CN" altLang="en-US" dirty="0"/>
              <a:t>求得直径的另一个点</a:t>
            </a:r>
          </a:p>
        </p:txBody>
      </p:sp>
    </p:spTree>
    <p:extLst>
      <p:ext uri="{BB962C8B-B14F-4D97-AF65-F5344CB8AC3E}">
        <p14:creationId xmlns:p14="http://schemas.microsoft.com/office/powerpoint/2010/main" val="3126165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643E9D-6644-2508-5731-6999205A8AD3}"/>
              </a:ext>
            </a:extLst>
          </p:cNvPr>
          <p:cNvSpPr>
            <a:spLocks noGrp="1"/>
          </p:cNvSpPr>
          <p:nvPr>
            <p:ph type="title"/>
          </p:nvPr>
        </p:nvSpPr>
        <p:spPr>
          <a:xfrm>
            <a:off x="838200" y="365125"/>
            <a:ext cx="8915400" cy="733573"/>
          </a:xfrm>
        </p:spPr>
        <p:txBody>
          <a:bodyPr>
            <a:normAutofit fontScale="90000"/>
          </a:bodyPr>
          <a:lstStyle/>
          <a:p>
            <a:r>
              <a:rPr lang="en-US" altLang="zh-CN" b="1" i="0" dirty="0">
                <a:effectLst/>
                <a:latin typeface="-apple-system"/>
              </a:rPr>
              <a:t>B4016 </a:t>
            </a:r>
            <a:r>
              <a:rPr lang="zh-CN" altLang="en-US" b="1" i="0" dirty="0">
                <a:effectLst/>
                <a:latin typeface="-apple-system"/>
              </a:rPr>
              <a:t>树的直径</a:t>
            </a:r>
            <a:br>
              <a:rPr lang="zh-CN" altLang="en-US" b="1" i="0" dirty="0">
                <a:effectLst/>
                <a:latin typeface="-apple-system"/>
              </a:rPr>
            </a:br>
            <a:endParaRPr lang="zh-CN" altLang="en-US" dirty="0"/>
          </a:p>
        </p:txBody>
      </p:sp>
      <p:pic>
        <p:nvPicPr>
          <p:cNvPr id="5" name="图片 4">
            <a:extLst>
              <a:ext uri="{FF2B5EF4-FFF2-40B4-BE49-F238E27FC236}">
                <a16:creationId xmlns:a16="http://schemas.microsoft.com/office/drawing/2014/main" id="{ACF2C9C0-E58F-E3F3-501A-1D2F6925F870}"/>
              </a:ext>
            </a:extLst>
          </p:cNvPr>
          <p:cNvPicPr>
            <a:picLocks noChangeAspect="1"/>
          </p:cNvPicPr>
          <p:nvPr/>
        </p:nvPicPr>
        <p:blipFill>
          <a:blip r:embed="rId2"/>
          <a:stretch>
            <a:fillRect/>
          </a:stretch>
        </p:blipFill>
        <p:spPr>
          <a:xfrm>
            <a:off x="838200" y="1206020"/>
            <a:ext cx="10696575" cy="1114425"/>
          </a:xfrm>
          <a:prstGeom prst="rect">
            <a:avLst/>
          </a:prstGeom>
        </p:spPr>
      </p:pic>
      <p:pic>
        <p:nvPicPr>
          <p:cNvPr id="7" name="图片 6">
            <a:extLst>
              <a:ext uri="{FF2B5EF4-FFF2-40B4-BE49-F238E27FC236}">
                <a16:creationId xmlns:a16="http://schemas.microsoft.com/office/drawing/2014/main" id="{EC7A38CC-E43E-34CE-5546-8957BB320C2F}"/>
              </a:ext>
            </a:extLst>
          </p:cNvPr>
          <p:cNvPicPr>
            <a:picLocks noChangeAspect="1"/>
          </p:cNvPicPr>
          <p:nvPr/>
        </p:nvPicPr>
        <p:blipFill>
          <a:blip r:embed="rId3"/>
          <a:stretch>
            <a:fillRect/>
          </a:stretch>
        </p:blipFill>
        <p:spPr>
          <a:xfrm>
            <a:off x="824909" y="2427767"/>
            <a:ext cx="3124200" cy="676275"/>
          </a:xfrm>
          <a:prstGeom prst="rect">
            <a:avLst/>
          </a:prstGeom>
        </p:spPr>
      </p:pic>
      <p:pic>
        <p:nvPicPr>
          <p:cNvPr id="9" name="图片 8">
            <a:extLst>
              <a:ext uri="{FF2B5EF4-FFF2-40B4-BE49-F238E27FC236}">
                <a16:creationId xmlns:a16="http://schemas.microsoft.com/office/drawing/2014/main" id="{66ED4193-EC0D-34D3-CF11-09612B6CEC2A}"/>
              </a:ext>
            </a:extLst>
          </p:cNvPr>
          <p:cNvPicPr>
            <a:picLocks noChangeAspect="1"/>
          </p:cNvPicPr>
          <p:nvPr/>
        </p:nvPicPr>
        <p:blipFill>
          <a:blip r:embed="rId4"/>
          <a:stretch>
            <a:fillRect/>
          </a:stretch>
        </p:blipFill>
        <p:spPr>
          <a:xfrm>
            <a:off x="695325" y="3283355"/>
            <a:ext cx="10801350" cy="2828925"/>
          </a:xfrm>
          <a:prstGeom prst="rect">
            <a:avLst/>
          </a:prstGeom>
        </p:spPr>
      </p:pic>
    </p:spTree>
    <p:extLst>
      <p:ext uri="{BB962C8B-B14F-4D97-AF65-F5344CB8AC3E}">
        <p14:creationId xmlns:p14="http://schemas.microsoft.com/office/powerpoint/2010/main" val="17579398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B06D32-8E13-48BD-25EE-0E8BE507C6DF}"/>
              </a:ext>
            </a:extLst>
          </p:cNvPr>
          <p:cNvSpPr>
            <a:spLocks noGrp="1"/>
          </p:cNvSpPr>
          <p:nvPr>
            <p:ph type="title"/>
          </p:nvPr>
        </p:nvSpPr>
        <p:spPr/>
        <p:txBody>
          <a:bodyPr/>
          <a:lstStyle/>
          <a:p>
            <a:r>
              <a:rPr lang="zh-CN" altLang="en-US" dirty="0"/>
              <a:t>树的中心</a:t>
            </a:r>
          </a:p>
        </p:txBody>
      </p:sp>
      <p:sp>
        <p:nvSpPr>
          <p:cNvPr id="3" name="内容占位符 2">
            <a:extLst>
              <a:ext uri="{FF2B5EF4-FFF2-40B4-BE49-F238E27FC236}">
                <a16:creationId xmlns:a16="http://schemas.microsoft.com/office/drawing/2014/main" id="{1C8D5E95-8C6B-F45B-25B8-E886C80B95B0}"/>
              </a:ext>
            </a:extLst>
          </p:cNvPr>
          <p:cNvSpPr>
            <a:spLocks noGrp="1"/>
          </p:cNvSpPr>
          <p:nvPr>
            <p:ph idx="1"/>
          </p:nvPr>
        </p:nvSpPr>
        <p:spPr/>
        <p:txBody>
          <a:bodyPr/>
          <a:lstStyle/>
          <a:p>
            <a:r>
              <a:rPr lang="zh-CN" altLang="en-US" dirty="0"/>
              <a:t>在树中，如果节点</a:t>
            </a:r>
            <a:r>
              <a:rPr lang="en-US" altLang="zh-CN" dirty="0"/>
              <a:t>x</a:t>
            </a:r>
            <a:r>
              <a:rPr lang="zh-CN" altLang="en-US" dirty="0"/>
              <a:t>作为根节点时，从</a:t>
            </a:r>
            <a:r>
              <a:rPr lang="en-US" altLang="zh-CN" dirty="0"/>
              <a:t>x</a:t>
            </a:r>
            <a:r>
              <a:rPr lang="zh-CN" altLang="en-US" dirty="0"/>
              <a:t>出发的最长链最短，则称</a:t>
            </a:r>
            <a:r>
              <a:rPr lang="en-US" altLang="zh-CN" dirty="0"/>
              <a:t>x</a:t>
            </a:r>
            <a:r>
              <a:rPr lang="zh-CN" altLang="en-US" dirty="0"/>
              <a:t>为树的中心。</a:t>
            </a:r>
            <a:endParaRPr lang="en-US" altLang="zh-CN" dirty="0"/>
          </a:p>
          <a:p>
            <a:r>
              <a:rPr lang="zh-CN" altLang="en-US" dirty="0"/>
              <a:t>树的最长链为树的直径，所以树的中心一定是树的直径的中点（最多有两个）</a:t>
            </a:r>
          </a:p>
        </p:txBody>
      </p:sp>
    </p:spTree>
    <p:extLst>
      <p:ext uri="{BB962C8B-B14F-4D97-AF65-F5344CB8AC3E}">
        <p14:creationId xmlns:p14="http://schemas.microsoft.com/office/powerpoint/2010/main" val="12763687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AB84EE-CCA0-E33E-1CD8-FD820A5C3DBA}"/>
              </a:ext>
            </a:extLst>
          </p:cNvPr>
          <p:cNvSpPr>
            <a:spLocks noGrp="1"/>
          </p:cNvSpPr>
          <p:nvPr>
            <p:ph type="title"/>
          </p:nvPr>
        </p:nvSpPr>
        <p:spPr/>
        <p:txBody>
          <a:bodyPr/>
          <a:lstStyle/>
          <a:p>
            <a:r>
              <a:rPr lang="zh-CN" altLang="en-US" dirty="0"/>
              <a:t>树的重心</a:t>
            </a:r>
          </a:p>
        </p:txBody>
      </p:sp>
      <p:sp>
        <p:nvSpPr>
          <p:cNvPr id="3" name="内容占位符 2">
            <a:extLst>
              <a:ext uri="{FF2B5EF4-FFF2-40B4-BE49-F238E27FC236}">
                <a16:creationId xmlns:a16="http://schemas.microsoft.com/office/drawing/2014/main" id="{E217B290-5111-2CAD-A93B-07F8F34DF026}"/>
              </a:ext>
            </a:extLst>
          </p:cNvPr>
          <p:cNvSpPr>
            <a:spLocks noGrp="1"/>
          </p:cNvSpPr>
          <p:nvPr>
            <p:ph idx="1"/>
          </p:nvPr>
        </p:nvSpPr>
        <p:spPr/>
        <p:txBody>
          <a:bodyPr>
            <a:normAutofit fontScale="92500" lnSpcReduction="10000"/>
          </a:bodyPr>
          <a:lstStyle/>
          <a:p>
            <a:r>
              <a:rPr lang="zh-CN" altLang="en-US" b="0" i="0" dirty="0">
                <a:effectLst/>
                <a:latin typeface="Fira Sans" panose="020B0503050000020004" pitchFamily="34" charset="0"/>
              </a:rPr>
              <a:t>如果在树中选择某个节点并删除，这棵树将分为若干棵子树，统计子树节点数并记录最大值。取遍树上所有节点，使此最大值取到最小的节点被称为整个树的重心。</a:t>
            </a:r>
            <a:endParaRPr lang="en-US" altLang="zh-CN" b="0" i="0" dirty="0">
              <a:effectLst/>
              <a:latin typeface="Fira Sans" panose="020B0503050000020004" pitchFamily="34" charset="0"/>
            </a:endParaRPr>
          </a:p>
          <a:p>
            <a:pPr algn="l">
              <a:buFont typeface="Arial" panose="020B0604020202020204" pitchFamily="34" charset="0"/>
              <a:buChar char="•"/>
            </a:pPr>
            <a:r>
              <a:rPr lang="zh-CN" altLang="en-US" b="0" i="0" dirty="0">
                <a:effectLst/>
                <a:latin typeface="Fira Sans" panose="020B0503050000020004" pitchFamily="34" charset="0"/>
              </a:rPr>
              <a:t>树的重心如果不唯一，则至多有两个，且这两个重心相邻。</a:t>
            </a:r>
          </a:p>
          <a:p>
            <a:pPr algn="l">
              <a:buFont typeface="Arial" panose="020B0604020202020204" pitchFamily="34" charset="0"/>
              <a:buChar char="•"/>
            </a:pPr>
            <a:r>
              <a:rPr lang="zh-CN" altLang="en-US" b="0" i="0" dirty="0">
                <a:solidFill>
                  <a:srgbClr val="FF0000"/>
                </a:solidFill>
                <a:effectLst/>
                <a:latin typeface="Fira Sans" panose="020B0503050000020004" pitchFamily="34" charset="0"/>
              </a:rPr>
              <a:t>以树的重心为根时，所有子树的大小都不超过整棵树大小的一半。</a:t>
            </a:r>
          </a:p>
          <a:p>
            <a:pPr algn="l">
              <a:buFont typeface="Arial" panose="020B0604020202020204" pitchFamily="34" charset="0"/>
              <a:buChar char="•"/>
            </a:pPr>
            <a:r>
              <a:rPr lang="zh-CN" altLang="en-US" b="0" i="0" dirty="0">
                <a:solidFill>
                  <a:srgbClr val="FF0000"/>
                </a:solidFill>
                <a:effectLst/>
                <a:latin typeface="Fira Sans" panose="020B0503050000020004" pitchFamily="34" charset="0"/>
              </a:rPr>
              <a:t>树中所有点到某个点的距离和中，到重心的距离和是最小的；如果有两个重心，那么到它们的距离和一样。</a:t>
            </a:r>
          </a:p>
          <a:p>
            <a:pPr algn="l">
              <a:buFont typeface="Arial" panose="020B0604020202020204" pitchFamily="34" charset="0"/>
              <a:buChar char="•"/>
            </a:pPr>
            <a:r>
              <a:rPr lang="zh-CN" altLang="en-US" b="0" i="0" dirty="0">
                <a:effectLst/>
                <a:latin typeface="Fira Sans" panose="020B0503050000020004" pitchFamily="34" charset="0"/>
              </a:rPr>
              <a:t>把两棵树通过一条边相连得到一棵新的树，那么新的树的重心在连接原来两棵树的重心的路径上。</a:t>
            </a:r>
          </a:p>
          <a:p>
            <a:pPr algn="l">
              <a:buFont typeface="Arial" panose="020B0604020202020204" pitchFamily="34" charset="0"/>
              <a:buChar char="•"/>
            </a:pPr>
            <a:r>
              <a:rPr lang="zh-CN" altLang="en-US" b="0" i="0" dirty="0">
                <a:effectLst/>
                <a:latin typeface="Fira Sans" panose="020B0503050000020004" pitchFamily="34" charset="0"/>
              </a:rPr>
              <a:t>在一棵树上添加或删除一个叶子，那么它的重心最多只移动一条边的距离。</a:t>
            </a:r>
          </a:p>
          <a:p>
            <a:endParaRPr lang="zh-CN" altLang="en-US" dirty="0"/>
          </a:p>
        </p:txBody>
      </p:sp>
    </p:spTree>
    <p:extLst>
      <p:ext uri="{BB962C8B-B14F-4D97-AF65-F5344CB8AC3E}">
        <p14:creationId xmlns:p14="http://schemas.microsoft.com/office/powerpoint/2010/main" val="5115970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C8D95B-C12D-E8F8-C336-D060F66A6EBB}"/>
              </a:ext>
            </a:extLst>
          </p:cNvPr>
          <p:cNvSpPr>
            <a:spLocks noGrp="1"/>
          </p:cNvSpPr>
          <p:nvPr>
            <p:ph type="title"/>
          </p:nvPr>
        </p:nvSpPr>
        <p:spPr>
          <a:xfrm>
            <a:off x="838200" y="365126"/>
            <a:ext cx="9659679" cy="910782"/>
          </a:xfrm>
        </p:spPr>
        <p:txBody>
          <a:bodyPr>
            <a:normAutofit fontScale="90000"/>
          </a:bodyPr>
          <a:lstStyle/>
          <a:p>
            <a:r>
              <a:rPr lang="en-US" altLang="zh-CN" b="1" i="0" dirty="0">
                <a:effectLst/>
                <a:latin typeface="-apple-system"/>
              </a:rPr>
              <a:t>P1395 </a:t>
            </a:r>
            <a:r>
              <a:rPr lang="zh-CN" altLang="en-US" b="1" i="0" dirty="0">
                <a:effectLst/>
                <a:latin typeface="-apple-system"/>
              </a:rPr>
              <a:t>会议</a:t>
            </a:r>
            <a:br>
              <a:rPr lang="zh-CN" altLang="en-US" b="1" i="0" dirty="0">
                <a:effectLst/>
                <a:latin typeface="-apple-system"/>
              </a:rPr>
            </a:br>
            <a:endParaRPr lang="zh-CN" altLang="en-US" dirty="0"/>
          </a:p>
        </p:txBody>
      </p:sp>
      <p:pic>
        <p:nvPicPr>
          <p:cNvPr id="5" name="图片 4">
            <a:extLst>
              <a:ext uri="{FF2B5EF4-FFF2-40B4-BE49-F238E27FC236}">
                <a16:creationId xmlns:a16="http://schemas.microsoft.com/office/drawing/2014/main" id="{D730A7CE-D2D1-A1E5-0C73-1A13261039A7}"/>
              </a:ext>
            </a:extLst>
          </p:cNvPr>
          <p:cNvPicPr>
            <a:picLocks noChangeAspect="1"/>
          </p:cNvPicPr>
          <p:nvPr/>
        </p:nvPicPr>
        <p:blipFill>
          <a:blip r:embed="rId2"/>
          <a:stretch>
            <a:fillRect/>
          </a:stretch>
        </p:blipFill>
        <p:spPr>
          <a:xfrm>
            <a:off x="747712" y="1171575"/>
            <a:ext cx="10696575" cy="2257425"/>
          </a:xfrm>
          <a:prstGeom prst="rect">
            <a:avLst/>
          </a:prstGeom>
        </p:spPr>
      </p:pic>
      <p:pic>
        <p:nvPicPr>
          <p:cNvPr id="7" name="图片 6">
            <a:extLst>
              <a:ext uri="{FF2B5EF4-FFF2-40B4-BE49-F238E27FC236}">
                <a16:creationId xmlns:a16="http://schemas.microsoft.com/office/drawing/2014/main" id="{095F4AB0-9858-F611-2C61-8C9CE3486D6D}"/>
              </a:ext>
            </a:extLst>
          </p:cNvPr>
          <p:cNvPicPr>
            <a:picLocks noChangeAspect="1"/>
          </p:cNvPicPr>
          <p:nvPr/>
        </p:nvPicPr>
        <p:blipFill>
          <a:blip r:embed="rId3"/>
          <a:stretch>
            <a:fillRect/>
          </a:stretch>
        </p:blipFill>
        <p:spPr>
          <a:xfrm>
            <a:off x="838200" y="3429000"/>
            <a:ext cx="4133850" cy="609600"/>
          </a:xfrm>
          <a:prstGeom prst="rect">
            <a:avLst/>
          </a:prstGeom>
        </p:spPr>
      </p:pic>
      <p:pic>
        <p:nvPicPr>
          <p:cNvPr id="11" name="图片 10">
            <a:extLst>
              <a:ext uri="{FF2B5EF4-FFF2-40B4-BE49-F238E27FC236}">
                <a16:creationId xmlns:a16="http://schemas.microsoft.com/office/drawing/2014/main" id="{3739CE4D-6CCD-3849-40B4-1844C50DEE7C}"/>
              </a:ext>
            </a:extLst>
          </p:cNvPr>
          <p:cNvPicPr>
            <a:picLocks noChangeAspect="1"/>
          </p:cNvPicPr>
          <p:nvPr/>
        </p:nvPicPr>
        <p:blipFill>
          <a:blip r:embed="rId4"/>
          <a:stretch>
            <a:fillRect/>
          </a:stretch>
        </p:blipFill>
        <p:spPr>
          <a:xfrm>
            <a:off x="747712" y="4100180"/>
            <a:ext cx="4657725" cy="1790700"/>
          </a:xfrm>
          <a:prstGeom prst="rect">
            <a:avLst/>
          </a:prstGeom>
        </p:spPr>
      </p:pic>
    </p:spTree>
    <p:extLst>
      <p:ext uri="{BB962C8B-B14F-4D97-AF65-F5344CB8AC3E}">
        <p14:creationId xmlns:p14="http://schemas.microsoft.com/office/powerpoint/2010/main" val="40229667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46D4AB-E555-6B67-3609-8390541C8BED}"/>
              </a:ext>
            </a:extLst>
          </p:cNvPr>
          <p:cNvSpPr>
            <a:spLocks noGrp="1"/>
          </p:cNvSpPr>
          <p:nvPr>
            <p:ph type="title"/>
          </p:nvPr>
        </p:nvSpPr>
        <p:spPr/>
        <p:txBody>
          <a:bodyPr/>
          <a:lstStyle/>
          <a:p>
            <a:r>
              <a:rPr lang="zh-CN" altLang="en-US" dirty="0"/>
              <a:t>最近公共祖先</a:t>
            </a:r>
            <a:r>
              <a:rPr lang="en-US" altLang="zh-CN" dirty="0"/>
              <a:t>(LCA)</a:t>
            </a:r>
            <a:endParaRPr lang="zh-CN" altLang="en-US" dirty="0"/>
          </a:p>
        </p:txBody>
      </p:sp>
      <p:sp>
        <p:nvSpPr>
          <p:cNvPr id="3" name="内容占位符 2">
            <a:extLst>
              <a:ext uri="{FF2B5EF4-FFF2-40B4-BE49-F238E27FC236}">
                <a16:creationId xmlns:a16="http://schemas.microsoft.com/office/drawing/2014/main" id="{3627472A-5A4E-277F-A121-66C168F97F22}"/>
              </a:ext>
            </a:extLst>
          </p:cNvPr>
          <p:cNvSpPr>
            <a:spLocks noGrp="1"/>
          </p:cNvSpPr>
          <p:nvPr>
            <p:ph idx="1"/>
          </p:nvPr>
        </p:nvSpPr>
        <p:spPr/>
        <p:txBody>
          <a:bodyPr/>
          <a:lstStyle/>
          <a:p>
            <a:r>
              <a:rPr lang="zh-CN" altLang="en-US" b="0" i="0" dirty="0">
                <a:effectLst/>
                <a:latin typeface="Fira Sans" panose="020B0503050000020004" pitchFamily="34" charset="0"/>
              </a:rPr>
              <a:t>最近公共祖先简称 </a:t>
            </a:r>
            <a:r>
              <a:rPr lang="en-US" altLang="zh-CN" b="0" i="0" dirty="0">
                <a:effectLst/>
                <a:latin typeface="Fira Sans" panose="020B0503050000020004" pitchFamily="34" charset="0"/>
              </a:rPr>
              <a:t>LCA</a:t>
            </a:r>
            <a:r>
              <a:rPr lang="zh-CN" altLang="en-US" b="0" i="0" dirty="0">
                <a:effectLst/>
                <a:latin typeface="Fira Sans" panose="020B0503050000020004" pitchFamily="34" charset="0"/>
              </a:rPr>
              <a:t>（</a:t>
            </a:r>
            <a:r>
              <a:rPr lang="en-US" altLang="zh-CN" b="0" i="0" dirty="0">
                <a:effectLst/>
                <a:latin typeface="Fira Sans" panose="020B0503050000020004" pitchFamily="34" charset="0"/>
              </a:rPr>
              <a:t>Lowest Common Ancestor</a:t>
            </a:r>
            <a:r>
              <a:rPr lang="zh-CN" altLang="en-US" b="0" i="0" dirty="0">
                <a:effectLst/>
                <a:latin typeface="Fira Sans" panose="020B0503050000020004" pitchFamily="34" charset="0"/>
              </a:rPr>
              <a:t>）。两个节点的最近公共祖先，就是这两个点的公共祖先里面，离根最远的那个。</a:t>
            </a:r>
            <a:endParaRPr lang="zh-CN" altLang="en-US" dirty="0"/>
          </a:p>
        </p:txBody>
      </p:sp>
    </p:spTree>
    <p:extLst>
      <p:ext uri="{BB962C8B-B14F-4D97-AF65-F5344CB8AC3E}">
        <p14:creationId xmlns:p14="http://schemas.microsoft.com/office/powerpoint/2010/main" val="23242468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CC0B84-ABA5-38C5-F2BA-3A02E474E0F4}"/>
              </a:ext>
            </a:extLst>
          </p:cNvPr>
          <p:cNvSpPr>
            <a:spLocks noGrp="1"/>
          </p:cNvSpPr>
          <p:nvPr>
            <p:ph type="title"/>
          </p:nvPr>
        </p:nvSpPr>
        <p:spPr>
          <a:xfrm>
            <a:off x="838200" y="365126"/>
            <a:ext cx="10084981" cy="953312"/>
          </a:xfrm>
        </p:spPr>
        <p:txBody>
          <a:bodyPr>
            <a:normAutofit fontScale="90000"/>
          </a:bodyPr>
          <a:lstStyle/>
          <a:p>
            <a:r>
              <a:rPr lang="en-US" altLang="zh-CN" b="1" i="0" dirty="0">
                <a:effectLst/>
                <a:latin typeface="-apple-system"/>
              </a:rPr>
              <a:t>P3379 【</a:t>
            </a:r>
            <a:r>
              <a:rPr lang="zh-CN" altLang="en-US" b="1" i="0" dirty="0">
                <a:effectLst/>
                <a:latin typeface="-apple-system"/>
              </a:rPr>
              <a:t>模板</a:t>
            </a:r>
            <a:r>
              <a:rPr lang="en-US" altLang="zh-CN" b="1" i="0" dirty="0">
                <a:effectLst/>
                <a:latin typeface="-apple-system"/>
              </a:rPr>
              <a:t>】</a:t>
            </a:r>
            <a:r>
              <a:rPr lang="zh-CN" altLang="en-US" b="1" i="0" dirty="0">
                <a:effectLst/>
                <a:latin typeface="-apple-system"/>
              </a:rPr>
              <a:t>最近公共祖先（</a:t>
            </a:r>
            <a:r>
              <a:rPr lang="en-US" altLang="zh-CN" b="1" i="0" dirty="0">
                <a:effectLst/>
                <a:latin typeface="-apple-system"/>
              </a:rPr>
              <a:t>LCA</a:t>
            </a:r>
            <a:r>
              <a:rPr lang="zh-CN" altLang="en-US" b="1" i="0" dirty="0">
                <a:effectLst/>
                <a:latin typeface="-apple-system"/>
              </a:rPr>
              <a:t>）</a:t>
            </a:r>
            <a:br>
              <a:rPr lang="zh-CN" altLang="en-US" b="1" i="0" dirty="0">
                <a:effectLst/>
                <a:latin typeface="-apple-system"/>
              </a:rPr>
            </a:br>
            <a:endParaRPr lang="zh-CN" altLang="en-US" dirty="0"/>
          </a:p>
        </p:txBody>
      </p:sp>
      <p:pic>
        <p:nvPicPr>
          <p:cNvPr id="5" name="图片 4">
            <a:extLst>
              <a:ext uri="{FF2B5EF4-FFF2-40B4-BE49-F238E27FC236}">
                <a16:creationId xmlns:a16="http://schemas.microsoft.com/office/drawing/2014/main" id="{BDB10BD5-34AA-E192-AE6F-49736C6478E0}"/>
              </a:ext>
            </a:extLst>
          </p:cNvPr>
          <p:cNvPicPr>
            <a:picLocks noChangeAspect="1"/>
          </p:cNvPicPr>
          <p:nvPr/>
        </p:nvPicPr>
        <p:blipFill>
          <a:blip r:embed="rId2"/>
          <a:stretch>
            <a:fillRect/>
          </a:stretch>
        </p:blipFill>
        <p:spPr>
          <a:xfrm>
            <a:off x="838199" y="889629"/>
            <a:ext cx="10084982" cy="3657487"/>
          </a:xfrm>
          <a:prstGeom prst="rect">
            <a:avLst/>
          </a:prstGeom>
        </p:spPr>
      </p:pic>
      <p:pic>
        <p:nvPicPr>
          <p:cNvPr id="7" name="图片 6">
            <a:extLst>
              <a:ext uri="{FF2B5EF4-FFF2-40B4-BE49-F238E27FC236}">
                <a16:creationId xmlns:a16="http://schemas.microsoft.com/office/drawing/2014/main" id="{C96B3E7E-3F0D-E760-60C1-C1771E7F2CD4}"/>
              </a:ext>
            </a:extLst>
          </p:cNvPr>
          <p:cNvPicPr>
            <a:picLocks noChangeAspect="1"/>
          </p:cNvPicPr>
          <p:nvPr/>
        </p:nvPicPr>
        <p:blipFill>
          <a:blip r:embed="rId3"/>
          <a:stretch>
            <a:fillRect/>
          </a:stretch>
        </p:blipFill>
        <p:spPr>
          <a:xfrm>
            <a:off x="838199" y="4851658"/>
            <a:ext cx="9058275" cy="542925"/>
          </a:xfrm>
          <a:prstGeom prst="rect">
            <a:avLst/>
          </a:prstGeom>
        </p:spPr>
      </p:pic>
    </p:spTree>
    <p:extLst>
      <p:ext uri="{BB962C8B-B14F-4D97-AF65-F5344CB8AC3E}">
        <p14:creationId xmlns:p14="http://schemas.microsoft.com/office/powerpoint/2010/main" val="17727083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F425BBC7-4406-633B-3F59-61DCEA5355D2}"/>
              </a:ext>
            </a:extLst>
          </p:cNvPr>
          <p:cNvSpPr>
            <a:spLocks noGrp="1"/>
          </p:cNvSpPr>
          <p:nvPr>
            <p:ph type="title"/>
          </p:nvPr>
        </p:nvSpPr>
        <p:spPr>
          <a:xfrm>
            <a:off x="838200" y="365126"/>
            <a:ext cx="10084981" cy="953312"/>
          </a:xfrm>
        </p:spPr>
        <p:txBody>
          <a:bodyPr>
            <a:normAutofit fontScale="90000"/>
          </a:bodyPr>
          <a:lstStyle/>
          <a:p>
            <a:r>
              <a:rPr lang="en-US" altLang="zh-CN" b="1" i="0" dirty="0">
                <a:effectLst/>
                <a:latin typeface="-apple-system"/>
              </a:rPr>
              <a:t>P3379 【</a:t>
            </a:r>
            <a:r>
              <a:rPr lang="zh-CN" altLang="en-US" b="1" i="0" dirty="0">
                <a:effectLst/>
                <a:latin typeface="-apple-system"/>
              </a:rPr>
              <a:t>模板</a:t>
            </a:r>
            <a:r>
              <a:rPr lang="en-US" altLang="zh-CN" b="1" i="0" dirty="0">
                <a:effectLst/>
                <a:latin typeface="-apple-system"/>
              </a:rPr>
              <a:t>】</a:t>
            </a:r>
            <a:r>
              <a:rPr lang="zh-CN" altLang="en-US" b="1" i="0" dirty="0">
                <a:effectLst/>
                <a:latin typeface="-apple-system"/>
              </a:rPr>
              <a:t>最近公共祖先（</a:t>
            </a:r>
            <a:r>
              <a:rPr lang="en-US" altLang="zh-CN" b="1" i="0" dirty="0">
                <a:effectLst/>
                <a:latin typeface="-apple-system"/>
              </a:rPr>
              <a:t>LCA</a:t>
            </a:r>
            <a:r>
              <a:rPr lang="zh-CN" altLang="en-US" b="1" i="0" dirty="0">
                <a:effectLst/>
                <a:latin typeface="-apple-system"/>
              </a:rPr>
              <a:t>）</a:t>
            </a:r>
            <a:br>
              <a:rPr lang="zh-CN" altLang="en-US" b="1" i="0" dirty="0">
                <a:effectLst/>
                <a:latin typeface="-apple-system"/>
              </a:rPr>
            </a:br>
            <a:endParaRPr lang="zh-CN" altLang="en-US" dirty="0"/>
          </a:p>
        </p:txBody>
      </p:sp>
      <p:pic>
        <p:nvPicPr>
          <p:cNvPr id="7" name="图片 6">
            <a:extLst>
              <a:ext uri="{FF2B5EF4-FFF2-40B4-BE49-F238E27FC236}">
                <a16:creationId xmlns:a16="http://schemas.microsoft.com/office/drawing/2014/main" id="{CC1127AE-91A7-AD55-F0A1-EE4B0DCF6125}"/>
              </a:ext>
            </a:extLst>
          </p:cNvPr>
          <p:cNvPicPr>
            <a:picLocks noChangeAspect="1"/>
          </p:cNvPicPr>
          <p:nvPr/>
        </p:nvPicPr>
        <p:blipFill>
          <a:blip r:embed="rId2"/>
          <a:stretch>
            <a:fillRect/>
          </a:stretch>
        </p:blipFill>
        <p:spPr>
          <a:xfrm>
            <a:off x="7558653" y="841782"/>
            <a:ext cx="3435601" cy="6007393"/>
          </a:xfrm>
          <a:prstGeom prst="rect">
            <a:avLst/>
          </a:prstGeom>
        </p:spPr>
      </p:pic>
      <p:pic>
        <p:nvPicPr>
          <p:cNvPr id="11" name="图片 10">
            <a:extLst>
              <a:ext uri="{FF2B5EF4-FFF2-40B4-BE49-F238E27FC236}">
                <a16:creationId xmlns:a16="http://schemas.microsoft.com/office/drawing/2014/main" id="{B69C4FC7-A390-8B42-7EDC-059BCC4D332C}"/>
              </a:ext>
            </a:extLst>
          </p:cNvPr>
          <p:cNvPicPr>
            <a:picLocks noChangeAspect="1"/>
          </p:cNvPicPr>
          <p:nvPr/>
        </p:nvPicPr>
        <p:blipFill>
          <a:blip r:embed="rId3"/>
          <a:stretch>
            <a:fillRect/>
          </a:stretch>
        </p:blipFill>
        <p:spPr>
          <a:xfrm>
            <a:off x="328059" y="1739419"/>
            <a:ext cx="6191250" cy="3705225"/>
          </a:xfrm>
          <a:prstGeom prst="rect">
            <a:avLst/>
          </a:prstGeom>
        </p:spPr>
      </p:pic>
    </p:spTree>
    <p:extLst>
      <p:ext uri="{BB962C8B-B14F-4D97-AF65-F5344CB8AC3E}">
        <p14:creationId xmlns:p14="http://schemas.microsoft.com/office/powerpoint/2010/main" val="29131377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47A947-B89F-D6D8-62D1-E03A7B677B3D}"/>
              </a:ext>
            </a:extLst>
          </p:cNvPr>
          <p:cNvSpPr>
            <a:spLocks noGrp="1"/>
          </p:cNvSpPr>
          <p:nvPr>
            <p:ph type="title"/>
          </p:nvPr>
        </p:nvSpPr>
        <p:spPr/>
        <p:txBody>
          <a:bodyPr/>
          <a:lstStyle/>
          <a:p>
            <a:r>
              <a:rPr lang="zh-CN" altLang="en-US" dirty="0"/>
              <a:t>最近公共祖先</a:t>
            </a:r>
            <a:r>
              <a:rPr lang="en-US" altLang="zh-CN" dirty="0"/>
              <a:t>(LCA)</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1ABFCE97-2C42-A043-AB10-A1A1E4026E01}"/>
                  </a:ext>
                </a:extLst>
              </p:cNvPr>
              <p:cNvSpPr>
                <a:spLocks noGrp="1"/>
              </p:cNvSpPr>
              <p:nvPr>
                <p:ph idx="1"/>
              </p:nvPr>
            </p:nvSpPr>
            <p:spPr>
              <a:xfrm>
                <a:off x="838200" y="1538177"/>
                <a:ext cx="10515600" cy="4638786"/>
              </a:xfrm>
            </p:spPr>
            <p:txBody>
              <a:bodyPr>
                <a:normAutofit fontScale="92500" lnSpcReduction="10000"/>
              </a:bodyPr>
              <a:lstStyle/>
              <a:p>
                <a:r>
                  <a:rPr lang="zh-CN" altLang="en-US" dirty="0"/>
                  <a:t>朴素算法：每次找到两个点中深度更深的那个点（如果一样则随便选一个点），将它向根节点跳，直到两个点重合，重合处便是两个点的</a:t>
                </a:r>
                <a:r>
                  <a:rPr lang="en-US" altLang="zh-CN" dirty="0"/>
                  <a:t>LCA</a:t>
                </a:r>
                <a:r>
                  <a:rPr lang="zh-CN" altLang="en-US" dirty="0"/>
                  <a:t>。</a:t>
                </a:r>
                <a:endParaRPr lang="en-US" altLang="zh-CN" dirty="0"/>
              </a:p>
              <a:p>
                <a:r>
                  <a:rPr lang="zh-CN" altLang="en-US" dirty="0"/>
                  <a:t>倍增算法：</a:t>
                </a:r>
                <a:endParaRPr lang="en-US" altLang="zh-CN" dirty="0"/>
              </a:p>
              <a:p>
                <a:r>
                  <a:rPr lang="en-US" altLang="zh-CN" dirty="0"/>
                  <a:t>1</a:t>
                </a:r>
                <a:r>
                  <a:rPr lang="zh-CN" altLang="en-US" dirty="0"/>
                  <a:t>、先将两个点跳至同一深度；</a:t>
                </a:r>
                <a:endParaRPr lang="en-US" altLang="zh-CN" dirty="0"/>
              </a:p>
              <a:p>
                <a:r>
                  <a:rPr lang="en-US" altLang="zh-CN" dirty="0"/>
                  <a:t>2</a:t>
                </a:r>
                <a:r>
                  <a:rPr lang="zh-CN" altLang="en-US" dirty="0"/>
                  <a:t>、每次将两个点同时向根节点跳，跳的距离为使两个点不重合的最大的</a:t>
                </a:r>
                <a14:m>
                  <m:oMath xmlns:m="http://schemas.openxmlformats.org/officeDocument/2006/math">
                    <m:sSup>
                      <m:sSupPr>
                        <m:ctrlPr>
                          <a:rPr lang="en-US" altLang="zh-CN" i="1" dirty="0" smtClean="0">
                            <a:latin typeface="Cambria Math" panose="02040503050406030204" pitchFamily="18" charset="0"/>
                          </a:rPr>
                        </m:ctrlPr>
                      </m:sSupPr>
                      <m:e>
                        <m:r>
                          <a:rPr lang="en-US" altLang="zh-CN" b="0" i="1" dirty="0" smtClean="0">
                            <a:latin typeface="Cambria Math" panose="02040503050406030204" pitchFamily="18" charset="0"/>
                          </a:rPr>
                          <m:t>2</m:t>
                        </m:r>
                      </m:e>
                      <m:sup>
                        <m:r>
                          <a:rPr lang="en-US" altLang="zh-CN" b="0" i="1" dirty="0" smtClean="0">
                            <a:latin typeface="Cambria Math" panose="02040503050406030204" pitchFamily="18" charset="0"/>
                          </a:rPr>
                          <m:t>𝑥</m:t>
                        </m:r>
                      </m:sup>
                    </m:sSup>
                    <m:r>
                      <a:rPr lang="zh-CN" altLang="en-US" i="1" dirty="0">
                        <a:latin typeface="Cambria Math" panose="02040503050406030204" pitchFamily="18" charset="0"/>
                      </a:rPr>
                      <m:t>；</m:t>
                    </m:r>
                  </m:oMath>
                </a14:m>
                <a:endParaRPr lang="en-US" altLang="zh-CN" dirty="0"/>
              </a:p>
              <a:p>
                <a:r>
                  <a:rPr lang="en-US" altLang="zh-CN" dirty="0"/>
                  <a:t>3</a:t>
                </a:r>
                <a:r>
                  <a:rPr lang="zh-CN" altLang="en-US" dirty="0"/>
                  <a:t>、而后重复该操作直到不能跳（即两个点的父节点同时为它们的</a:t>
                </a:r>
                <a:r>
                  <a:rPr lang="en-US" altLang="zh-CN" dirty="0"/>
                  <a:t>LCA</a:t>
                </a:r>
                <a:r>
                  <a:rPr lang="zh-CN" altLang="en-US" dirty="0"/>
                  <a:t>时）；</a:t>
                </a:r>
                <a:endParaRPr lang="en-US" altLang="zh-CN" dirty="0"/>
              </a:p>
              <a:p>
                <a:r>
                  <a:rPr lang="en-US" altLang="zh-CN" dirty="0"/>
                  <a:t>4</a:t>
                </a:r>
                <a:r>
                  <a:rPr lang="zh-CN" altLang="en-US" dirty="0"/>
                  <a:t>、例如两个点到它们</a:t>
                </a:r>
                <a:r>
                  <a:rPr lang="en-US" altLang="zh-CN" dirty="0"/>
                  <a:t>LCA</a:t>
                </a:r>
                <a:r>
                  <a:rPr lang="zh-CN" altLang="en-US" dirty="0"/>
                  <a:t>的距离分别为 </a:t>
                </a:r>
                <a:r>
                  <a:rPr lang="en-US" altLang="zh-CN" dirty="0"/>
                  <a:t>23 </a:t>
                </a:r>
                <a:r>
                  <a:rPr lang="zh-CN" altLang="en-US" dirty="0"/>
                  <a:t>和 </a:t>
                </a:r>
                <a:r>
                  <a:rPr lang="en-US" altLang="zh-CN" dirty="0"/>
                  <a:t>25</a:t>
                </a:r>
                <a:r>
                  <a:rPr lang="zh-CN" altLang="en-US" dirty="0"/>
                  <a:t>，则先将深度更深的点向上跳（</a:t>
                </a:r>
                <a:r>
                  <a:rPr lang="en-US" altLang="zh-CN" dirty="0"/>
                  <a:t>25 -&gt; 23</a:t>
                </a:r>
                <a:r>
                  <a:rPr lang="zh-CN" altLang="en-US" dirty="0"/>
                  <a:t>），然后以此跳 </a:t>
                </a:r>
                <a:r>
                  <a:rPr lang="en-US" altLang="zh-CN" dirty="0"/>
                  <a:t>16(10000)</a:t>
                </a:r>
                <a:r>
                  <a:rPr lang="zh-CN" altLang="en-US" dirty="0"/>
                  <a:t>、</a:t>
                </a:r>
                <a:r>
                  <a:rPr lang="en-US" altLang="zh-CN" dirty="0"/>
                  <a:t>4(100)</a:t>
                </a:r>
                <a:r>
                  <a:rPr lang="zh-CN" altLang="en-US" dirty="0"/>
                  <a:t>、</a:t>
                </a:r>
                <a:r>
                  <a:rPr lang="en-US" altLang="zh-CN" dirty="0"/>
                  <a:t>2(10)</a:t>
                </a:r>
                <a:r>
                  <a:rPr lang="zh-CN" altLang="en-US" dirty="0"/>
                  <a:t> </a:t>
                </a:r>
                <a:r>
                  <a:rPr lang="en-US" altLang="zh-CN" dirty="0"/>
                  <a:t>[23(10111) -&gt; 1(00001)]</a:t>
                </a:r>
              </a:p>
            </p:txBody>
          </p:sp>
        </mc:Choice>
        <mc:Fallback xmlns="">
          <p:sp>
            <p:nvSpPr>
              <p:cNvPr id="3" name="内容占位符 2">
                <a:extLst>
                  <a:ext uri="{FF2B5EF4-FFF2-40B4-BE49-F238E27FC236}">
                    <a16:creationId xmlns:a16="http://schemas.microsoft.com/office/drawing/2014/main" id="{1ABFCE97-2C42-A043-AB10-A1A1E4026E01}"/>
                  </a:ext>
                </a:extLst>
              </p:cNvPr>
              <p:cNvSpPr>
                <a:spLocks noGrp="1" noRot="1" noChangeAspect="1" noMove="1" noResize="1" noEditPoints="1" noAdjustHandles="1" noChangeArrowheads="1" noChangeShapeType="1" noTextEdit="1"/>
              </p:cNvSpPr>
              <p:nvPr>
                <p:ph idx="1"/>
              </p:nvPr>
            </p:nvSpPr>
            <p:spPr>
              <a:xfrm>
                <a:off x="838200" y="1538177"/>
                <a:ext cx="10515600" cy="4638786"/>
              </a:xfrm>
              <a:blipFill>
                <a:blip r:embed="rId2"/>
                <a:stretch>
                  <a:fillRect l="-928" t="-2628" r="-522" b="-131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05209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F7318B-923D-F8AC-60ED-B38BEC0D1647}"/>
              </a:ext>
            </a:extLst>
          </p:cNvPr>
          <p:cNvSpPr>
            <a:spLocks noGrp="1"/>
          </p:cNvSpPr>
          <p:nvPr>
            <p:ph type="title"/>
          </p:nvPr>
        </p:nvSpPr>
        <p:spPr/>
        <p:txBody>
          <a:bodyPr/>
          <a:lstStyle/>
          <a:p>
            <a:r>
              <a:rPr lang="zh-CN" altLang="en-US" dirty="0"/>
              <a:t>最近公共祖先</a:t>
            </a:r>
            <a:r>
              <a:rPr lang="en-US" altLang="zh-CN" dirty="0"/>
              <a:t>(LCA)</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58929A72-88BA-7AE2-6FEF-8927A6D8C6ED}"/>
                  </a:ext>
                </a:extLst>
              </p:cNvPr>
              <p:cNvSpPr>
                <a:spLocks noGrp="1"/>
              </p:cNvSpPr>
              <p:nvPr>
                <p:ph idx="1"/>
              </p:nvPr>
            </p:nvSpPr>
            <p:spPr/>
            <p:txBody>
              <a:bodyPr/>
              <a:lstStyle/>
              <a:p>
                <a:r>
                  <a:rPr lang="en-US" altLang="zh-CN" dirty="0"/>
                  <a:t>LCA</a:t>
                </a:r>
                <a:r>
                  <a:rPr lang="zh-CN" altLang="en-US" dirty="0"/>
                  <a:t>的预处理：</a:t>
                </a:r>
                <a:endParaRPr lang="en-US" altLang="zh-CN" dirty="0"/>
              </a:p>
              <a:p>
                <a:r>
                  <a:rPr lang="zh-CN" altLang="en-US" dirty="0"/>
                  <a:t>预处理出</a:t>
                </a:r>
                <a:r>
                  <a:rPr lang="en-US" altLang="zh-CN" dirty="0"/>
                  <a:t>f[</a:t>
                </a:r>
                <a:r>
                  <a:rPr lang="en-US" altLang="zh-CN" dirty="0" err="1"/>
                  <a:t>i</a:t>
                </a:r>
                <a:r>
                  <a:rPr lang="en-US" altLang="zh-CN" dirty="0"/>
                  <a:t>][j]</a:t>
                </a:r>
                <a:r>
                  <a:rPr lang="zh-CN" altLang="en-US" dirty="0"/>
                  <a:t>数组，即</a:t>
                </a:r>
                <a:r>
                  <a:rPr lang="en-US" altLang="zh-CN" dirty="0" err="1"/>
                  <a:t>i</a:t>
                </a:r>
                <a:r>
                  <a:rPr lang="zh-CN" altLang="en-US" dirty="0"/>
                  <a:t>节点向上跳</a:t>
                </a:r>
                <a14:m>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2</m:t>
                        </m:r>
                      </m:e>
                      <m:sup>
                        <m:r>
                          <a:rPr lang="en-US" altLang="zh-CN" b="0" i="1" smtClean="0">
                            <a:latin typeface="Cambria Math" panose="02040503050406030204" pitchFamily="18" charset="0"/>
                          </a:rPr>
                          <m:t>𝑗</m:t>
                        </m:r>
                      </m:sup>
                    </m:sSup>
                  </m:oMath>
                </a14:m>
                <a:r>
                  <a:rPr lang="zh-CN" altLang="en-US" dirty="0"/>
                  <a:t>到达的点</a:t>
                </a:r>
                <a:endParaRPr lang="en-US" altLang="zh-CN" dirty="0"/>
              </a:p>
              <a:p>
                <a:r>
                  <a:rPr lang="zh-CN" altLang="en-US" dirty="0"/>
                  <a:t>对于每个点最多处理至</a:t>
                </a:r>
                <a:r>
                  <a:rPr lang="en-US" altLang="zh-CN" dirty="0"/>
                  <a:t>f[</a:t>
                </a:r>
                <a:r>
                  <a:rPr lang="en-US" altLang="zh-CN" dirty="0" err="1"/>
                  <a:t>i</a:t>
                </a:r>
                <a:r>
                  <a:rPr lang="en-US" altLang="zh-CN" dirty="0"/>
                  <a:t>][</a:t>
                </a:r>
                <a:r>
                  <a:rPr lang="en-US" altLang="zh-CN" dirty="0" err="1"/>
                  <a:t>logn</a:t>
                </a:r>
                <a:r>
                  <a:rPr lang="en-US" altLang="zh-CN" dirty="0"/>
                  <a:t>]</a:t>
                </a:r>
                <a:r>
                  <a:rPr lang="zh-CN" altLang="en-US" dirty="0"/>
                  <a:t>，故预处理的复杂度为</a:t>
                </a:r>
                <a:r>
                  <a:rPr lang="en-US" altLang="zh-CN" dirty="0"/>
                  <a:t>O(</a:t>
                </a:r>
                <a:r>
                  <a:rPr lang="en-US" altLang="zh-CN" dirty="0" err="1"/>
                  <a:t>nlogn</a:t>
                </a:r>
                <a:r>
                  <a:rPr lang="en-US" altLang="zh-CN" dirty="0"/>
                  <a:t>)</a:t>
                </a:r>
              </a:p>
              <a:p>
                <a:r>
                  <a:rPr lang="zh-CN" altLang="en-US" dirty="0"/>
                  <a:t>查询过程向上倍增的跳，复杂度为</a:t>
                </a:r>
                <a:r>
                  <a:rPr lang="en-US" altLang="zh-CN" dirty="0"/>
                  <a:t>O(</a:t>
                </a:r>
                <a:r>
                  <a:rPr lang="en-US" altLang="zh-CN" dirty="0" err="1"/>
                  <a:t>logn</a:t>
                </a:r>
                <a:r>
                  <a:rPr lang="en-US" altLang="zh-CN" dirty="0"/>
                  <a:t>)</a:t>
                </a:r>
                <a:endParaRPr lang="zh-CN" altLang="en-US" dirty="0"/>
              </a:p>
            </p:txBody>
          </p:sp>
        </mc:Choice>
        <mc:Fallback xmlns="">
          <p:sp>
            <p:nvSpPr>
              <p:cNvPr id="3" name="内容占位符 2">
                <a:extLst>
                  <a:ext uri="{FF2B5EF4-FFF2-40B4-BE49-F238E27FC236}">
                    <a16:creationId xmlns:a16="http://schemas.microsoft.com/office/drawing/2014/main" id="{58929A72-88BA-7AE2-6FEF-8927A6D8C6ED}"/>
                  </a:ext>
                </a:extLst>
              </p:cNvPr>
              <p:cNvSpPr>
                <a:spLocks noGrp="1" noRot="1" noChangeAspect="1" noMove="1" noResize="1" noEditPoints="1" noAdjustHandles="1" noChangeArrowheads="1" noChangeShapeType="1" noTextEdit="1"/>
              </p:cNvSpPr>
              <p:nvPr>
                <p:ph idx="1"/>
              </p:nvPr>
            </p:nvSpPr>
            <p:spPr>
              <a:blipFill>
                <a:blip r:embed="rId2"/>
                <a:stretch>
                  <a:fillRect l="-1043" t="-252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398676133"/>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360</TotalTime>
  <Words>1178</Words>
  <Application>Microsoft Office PowerPoint</Application>
  <PresentationFormat>宽屏</PresentationFormat>
  <Paragraphs>86</Paragraphs>
  <Slides>37</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37</vt:i4>
      </vt:variant>
    </vt:vector>
  </HeadingPairs>
  <TitlesOfParts>
    <vt:vector size="44" baseType="lpstr">
      <vt:lpstr>-apple-system</vt:lpstr>
      <vt:lpstr>等线</vt:lpstr>
      <vt:lpstr>等线 Light</vt:lpstr>
      <vt:lpstr>Arial</vt:lpstr>
      <vt:lpstr>Cambria Math</vt:lpstr>
      <vt:lpstr>Fira Sans</vt:lpstr>
      <vt:lpstr>Office 主题​​</vt:lpstr>
      <vt:lpstr>搜索剪枝</vt:lpstr>
      <vt:lpstr>搜索剪枝</vt:lpstr>
      <vt:lpstr>P1120 小木棍 </vt:lpstr>
      <vt:lpstr>二叉堆</vt:lpstr>
      <vt:lpstr>二叉堆</vt:lpstr>
      <vt:lpstr>P3378 【模板】堆 </vt:lpstr>
      <vt:lpstr>优先队列</vt:lpstr>
      <vt:lpstr>P1168 中位数</vt:lpstr>
      <vt:lpstr>树状数组</vt:lpstr>
      <vt:lpstr>树状数组</vt:lpstr>
      <vt:lpstr>树状数组</vt:lpstr>
      <vt:lpstr>P3374 【模板】树状数组 1 </vt:lpstr>
      <vt:lpstr>P3368 【模板】树状数组 2 </vt:lpstr>
      <vt:lpstr>P1908 逆序对 </vt:lpstr>
      <vt:lpstr>P5677 [GZOI2017] 配对统计 </vt:lpstr>
      <vt:lpstr>树状数组</vt:lpstr>
      <vt:lpstr>线段树</vt:lpstr>
      <vt:lpstr>线段树</vt:lpstr>
      <vt:lpstr>线段树</vt:lpstr>
      <vt:lpstr>线段树</vt:lpstr>
      <vt:lpstr>PowerPoint 演示文稿</vt:lpstr>
      <vt:lpstr>PowerPoint 演示文稿</vt:lpstr>
      <vt:lpstr>P3372 【模板】线段树 1 </vt:lpstr>
      <vt:lpstr>P3373 【模板】线段树 2 </vt:lpstr>
      <vt:lpstr>P1438 无聊的数列 </vt:lpstr>
      <vt:lpstr>树</vt:lpstr>
      <vt:lpstr>树</vt:lpstr>
      <vt:lpstr>树的直径</vt:lpstr>
      <vt:lpstr>B4016 树的直径 </vt:lpstr>
      <vt:lpstr>树的中心</vt:lpstr>
      <vt:lpstr>树的重心</vt:lpstr>
      <vt:lpstr>P1395 会议 </vt:lpstr>
      <vt:lpstr>最近公共祖先(LCA)</vt:lpstr>
      <vt:lpstr>P3379 【模板】最近公共祖先（LCA） </vt:lpstr>
      <vt:lpstr>P3379 【模板】最近公共祖先（LCA） </vt:lpstr>
      <vt:lpstr>最近公共祖先(LCA)</vt:lpstr>
      <vt:lpstr>最近公共祖先(LCA)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杰恒 韦</dc:creator>
  <cp:lastModifiedBy>杰恒 韦</cp:lastModifiedBy>
  <cp:revision>14</cp:revision>
  <dcterms:created xsi:type="dcterms:W3CDTF">2025-04-24T14:47:03Z</dcterms:created>
  <dcterms:modified xsi:type="dcterms:W3CDTF">2025-04-25T08:21:43Z</dcterms:modified>
</cp:coreProperties>
</file>