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1" r:id="rId2"/>
  </p:sldMasterIdLst>
  <p:notesMasterIdLst>
    <p:notesMasterId r:id="rId64"/>
  </p:notesMasterIdLst>
  <p:handoutMasterIdLst>
    <p:handoutMasterId r:id="rId65"/>
  </p:handoutMasterIdLst>
  <p:sldIdLst>
    <p:sldId id="822" r:id="rId3"/>
    <p:sldId id="823" r:id="rId4"/>
    <p:sldId id="824" r:id="rId5"/>
    <p:sldId id="825" r:id="rId6"/>
    <p:sldId id="826" r:id="rId7"/>
    <p:sldId id="828" r:id="rId8"/>
    <p:sldId id="827" r:id="rId9"/>
    <p:sldId id="880" r:id="rId10"/>
    <p:sldId id="881" r:id="rId11"/>
    <p:sldId id="882" r:id="rId12"/>
    <p:sldId id="883" r:id="rId13"/>
    <p:sldId id="884" r:id="rId14"/>
    <p:sldId id="886" r:id="rId15"/>
    <p:sldId id="887" r:id="rId16"/>
    <p:sldId id="890" r:id="rId17"/>
    <p:sldId id="829" r:id="rId18"/>
    <p:sldId id="830" r:id="rId19"/>
    <p:sldId id="831" r:id="rId20"/>
    <p:sldId id="832" r:id="rId21"/>
    <p:sldId id="833" r:id="rId22"/>
    <p:sldId id="834" r:id="rId23"/>
    <p:sldId id="835" r:id="rId24"/>
    <p:sldId id="836" r:id="rId25"/>
    <p:sldId id="837" r:id="rId26"/>
    <p:sldId id="888" r:id="rId27"/>
    <p:sldId id="838" r:id="rId28"/>
    <p:sldId id="839" r:id="rId29"/>
    <p:sldId id="840" r:id="rId30"/>
    <p:sldId id="841" r:id="rId31"/>
    <p:sldId id="842" r:id="rId32"/>
    <p:sldId id="843" r:id="rId33"/>
    <p:sldId id="844" r:id="rId34"/>
    <p:sldId id="845" r:id="rId35"/>
    <p:sldId id="846" r:id="rId36"/>
    <p:sldId id="847" r:id="rId37"/>
    <p:sldId id="889" r:id="rId38"/>
    <p:sldId id="848" r:id="rId39"/>
    <p:sldId id="849" r:id="rId40"/>
    <p:sldId id="850" r:id="rId41"/>
    <p:sldId id="851" r:id="rId42"/>
    <p:sldId id="852" r:id="rId43"/>
    <p:sldId id="853" r:id="rId44"/>
    <p:sldId id="854" r:id="rId45"/>
    <p:sldId id="855" r:id="rId46"/>
    <p:sldId id="856" r:id="rId47"/>
    <p:sldId id="857" r:id="rId48"/>
    <p:sldId id="858" r:id="rId49"/>
    <p:sldId id="859" r:id="rId50"/>
    <p:sldId id="860" r:id="rId51"/>
    <p:sldId id="861" r:id="rId52"/>
    <p:sldId id="862" r:id="rId53"/>
    <p:sldId id="863" r:id="rId54"/>
    <p:sldId id="864" r:id="rId55"/>
    <p:sldId id="865" r:id="rId56"/>
    <p:sldId id="866" r:id="rId57"/>
    <p:sldId id="871" r:id="rId58"/>
    <p:sldId id="872" r:id="rId59"/>
    <p:sldId id="873" r:id="rId60"/>
    <p:sldId id="874" r:id="rId61"/>
    <p:sldId id="878" r:id="rId62"/>
    <p:sldId id="879" r:id="rId63"/>
  </p:sldIdLst>
  <p:sldSz cx="12192000" cy="6858000"/>
  <p:notesSz cx="9928225" cy="6797675"/>
  <p:defaultTextStyle>
    <a:defPPr>
      <a:defRPr lang="en-US"/>
    </a:defPPr>
    <a:lvl1pPr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1pPr>
    <a:lvl2pPr marL="4572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2pPr>
    <a:lvl3pPr marL="9144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3pPr>
    <a:lvl4pPr marL="13716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4pPr>
    <a:lvl5pPr marL="1828800" algn="l" rtl="0" fontAlgn="base">
      <a:spcBef>
        <a:spcPct val="0"/>
      </a:spcBef>
      <a:spcAft>
        <a:spcPct val="0"/>
      </a:spcAft>
      <a:defRPr sz="2000" b="1" kern="1200">
        <a:solidFill>
          <a:schemeClr val="bg1"/>
        </a:solidFill>
        <a:latin typeface="FrutigerNext LT Regular"/>
        <a:ea typeface="幼圆" panose="02010509060101010101" pitchFamily="49" charset="-122"/>
        <a:cs typeface="Times New Roman" panose="02020603050405020304" pitchFamily="18" charset="0"/>
      </a:defRPr>
    </a:lvl5pPr>
    <a:lvl6pPr marL="22860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6pPr>
    <a:lvl7pPr marL="27432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7pPr>
    <a:lvl8pPr marL="32004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8pPr>
    <a:lvl9pPr marL="3657600" algn="l" defTabSz="914400" rtl="0" eaLnBrk="1" latinLnBrk="0" hangingPunct="1">
      <a:defRPr sz="2000" b="1" kern="1200">
        <a:solidFill>
          <a:schemeClr val="bg1"/>
        </a:solidFill>
        <a:latin typeface="FrutigerNext LT Regular"/>
        <a:ea typeface="幼圆" panose="02010509060101010101" pitchFamily="49" charset="-122"/>
        <a:cs typeface="Times New Roman" panose="02020603050405020304" pitchFamily="18" charset="0"/>
      </a:defRPr>
    </a:lvl9pPr>
  </p:defaultTextStyle>
  <p:extLst>
    <p:ext uri="{EFAFB233-063F-42B5-8137-9DF3F51BA10A}">
      <p15:sldGuideLst xmlns:p15="http://schemas.microsoft.com/office/powerpoint/2012/main">
        <p15:guide id="1" orient="horz" pos="717" userDrawn="1">
          <p15:clr>
            <a:srgbClr val="A4A3A4"/>
          </p15:clr>
        </p15:guide>
        <p15:guide id="2" pos="633" userDrawn="1">
          <p15:clr>
            <a:srgbClr val="A4A3A4"/>
          </p15:clr>
        </p15:guide>
      </p15:sldGuideLst>
    </p:ext>
    <p:ext uri="{2D200454-40CA-4A62-9FC3-DE9A4176ACB9}">
      <p15:notesGuideLst xmlns:p15="http://schemas.microsoft.com/office/powerpoint/2012/main">
        <p15:guide id="1" orient="horz" pos="214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CCCC"/>
    <a:srgbClr val="3333FF"/>
    <a:srgbClr val="FFFF00"/>
    <a:srgbClr val="CC00CC"/>
    <a:srgbClr val="FF00FF"/>
    <a:srgbClr val="FF99CC"/>
    <a:srgbClr val="993366"/>
    <a:srgbClr val="FF0000"/>
    <a:srgbClr val="CC00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5" autoAdjust="0"/>
    <p:restoredTop sz="93850" autoAdjust="0"/>
  </p:normalViewPr>
  <p:slideViewPr>
    <p:cSldViewPr snapToObjects="1">
      <p:cViewPr varScale="1">
        <p:scale>
          <a:sx n="95" d="100"/>
          <a:sy n="95" d="100"/>
        </p:scale>
        <p:origin x="54" y="141"/>
      </p:cViewPr>
      <p:guideLst>
        <p:guide orient="horz" pos="717"/>
        <p:guide pos="633"/>
      </p:guideLst>
    </p:cSldViewPr>
  </p:slideViewPr>
  <p:outlineViewPr>
    <p:cViewPr>
      <p:scale>
        <a:sx n="33" d="100"/>
        <a:sy n="33" d="100"/>
      </p:scale>
      <p:origin x="0" y="10445"/>
    </p:cViewPr>
  </p:outlineViewPr>
  <p:notesTextViewPr>
    <p:cViewPr>
      <p:scale>
        <a:sx n="3" d="2"/>
        <a:sy n="3" d="2"/>
      </p:scale>
      <p:origin x="0" y="0"/>
    </p:cViewPr>
  </p:notesTextViewPr>
  <p:sorterViewPr>
    <p:cViewPr>
      <p:scale>
        <a:sx n="66" d="100"/>
        <a:sy n="66" d="100"/>
      </p:scale>
      <p:origin x="0" y="0"/>
    </p:cViewPr>
  </p:sorterViewPr>
  <p:notesViewPr>
    <p:cSldViewPr snapToObjects="1">
      <p:cViewPr varScale="1">
        <p:scale>
          <a:sx n="72" d="100"/>
          <a:sy n="72" d="100"/>
        </p:scale>
        <p:origin x="1464" y="60"/>
      </p:cViewPr>
      <p:guideLst>
        <p:guide orient="horz" pos="2141"/>
        <p:guide pos="3127"/>
      </p:guideLst>
    </p:cSldViewPr>
  </p:notesViewPr>
  <p:gridSpacing cx="152705" cy="1527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5218" name="Rectangle 2"/>
          <p:cNvSpPr>
            <a:spLocks noGrp="1" noChangeArrowheads="1"/>
          </p:cNvSpPr>
          <p:nvPr>
            <p:ph type="hdr" sz="quarter"/>
          </p:nvPr>
        </p:nvSpPr>
        <p:spPr bwMode="auto">
          <a:xfrm>
            <a:off x="0" y="0"/>
            <a:ext cx="4302125" cy="339725"/>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b="0">
                <a:ea typeface="宋体" panose="02010600030101010101" pitchFamily="2" charset="-122"/>
                <a:cs typeface="+mn-cs"/>
              </a:defRPr>
            </a:lvl1pPr>
          </a:lstStyle>
          <a:p>
            <a:pPr>
              <a:defRPr/>
            </a:pPr>
            <a:endParaRPr lang="zh-CN" altLang="en-US"/>
          </a:p>
        </p:txBody>
      </p:sp>
      <p:sp>
        <p:nvSpPr>
          <p:cNvPr id="265219" name="Rectangle 3"/>
          <p:cNvSpPr>
            <a:spLocks noGrp="1" noChangeArrowheads="1"/>
          </p:cNvSpPr>
          <p:nvPr>
            <p:ph type="dt" sz="quarter" idx="1"/>
          </p:nvPr>
        </p:nvSpPr>
        <p:spPr bwMode="auto">
          <a:xfrm>
            <a:off x="5624513" y="0"/>
            <a:ext cx="4302125" cy="339725"/>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b="0">
                <a:ea typeface="宋体" panose="02010600030101010101" pitchFamily="2" charset="-122"/>
                <a:cs typeface="+mn-cs"/>
              </a:defRPr>
            </a:lvl1pPr>
          </a:lstStyle>
          <a:p>
            <a:pPr>
              <a:defRPr/>
            </a:pPr>
            <a:fld id="{EE6993DC-483A-45AC-9156-0752343CED43}" type="datetimeFigureOut">
              <a:rPr lang="zh-CN" altLang="en-US"/>
              <a:t>2024/12/27</a:t>
            </a:fld>
            <a:endParaRPr lang="en-US" altLang="zh-CN"/>
          </a:p>
        </p:txBody>
      </p:sp>
      <p:sp>
        <p:nvSpPr>
          <p:cNvPr id="265220" name="Rectangle 4"/>
          <p:cNvSpPr>
            <a:spLocks noGrp="1" noChangeArrowheads="1"/>
          </p:cNvSpPr>
          <p:nvPr>
            <p:ph type="ftr" sz="quarter" idx="2"/>
          </p:nvPr>
        </p:nvSpPr>
        <p:spPr bwMode="auto">
          <a:xfrm>
            <a:off x="0" y="6456363"/>
            <a:ext cx="4302125" cy="339725"/>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b="0">
                <a:ea typeface="宋体" panose="02010600030101010101" pitchFamily="2" charset="-122"/>
                <a:cs typeface="+mn-cs"/>
              </a:defRPr>
            </a:lvl1pPr>
          </a:lstStyle>
          <a:p>
            <a:pPr>
              <a:defRPr/>
            </a:pPr>
            <a:endParaRPr lang="en-US" altLang="zh-CN"/>
          </a:p>
        </p:txBody>
      </p:sp>
      <p:sp>
        <p:nvSpPr>
          <p:cNvPr id="265221" name="Rectangle 5"/>
          <p:cNvSpPr>
            <a:spLocks noGrp="1" noChangeArrowheads="1"/>
          </p:cNvSpPr>
          <p:nvPr>
            <p:ph type="sldNum" sz="quarter" idx="3"/>
          </p:nvPr>
        </p:nvSpPr>
        <p:spPr bwMode="auto">
          <a:xfrm>
            <a:off x="5624513" y="6456363"/>
            <a:ext cx="4302125" cy="339725"/>
          </a:xfrm>
          <a:prstGeom prst="rect">
            <a:avLst/>
          </a:prstGeom>
          <a:noFill/>
          <a:ln w="9525">
            <a:noFill/>
            <a:miter lim="800000"/>
          </a:ln>
          <a:effectLst/>
        </p:spPr>
        <p:txBody>
          <a:bodyPr vert="horz" wrap="square" lIns="91440" tIns="45720" rIns="91440" bIns="45720" numCol="1" anchor="b" anchorCtr="0" compatLnSpc="1"/>
          <a:lstStyle>
            <a:lvl1pPr algn="r" eaLnBrk="0" hangingPunct="0">
              <a:defRPr sz="1200" b="0">
                <a:ea typeface="宋体" panose="02010600030101010101" pitchFamily="2" charset="-122"/>
              </a:defRPr>
            </a:lvl1pPr>
          </a:lstStyle>
          <a:p>
            <a:fld id="{D75B2E05-0253-43DA-BFE4-F260377C2325}"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302125" cy="339725"/>
          </a:xfrm>
          <a:prstGeom prst="rect">
            <a:avLst/>
          </a:prstGeom>
          <a:noFill/>
          <a:ln w="9525">
            <a:noFill/>
            <a:miter lim="800000"/>
          </a:ln>
        </p:spPr>
        <p:txBody>
          <a:bodyPr vert="horz" wrap="square" lIns="91440" tIns="45720" rIns="91440" bIns="45720" numCol="1" anchor="t" anchorCtr="0" compatLnSpc="1"/>
          <a:lstStyle>
            <a:lvl1pP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3075" name="Rectangle 3"/>
          <p:cNvSpPr>
            <a:spLocks noGrp="1" noChangeArrowheads="1"/>
          </p:cNvSpPr>
          <p:nvPr>
            <p:ph type="dt" idx="1"/>
          </p:nvPr>
        </p:nvSpPr>
        <p:spPr bwMode="auto">
          <a:xfrm>
            <a:off x="5626100" y="0"/>
            <a:ext cx="4302125" cy="339725"/>
          </a:xfrm>
          <a:prstGeom prst="rect">
            <a:avLst/>
          </a:prstGeom>
          <a:noFill/>
          <a:ln w="9525">
            <a:noFill/>
            <a:miter lim="800000"/>
          </a:ln>
        </p:spPr>
        <p:txBody>
          <a:bodyPr vert="horz" wrap="square" lIns="91440" tIns="45720" rIns="91440" bIns="45720" numCol="1" anchor="t" anchorCtr="0" compatLnSpc="1"/>
          <a:lstStyle>
            <a:lvl1pPr algn="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49156" name="Rectangle 4"/>
          <p:cNvSpPr>
            <a:spLocks noGrp="1" noRot="1" noChangeAspect="1" noChangeArrowheads="1" noTextEdit="1"/>
          </p:cNvSpPr>
          <p:nvPr>
            <p:ph type="sldImg" idx="2"/>
          </p:nvPr>
        </p:nvSpPr>
        <p:spPr bwMode="auto">
          <a:xfrm>
            <a:off x="2698750" y="509588"/>
            <a:ext cx="4532313" cy="25495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1323975" y="3228975"/>
            <a:ext cx="7280275" cy="3059113"/>
          </a:xfrm>
          <a:prstGeom prst="rect">
            <a:avLst/>
          </a:prstGeom>
          <a:noFill/>
          <a:ln w="9525">
            <a:noFill/>
            <a:miter lim="800000"/>
          </a:ln>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p:cNvSpPr>
            <a:spLocks noGrp="1" noChangeArrowheads="1"/>
          </p:cNvSpPr>
          <p:nvPr>
            <p:ph type="ftr" sz="quarter" idx="4"/>
          </p:nvPr>
        </p:nvSpPr>
        <p:spPr bwMode="auto">
          <a:xfrm>
            <a:off x="0" y="6457950"/>
            <a:ext cx="4302125" cy="339725"/>
          </a:xfrm>
          <a:prstGeom prst="rect">
            <a:avLst/>
          </a:prstGeom>
          <a:noFill/>
          <a:ln w="9525">
            <a:noFill/>
            <a:miter lim="800000"/>
          </a:ln>
        </p:spPr>
        <p:txBody>
          <a:bodyPr vert="horz" wrap="square" lIns="91440" tIns="45720" rIns="91440" bIns="45720" numCol="1" anchor="b" anchorCtr="0" compatLnSpc="1"/>
          <a:lstStyle>
            <a:lvl1pPr eaLnBrk="0" hangingPunct="0">
              <a:defRPr sz="1200" b="0">
                <a:solidFill>
                  <a:schemeClr val="tx1"/>
                </a:solidFill>
                <a:latin typeface="Arial" panose="020B0604020202020204" pitchFamily="34" charset="0"/>
                <a:ea typeface="MS PGothic" panose="020B0600070205080204" pitchFamily="34" charset="-128"/>
                <a:cs typeface="+mn-cs"/>
              </a:defRPr>
            </a:lvl1pPr>
          </a:lstStyle>
          <a:p>
            <a:pPr>
              <a:defRPr/>
            </a:pPr>
            <a:endParaRPr lang="en-US" altLang="zh-CN"/>
          </a:p>
        </p:txBody>
      </p:sp>
      <p:sp>
        <p:nvSpPr>
          <p:cNvPr id="3079" name="Rectangle 7"/>
          <p:cNvSpPr>
            <a:spLocks noGrp="1" noChangeArrowheads="1"/>
          </p:cNvSpPr>
          <p:nvPr>
            <p:ph type="sldNum" sz="quarter" idx="5"/>
          </p:nvPr>
        </p:nvSpPr>
        <p:spPr bwMode="auto">
          <a:xfrm>
            <a:off x="5626100" y="6457950"/>
            <a:ext cx="4302125" cy="339725"/>
          </a:xfrm>
          <a:prstGeom prst="rect">
            <a:avLst/>
          </a:prstGeom>
          <a:noFill/>
          <a:ln w="9525">
            <a:noFill/>
            <a:miter lim="800000"/>
          </a:ln>
        </p:spPr>
        <p:txBody>
          <a:bodyPr vert="horz" wrap="square" lIns="91440" tIns="45720" rIns="91440" bIns="45720" numCol="1" anchor="b" anchorCtr="0" compatLnSpc="1"/>
          <a:lstStyle>
            <a:lvl1pPr algn="r" eaLnBrk="0" hangingPunct="0">
              <a:defRPr sz="1200" b="0">
                <a:solidFill>
                  <a:schemeClr val="tx1"/>
                </a:solidFill>
                <a:latin typeface="Arial" panose="020B0604020202020204" pitchFamily="34" charset="0"/>
                <a:ea typeface="MS PGothic" panose="020B0600070205080204" pitchFamily="34" charset="-128"/>
              </a:defRPr>
            </a:lvl1pPr>
          </a:lstStyle>
          <a:p>
            <a:fld id="{D7BAAFD8-8AF5-4807-BA38-874513E93B2C}"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90289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565038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52683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6468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879912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E55D2-C79C-16A3-DAA6-B9A338159BC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C6EE72EA-3649-18C0-D45A-9AE0189146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95138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B338-8FC6-82CB-775E-DA6B866A7E4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D26F259C-CB57-C086-C94E-CD53EC26CB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9387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F1903-905A-5B45-A182-EBD160DC6A3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BED5DA8-7F4F-0B4A-30A5-568BA5FAED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82073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94233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621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94932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4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7"/>
          <p:cNvSpPr>
            <a:spLocks noGrp="1" noChangeArrowheads="1"/>
          </p:cNvSpPr>
          <p:nvPr>
            <p:ph type="dt" sz="half" idx="10"/>
          </p:nvPr>
        </p:nvSpPr>
        <p:spPr/>
        <p:txBody>
          <a:bodyPr/>
          <a:lstStyle>
            <a:lvl1pPr>
              <a:defRPr/>
            </a:lvl1pPr>
          </a:lstStyle>
          <a:p>
            <a:pPr>
              <a:defRPr/>
            </a:pPr>
            <a:fld id="{A9128C1D-ED0B-46A0-B654-5C42AE75CA98}" type="datetime1">
              <a:rPr lang="en-US" altLang="zh-CN" smtClean="0"/>
              <a:t>12/27/2024</a:t>
            </a:fld>
            <a:endParaRPr lang="zh-CN" altLang="en-US"/>
          </a:p>
        </p:txBody>
      </p:sp>
      <p:sp>
        <p:nvSpPr>
          <p:cNvPr id="5" name="Rectangle 9"/>
          <p:cNvSpPr>
            <a:spLocks noGrp="1" noChangeArrowheads="1"/>
          </p:cNvSpPr>
          <p:nvPr>
            <p:ph type="sldNum" sz="quarter" idx="11"/>
          </p:nvPr>
        </p:nvSpPr>
        <p:spPr/>
        <p:txBody>
          <a:bodyPr/>
          <a:lstStyle>
            <a:lvl1pPr>
              <a:defRPr/>
            </a:lvl1pPr>
          </a:lstStyle>
          <a:p>
            <a:fld id="{F5C97F9A-45AD-4498-B856-5AF780781397}" type="slidenum">
              <a:rPr lang="zh-CN" altLang="en-US"/>
              <a:t>‹#›</a:t>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54542" y="755185"/>
            <a:ext cx="12814300" cy="957263"/>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pPr>
              <a:defRPr/>
            </a:pPr>
            <a:fld id="{1672A0A0-4373-49D9-BA24-389BB7432E15}" type="datetime1">
              <a:rPr lang="en-US" altLang="zh-CN" smtClean="0"/>
              <a:t>12/27/2024</a:t>
            </a:fld>
            <a:endParaRPr lang="zh-CN" altLang="en-US"/>
          </a:p>
        </p:txBody>
      </p:sp>
      <p:sp>
        <p:nvSpPr>
          <p:cNvPr id="5" name="Rectangle 9"/>
          <p:cNvSpPr>
            <a:spLocks noGrp="1" noChangeArrowheads="1"/>
          </p:cNvSpPr>
          <p:nvPr>
            <p:ph type="sldNum" sz="quarter" idx="11"/>
          </p:nvPr>
        </p:nvSpPr>
        <p:spPr/>
        <p:txBody>
          <a:bodyPr/>
          <a:lstStyle>
            <a:lvl1pPr>
              <a:defRPr sz="2000">
                <a:latin typeface="Times New Roman" panose="02020603050405020304" pitchFamily="18" charset="0"/>
                <a:cs typeface="Times New Roman" panose="02020603050405020304" pitchFamily="18" charset="0"/>
              </a:defRPr>
            </a:lvl1pPr>
          </a:lstStyle>
          <a:p>
            <a:fld id="{EB7C6F6D-FFA8-468C-AF6A-CB4C27E2EEF8}" type="slidenum">
              <a:rPr lang="zh-CN" altLang="en-US" smtClean="0"/>
              <a:t>‹#›</a:t>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2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p:cNvSpPr>
            <a:spLocks noGrp="1" noChangeArrowheads="1"/>
          </p:cNvSpPr>
          <p:nvPr>
            <p:ph type="dt" sz="half" idx="10"/>
          </p:nvPr>
        </p:nvSpPr>
        <p:spPr/>
        <p:txBody>
          <a:bodyPr/>
          <a:lstStyle>
            <a:lvl1pPr>
              <a:defRPr/>
            </a:lvl1pPr>
          </a:lstStyle>
          <a:p>
            <a:pPr>
              <a:defRPr/>
            </a:pPr>
            <a:fld id="{FBCED250-6496-4FC0-83A4-45E3486A542A}" type="datetime1">
              <a:rPr lang="en-US" altLang="zh-CN" smtClean="0"/>
              <a:t>12/27/2024</a:t>
            </a:fld>
            <a:endParaRPr lang="zh-CN" altLang="en-US"/>
          </a:p>
        </p:txBody>
      </p:sp>
      <p:sp>
        <p:nvSpPr>
          <p:cNvPr id="5" name="Rectangle 9"/>
          <p:cNvSpPr>
            <a:spLocks noGrp="1" noChangeArrowheads="1"/>
          </p:cNvSpPr>
          <p:nvPr>
            <p:ph type="sldNum" sz="quarter" idx="11"/>
          </p:nvPr>
        </p:nvSpPr>
        <p:spPr/>
        <p:txBody>
          <a:bodyPr/>
          <a:lstStyle>
            <a:lvl1pPr>
              <a:defRPr/>
            </a:lvl1pPr>
          </a:lstStyle>
          <a:p>
            <a:fld id="{EC9360B5-64CB-46AB-9803-AA3C34914FFA}" type="slidenum">
              <a:rPr lang="zh-CN" altLang="en-US"/>
              <a:t>‹#›</a:t>
            </a:fld>
            <a:endParaRPr lang="en-US" altLang="zh-CN"/>
          </a:p>
        </p:txBody>
      </p:sp>
      <p:sp>
        <p:nvSpPr>
          <p:cNvPr id="6" name="Rectangle 8"/>
          <p:cNvSpPr>
            <a:spLocks noGrp="1" noChangeArrowheads="1"/>
          </p:cNvSpPr>
          <p:nvPr>
            <p:ph type="ftr" sz="quarter" idx="12"/>
          </p:nvPr>
        </p:nvSpPr>
        <p:spPr/>
        <p:txBody>
          <a:bodyPr/>
          <a:lstStyle>
            <a:lvl1pPr>
              <a:defRPr/>
            </a:lvl1pPr>
          </a:lstStyle>
          <a:p>
            <a:pPr>
              <a:defRPr/>
            </a:pP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8" y="1484313"/>
            <a:ext cx="532553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53165" y="1484313"/>
            <a:ext cx="5327649"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p:txBody>
          <a:bodyPr/>
          <a:lstStyle>
            <a:lvl1pPr>
              <a:defRPr/>
            </a:lvl1pPr>
          </a:lstStyle>
          <a:p>
            <a:pPr>
              <a:defRPr/>
            </a:pPr>
            <a:fld id="{B0AD5490-7D55-471A-81B5-0774564F5794}" type="datetime1">
              <a:rPr lang="en-US" altLang="zh-CN" smtClean="0"/>
              <a:t>12/27/2024</a:t>
            </a:fld>
            <a:endParaRPr lang="zh-CN" altLang="en-US"/>
          </a:p>
        </p:txBody>
      </p:sp>
      <p:sp>
        <p:nvSpPr>
          <p:cNvPr id="6" name="Rectangle 9"/>
          <p:cNvSpPr>
            <a:spLocks noGrp="1" noChangeArrowheads="1"/>
          </p:cNvSpPr>
          <p:nvPr>
            <p:ph type="sldNum" sz="quarter" idx="11"/>
          </p:nvPr>
        </p:nvSpPr>
        <p:spPr/>
        <p:txBody>
          <a:bodyPr/>
          <a:lstStyle>
            <a:lvl1pPr>
              <a:defRPr/>
            </a:lvl1pPr>
          </a:lstStyle>
          <a:p>
            <a:fld id="{DD472664-DEE8-44BA-AEBC-3D1BBFC236F8}" type="slidenum">
              <a:rPr lang="zh-CN" altLang="en-US"/>
              <a:t>‹#›</a:t>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13"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81"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81"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p:txBody>
          <a:bodyPr/>
          <a:lstStyle>
            <a:lvl1pPr>
              <a:defRPr/>
            </a:lvl1pPr>
          </a:lstStyle>
          <a:p>
            <a:pPr>
              <a:defRPr/>
            </a:pPr>
            <a:fld id="{1F5E69C6-574A-4198-BB1C-82EEBF2E1801}" type="datetime1">
              <a:rPr lang="en-US" altLang="zh-CN" smtClean="0"/>
              <a:t>12/27/2024</a:t>
            </a:fld>
            <a:endParaRPr lang="zh-CN" altLang="en-US"/>
          </a:p>
        </p:txBody>
      </p:sp>
      <p:sp>
        <p:nvSpPr>
          <p:cNvPr id="8" name="Rectangle 9"/>
          <p:cNvSpPr>
            <a:spLocks noGrp="1" noChangeArrowheads="1"/>
          </p:cNvSpPr>
          <p:nvPr>
            <p:ph type="sldNum" sz="quarter" idx="11"/>
          </p:nvPr>
        </p:nvSpPr>
        <p:spPr/>
        <p:txBody>
          <a:bodyPr/>
          <a:lstStyle>
            <a:lvl1pPr>
              <a:defRPr/>
            </a:lvl1pPr>
          </a:lstStyle>
          <a:p>
            <a:fld id="{AF32095A-B3D4-4519-AA8C-1D2FCF3507E2}" type="slidenum">
              <a:rPr lang="zh-CN" altLang="en-US"/>
              <a:t>‹#›</a:t>
            </a:fld>
            <a:endParaRPr lang="en-US" altLang="zh-CN"/>
          </a:p>
        </p:txBody>
      </p:sp>
      <p:sp>
        <p:nvSpPr>
          <p:cNvPr id="9" name="Rectangle 8"/>
          <p:cNvSpPr>
            <a:spLocks noGrp="1" noChangeArrowheads="1"/>
          </p:cNvSpPr>
          <p:nvPr>
            <p:ph type="ftr" sz="quarter" idx="12"/>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Rectangle 9"/>
          <p:cNvSpPr>
            <a:spLocks noGrp="1" noChangeArrowheads="1"/>
          </p:cNvSpPr>
          <p:nvPr>
            <p:ph type="sldNum" sz="quarter" idx="11"/>
          </p:nvPr>
        </p:nvSpPr>
        <p:spPr/>
        <p:txBody>
          <a:bodyPr/>
          <a:lstStyle>
            <a:lvl1pPr>
              <a:defRPr/>
            </a:lvl1pPr>
          </a:lstStyle>
          <a:p>
            <a:fld id="{64CB864B-4EF4-4434-BB60-762C23849B52}" type="slidenum">
              <a:rPr lang="zh-CN" altLang="en-US"/>
              <a:t>‹#›</a:t>
            </a:fld>
            <a:endParaRPr lang="en-US" altLang="zh-CN"/>
          </a:p>
        </p:txBody>
      </p:sp>
      <p:sp>
        <p:nvSpPr>
          <p:cNvPr id="5" name="Rectangle 8"/>
          <p:cNvSpPr>
            <a:spLocks noGrp="1" noChangeArrowheads="1"/>
          </p:cNvSpPr>
          <p:nvPr>
            <p:ph type="ftr" sz="quarter" idx="12"/>
          </p:nvPr>
        </p:nvSpPr>
        <p:spPr/>
        <p:txBody>
          <a:bodyPr/>
          <a:lstStyle>
            <a:lvl1pPr>
              <a:defRPr/>
            </a:lvl1pPr>
          </a:lstStyle>
          <a:p>
            <a:pPr>
              <a:defRPr/>
            </a:pPr>
            <a:endParaRPr lang="zh-CN" altLang="en-US"/>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9"/>
          <p:cNvSpPr>
            <a:spLocks noGrp="1" noChangeArrowheads="1"/>
          </p:cNvSpPr>
          <p:nvPr>
            <p:ph type="sldNum" sz="quarter" idx="11"/>
          </p:nvPr>
        </p:nvSpPr>
        <p:spPr/>
        <p:txBody>
          <a:bodyPr/>
          <a:lstStyle>
            <a:lvl1pPr>
              <a:defRPr/>
            </a:lvl1pPr>
          </a:lstStyle>
          <a:p>
            <a:fld id="{217794D7-36C4-4E93-AE7A-0CAF6AF174FC}" type="slidenum">
              <a:rPr lang="zh-CN" altLang="en-US"/>
              <a:t>‹#›</a:t>
            </a:fld>
            <a:endParaRPr lang="en-US" altLang="zh-CN"/>
          </a:p>
        </p:txBody>
      </p:sp>
      <p:sp>
        <p:nvSpPr>
          <p:cNvPr id="4" name="Rectangle 8"/>
          <p:cNvSpPr>
            <a:spLocks noGrp="1" noChangeArrowheads="1"/>
          </p:cNvSpPr>
          <p:nvPr>
            <p:ph type="ftr" sz="quarter" idx="12"/>
          </p:nvPr>
        </p:nvSpPr>
        <p:spPr/>
        <p:txBody>
          <a:bodyPr/>
          <a:lstStyle>
            <a:lvl1pPr>
              <a:defRPr/>
            </a:lvl1pPr>
          </a:lstStyle>
          <a:p>
            <a:pPr>
              <a:defRPr/>
            </a:pPr>
            <a:endParaRPr lang="zh-CN" alt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14"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6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14"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49EE952D-61FE-44C1-96ED-14749303448E}" type="datetime1">
              <a:rPr lang="en-US" altLang="zh-CN" smtClean="0"/>
              <a:t>12/27/2024</a:t>
            </a:fld>
            <a:endParaRPr lang="zh-CN" altLang="en-US"/>
          </a:p>
        </p:txBody>
      </p:sp>
      <p:sp>
        <p:nvSpPr>
          <p:cNvPr id="6" name="Rectangle 9"/>
          <p:cNvSpPr>
            <a:spLocks noGrp="1" noChangeArrowheads="1"/>
          </p:cNvSpPr>
          <p:nvPr>
            <p:ph type="sldNum" sz="quarter" idx="11"/>
          </p:nvPr>
        </p:nvSpPr>
        <p:spPr/>
        <p:txBody>
          <a:bodyPr/>
          <a:lstStyle>
            <a:lvl1pPr>
              <a:defRPr/>
            </a:lvl1pPr>
          </a:lstStyle>
          <a:p>
            <a:fld id="{58BF02F4-5381-4EAA-94F3-16972E022FEE}" type="slidenum">
              <a:rPr lang="zh-CN" altLang="en-US"/>
              <a:t>‹#›</a:t>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pPr>
              <a:defRPr/>
            </a:pPr>
            <a:fld id="{5C1FC57A-25E6-407B-AEED-71D456720CA2}" type="datetime1">
              <a:rPr lang="en-US" altLang="zh-CN" smtClean="0"/>
              <a:t>12/27/2024</a:t>
            </a:fld>
            <a:endParaRPr lang="zh-CN" altLang="en-US"/>
          </a:p>
        </p:txBody>
      </p:sp>
      <p:sp>
        <p:nvSpPr>
          <p:cNvPr id="6" name="Rectangle 9"/>
          <p:cNvSpPr>
            <a:spLocks noGrp="1" noChangeArrowheads="1"/>
          </p:cNvSpPr>
          <p:nvPr>
            <p:ph type="sldNum" sz="quarter" idx="11"/>
          </p:nvPr>
        </p:nvSpPr>
        <p:spPr/>
        <p:txBody>
          <a:bodyPr/>
          <a:lstStyle>
            <a:lvl1pPr>
              <a:defRPr/>
            </a:lvl1pPr>
          </a:lstStyle>
          <a:p>
            <a:fld id="{FC47EF18-B5BF-468C-8E72-DE6319A52F22}" type="slidenum">
              <a:rPr lang="zh-CN" altLang="en-US"/>
              <a:t>‹#›</a:t>
            </a:fld>
            <a:endParaRPr lang="en-US" altLang="zh-CN"/>
          </a:p>
        </p:txBody>
      </p:sp>
      <p:sp>
        <p:nvSpPr>
          <p:cNvPr id="7" name="Rectangle 8"/>
          <p:cNvSpPr>
            <a:spLocks noGrp="1" noChangeArrowheads="1"/>
          </p:cNvSpPr>
          <p:nvPr>
            <p:ph type="ftr" sz="quarter" idx="12"/>
          </p:nvPr>
        </p:nvSpPr>
        <p:spPr/>
        <p:txBody>
          <a:bodyPr/>
          <a:lstStyle>
            <a:lvl1pPr>
              <a:defRPr/>
            </a:lvl1pPr>
          </a:lstStyle>
          <a:p>
            <a:pPr>
              <a:defRPr/>
            </a:pP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48" y="18896"/>
            <a:ext cx="1289099" cy="96682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319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12192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2"/>
          <p:cNvSpPr>
            <a:spLocks noChangeArrowheads="1"/>
          </p:cNvSpPr>
          <p:nvPr userDrawn="1"/>
        </p:nvSpPr>
        <p:spPr bwMode="gray">
          <a:xfrm>
            <a:off x="0" y="2590800"/>
            <a:ext cx="12192000" cy="1066800"/>
          </a:xfrm>
          <a:prstGeom prst="rect">
            <a:avLst/>
          </a:prstGeom>
          <a:gradFill rotWithShape="1">
            <a:gsLst>
              <a:gs pos="14000">
                <a:srgbClr val="3191D3"/>
              </a:gs>
              <a:gs pos="94000">
                <a:srgbClr val="0099CC"/>
              </a:gs>
            </a:gsLst>
            <a:lin ang="5400000" scaled="1"/>
          </a:gra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3" name="Line 26"/>
          <p:cNvSpPr>
            <a:spLocks noChangeShapeType="1"/>
          </p:cNvSpPr>
          <p:nvPr userDrawn="1"/>
        </p:nvSpPr>
        <p:spPr bwMode="auto">
          <a:xfrm>
            <a:off x="0" y="36576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4" name="Line 27"/>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5" name="Rectangle 29"/>
          <p:cNvSpPr>
            <a:spLocks noChangeArrowheads="1"/>
          </p:cNvSpPr>
          <p:nvPr userDrawn="1"/>
        </p:nvSpPr>
        <p:spPr bwMode="gray">
          <a:xfrm>
            <a:off x="1" y="0"/>
            <a:ext cx="12189884" cy="1447800"/>
          </a:xfrm>
          <a:prstGeom prst="rect">
            <a:avLst/>
          </a:prstGeom>
          <a:gradFill rotWithShape="1">
            <a:gsLst>
              <a:gs pos="0">
                <a:srgbClr val="81CFEB">
                  <a:alpha val="19000"/>
                </a:srgbClr>
              </a:gs>
              <a:gs pos="100000">
                <a:srgbClr val="81CFEB">
                  <a:gamma/>
                  <a:tint val="0"/>
                  <a:invGamma/>
                </a:srgbClr>
              </a:gs>
            </a:gsLst>
            <a:lin ang="5400000" scaled="1"/>
          </a:gradFill>
          <a:ln w="0" algn="ctr">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6" name="Rectangle 33"/>
          <p:cNvSpPr>
            <a:spLocks noChangeArrowheads="1"/>
          </p:cNvSpPr>
          <p:nvPr userDrawn="1"/>
        </p:nvSpPr>
        <p:spPr bwMode="auto">
          <a:xfrm>
            <a:off x="0" y="1447800"/>
            <a:ext cx="12192000" cy="1143000"/>
          </a:xfrm>
          <a:prstGeom prst="rect">
            <a:avLst/>
          </a:prstGeom>
          <a:solidFill>
            <a:srgbClr val="FFFFFF"/>
          </a:soli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8" name="Line 34"/>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9" name="Rectangle 4"/>
          <p:cNvSpPr>
            <a:spLocks noGrp="1" noChangeArrowheads="1"/>
          </p:cNvSpPr>
          <p:nvPr>
            <p:ph type="dt" sz="half" idx="2"/>
          </p:nvPr>
        </p:nvSpPr>
        <p:spPr>
          <a:xfrm>
            <a:off x="609600" y="6245225"/>
            <a:ext cx="2844800" cy="476250"/>
          </a:xfrm>
          <a:noFill/>
          <a:ln>
            <a:miter lim="800000"/>
          </a:ln>
        </p:spPr>
        <p:txBody>
          <a:bodyPr/>
          <a:lstStyle>
            <a:lvl1pPr>
              <a:defRPr/>
            </a:lvl1pPr>
          </a:lstStyle>
          <a:p>
            <a:fld id="{A824FA6D-2D6D-4047-9193-6333380C8E92}" type="datetime1">
              <a:rPr lang="en-US" altLang="zh-CN" smtClean="0"/>
              <a:t>12/27/2024</a:t>
            </a:fld>
            <a:endParaRPr lang="en-US" altLang="zh-CN"/>
          </a:p>
        </p:txBody>
      </p:sp>
      <p:sp>
        <p:nvSpPr>
          <p:cNvPr id="40"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lgn="ctr">
              <a:defRPr sz="1400" b="0">
                <a:ea typeface="宋体" panose="02010600030101010101" pitchFamily="2" charset="-122"/>
              </a:defRPr>
            </a:lvl1pPr>
          </a:lstStyle>
          <a:p>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219200" y="381001"/>
            <a:ext cx="8940800" cy="563563"/>
          </a:xfrm>
        </p:spPr>
        <p:txBody>
          <a:bodyPr/>
          <a:lstStyle/>
          <a:p>
            <a:r>
              <a:rPr lang="zh-CN" altLang="en-US"/>
              <a:t>单击此处编辑母版标题样式</a:t>
            </a:r>
          </a:p>
        </p:txBody>
      </p:sp>
      <p:sp>
        <p:nvSpPr>
          <p:cNvPr id="3" name="SmartArt 占位符 2"/>
          <p:cNvSpPr>
            <a:spLocks noGrp="1"/>
          </p:cNvSpPr>
          <p:nvPr>
            <p:ph type="pic" idx="1"/>
          </p:nvPr>
        </p:nvSpPr>
        <p:spPr>
          <a:xfrm>
            <a:off x="508000" y="1066801"/>
            <a:ext cx="10972800" cy="5400675"/>
          </a:xfrm>
        </p:spPr>
        <p:txBody>
          <a:bodyPr/>
          <a:lstStyle/>
          <a:p>
            <a:endParaRPr lang="zh-CN" altLang="en-US"/>
          </a:p>
        </p:txBody>
      </p:sp>
      <p:sp>
        <p:nvSpPr>
          <p:cNvPr id="5" name="灯片编号占位符 4"/>
          <p:cNvSpPr>
            <a:spLocks noGrp="1"/>
          </p:cNvSpPr>
          <p:nvPr>
            <p:ph type="sldNum" sz="quarter" idx="11"/>
          </p:nvPr>
        </p:nvSpPr>
        <p:spPr>
          <a:xfrm>
            <a:off x="11480800" y="6553200"/>
            <a:ext cx="609600" cy="228600"/>
          </a:xfrm>
        </p:spPr>
        <p:txBody>
          <a:bodyPr/>
          <a:lstStyle>
            <a:lvl1pPr>
              <a:defRPr/>
            </a:lvl1pPr>
          </a:lstStyle>
          <a:p>
            <a:fld id="{B3C7F7FE-F591-4024-B354-EAC5CFD677D1}"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19200" y="381001"/>
            <a:ext cx="8940800" cy="563563"/>
          </a:xfrm>
        </p:spPr>
        <p:txBody>
          <a:bodyPr/>
          <a:lstStyle/>
          <a:p>
            <a:r>
              <a:rPr lang="zh-CN" altLang="en-US" dirty="0"/>
              <a:t>单击此处编辑母版标题样式</a:t>
            </a:r>
          </a:p>
        </p:txBody>
      </p:sp>
      <p:sp>
        <p:nvSpPr>
          <p:cNvPr id="3" name="表格占位符 2"/>
          <p:cNvSpPr>
            <a:spLocks noGrp="1"/>
          </p:cNvSpPr>
          <p:nvPr>
            <p:ph type="tbl" idx="1"/>
          </p:nvPr>
        </p:nvSpPr>
        <p:spPr>
          <a:xfrm>
            <a:off x="508000" y="1066801"/>
            <a:ext cx="10972800" cy="5400675"/>
          </a:xfrm>
        </p:spPr>
        <p:txBody>
          <a:bodyPr/>
          <a:lstStyle/>
          <a:p>
            <a:endParaRPr lang="zh-CN" altLang="en-US"/>
          </a:p>
        </p:txBody>
      </p:sp>
      <p:sp>
        <p:nvSpPr>
          <p:cNvPr id="4" name="日期占位符 3"/>
          <p:cNvSpPr>
            <a:spLocks noGrp="1"/>
          </p:cNvSpPr>
          <p:nvPr>
            <p:ph type="dt" sz="half" idx="10"/>
          </p:nvPr>
        </p:nvSpPr>
        <p:spPr>
          <a:xfrm>
            <a:off x="101600" y="6553201"/>
            <a:ext cx="2844800" cy="244475"/>
          </a:xfrm>
        </p:spPr>
        <p:txBody>
          <a:bodyPr/>
          <a:lstStyle>
            <a:lvl1pPr>
              <a:defRPr/>
            </a:lvl1pPr>
          </a:lstStyle>
          <a:p>
            <a:fld id="{2332288E-54C1-4959-8B17-BE5786665258}" type="datetime1">
              <a:rPr lang="en-US" altLang="zh-CN" smtClean="0"/>
              <a:t>12/27/2024</a:t>
            </a:fld>
            <a:endParaRPr lang="en-US" altLang="zh-CN"/>
          </a:p>
        </p:txBody>
      </p:sp>
      <p:sp>
        <p:nvSpPr>
          <p:cNvPr id="5" name="灯片编号占位符 4"/>
          <p:cNvSpPr>
            <a:spLocks noGrp="1"/>
          </p:cNvSpPr>
          <p:nvPr>
            <p:ph type="sldNum" sz="quarter" idx="11"/>
          </p:nvPr>
        </p:nvSpPr>
        <p:spPr>
          <a:xfrm>
            <a:off x="11480800" y="6553200"/>
            <a:ext cx="609600" cy="228600"/>
          </a:xfrm>
        </p:spPr>
        <p:txBody>
          <a:bodyPr/>
          <a:lstStyle>
            <a:lvl1pPr>
              <a:defRPr/>
            </a:lvl1pPr>
          </a:lstStyle>
          <a:p>
            <a:fld id="{D19B6394-FEB0-405D-BB54-3675ABA41618}" type="slidenum">
              <a:rPr lang="zh-CN" altLang="en-US"/>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a:defRPr/>
            </a:pPr>
            <a:fld id="{9297E5A3-57E4-43F7-946A-5C66CF70BF06}"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F5C97F9A-45AD-4498-B856-5AF780781397}" type="slidenum">
              <a:rPr lang="zh-CN" altLang="en-US" smtClean="0"/>
              <a:t>‹#›</a:t>
            </a:fld>
            <a:endParaRPr lang="en-US" altLang="zh-CN"/>
          </a:p>
        </p:txBody>
      </p:sp>
    </p:spTree>
    <p:extLst>
      <p:ext uri="{BB962C8B-B14F-4D97-AF65-F5344CB8AC3E}">
        <p14:creationId xmlns:p14="http://schemas.microsoft.com/office/powerpoint/2010/main" val="240629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331B025C-90F1-4033-8D58-9A7D30B87B80}"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EB7C6F6D-FFA8-468C-AF6A-CB4C27E2EEF8}" type="slidenum">
              <a:rPr lang="zh-CN" altLang="en-US" smtClean="0"/>
              <a:t>‹#›</a:t>
            </a:fld>
            <a:endParaRPr lang="en-US" altLang="zh-CN"/>
          </a:p>
        </p:txBody>
      </p:sp>
    </p:spTree>
    <p:extLst>
      <p:ext uri="{BB962C8B-B14F-4D97-AF65-F5344CB8AC3E}">
        <p14:creationId xmlns:p14="http://schemas.microsoft.com/office/powerpoint/2010/main" val="3330211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pPr>
              <a:defRPr/>
            </a:pPr>
            <a:fld id="{B1CFEE73-20F7-474A-B173-6307B936A446}"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EC9360B5-64CB-46AB-9803-AA3C34914FFA}" type="slidenum">
              <a:rPr lang="zh-CN" altLang="en-US" smtClean="0"/>
              <a:t>‹#›</a:t>
            </a:fld>
            <a:endParaRPr lang="en-US" altLang="zh-CN"/>
          </a:p>
        </p:txBody>
      </p:sp>
    </p:spTree>
    <p:extLst>
      <p:ext uri="{BB962C8B-B14F-4D97-AF65-F5344CB8AC3E}">
        <p14:creationId xmlns:p14="http://schemas.microsoft.com/office/powerpoint/2010/main" val="3087892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pPr>
              <a:defRPr/>
            </a:pPr>
            <a:fld id="{1E44B93E-9018-43F3-8F45-02E6CCE6BD59}" type="datetime1">
              <a:rPr lang="en-US" altLang="zh-CN" smtClean="0"/>
              <a:t>12/27/2024</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DD472664-DEE8-44BA-AEBC-3D1BBFC236F8}" type="slidenum">
              <a:rPr lang="zh-CN" altLang="en-US" smtClean="0"/>
              <a:t>‹#›</a:t>
            </a:fld>
            <a:endParaRPr lang="en-US" altLang="zh-CN"/>
          </a:p>
        </p:txBody>
      </p:sp>
    </p:spTree>
    <p:extLst>
      <p:ext uri="{BB962C8B-B14F-4D97-AF65-F5344CB8AC3E}">
        <p14:creationId xmlns:p14="http://schemas.microsoft.com/office/powerpoint/2010/main" val="2462204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F8030875-4EDC-49FE-8485-0A8E7292A3BE}" type="datetime1">
              <a:rPr lang="en-US" altLang="zh-CN" smtClean="0"/>
              <a:t>12/27/2024</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fld id="{AF32095A-B3D4-4519-AA8C-1D2FCF3507E2}" type="slidenum">
              <a:rPr lang="zh-CN" altLang="en-US" smtClean="0"/>
              <a:t>‹#›</a:t>
            </a:fld>
            <a:endParaRPr lang="en-US" altLang="zh-CN"/>
          </a:p>
        </p:txBody>
      </p:sp>
    </p:spTree>
    <p:extLst>
      <p:ext uri="{BB962C8B-B14F-4D97-AF65-F5344CB8AC3E}">
        <p14:creationId xmlns:p14="http://schemas.microsoft.com/office/powerpoint/2010/main" val="948208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F7ECC3-19A3-4181-A332-9AEEBE1C7265}" type="datetime1">
              <a:rPr lang="en-US" altLang="zh-CN" smtClean="0"/>
              <a:t>12/27/2024</a:t>
            </a:fld>
            <a:endParaRPr lang="en-US" dirty="0"/>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fld id="{64CB864B-4EF4-4434-BB60-762C23849B52}" type="slidenum">
              <a:rPr lang="zh-CN" altLang="en-US" smtClean="0"/>
              <a:t>‹#›</a:t>
            </a:fld>
            <a:endParaRPr lang="en-US" altLang="zh-CN"/>
          </a:p>
        </p:txBody>
      </p:sp>
    </p:spTree>
    <p:extLst>
      <p:ext uri="{BB962C8B-B14F-4D97-AF65-F5344CB8AC3E}">
        <p14:creationId xmlns:p14="http://schemas.microsoft.com/office/powerpoint/2010/main" val="2850265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55073A-8F40-4D0C-A35F-C94788AEE746}" type="datetime1">
              <a:rPr lang="en-US" altLang="zh-CN" smtClean="0"/>
              <a:t>12/27/2024</a:t>
            </a:fld>
            <a:endParaRPr lang="en-US" dirty="0"/>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a:xfrm>
            <a:off x="8997395" y="6331565"/>
            <a:ext cx="2743200" cy="365125"/>
          </a:xfrm>
        </p:spPr>
        <p:txBody>
          <a:bodyPr/>
          <a:lstStyle>
            <a:lvl1pPr>
              <a:defRPr sz="2000">
                <a:latin typeface="Times New Roman" panose="02020603050405020304" pitchFamily="18" charset="0"/>
                <a:cs typeface="Times New Roman" panose="02020603050405020304" pitchFamily="18" charset="0"/>
              </a:defRPr>
            </a:lvl1pPr>
          </a:lstStyle>
          <a:p>
            <a:fld id="{217794D7-36C4-4E93-AE7A-0CAF6AF174FC}" type="slidenum">
              <a:rPr lang="zh-CN" altLang="en-US" smtClean="0"/>
              <a:pPr/>
              <a:t>‹#›</a:t>
            </a:fld>
            <a:endParaRPr lang="en-US" altLang="zh-CN"/>
          </a:p>
        </p:txBody>
      </p:sp>
    </p:spTree>
    <p:extLst>
      <p:ext uri="{BB962C8B-B14F-4D97-AF65-F5344CB8AC3E}">
        <p14:creationId xmlns:p14="http://schemas.microsoft.com/office/powerpoint/2010/main" val="3743635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fld id="{952A4D5A-E928-4439-A3EE-2D2F07FF6B2B}" type="datetime1">
              <a:rPr lang="en-US" altLang="zh-CN" smtClean="0"/>
              <a:t>12/27/2024</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58BF02F4-5381-4EAA-94F3-16972E022FEE}" type="slidenum">
              <a:rPr lang="zh-CN" altLang="en-US" smtClean="0"/>
              <a:t>‹#›</a:t>
            </a:fld>
            <a:endParaRPr lang="en-US" altLang="zh-CN"/>
          </a:p>
        </p:txBody>
      </p:sp>
    </p:spTree>
    <p:extLst>
      <p:ext uri="{BB962C8B-B14F-4D97-AF65-F5344CB8AC3E}">
        <p14:creationId xmlns:p14="http://schemas.microsoft.com/office/powerpoint/2010/main" val="2164154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pPr>
              <a:defRPr/>
            </a:pPr>
            <a:fld id="{D6C22A9A-31D9-4B6A-AF9C-57334A67958E}" type="datetime1">
              <a:rPr lang="en-US" altLang="zh-CN" smtClean="0"/>
              <a:t>12/27/2024</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fld id="{FC47EF18-B5BF-468C-8E72-DE6319A52F22}" type="slidenum">
              <a:rPr lang="zh-CN" altLang="en-US" smtClean="0"/>
              <a:t>‹#›</a:t>
            </a:fld>
            <a:endParaRPr lang="en-US" altLang="zh-CN"/>
          </a:p>
        </p:txBody>
      </p:sp>
    </p:spTree>
    <p:extLst>
      <p:ext uri="{BB962C8B-B14F-4D97-AF65-F5344CB8AC3E}">
        <p14:creationId xmlns:p14="http://schemas.microsoft.com/office/powerpoint/2010/main" val="1626394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89B1ED25-F041-4272-ACD5-16F44E2DA613}"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AF99495-4C70-4DA1-B4FD-AE3C2F6741A9}" type="slidenum">
              <a:rPr lang="zh-CN" altLang="en-US" smtClean="0"/>
              <a:t>‹#›</a:t>
            </a:fld>
            <a:endParaRPr lang="en-US" altLang="zh-CN"/>
          </a:p>
        </p:txBody>
      </p:sp>
    </p:spTree>
    <p:extLst>
      <p:ext uri="{BB962C8B-B14F-4D97-AF65-F5344CB8AC3E}">
        <p14:creationId xmlns:p14="http://schemas.microsoft.com/office/powerpoint/2010/main" val="23419875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a:defRPr/>
            </a:pPr>
            <a:fld id="{DB3FB983-6C20-4E69-A150-2562B2F4CD5F}" type="datetime1">
              <a:rPr lang="en-US" altLang="zh-CN" smtClean="0"/>
              <a:t>12/27/2024</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fld id="{8AF99495-4C70-4DA1-B4FD-AE3C2F6741A9}" type="slidenum">
              <a:rPr lang="zh-CN" altLang="en-US" smtClean="0"/>
              <a:t>‹#›</a:t>
            </a:fld>
            <a:endParaRPr lang="en-US" altLang="zh-CN"/>
          </a:p>
        </p:txBody>
      </p:sp>
    </p:spTree>
    <p:extLst>
      <p:ext uri="{BB962C8B-B14F-4D97-AF65-F5344CB8AC3E}">
        <p14:creationId xmlns:p14="http://schemas.microsoft.com/office/powerpoint/2010/main" val="23923051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pic>
        <p:nvPicPr>
          <p:cNvPr id="319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2" descr="a_1"/>
          <p:cNvPicPr>
            <a:picLocks noChangeAspect="1" noChangeArrowheads="1"/>
          </p:cNvPicPr>
          <p:nvPr userDrawn="1"/>
        </p:nvPicPr>
        <p:blipFill>
          <a:blip r:embed="rId3">
            <a:extLst>
              <a:ext uri="{28A0092B-C50C-407E-A947-70E740481C1C}">
                <a14:useLocalDpi xmlns:a14="http://schemas.microsoft.com/office/drawing/2010/main" val="0"/>
              </a:ext>
            </a:extLst>
          </a:blip>
          <a:srcRect l="2174"/>
          <a:stretch>
            <a:fillRect/>
          </a:stretch>
        </p:blipFill>
        <p:spPr bwMode="auto">
          <a:xfrm>
            <a:off x="0" y="0"/>
            <a:ext cx="12192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2"/>
          <p:cNvSpPr>
            <a:spLocks noChangeArrowheads="1"/>
          </p:cNvSpPr>
          <p:nvPr userDrawn="1"/>
        </p:nvSpPr>
        <p:spPr bwMode="gray">
          <a:xfrm>
            <a:off x="0" y="2590800"/>
            <a:ext cx="12192000" cy="1066800"/>
          </a:xfrm>
          <a:prstGeom prst="rect">
            <a:avLst/>
          </a:prstGeom>
          <a:gradFill rotWithShape="1">
            <a:gsLst>
              <a:gs pos="14000">
                <a:srgbClr val="3191D3"/>
              </a:gs>
              <a:gs pos="94000">
                <a:srgbClr val="0099CC"/>
              </a:gs>
            </a:gsLst>
            <a:lin ang="5400000" scaled="1"/>
          </a:gra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3" name="Line 26"/>
          <p:cNvSpPr>
            <a:spLocks noChangeShapeType="1"/>
          </p:cNvSpPr>
          <p:nvPr userDrawn="1"/>
        </p:nvSpPr>
        <p:spPr bwMode="auto">
          <a:xfrm>
            <a:off x="0" y="36576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4" name="Line 27"/>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5" name="Rectangle 29"/>
          <p:cNvSpPr>
            <a:spLocks noChangeArrowheads="1"/>
          </p:cNvSpPr>
          <p:nvPr userDrawn="1"/>
        </p:nvSpPr>
        <p:spPr bwMode="gray">
          <a:xfrm>
            <a:off x="1" y="0"/>
            <a:ext cx="12189884" cy="1447800"/>
          </a:xfrm>
          <a:prstGeom prst="rect">
            <a:avLst/>
          </a:prstGeom>
          <a:gradFill rotWithShape="1">
            <a:gsLst>
              <a:gs pos="0">
                <a:srgbClr val="81CFEB">
                  <a:alpha val="19000"/>
                </a:srgbClr>
              </a:gs>
              <a:gs pos="100000">
                <a:srgbClr val="81CFEB">
                  <a:gamma/>
                  <a:tint val="0"/>
                  <a:invGamma/>
                </a:srgbClr>
              </a:gs>
            </a:gsLst>
            <a:lin ang="5400000" scaled="1"/>
          </a:gradFill>
          <a:ln w="0" algn="ctr">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6" name="Rectangle 33"/>
          <p:cNvSpPr>
            <a:spLocks noChangeArrowheads="1"/>
          </p:cNvSpPr>
          <p:nvPr userDrawn="1"/>
        </p:nvSpPr>
        <p:spPr bwMode="auto">
          <a:xfrm>
            <a:off x="0" y="1447800"/>
            <a:ext cx="12192000" cy="1143000"/>
          </a:xfrm>
          <a:prstGeom prst="rect">
            <a:avLst/>
          </a:prstGeom>
          <a:solidFill>
            <a:srgbClr val="FFFFFF"/>
          </a:solidFill>
          <a:ln w="9525">
            <a:noFill/>
            <a:miter lim="800000"/>
          </a:ln>
          <a:effectLst/>
        </p:spPr>
        <p:txBody>
          <a:bodyPr wrap="none" anchor="ctr"/>
          <a:lstStyle/>
          <a:p>
            <a:pPr>
              <a:defRPr/>
            </a:pPr>
            <a:endParaRPr lang="zh-CN" altLang="en-US" sz="1800" b="0">
              <a:latin typeface="Arial" panose="020B0604020202020204" pitchFamily="34" charset="0"/>
              <a:ea typeface="宋体" panose="02010600030101010101" pitchFamily="2" charset="-122"/>
            </a:endParaRPr>
          </a:p>
        </p:txBody>
      </p:sp>
      <p:sp>
        <p:nvSpPr>
          <p:cNvPr id="38" name="Line 34"/>
          <p:cNvSpPr>
            <a:spLocks noChangeShapeType="1"/>
          </p:cNvSpPr>
          <p:nvPr userDrawn="1"/>
        </p:nvSpPr>
        <p:spPr bwMode="auto">
          <a:xfrm>
            <a:off x="0" y="2590800"/>
            <a:ext cx="12192000" cy="0"/>
          </a:xfrm>
          <a:prstGeom prst="line">
            <a:avLst/>
          </a:prstGeom>
          <a:noFill/>
          <a:ln w="38100">
            <a:solidFill>
              <a:srgbClr val="FFFFFF"/>
            </a:solidFill>
            <a:round/>
          </a:ln>
          <a:effectLst/>
        </p:spPr>
        <p:txBody>
          <a:bodyPr/>
          <a:lstStyle/>
          <a:p>
            <a:pPr>
              <a:defRPr/>
            </a:pPr>
            <a:endParaRPr lang="zh-CN" altLang="en-US" sz="1800" b="0">
              <a:latin typeface="Arial" panose="020B0604020202020204" pitchFamily="34" charset="0"/>
              <a:ea typeface="宋体" panose="02010600030101010101" pitchFamily="2" charset="-122"/>
            </a:endParaRPr>
          </a:p>
        </p:txBody>
      </p:sp>
      <p:sp>
        <p:nvSpPr>
          <p:cNvPr id="39" name="Rectangle 4"/>
          <p:cNvSpPr>
            <a:spLocks noGrp="1" noChangeArrowheads="1"/>
          </p:cNvSpPr>
          <p:nvPr>
            <p:ph type="dt" sz="half" idx="2"/>
          </p:nvPr>
        </p:nvSpPr>
        <p:spPr>
          <a:xfrm>
            <a:off x="609600" y="6245225"/>
            <a:ext cx="2844800" cy="476250"/>
          </a:xfrm>
          <a:noFill/>
          <a:ln>
            <a:miter lim="800000"/>
          </a:ln>
        </p:spPr>
        <p:txBody>
          <a:bodyPr/>
          <a:lstStyle>
            <a:lvl1pPr>
              <a:defRPr/>
            </a:lvl1pPr>
          </a:lstStyle>
          <a:p>
            <a:fld id="{8F830E65-EA6A-4199-9A29-CF6CA8B1E26B}" type="datetime1">
              <a:rPr lang="en-US" altLang="zh-CN" smtClean="0"/>
              <a:t>12/27/2024</a:t>
            </a:fld>
            <a:endParaRPr lang="en-US" altLang="zh-CN"/>
          </a:p>
        </p:txBody>
      </p:sp>
      <p:sp>
        <p:nvSpPr>
          <p:cNvPr id="40"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lgn="ctr">
              <a:defRPr sz="1400" b="0">
                <a:ea typeface="宋体" panose="02010600030101010101" pitchFamily="2" charset="-122"/>
              </a:defRPr>
            </a:lvl1pPr>
          </a:lstStyle>
          <a:p>
            <a:endParaRPr lang="en-US" altLang="zh-CN"/>
          </a:p>
        </p:txBody>
      </p:sp>
    </p:spTree>
    <p:extLst>
      <p:ext uri="{BB962C8B-B14F-4D97-AF65-F5344CB8AC3E}">
        <p14:creationId xmlns:p14="http://schemas.microsoft.com/office/powerpoint/2010/main" val="4102194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10" name="标题 1"/>
          <p:cNvSpPr>
            <a:spLocks noGrp="1"/>
          </p:cNvSpPr>
          <p:nvPr>
            <p:ph type="title"/>
          </p:nvPr>
        </p:nvSpPr>
        <p:spPr>
          <a:xfrm>
            <a:off x="1920000" y="179883"/>
            <a:ext cx="9484597" cy="533400"/>
          </a:xfrm>
          <a:prstGeom prst="rect">
            <a:avLst/>
          </a:prstGeom>
          <a:noFill/>
          <a:ln>
            <a:noFill/>
          </a:ln>
          <a:effectLst/>
        </p:spPr>
        <p:txBody>
          <a:bodyPr wrap="none" lIns="72000" tIns="72000" rIns="72000" bIns="72000">
            <a:noAutofit/>
          </a:bodyPr>
          <a:lstStyle>
            <a:lvl1pPr algn="l" rtl="0" eaLnBrk="0" fontAlgn="base" hangingPunct="0">
              <a:spcBef>
                <a:spcPct val="0"/>
              </a:spcBef>
              <a:spcAft>
                <a:spcPct val="0"/>
              </a:spcAft>
              <a:defRPr kumimoji="1" lang="zh-CN" altLang="en-US" sz="3600" b="1" kern="12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defRPr>
            </a:lvl1pPr>
          </a:lstStyle>
          <a:p>
            <a:pPr lvl="0" algn="l"/>
            <a:r>
              <a:rPr lang="zh-CN" altLang="en-US" dirty="0"/>
              <a:t>单击此处编辑母版标题样式</a:t>
            </a:r>
          </a:p>
        </p:txBody>
      </p:sp>
      <p:cxnSp>
        <p:nvCxnSpPr>
          <p:cNvPr id="13" name="直接连接符 12"/>
          <p:cNvCxnSpPr/>
          <p:nvPr userDrawn="1"/>
        </p:nvCxnSpPr>
        <p:spPr bwMode="auto">
          <a:xfrm>
            <a:off x="1920000" y="792126"/>
            <a:ext cx="9288000" cy="0"/>
          </a:xfrm>
          <a:prstGeom prst="line">
            <a:avLst/>
          </a:prstGeom>
          <a:solidFill>
            <a:srgbClr val="EAEAEA"/>
          </a:solidFill>
          <a:ln w="31750" cap="flat" cmpd="sng" algn="ctr">
            <a:solidFill>
              <a:srgbClr val="3078B0"/>
            </a:solidFill>
            <a:prstDash val="solid"/>
            <a:round/>
            <a:headEnd type="none" w="med" len="med"/>
            <a:tailEnd type="none" w="med" len="med"/>
          </a:ln>
          <a:effectLst>
            <a:outerShdw blurRad="50800" dist="38100" dir="5400000" algn="t" rotWithShape="0">
              <a:schemeClr val="tx1">
                <a:alpha val="40000"/>
              </a:schemeClr>
            </a:outerShdw>
          </a:effectLst>
        </p:spPr>
      </p:cxnSp>
      <p:sp>
        <p:nvSpPr>
          <p:cNvPr id="4" name="矩形 3"/>
          <p:cNvSpPr/>
          <p:nvPr userDrawn="1"/>
        </p:nvSpPr>
        <p:spPr>
          <a:xfrm>
            <a:off x="1200" y="743215"/>
            <a:ext cx="1908000" cy="108000"/>
          </a:xfrm>
          <a:prstGeom prst="rect">
            <a:avLst/>
          </a:prstGeom>
          <a:solidFill>
            <a:srgbClr val="3078B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31566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95236" name="Rectangle 4"/>
          <p:cNvSpPr>
            <a:spLocks noGrp="1" noChangeArrowheads="1"/>
          </p:cNvSpPr>
          <p:nvPr>
            <p:ph type="title"/>
          </p:nvPr>
        </p:nvSpPr>
        <p:spPr bwMode="auto">
          <a:xfrm>
            <a:off x="1" y="47626"/>
            <a:ext cx="12814300" cy="957263"/>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p>
        </p:txBody>
      </p:sp>
      <p:sp>
        <p:nvSpPr>
          <p:cNvPr id="95237" name="Rectangle 5"/>
          <p:cNvSpPr>
            <a:spLocks noGrp="1" noChangeArrowheads="1"/>
          </p:cNvSpPr>
          <p:nvPr>
            <p:ph type="body" idx="1"/>
          </p:nvPr>
        </p:nvSpPr>
        <p:spPr bwMode="auto">
          <a:xfrm>
            <a:off x="624418" y="1484313"/>
            <a:ext cx="10856383" cy="4392612"/>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88423" name="Rectangle 7"/>
          <p:cNvSpPr>
            <a:spLocks noGrp="1" noChangeArrowheads="1"/>
          </p:cNvSpPr>
          <p:nvPr>
            <p:ph type="dt" sz="half" idx="2"/>
          </p:nvPr>
        </p:nvSpPr>
        <p:spPr bwMode="auto">
          <a:xfrm>
            <a:off x="814917" y="6284913"/>
            <a:ext cx="1725083" cy="457200"/>
          </a:xfrm>
          <a:prstGeom prst="rect">
            <a:avLst/>
          </a:prstGeom>
          <a:noFill/>
          <a:ln w="9525">
            <a:noFill/>
            <a:miter lim="800000"/>
          </a:ln>
          <a:effectLst/>
        </p:spPr>
        <p:txBody>
          <a:bodyPr vert="horz" wrap="square" lIns="91440" tIns="45720" rIns="91440" bIns="45720" numCol="1" anchor="t" anchorCtr="0" compatLnSpc="1"/>
          <a:lstStyle>
            <a:lvl1pPr algn="l" fontAlgn="auto">
              <a:spcBef>
                <a:spcPts val="0"/>
              </a:spcBef>
              <a:spcAft>
                <a:spcPts val="0"/>
              </a:spcAft>
              <a:defRPr sz="1600" b="0">
                <a:solidFill>
                  <a:schemeClr val="tx1"/>
                </a:solidFill>
                <a:latin typeface="+mn-lt"/>
                <a:ea typeface="宋体" panose="02010600030101010101" pitchFamily="2" charset="-122"/>
                <a:cs typeface="+mn-cs"/>
              </a:defRPr>
            </a:lvl1pPr>
          </a:lstStyle>
          <a:p>
            <a:pPr>
              <a:defRPr/>
            </a:pPr>
            <a:fld id="{1596D3C0-2AFD-48F1-A71C-B351F7B1D7FD}" type="datetime1">
              <a:rPr lang="en-US" altLang="zh-CN" smtClean="0"/>
              <a:t>12/27/2024</a:t>
            </a:fld>
            <a:endParaRPr lang="zh-CN" altLang="en-US"/>
          </a:p>
        </p:txBody>
      </p:sp>
      <p:sp>
        <p:nvSpPr>
          <p:cNvPr id="188425" name="Rectangle 9"/>
          <p:cNvSpPr>
            <a:spLocks noGrp="1" noChangeArrowheads="1"/>
          </p:cNvSpPr>
          <p:nvPr>
            <p:ph type="sldNum" sz="quarter" idx="4"/>
          </p:nvPr>
        </p:nvSpPr>
        <p:spPr bwMode="auto">
          <a:xfrm>
            <a:off x="10668000" y="6215063"/>
            <a:ext cx="1244600" cy="457200"/>
          </a:xfrm>
          <a:prstGeom prst="rect">
            <a:avLst/>
          </a:prstGeom>
          <a:noFill/>
          <a:ln w="9525">
            <a:noFill/>
            <a:miter lim="800000"/>
          </a:ln>
          <a:effectLst/>
        </p:spPr>
        <p:txBody>
          <a:bodyPr vert="horz" wrap="square" lIns="91440" tIns="45720" rIns="91440" bIns="45720" numCol="1" anchor="t" anchorCtr="0" compatLnSpc="1"/>
          <a:lstStyle>
            <a:lvl1pPr algn="r">
              <a:defRPr sz="1600" b="0">
                <a:solidFill>
                  <a:schemeClr val="tx1"/>
                </a:solidFill>
                <a:latin typeface="Arial" panose="020B0604020202020204" pitchFamily="34" charset="0"/>
                <a:ea typeface="宋体" panose="02010600030101010101" pitchFamily="2" charset="-122"/>
              </a:defRPr>
            </a:lvl1pPr>
          </a:lstStyle>
          <a:p>
            <a:fld id="{8AF99495-4C70-4DA1-B4FD-AE3C2F6741A9}" type="slidenum">
              <a:rPr lang="zh-CN" altLang="en-US"/>
              <a:t>‹#›</a:t>
            </a:fld>
            <a:endParaRPr lang="en-US" altLang="zh-CN"/>
          </a:p>
        </p:txBody>
      </p:sp>
      <p:sp>
        <p:nvSpPr>
          <p:cNvPr id="188418" name="Rectangle 2"/>
          <p:cNvSpPr>
            <a:spLocks noChangeArrowheads="1"/>
          </p:cNvSpPr>
          <p:nvPr/>
        </p:nvSpPr>
        <p:spPr bwMode="auto">
          <a:xfrm>
            <a:off x="0" y="985838"/>
            <a:ext cx="2844800" cy="101600"/>
          </a:xfrm>
          <a:prstGeom prst="rect">
            <a:avLst/>
          </a:prstGeom>
          <a:solidFill>
            <a:srgbClr val="006699"/>
          </a:solidFill>
          <a:ln w="9525">
            <a:noFill/>
            <a:miter lim="800000"/>
          </a:ln>
        </p:spPr>
        <p:txBody>
          <a:bodyPr wrap="none" anchor="ctr"/>
          <a:lstStyle/>
          <a:p>
            <a:pPr fontAlgn="auto">
              <a:spcBef>
                <a:spcPts val="0"/>
              </a:spcBef>
              <a:spcAft>
                <a:spcPts val="0"/>
              </a:spcAft>
              <a:defRPr/>
            </a:pPr>
            <a:endParaRPr lang="zh-CN" altLang="zh-CN" sz="1800" b="0">
              <a:solidFill>
                <a:schemeClr val="tx1"/>
              </a:solidFill>
              <a:latin typeface="Times New Roman" panose="02020603050405020304" pitchFamily="18" charset="0"/>
              <a:ea typeface="宋体" panose="02010600030101010101" pitchFamily="2" charset="-122"/>
              <a:cs typeface="+mn-cs"/>
            </a:endParaRPr>
          </a:p>
        </p:txBody>
      </p:sp>
      <p:sp>
        <p:nvSpPr>
          <p:cNvPr id="188419" name="Rectangle 3"/>
          <p:cNvSpPr>
            <a:spLocks noChangeArrowheads="1"/>
          </p:cNvSpPr>
          <p:nvPr/>
        </p:nvSpPr>
        <p:spPr bwMode="auto">
          <a:xfrm>
            <a:off x="1930400" y="985838"/>
            <a:ext cx="9652000" cy="101600"/>
          </a:xfrm>
          <a:prstGeom prst="rect">
            <a:avLst/>
          </a:prstGeom>
          <a:gradFill rotWithShape="1">
            <a:gsLst>
              <a:gs pos="0">
                <a:srgbClr val="006699"/>
              </a:gs>
              <a:gs pos="100000">
                <a:schemeClr val="bg1"/>
              </a:gs>
            </a:gsLst>
            <a:lin ang="0" scaled="1"/>
          </a:gradFill>
          <a:ln w="9525">
            <a:noFill/>
            <a:miter lim="800000"/>
          </a:ln>
        </p:spPr>
        <p:txBody>
          <a:bodyPr wrap="none" anchor="ctr"/>
          <a:lstStyle/>
          <a:p>
            <a:pPr fontAlgn="auto">
              <a:spcBef>
                <a:spcPts val="0"/>
              </a:spcBef>
              <a:spcAft>
                <a:spcPts val="0"/>
              </a:spcAft>
              <a:defRPr/>
            </a:pPr>
            <a:endParaRPr lang="zh-CN" altLang="zh-CN" sz="1800" b="0">
              <a:solidFill>
                <a:schemeClr val="tx1"/>
              </a:solidFill>
              <a:latin typeface="Times New Roman" panose="02020603050405020304" pitchFamily="18" charset="0"/>
              <a:ea typeface="宋体" panose="02010600030101010101" pitchFamily="2" charset="-122"/>
              <a:cs typeface="+mn-cs"/>
            </a:endParaRPr>
          </a:p>
        </p:txBody>
      </p:sp>
      <p:sp>
        <p:nvSpPr>
          <p:cNvPr id="188424" name="Rectangle 8"/>
          <p:cNvSpPr>
            <a:spLocks noGrp="1" noChangeArrowheads="1"/>
          </p:cNvSpPr>
          <p:nvPr>
            <p:ph type="ftr" sz="quarter" idx="3"/>
          </p:nvPr>
        </p:nvSpPr>
        <p:spPr bwMode="auto">
          <a:xfrm>
            <a:off x="4902200" y="4803775"/>
            <a:ext cx="7010400" cy="539750"/>
          </a:xfrm>
          <a:prstGeom prst="rect">
            <a:avLst/>
          </a:prstGeom>
          <a:noFill/>
          <a:ln w="9525">
            <a:noFill/>
            <a:miter lim="800000"/>
          </a:ln>
          <a:effectLst/>
        </p:spPr>
        <p:txBody>
          <a:bodyPr vert="horz" wrap="square" lIns="91440" tIns="45720" rIns="91440" bIns="45720" numCol="1" anchor="t" anchorCtr="0" compatLnSpc="1"/>
          <a:lstStyle>
            <a:lvl1pPr>
              <a:defRPr sz="1800">
                <a:latin typeface="Arial" panose="020B0604020202020204" pitchFamily="34" charset="0"/>
                <a:ea typeface="宋体" panose="02010600030101010101" pitchFamily="2" charset="-122"/>
                <a:cs typeface="+mn-cs"/>
              </a:defRPr>
            </a:lvl1pPr>
          </a:lstStyle>
          <a:p>
            <a:pPr>
              <a:defRPr/>
            </a:pPr>
            <a:endParaRPr lang="zh-CN" altLang="en-US"/>
          </a:p>
        </p:txBody>
      </p:sp>
      <p:sp>
        <p:nvSpPr>
          <p:cNvPr id="6162" name="Rectangle 18"/>
          <p:cNvSpPr>
            <a:spLocks noChangeArrowheads="1"/>
          </p:cNvSpPr>
          <p:nvPr userDrawn="1"/>
        </p:nvSpPr>
        <p:spPr bwMode="auto">
          <a:xfrm>
            <a:off x="190501" y="6437313"/>
            <a:ext cx="12001500" cy="304800"/>
          </a:xfrm>
          <a:prstGeom prst="rect">
            <a:avLst/>
          </a:prstGeom>
          <a:noFill/>
          <a:ln w="9525">
            <a:noFill/>
            <a:miter lim="800000"/>
          </a:ln>
          <a:effectLst>
            <a:prstShdw prst="shdw17" dist="17961" dir="2700000">
              <a:schemeClr val="accent1">
                <a:gamma/>
                <a:shade val="60000"/>
                <a:invGamma/>
                <a:alpha val="50000"/>
              </a:schemeClr>
            </a:prstShdw>
          </a:effectLst>
        </p:spPr>
        <p:txBody>
          <a:bodyPr>
            <a:spAutoFit/>
          </a:bodyPr>
          <a:lstStyle>
            <a:lvl1pPr eaLnBrk="0" hangingPunct="0">
              <a:defRPr sz="2000" b="1">
                <a:solidFill>
                  <a:schemeClr val="bg1"/>
                </a:solidFill>
                <a:latin typeface="FrutigerNext LT Regular"/>
                <a:ea typeface="幼圆" panose="02010509060101010101" pitchFamily="49" charset="-122"/>
              </a:defRPr>
            </a:lvl1pPr>
            <a:lvl2pPr marL="742950" indent="-285750" eaLnBrk="0" hangingPunct="0">
              <a:defRPr sz="2000" b="1">
                <a:solidFill>
                  <a:schemeClr val="bg1"/>
                </a:solidFill>
                <a:latin typeface="FrutigerNext LT Regular"/>
                <a:ea typeface="幼圆" panose="02010509060101010101" pitchFamily="49" charset="-122"/>
              </a:defRPr>
            </a:lvl2pPr>
            <a:lvl3pPr marL="1143000" indent="-228600" eaLnBrk="0" hangingPunct="0">
              <a:defRPr sz="2000" b="1">
                <a:solidFill>
                  <a:schemeClr val="bg1"/>
                </a:solidFill>
                <a:latin typeface="FrutigerNext LT Regular"/>
                <a:ea typeface="幼圆" panose="02010509060101010101" pitchFamily="49" charset="-122"/>
              </a:defRPr>
            </a:lvl3pPr>
            <a:lvl4pPr marL="1600200" indent="-228600" eaLnBrk="0" hangingPunct="0">
              <a:defRPr sz="2000" b="1">
                <a:solidFill>
                  <a:schemeClr val="bg1"/>
                </a:solidFill>
                <a:latin typeface="FrutigerNext LT Regular"/>
                <a:ea typeface="幼圆" panose="02010509060101010101" pitchFamily="49" charset="-122"/>
              </a:defRPr>
            </a:lvl4pPr>
            <a:lvl5pPr marL="2057400" indent="-228600" eaLnBrk="0" hangingPunct="0">
              <a:defRPr sz="2000" b="1">
                <a:solidFill>
                  <a:schemeClr val="bg1"/>
                </a:solidFill>
                <a:latin typeface="FrutigerNext LT Regular"/>
                <a:ea typeface="幼圆" panose="02010509060101010101" pitchFamily="49" charset="-122"/>
              </a:defRPr>
            </a:lvl5pPr>
            <a:lvl6pPr marL="25146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6pPr>
            <a:lvl7pPr marL="29718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7pPr>
            <a:lvl8pPr marL="34290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8pPr>
            <a:lvl9pPr marL="3886200" indent="-228600" eaLnBrk="0" fontAlgn="base" hangingPunct="0">
              <a:spcBef>
                <a:spcPct val="0"/>
              </a:spcBef>
              <a:spcAft>
                <a:spcPct val="0"/>
              </a:spcAft>
              <a:defRPr sz="2000" b="1">
                <a:solidFill>
                  <a:schemeClr val="bg1"/>
                </a:solidFill>
                <a:latin typeface="FrutigerNext LT Regular"/>
                <a:ea typeface="幼圆" panose="02010509060101010101" pitchFamily="49" charset="-122"/>
              </a:defRPr>
            </a:lvl9pPr>
          </a:lstStyle>
          <a:p>
            <a:pPr eaLnBrk="1" hangingPunct="1"/>
            <a:r>
              <a:rPr lang="zh-CN" altLang="en-US" sz="1400">
                <a:latin typeface="宋体" panose="02010600030101010101" pitchFamily="2" charset="-122"/>
                <a:ea typeface="宋体" panose="02010600030101010101" pitchFamily="2" charset="-122"/>
              </a:rPr>
              <a:t> </a:t>
            </a:r>
            <a:r>
              <a:rPr lang="zh-CN" altLang="en-US" sz="1400">
                <a:solidFill>
                  <a:srgbClr val="FFCC66"/>
                </a:solidFill>
                <a:latin typeface="宋体" panose="02010600030101010101" pitchFamily="2" charset="-122"/>
                <a:ea typeface="宋体" panose="02010600030101010101" pitchFamily="2" charset="-122"/>
              </a:rPr>
              <a:t>                                                                                            </a:t>
            </a:r>
            <a:fld id="{B50DA601-DC5A-4609-98FF-92E0F4CCEA4B}" type="slidenum">
              <a:rPr lang="zh-CN" altLang="en-US" sz="1400">
                <a:solidFill>
                  <a:srgbClr val="FFCC66"/>
                </a:solidFill>
                <a:latin typeface="宋体" panose="02010600030101010101" pitchFamily="2" charset="-122"/>
                <a:ea typeface="宋体" panose="02010600030101010101" pitchFamily="2" charset="-122"/>
              </a:rPr>
              <a:t>‹#›</a:t>
            </a:fld>
            <a:endParaRPr lang="en-US" altLang="zh-CN" sz="1400">
              <a:solidFill>
                <a:srgbClr val="FFCC66"/>
              </a:solidFill>
              <a:latin typeface="宋体" panose="02010600030101010101" pitchFamily="2" charset="-122"/>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rtl="0" eaLnBrk="0" fontAlgn="base" hangingPunct="0">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rtl="0" fontAlgn="base">
        <a:spcBef>
          <a:spcPct val="0"/>
        </a:spcBef>
        <a:spcAft>
          <a:spcPct val="0"/>
        </a:spcAft>
        <a:defRPr sz="5000" b="1">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p:titleStyle>
    <p:bodyStyle>
      <a:lvl1pPr marL="447675" indent="-447675" algn="l" rtl="0" eaLnBrk="0" fontAlgn="base" hangingPunct="0">
        <a:spcBef>
          <a:spcPct val="20000"/>
        </a:spcBef>
        <a:spcAft>
          <a:spcPct val="0"/>
        </a:spcAft>
        <a:buFont typeface="Wingdings" panose="05000000000000000000" pitchFamily="2" charset="2"/>
        <a:buChar char="n"/>
        <a:defRPr sz="3200" b="1">
          <a:solidFill>
            <a:srgbClr val="006699"/>
          </a:solidFill>
          <a:effectLst>
            <a:outerShdw blurRad="38100" dist="38100" dir="2700000" algn="tl">
              <a:srgbClr val="C0C0C0"/>
            </a:outerShdw>
          </a:effectLst>
          <a:latin typeface="+mn-lt"/>
          <a:ea typeface="+mn-ea"/>
          <a:cs typeface="+mn-cs"/>
        </a:defRPr>
      </a:lvl1pPr>
      <a:lvl2pPr marL="889000" indent="-440055" algn="l" rtl="0" eaLnBrk="0" fontAlgn="base" hangingPunct="0">
        <a:spcBef>
          <a:spcPct val="20000"/>
        </a:spcBef>
        <a:spcAft>
          <a:spcPct val="0"/>
        </a:spcAft>
        <a:buClr>
          <a:srgbClr val="669900"/>
        </a:buClr>
        <a:buFont typeface="楷体_GB2312" panose="02010609030101010101" pitchFamily="49" charset="-122"/>
        <a:buChar char="o"/>
        <a:defRPr sz="2800" b="1">
          <a:solidFill>
            <a:schemeClr val="tx1"/>
          </a:solidFill>
          <a:effectLst>
            <a:outerShdw blurRad="38100" dist="38100" dir="2700000" algn="tl">
              <a:srgbClr val="C0C0C0"/>
            </a:outerShdw>
          </a:effectLst>
          <a:latin typeface="+mn-lt"/>
          <a:ea typeface="华文细黑" panose="02010600040101010101" pitchFamily="2" charset="-122"/>
        </a:defRPr>
      </a:lvl2pPr>
      <a:lvl3pPr marL="1294130" indent="-403225" algn="l" rtl="0" eaLnBrk="0" fontAlgn="base" hangingPunct="0">
        <a:spcBef>
          <a:spcPct val="20000"/>
        </a:spcBef>
        <a:spcAft>
          <a:spcPct val="0"/>
        </a:spcAft>
        <a:buClr>
          <a:srgbClr val="0099CC"/>
        </a:buClr>
        <a:buSzPct val="70000"/>
        <a:buFont typeface="Wingdings" panose="05000000000000000000" pitchFamily="2" charset="2"/>
        <a:buChar char="n"/>
        <a:defRPr sz="2000">
          <a:solidFill>
            <a:schemeClr val="tx1"/>
          </a:solidFill>
          <a:latin typeface="+mn-lt"/>
          <a:ea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pitchFamily="2" charset="2"/>
        <a:buChar char="¡"/>
        <a:defRPr sz="2000">
          <a:solidFill>
            <a:schemeClr val="tx1"/>
          </a:solidFill>
          <a:latin typeface="+mn-lt"/>
          <a:ea typeface="宋体" panose="02010600030101010101" pitchFamily="2" charset="-122"/>
        </a:defRPr>
      </a:lvl4pPr>
      <a:lvl5pPr marL="2070100" indent="-387350" algn="l" rtl="0" eaLnBrk="0" fontAlgn="base" hangingPunct="0">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5pPr>
      <a:lvl6pPr marL="25273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6pPr>
      <a:lvl7pPr marL="29845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7pPr>
      <a:lvl8pPr marL="34417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8pPr>
      <a:lvl9pPr marL="3898900" indent="-387350" algn="l" rtl="0" fontAlgn="base">
        <a:spcBef>
          <a:spcPct val="20000"/>
        </a:spcBef>
        <a:spcAft>
          <a:spcPct val="0"/>
        </a:spcAft>
        <a:buClr>
          <a:srgbClr val="0099CC"/>
        </a:buClr>
        <a:buSzPct val="70000"/>
        <a:buFont typeface="Wingdings" panose="05000000000000000000" pitchFamily="2" charset="2"/>
        <a:buChar char="n"/>
        <a:defRPr sz="16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FFFB242F-4ABF-4555-8697-315988818C94}" type="datetime1">
              <a:rPr lang="en-US" altLang="zh-CN" smtClean="0"/>
              <a:t>12/27/2024</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F99495-4C70-4DA1-B4FD-AE3C2F6741A9}" type="slidenum">
              <a:rPr lang="zh-CN" altLang="en-US" smtClean="0"/>
              <a:t>‹#›</a:t>
            </a:fld>
            <a:endParaRPr lang="en-US" altLang="zh-CN"/>
          </a:p>
        </p:txBody>
      </p:sp>
    </p:spTree>
    <p:extLst>
      <p:ext uri="{BB962C8B-B14F-4D97-AF65-F5344CB8AC3E}">
        <p14:creationId xmlns:p14="http://schemas.microsoft.com/office/powerpoint/2010/main" val="21272457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5.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5.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5.xml"/><Relationship Id="rId1" Type="http://schemas.openxmlformats.org/officeDocument/2006/relationships/tags" Target="../tags/tag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5.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5.xml"/><Relationship Id="rId1" Type="http://schemas.openxmlformats.org/officeDocument/2006/relationships/tags" Target="../tags/tag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5.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9.xml"/><Relationship Id="rId1" Type="http://schemas.openxmlformats.org/officeDocument/2006/relationships/tags" Target="../tags/tag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9.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14.xml"/><Relationship Id="rId1" Type="http://schemas.openxmlformats.org/officeDocument/2006/relationships/tags" Target="../tags/tag1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8.1</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动态规划概念</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1248006178"/>
      </p:ext>
    </p:extLst>
  </p:cSld>
  <p:clrMapOvr>
    <a:masterClrMapping/>
  </p:clrMapOvr>
  <p:transition spd="med" advTm="4738">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动态规划（</a:t>
            </a:r>
            <a:r>
              <a:rPr lang="en-US" altLang="zh-CN" sz="4000" dirty="0">
                <a:solidFill>
                  <a:srgbClr val="C00000"/>
                </a:solidFill>
                <a:effectLst/>
                <a:latin typeface="微软雅黑" panose="020B0503020204020204" pitchFamily="34" charset="-122"/>
                <a:ea typeface="微软雅黑" panose="020B0503020204020204" pitchFamily="34" charset="-122"/>
              </a:rPr>
              <a:t>DP</a:t>
            </a:r>
            <a:r>
              <a:rPr lang="zh-CN" altLang="en-US" sz="4000" dirty="0">
                <a:solidFill>
                  <a:srgbClr val="C00000"/>
                </a:solidFill>
                <a:effectLst/>
                <a:latin typeface="微软雅黑" panose="020B0503020204020204" pitchFamily="34" charset="-122"/>
                <a:ea typeface="微软雅黑" panose="020B0503020204020204" pitchFamily="34" charset="-122"/>
              </a:rPr>
              <a:t>）概述</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50408" y="1749245"/>
            <a:ext cx="9915613" cy="3970318"/>
          </a:xfrm>
          <a:prstGeom prst="rect">
            <a:avLst/>
          </a:prstGeom>
          <a:noFill/>
        </p:spPr>
        <p:txBody>
          <a:bodyPr wrap="square">
            <a:spAutoFit/>
          </a:bodyPr>
          <a:lstStyle/>
          <a:p>
            <a:pPr>
              <a:lnSpc>
                <a:spcPct val="150000"/>
              </a:lnSpc>
              <a:spcBef>
                <a:spcPts val="0"/>
              </a:spcBef>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算法竞赛有初级、中级、高级三个学习阶段。</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marL="800100" lvl="1"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初级阶段：以</a:t>
            </a:r>
            <a:r>
              <a:rPr lang="zh-CN" altLang="en-US" sz="2400" dirty="0">
                <a:solidFill>
                  <a:srgbClr val="C00000"/>
                </a:solidFill>
                <a:latin typeface="微软雅黑" panose="020B0503020204020204" pitchFamily="34" charset="-122"/>
                <a:ea typeface="微软雅黑" panose="020B0503020204020204" pitchFamily="34" charset="-122"/>
                <a:cs typeface="+mn-ea"/>
                <a:sym typeface="+mn-lt"/>
              </a:rPr>
              <a:t>搜索</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DFS</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BFS</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）为里程碑。</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marL="800100" lvl="1"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中级阶段：以</a:t>
            </a:r>
            <a:r>
              <a:rPr lang="zh-CN" altLang="en-US" sz="2400" dirty="0">
                <a:solidFill>
                  <a:srgbClr val="C00000"/>
                </a:solidFill>
                <a:latin typeface="微软雅黑" panose="020B0503020204020204" pitchFamily="34" charset="-122"/>
                <a:ea typeface="微软雅黑" panose="020B0503020204020204" pitchFamily="34" charset="-122"/>
                <a:cs typeface="+mn-ea"/>
                <a:sym typeface="+mn-lt"/>
              </a:rPr>
              <a:t>线段树</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为里程碑。</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marL="800100" lvl="1"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高级阶段：以熟练应用</a:t>
            </a:r>
            <a:r>
              <a:rPr lang="zh-CN" altLang="en-US" sz="2400" dirty="0">
                <a:solidFill>
                  <a:srgbClr val="FF0000"/>
                </a:solidFill>
                <a:latin typeface="微软雅黑" panose="020B0503020204020204" pitchFamily="34" charset="-122"/>
                <a:ea typeface="微软雅黑" panose="020B0503020204020204" pitchFamily="34" charset="-122"/>
                <a:cs typeface="+mn-ea"/>
                <a:sym typeface="+mn-lt"/>
              </a:rPr>
              <a:t>高级动态规划</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为里程碑。</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：线性</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应用（树形</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、状态压缩</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、数位统计</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等）、</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优化</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429192"/>
      </p:ext>
    </p:extLst>
  </p:cSld>
  <p:clrMapOvr>
    <a:masterClrMapping/>
  </p:clrMapOvr>
  <mc:AlternateContent xmlns:mc="http://schemas.openxmlformats.org/markup-compatibility/2006" xmlns:p14="http://schemas.microsoft.com/office/powerpoint/2010/main">
    <mc:Choice Requires="p14">
      <p:transition spd="slow" p14:dur="2000" advTm="67128"/>
    </mc:Choice>
    <mc:Fallback xmlns="">
      <p:transition spd="slow" advTm="6712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BEAF4A88-1FFA-45E9-B118-25E5F215F1C3}"/>
              </a:ext>
            </a:extLst>
          </p:cNvPr>
          <p:cNvSpPr/>
          <p:nvPr/>
        </p:nvSpPr>
        <p:spPr>
          <a:xfrm>
            <a:off x="751325" y="1596540"/>
            <a:ext cx="9915613" cy="3416320"/>
          </a:xfrm>
          <a:prstGeom prst="rect">
            <a:avLst/>
          </a:prstGeom>
          <a:noFill/>
        </p:spPr>
        <p:txBody>
          <a:bodyPr wrap="square">
            <a:spAutoFit/>
          </a:bodyPr>
          <a:lstStyle/>
          <a:p>
            <a:pPr>
              <a:lnSpc>
                <a:spcPct val="150000"/>
              </a:lnSpc>
              <a:spcBef>
                <a:spcPts val="0"/>
              </a:spcBef>
              <a:buFont typeface="Wingdings" panose="05000000000000000000" pitchFamily="2" charset="2"/>
              <a:buChar char="u"/>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：地地道道的“计算思维”，</a:t>
            </a:r>
            <a:r>
              <a:rPr lang="zh-CN" altLang="en-US" sz="2400" dirty="0">
                <a:solidFill>
                  <a:srgbClr val="FF0000"/>
                </a:solidFill>
                <a:latin typeface="微软雅黑" panose="020B0503020204020204" pitchFamily="34" charset="-122"/>
                <a:ea typeface="微软雅黑" panose="020B0503020204020204" pitchFamily="34" charset="-122"/>
                <a:cs typeface="+mn-ea"/>
                <a:sym typeface="+mn-lt"/>
              </a:rPr>
              <a:t>独属于</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计算机学科的计算理论</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：非常</a:t>
            </a:r>
            <a:r>
              <a:rPr lang="zh-CN" altLang="en-US" sz="2400" dirty="0">
                <a:solidFill>
                  <a:srgbClr val="FF0000"/>
                </a:solidFill>
                <a:latin typeface="微软雅黑" panose="020B0503020204020204" pitchFamily="34" charset="-122"/>
                <a:ea typeface="微软雅黑" panose="020B0503020204020204" pitchFamily="34" charset="-122"/>
                <a:cs typeface="+mn-ea"/>
                <a:sym typeface="+mn-lt"/>
              </a:rPr>
              <a:t>适合</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用计算机编程实现。</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：一种</a:t>
            </a:r>
            <a:r>
              <a:rPr lang="zh-CN" altLang="en-US" sz="2400" dirty="0">
                <a:solidFill>
                  <a:srgbClr val="FF0000"/>
                </a:solidFill>
                <a:latin typeface="微软雅黑" panose="020B0503020204020204" pitchFamily="34" charset="-122"/>
                <a:ea typeface="微软雅黑" panose="020B0503020204020204" pitchFamily="34" charset="-122"/>
                <a:cs typeface="+mn-ea"/>
                <a:sym typeface="+mn-lt"/>
              </a:rPr>
              <a:t>需要学习</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才能获得的思维方法。</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算法竞赛：</a:t>
            </a:r>
            <a:r>
              <a:rPr lang="zh-CN" altLang="en-US" sz="2400" dirty="0">
                <a:solidFill>
                  <a:srgbClr val="FF0000"/>
                </a:solidFill>
                <a:latin typeface="微软雅黑" panose="020B0503020204020204" pitchFamily="34" charset="-122"/>
                <a:ea typeface="微软雅黑" panose="020B0503020204020204" pitchFamily="34" charset="-122"/>
                <a:cs typeface="+mn-ea"/>
                <a:sym typeface="+mn-lt"/>
              </a:rPr>
              <a:t>必考</a:t>
            </a:r>
            <a:r>
              <a:rPr lang="en-US" altLang="zh-CN" sz="2400" dirty="0">
                <a:solidFill>
                  <a:srgbClr val="FF0000"/>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蓝桥杯：任何一场比赛，都有</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1~3</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个</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题。</a:t>
            </a:r>
          </a:p>
        </p:txBody>
      </p:sp>
    </p:spTree>
    <p:extLst>
      <p:ext uri="{BB962C8B-B14F-4D97-AF65-F5344CB8AC3E}">
        <p14:creationId xmlns:p14="http://schemas.microsoft.com/office/powerpoint/2010/main" val="2723019596"/>
      </p:ext>
    </p:extLst>
  </p:cSld>
  <p:clrMapOvr>
    <a:masterClrMapping/>
  </p:clrMapOvr>
  <mc:AlternateContent xmlns:mc="http://schemas.openxmlformats.org/markup-compatibility/2006" xmlns:p14="http://schemas.microsoft.com/office/powerpoint/2010/main">
    <mc:Choice Requires="p14">
      <p:transition spd="slow" p14:dur="2000" advTm="72049"/>
    </mc:Choice>
    <mc:Fallback xmlns="">
      <p:transition spd="slow" advTm="7204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graphicFrame>
        <p:nvGraphicFramePr>
          <p:cNvPr id="2" name="表格 1"/>
          <p:cNvGraphicFramePr>
            <a:graphicFrameLocks noGrp="1"/>
          </p:cNvGraphicFramePr>
          <p:nvPr/>
        </p:nvGraphicFramePr>
        <p:xfrm>
          <a:off x="904831" y="2360065"/>
          <a:ext cx="9925024" cy="2274951"/>
        </p:xfrm>
        <a:graphic>
          <a:graphicData uri="http://schemas.openxmlformats.org/drawingml/2006/table">
            <a:tbl>
              <a:tblPr firstRow="1" bandRow="1">
                <a:tableStyleId>{5C22544A-7EE6-4342-B048-85BDC9FD1C3A}</a:tableStyleId>
              </a:tblPr>
              <a:tblGrid>
                <a:gridCol w="1415529">
                  <a:extLst>
                    <a:ext uri="{9D8B030D-6E8A-4147-A177-3AD203B41FA5}">
                      <a16:colId xmlns:a16="http://schemas.microsoft.com/office/drawing/2014/main" val="3576522418"/>
                    </a:ext>
                  </a:extLst>
                </a:gridCol>
                <a:gridCol w="8509495">
                  <a:extLst>
                    <a:ext uri="{9D8B030D-6E8A-4147-A177-3AD203B41FA5}">
                      <a16:colId xmlns:a16="http://schemas.microsoft.com/office/drawing/2014/main" val="4133041166"/>
                    </a:ext>
                  </a:extLst>
                </a:gridCol>
              </a:tblGrid>
              <a:tr h="370840">
                <a:tc>
                  <a:txBody>
                    <a:bodyPr/>
                    <a:lstStyle/>
                    <a:p>
                      <a:pPr marL="0" marR="0" algn="ctr">
                        <a:lnSpc>
                          <a:spcPct val="150000"/>
                        </a:lnSpc>
                        <a:spcBef>
                          <a:spcPts val="0"/>
                        </a:spcBef>
                        <a:spcAft>
                          <a:spcPts val="0"/>
                        </a:spcAft>
                      </a:pPr>
                      <a:r>
                        <a:rPr lang="zh-CN" altLang="en-US" sz="2400" b="1" u="none" kern="2200" spc="0" dirty="0">
                          <a:solidFill>
                            <a:srgbClr val="0070C0"/>
                          </a:solidFill>
                          <a:effectLst/>
                          <a:latin typeface="微软雅黑" panose="020B0503020204020204" pitchFamily="34" charset="-122"/>
                          <a:ea typeface="微软雅黑" panose="020B0503020204020204" pitchFamily="34" charset="-122"/>
                          <a:cs typeface="+mn-cs"/>
                        </a:rPr>
                        <a:t>难度</a:t>
                      </a:r>
                      <a:endParaRPr lang="zh-CN" altLang="en-US" sz="2400" b="1" u="none" kern="22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solidFill>
                      <a:schemeClr val="accent1">
                        <a:lumMod val="40000"/>
                        <a:lumOff val="60000"/>
                      </a:schemeClr>
                    </a:solidFill>
                  </a:tcPr>
                </a:tc>
                <a:tc>
                  <a:txBody>
                    <a:bodyPr/>
                    <a:lstStyle/>
                    <a:p>
                      <a:pPr marL="0" marR="0" algn="ctr">
                        <a:lnSpc>
                          <a:spcPct val="150000"/>
                        </a:lnSpc>
                        <a:spcBef>
                          <a:spcPts val="0"/>
                        </a:spcBef>
                        <a:spcAft>
                          <a:spcPts val="0"/>
                        </a:spcAft>
                      </a:pPr>
                      <a:r>
                        <a:rPr lang="zh-CN" altLang="en-US" sz="2400" b="1" u="none" kern="2200" spc="0" dirty="0">
                          <a:solidFill>
                            <a:srgbClr val="0070C0"/>
                          </a:solidFill>
                          <a:effectLst/>
                          <a:latin typeface="微软雅黑" panose="020B0503020204020204" pitchFamily="34" charset="-122"/>
                          <a:ea typeface="微软雅黑" panose="020B0503020204020204" pitchFamily="34" charset="-122"/>
                        </a:rPr>
                        <a:t>知识点</a:t>
                      </a:r>
                      <a:endParaRPr lang="zh-CN" altLang="en-US" sz="2400" b="1" u="none" kern="22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solidFill>
                      <a:schemeClr val="accent1">
                        <a:lumMod val="40000"/>
                        <a:lumOff val="60000"/>
                      </a:schemeClr>
                    </a:solidFill>
                  </a:tcPr>
                </a:tc>
                <a:extLst>
                  <a:ext uri="{0D108BD9-81ED-4DB2-BD59-A6C34878D82A}">
                    <a16:rowId xmlns:a16="http://schemas.microsoft.com/office/drawing/2014/main" val="2999919353"/>
                  </a:ext>
                </a:extLst>
              </a:tr>
              <a:tr h="148717">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sz="2400" b="1" u="none" kern="2200" spc="0" dirty="0">
                          <a:effectLst/>
                          <a:latin typeface="微软雅黑" panose="020B0503020204020204" pitchFamily="34" charset="-122"/>
                          <a:ea typeface="微软雅黑" panose="020B0503020204020204" pitchFamily="34" charset="-122"/>
                        </a:rPr>
                        <a:t>C</a:t>
                      </a:r>
                      <a:r>
                        <a:rPr lang="zh-CN" altLang="en-US" sz="2400" b="1" u="none" kern="2200" spc="0" dirty="0">
                          <a:effectLst/>
                          <a:latin typeface="微软雅黑" panose="020B0503020204020204" pitchFamily="34" charset="-122"/>
                          <a:ea typeface="微软雅黑" panose="020B0503020204020204" pitchFamily="34" charset="-122"/>
                        </a:rPr>
                        <a:t>组</a:t>
                      </a:r>
                      <a:endParaRPr lang="zh-CN" altLang="en-US" sz="2400" b="1" u="none" kern="22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a:tc>
                <a:tc>
                  <a:txBody>
                    <a:bodyPr/>
                    <a:lstStyle/>
                    <a:p>
                      <a:pPr marL="342900" marR="0" indent="-342900" algn="l">
                        <a:lnSpc>
                          <a:spcPct val="150000"/>
                        </a:lnSpc>
                        <a:spcBef>
                          <a:spcPts val="0"/>
                        </a:spcBef>
                        <a:spcAft>
                          <a:spcPts val="0"/>
                        </a:spcAft>
                        <a:buFont typeface="Arial" panose="020B0604020202020204" pitchFamily="34" charset="0"/>
                        <a:buChar char="•"/>
                      </a:pP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：普通一维问题</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[3-5]</a:t>
                      </a:r>
                      <a:endParaRPr lang="en-US" altLang="zh-CN" sz="2400" b="1" u="none" kern="2200" spc="0" dirty="0">
                        <a:solidFill>
                          <a:srgbClr val="C00000"/>
                        </a:solidFill>
                        <a:effectLst/>
                        <a:latin typeface="微软雅黑" panose="020B0503020204020204" pitchFamily="34" charset="-122"/>
                        <a:ea typeface="微软雅黑" panose="020B0503020204020204" pitchFamily="34" charset="-122"/>
                      </a:endParaRPr>
                    </a:p>
                  </a:txBody>
                  <a:tcPr marL="68580" marR="68580">
                    <a:solidFill>
                      <a:schemeClr val="accent1">
                        <a:tint val="40000"/>
                      </a:schemeClr>
                    </a:solidFill>
                  </a:tcPr>
                </a:tc>
                <a:extLst>
                  <a:ext uri="{0D108BD9-81ED-4DB2-BD59-A6C34878D82A}">
                    <a16:rowId xmlns:a16="http://schemas.microsoft.com/office/drawing/2014/main" val="1154398951"/>
                  </a:ext>
                </a:extLst>
              </a:tr>
              <a:tr h="491363">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en-US" altLang="zh-CN" sz="2400" b="1" u="none" kern="2200" dirty="0">
                          <a:effectLst/>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400" b="1" u="none" kern="2200" dirty="0">
                          <a:effectLst/>
                          <a:latin typeface="微软雅黑" panose="020B0503020204020204" pitchFamily="34" charset="-122"/>
                          <a:ea typeface="微软雅黑" panose="020B0503020204020204" pitchFamily="34" charset="-122"/>
                          <a:cs typeface="Times New Roman" panose="02020603050405020304" pitchFamily="18" charset="0"/>
                        </a:rPr>
                        <a:t>组</a:t>
                      </a:r>
                    </a:p>
                  </a:txBody>
                  <a:tcPr marL="68580" marR="68580"/>
                </a:tc>
                <a:tc>
                  <a:txBody>
                    <a:bodyPr/>
                    <a:lstStyle/>
                    <a:p>
                      <a:pPr marL="342900" marR="0" indent="-342900" algn="l">
                        <a:lnSpc>
                          <a:spcPct val="150000"/>
                        </a:lnSpc>
                        <a:spcBef>
                          <a:spcPts val="0"/>
                        </a:spcBef>
                        <a:spcAft>
                          <a:spcPts val="0"/>
                        </a:spcAft>
                        <a:buFont typeface="Arial" panose="020B0604020202020204" pitchFamily="34" charset="0"/>
                        <a:buChar char="•"/>
                      </a:pP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：背包</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DP[4-6]</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、树形</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DP[4-6]</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、状压</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DP[5-6]</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、数位</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DP[5-6]</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DP</a:t>
                      </a:r>
                      <a:r>
                        <a:rPr lang="zh-CN" altLang="en-US" sz="2400" b="1" u="none" kern="2200" spc="0" dirty="0">
                          <a:solidFill>
                            <a:schemeClr val="tx1"/>
                          </a:solidFill>
                          <a:effectLst/>
                          <a:latin typeface="微软雅黑" panose="020B0503020204020204" pitchFamily="34" charset="-122"/>
                          <a:ea typeface="微软雅黑" panose="020B0503020204020204" pitchFamily="34" charset="-122"/>
                        </a:rPr>
                        <a:t>的常见优化</a:t>
                      </a:r>
                      <a:r>
                        <a:rPr lang="en-US" altLang="zh-CN" sz="2400" b="1" u="none" kern="2200" spc="0" dirty="0">
                          <a:solidFill>
                            <a:schemeClr val="tx1"/>
                          </a:solidFill>
                          <a:effectLst/>
                          <a:latin typeface="微软雅黑" panose="020B0503020204020204" pitchFamily="34" charset="-122"/>
                          <a:ea typeface="微软雅黑" panose="020B0503020204020204" pitchFamily="34" charset="-122"/>
                        </a:rPr>
                        <a:t>[7]</a:t>
                      </a:r>
                    </a:p>
                  </a:txBody>
                  <a:tcPr marL="68580" marR="68580">
                    <a:solidFill>
                      <a:schemeClr val="accent1">
                        <a:tint val="40000"/>
                      </a:schemeClr>
                    </a:solidFill>
                  </a:tcPr>
                </a:tc>
                <a:extLst>
                  <a:ext uri="{0D108BD9-81ED-4DB2-BD59-A6C34878D82A}">
                    <a16:rowId xmlns:a16="http://schemas.microsoft.com/office/drawing/2014/main" val="1538239122"/>
                  </a:ext>
                </a:extLst>
              </a:tr>
            </a:tbl>
          </a:graphicData>
        </a:graphic>
      </p:graphicFrame>
      <p:sp>
        <p:nvSpPr>
          <p:cNvPr id="3" name="矩形 2"/>
          <p:cNvSpPr/>
          <p:nvPr/>
        </p:nvSpPr>
        <p:spPr>
          <a:xfrm>
            <a:off x="293210" y="1217022"/>
            <a:ext cx="11910990" cy="581057"/>
          </a:xfrm>
          <a:prstGeom prst="rect">
            <a:avLst/>
          </a:prstGeom>
        </p:spPr>
        <p:txBody>
          <a:bodyPr wrap="square">
            <a:spAutoFit/>
          </a:bodyPr>
          <a:lstStyle/>
          <a:p>
            <a:pPr>
              <a:lnSpc>
                <a:spcPct val="150000"/>
              </a:lnSpc>
              <a:spcBef>
                <a:spcPts val="0"/>
              </a:spcBef>
            </a:pP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“第十五届蓝桥杯大赛软件赛知识点大纲”中的动态规划（</a:t>
            </a: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A</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组包含</a:t>
            </a: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C</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组和</a:t>
            </a: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B</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组知识点）</a:t>
            </a:r>
          </a:p>
        </p:txBody>
      </p:sp>
    </p:spTree>
    <p:extLst>
      <p:ext uri="{BB962C8B-B14F-4D97-AF65-F5344CB8AC3E}">
        <p14:creationId xmlns:p14="http://schemas.microsoft.com/office/powerpoint/2010/main" val="3476723946"/>
      </p:ext>
    </p:extLst>
  </p:cSld>
  <p:clrMapOvr>
    <a:masterClrMapping/>
  </p:clrMapOvr>
  <mc:AlternateContent xmlns:mc="http://schemas.openxmlformats.org/markup-compatibility/2006" xmlns:p14="http://schemas.microsoft.com/office/powerpoint/2010/main">
    <mc:Choice Requires="p14">
      <p:transition spd="slow" p14:dur="2000" advTm="29966"/>
    </mc:Choice>
    <mc:Fallback xmlns="">
      <p:transition spd="slow" advTm="299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sp>
        <p:nvSpPr>
          <p:cNvPr id="5" name="矩形 4">
            <a:extLst>
              <a:ext uri="{FF2B5EF4-FFF2-40B4-BE49-F238E27FC236}">
                <a16:creationId xmlns:a16="http://schemas.microsoft.com/office/drawing/2014/main" id="{BEAF4A88-1FFA-45E9-B118-25E5F215F1C3}"/>
              </a:ext>
            </a:extLst>
          </p:cNvPr>
          <p:cNvSpPr/>
          <p:nvPr/>
        </p:nvSpPr>
        <p:spPr>
          <a:xfrm>
            <a:off x="751325" y="1291130"/>
            <a:ext cx="9915613" cy="4524315"/>
          </a:xfrm>
          <a:prstGeom prst="rect">
            <a:avLst/>
          </a:prstGeom>
          <a:noFill/>
        </p:spPr>
        <p:txBody>
          <a:bodyPr wrap="square">
            <a:spAutoFit/>
          </a:bodyPr>
          <a:lstStyle/>
          <a:p>
            <a:pPr>
              <a:lnSpc>
                <a:spcPct val="150000"/>
              </a:lnSpc>
              <a:spcBef>
                <a:spcPts val="0"/>
              </a:spcBef>
              <a:buFont typeface="Wingdings" panose="05000000000000000000" pitchFamily="2" charset="2"/>
              <a:buChar char="u"/>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是算法竞赛中最常见的考点之一，省赛、国赛都大量出现。</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2023</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年蓝桥杯</a:t>
            </a:r>
            <a:r>
              <a:rPr lang="zh-CN" altLang="en-US" sz="2400" dirty="0">
                <a:solidFill>
                  <a:srgbClr val="FF0000"/>
                </a:solidFill>
                <a:latin typeface="微软雅黑" panose="020B0503020204020204" pitchFamily="34" charset="-122"/>
                <a:ea typeface="微软雅黑" panose="020B0503020204020204" pitchFamily="34" charset="-122"/>
                <a:cs typeface="+mn-ea"/>
                <a:sym typeface="+mn-lt"/>
              </a:rPr>
              <a:t>省赛</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的</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题：</a:t>
            </a:r>
          </a:p>
          <a:p>
            <a:pPr marL="800100" lvl="1" indent="-342900">
              <a:lnSpc>
                <a:spcPct val="150000"/>
              </a:lnSpc>
              <a:spcBef>
                <a:spcPts val="0"/>
              </a:spcBef>
              <a:buFont typeface="Wingdings" panose="05000000000000000000" pitchFamily="2" charset="2"/>
              <a:buChar char="Ø"/>
            </a:pP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C/C++</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A</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组“更小的数”、</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B</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组“接龙数列”、</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C</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组“填充”、研究生组“奇怪的数”。</a:t>
            </a:r>
          </a:p>
          <a:p>
            <a:pPr marL="800100" lvl="1" indent="-342900">
              <a:lnSpc>
                <a:spcPct val="150000"/>
              </a:lnSpc>
              <a:spcBef>
                <a:spcPts val="0"/>
              </a:spcBef>
              <a:buFont typeface="Wingdings" panose="05000000000000000000" pitchFamily="2" charset="2"/>
              <a:buChar char="Ø"/>
            </a:pP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Java</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A</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组“高塔”、</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B</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组“数组分割，蜗牛，合并石子”、</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C</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组“填充”、研究生组“奇怪的数”。</a:t>
            </a:r>
          </a:p>
          <a:p>
            <a:pPr marL="800100" lvl="1" indent="-342900">
              <a:lnSpc>
                <a:spcPct val="150000"/>
              </a:lnSpc>
              <a:spcBef>
                <a:spcPts val="0"/>
              </a:spcBef>
              <a:buFont typeface="Wingdings" panose="05000000000000000000" pitchFamily="2" charset="2"/>
              <a:buChar char="Ø"/>
            </a:pP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Python</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A</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组“奇怪的数”、</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B</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组“松散子序列，保险箱，树上选点”、</a:t>
            </a:r>
            <a:r>
              <a:rPr lang="en-US" altLang="zh-CN" sz="2400" b="0" dirty="0">
                <a:solidFill>
                  <a:schemeClr val="tx1"/>
                </a:solidFill>
                <a:latin typeface="微软雅黑" panose="020B0503020204020204" pitchFamily="34" charset="-122"/>
                <a:ea typeface="微软雅黑" panose="020B0503020204020204" pitchFamily="34" charset="-122"/>
                <a:cs typeface="+mn-ea"/>
                <a:sym typeface="+mn-lt"/>
              </a:rPr>
              <a:t>C</a:t>
            </a:r>
            <a:r>
              <a:rPr lang="zh-CN" altLang="en-US" sz="2400" b="0" dirty="0">
                <a:solidFill>
                  <a:schemeClr val="tx1"/>
                </a:solidFill>
                <a:latin typeface="微软雅黑" panose="020B0503020204020204" pitchFamily="34" charset="-122"/>
                <a:ea typeface="微软雅黑" panose="020B0503020204020204" pitchFamily="34" charset="-122"/>
                <a:cs typeface="+mn-ea"/>
                <a:sym typeface="+mn-lt"/>
              </a:rPr>
              <a:t>组“填充，奇怪的数”、研究生组“填充，高塔”。</a:t>
            </a:r>
          </a:p>
        </p:txBody>
      </p:sp>
    </p:spTree>
    <p:extLst>
      <p:ext uri="{BB962C8B-B14F-4D97-AF65-F5344CB8AC3E}">
        <p14:creationId xmlns:p14="http://schemas.microsoft.com/office/powerpoint/2010/main" val="1416340901"/>
      </p:ext>
    </p:extLst>
  </p:cSld>
  <p:clrMapOvr>
    <a:masterClrMapping/>
  </p:clrMapOvr>
  <mc:AlternateContent xmlns:mc="http://schemas.openxmlformats.org/markup-compatibility/2006" xmlns:p14="http://schemas.microsoft.com/office/powerpoint/2010/main">
    <mc:Choice Requires="p14">
      <p:transition spd="slow" p14:dur="2000" advTm="28736"/>
    </mc:Choice>
    <mc:Fallback xmlns="">
      <p:transition spd="slow" advTm="2873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904030" y="985720"/>
            <a:ext cx="4956720" cy="610820"/>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en-US" altLang="zh-CN" sz="3200" dirty="0">
                <a:solidFill>
                  <a:srgbClr val="0070C0"/>
                </a:solidFill>
                <a:effectLst/>
                <a:latin typeface="微软雅黑" panose="020B0503020204020204" pitchFamily="34" charset="-122"/>
                <a:ea typeface="微软雅黑" panose="020B0503020204020204" pitchFamily="34" charset="-122"/>
              </a:rPr>
              <a:t>DP</a:t>
            </a:r>
            <a:r>
              <a:rPr lang="zh-CN" altLang="en-US" sz="3200" dirty="0">
                <a:solidFill>
                  <a:srgbClr val="0070C0"/>
                </a:solidFill>
                <a:effectLst/>
                <a:latin typeface="微软雅黑" panose="020B0503020204020204" pitchFamily="34" charset="-122"/>
                <a:ea typeface="微软雅黑" panose="020B0503020204020204" pitchFamily="34" charset="-122"/>
              </a:rPr>
              <a:t>概念</a:t>
            </a:r>
          </a:p>
        </p:txBody>
      </p:sp>
      <p:sp>
        <p:nvSpPr>
          <p:cNvPr id="10" name="矩形 9"/>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sp>
        <p:nvSpPr>
          <p:cNvPr id="5" name="内容占位符 4"/>
          <p:cNvSpPr txBox="1">
            <a:spLocks/>
          </p:cNvSpPr>
          <p:nvPr/>
        </p:nvSpPr>
        <p:spPr>
          <a:xfrm>
            <a:off x="674041" y="1596540"/>
            <a:ext cx="10373418"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动态规划（</a:t>
            </a:r>
            <a:r>
              <a:rPr lang="en-US" altLang="zh-CN" sz="2400" b="1" dirty="0">
                <a:latin typeface="微软雅黑" panose="020B0503020204020204" pitchFamily="34" charset="-122"/>
                <a:ea typeface="微软雅黑" panose="020B0503020204020204" pitchFamily="34" charset="-122"/>
              </a:rPr>
              <a:t>DP</a:t>
            </a:r>
            <a:r>
              <a:rPr lang="zh-CN" altLang="en-US" sz="2400" b="1" dirty="0">
                <a:latin typeface="微软雅黑" panose="020B0503020204020204" pitchFamily="34" charset="-122"/>
                <a:ea typeface="微软雅黑" panose="020B0503020204020204" pitchFamily="34" charset="-122"/>
              </a:rPr>
              <a:t>）：将大问题分解为更简单的子问题，对整体问题的最优解决方案取决于子问题的最优解决方案。</a:t>
            </a:r>
            <a:endParaRPr lang="en-US" altLang="zh-CN" sz="2400"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endParaRPr lang="en-US" altLang="zh-CN" sz="2400"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DP</a:t>
            </a:r>
            <a:r>
              <a:rPr lang="zh-CN" altLang="en-US" sz="2400" dirty="0">
                <a:solidFill>
                  <a:srgbClr val="FF0000"/>
                </a:solidFill>
                <a:latin typeface="微软雅黑" panose="020B0503020204020204" pitchFamily="34" charset="-122"/>
                <a:ea typeface="微软雅黑" panose="020B0503020204020204" pitchFamily="34" charset="-122"/>
              </a:rPr>
              <a:t>特征</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lgn="just" fontAlgn="auto">
              <a:lnSpc>
                <a:spcPct val="140000"/>
              </a:lnSpc>
              <a:spcBef>
                <a:spcPts val="0"/>
              </a:spcBef>
              <a:spcAft>
                <a:spcPts val="0"/>
              </a:spcAft>
            </a:pPr>
            <a:r>
              <a:rPr lang="zh-CN" altLang="en-US" sz="2000" dirty="0">
                <a:latin typeface="微软雅黑" panose="020B0503020204020204" pitchFamily="34" charset="-122"/>
                <a:ea typeface="微软雅黑" panose="020B0503020204020204" pitchFamily="34" charset="-122"/>
              </a:rPr>
              <a:t>重叠子问题：子问题是原大问题的小版本，计算步骤完全一样；其次，计算大问题的时候，需要多次重复计算小问题；</a:t>
            </a:r>
            <a:endParaRPr lang="en-US" altLang="zh-CN" sz="2000" dirty="0">
              <a:latin typeface="微软雅黑" panose="020B0503020204020204" pitchFamily="34" charset="-122"/>
              <a:ea typeface="微软雅黑" panose="020B0503020204020204" pitchFamily="34" charset="-122"/>
            </a:endParaRPr>
          </a:p>
          <a:p>
            <a:pPr lvl="1" algn="just" fontAlgn="auto">
              <a:lnSpc>
                <a:spcPct val="140000"/>
              </a:lnSpc>
              <a:spcBef>
                <a:spcPts val="0"/>
              </a:spcBef>
              <a:spcAft>
                <a:spcPts val="0"/>
              </a:spcAft>
            </a:pPr>
            <a:r>
              <a:rPr lang="zh-CN" altLang="en-US" sz="2000" dirty="0">
                <a:latin typeface="微软雅黑" panose="020B0503020204020204" pitchFamily="34" charset="-122"/>
                <a:ea typeface="微软雅黑" panose="020B0503020204020204" pitchFamily="34" charset="-122"/>
              </a:rPr>
              <a:t>最优子结构：大问题的最优解包含小问题的最优解；其次，可以通过小问题的最优解推导出大问题的最优解。</a:t>
            </a:r>
            <a:endParaRPr lang="en-US" altLang="zh-CN" sz="2000" b="1"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114359743"/>
      </p:ext>
    </p:extLst>
  </p:cSld>
  <p:clrMapOvr>
    <a:masterClrMapping/>
  </p:clrMapOvr>
  <mc:AlternateContent xmlns:mc="http://schemas.openxmlformats.org/markup-compatibility/2006" xmlns:p14="http://schemas.microsoft.com/office/powerpoint/2010/main">
    <mc:Choice Requires="p14">
      <p:transition spd="slow" p14:dur="2000" advTm="72727"/>
    </mc:Choice>
    <mc:Fallback xmlns="">
      <p:transition spd="slow" advTm="727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fade">
                                      <p:cBhvr>
                                        <p:cTn id="10" dur="500"/>
                                        <p:tgtEl>
                                          <p:spTgt spid="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sp>
        <p:nvSpPr>
          <p:cNvPr id="5" name="内容占位符 4"/>
          <p:cNvSpPr txBox="1">
            <a:spLocks/>
          </p:cNvSpPr>
          <p:nvPr/>
        </p:nvSpPr>
        <p:spPr>
          <a:xfrm>
            <a:off x="674041" y="1596540"/>
            <a:ext cx="10373418"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endParaRPr lang="en-US" altLang="zh-CN" sz="1400"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动态规划与</a:t>
            </a:r>
            <a:r>
              <a:rPr lang="zh-CN" altLang="en-US" sz="2400" dirty="0">
                <a:solidFill>
                  <a:srgbClr val="FF0000"/>
                </a:solidFill>
                <a:latin typeface="微软雅黑" panose="020B0503020204020204" pitchFamily="34" charset="-122"/>
                <a:ea typeface="微软雅黑" panose="020B0503020204020204" pitchFamily="34" charset="-122"/>
              </a:rPr>
              <a:t>贪心</a:t>
            </a:r>
            <a:r>
              <a:rPr lang="zh-CN" altLang="en-US" sz="2400" dirty="0">
                <a:latin typeface="微软雅黑" panose="020B0503020204020204" pitchFamily="34" charset="-122"/>
                <a:ea typeface="微软雅黑" panose="020B0503020204020204" pitchFamily="34" charset="-122"/>
              </a:rPr>
              <a:t>：贪心不能得到最优解的题，</a:t>
            </a:r>
            <a:r>
              <a:rPr lang="en-US" altLang="zh-CN" sz="2400" dirty="0">
                <a:latin typeface="微软雅黑" panose="020B0503020204020204" pitchFamily="34" charset="-122"/>
                <a:ea typeface="微软雅黑" panose="020B0503020204020204" pitchFamily="34" charset="-122"/>
              </a:rPr>
              <a:t>DP</a:t>
            </a:r>
            <a:r>
              <a:rPr lang="zh-CN" altLang="en-US" sz="2400" dirty="0">
                <a:latin typeface="微软雅黑" panose="020B0503020204020204" pitchFamily="34" charset="-122"/>
                <a:ea typeface="微软雅黑" panose="020B0503020204020204" pitchFamily="34" charset="-122"/>
              </a:rPr>
              <a:t>往往可以（最少硬币问题）</a:t>
            </a:r>
            <a:endParaRPr lang="zh-CN" altLang="en-US" sz="2400"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endParaRPr lang="en-US" altLang="zh-CN" sz="1200"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endParaRPr lang="zh-CN" altLang="en-US" sz="1200"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动态规划常用于：</a:t>
            </a:r>
            <a:endParaRPr lang="en-US" altLang="zh-CN" sz="2400" b="1" dirty="0">
              <a:latin typeface="微软雅黑" panose="020B0503020204020204" pitchFamily="34" charset="-122"/>
              <a:ea typeface="微软雅黑" panose="020B0503020204020204" pitchFamily="34" charset="-122"/>
            </a:endParaRPr>
          </a:p>
          <a:p>
            <a:pPr lvl="1" algn="just" fontAlgn="auto">
              <a:lnSpc>
                <a:spcPct val="140000"/>
              </a:lnSpc>
              <a:spcBef>
                <a:spcPts val="0"/>
              </a:spcBef>
              <a:spcAft>
                <a:spcPts val="0"/>
              </a:spcAft>
              <a:buFont typeface="Wingdings" panose="05000000000000000000" pitchFamily="2" charset="2"/>
              <a:buChar char="ü"/>
            </a:pPr>
            <a:r>
              <a:rPr lang="zh-CN" altLang="en-US" b="1" dirty="0">
                <a:solidFill>
                  <a:srgbClr val="FF0000"/>
                </a:solidFill>
                <a:latin typeface="微软雅黑" panose="020B0503020204020204" pitchFamily="34" charset="-122"/>
                <a:ea typeface="微软雅黑" panose="020B0503020204020204" pitchFamily="34" charset="-122"/>
              </a:rPr>
              <a:t>计数问题</a:t>
            </a:r>
            <a:r>
              <a:rPr lang="zh-CN" altLang="en-US" b="1" dirty="0">
                <a:latin typeface="微软雅黑" panose="020B0503020204020204" pitchFamily="34" charset="-122"/>
                <a:ea typeface="微软雅黑" panose="020B0503020204020204" pitchFamily="34" charset="-122"/>
              </a:rPr>
              <a:t>（求方案数）</a:t>
            </a:r>
            <a:endParaRPr lang="en-US" altLang="zh-CN" b="1" dirty="0">
              <a:latin typeface="微软雅黑" panose="020B0503020204020204" pitchFamily="34" charset="-122"/>
              <a:ea typeface="微软雅黑" panose="020B0503020204020204" pitchFamily="34" charset="-122"/>
            </a:endParaRPr>
          </a:p>
          <a:p>
            <a:pPr lvl="1" algn="just" fontAlgn="auto">
              <a:lnSpc>
                <a:spcPct val="140000"/>
              </a:lnSpc>
              <a:spcBef>
                <a:spcPts val="0"/>
              </a:spcBef>
              <a:spcAft>
                <a:spcPts val="0"/>
              </a:spcAft>
              <a:buFont typeface="Wingdings" panose="05000000000000000000" pitchFamily="2" charset="2"/>
              <a:buChar char="ü"/>
            </a:pPr>
            <a:r>
              <a:rPr lang="zh-CN" altLang="en-US" b="1" dirty="0">
                <a:solidFill>
                  <a:srgbClr val="FF0000"/>
                </a:solidFill>
                <a:latin typeface="微软雅黑" panose="020B0503020204020204" pitchFamily="34" charset="-122"/>
                <a:ea typeface="微软雅黑" panose="020B0503020204020204" pitchFamily="34" charset="-122"/>
              </a:rPr>
              <a:t>最值问题</a:t>
            </a:r>
            <a:r>
              <a:rPr lang="zh-CN" altLang="en-US" b="1" dirty="0">
                <a:latin typeface="微软雅黑" panose="020B0503020204020204" pitchFamily="34" charset="-122"/>
                <a:ea typeface="微软雅黑" panose="020B0503020204020204" pitchFamily="34" charset="-122"/>
              </a:rPr>
              <a:t>（最大价值、最小花费等）</a:t>
            </a:r>
          </a:p>
        </p:txBody>
      </p:sp>
    </p:spTree>
    <p:custDataLst>
      <p:tags r:id="rId1"/>
    </p:custDataLst>
    <p:extLst>
      <p:ext uri="{BB962C8B-B14F-4D97-AF65-F5344CB8AC3E}">
        <p14:creationId xmlns:p14="http://schemas.microsoft.com/office/powerpoint/2010/main" val="4247610166"/>
      </p:ext>
    </p:extLst>
  </p:cSld>
  <p:clrMapOvr>
    <a:masterClrMapping/>
  </p:clrMapOvr>
  <mc:AlternateContent xmlns:mc="http://schemas.openxmlformats.org/markup-compatibility/2006" xmlns:p14="http://schemas.microsoft.com/office/powerpoint/2010/main">
    <mc:Choice Requires="p14">
      <p:transition spd="slow" p14:dur="2000" advTm="49425"/>
    </mc:Choice>
    <mc:Fallback xmlns="">
      <p:transition spd="slow" advTm="494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animEffect transition="in" filter="fade">
                                      <p:cBhvr>
                                        <p:cTn id="15" dur="500"/>
                                        <p:tgtEl>
                                          <p:spTgt spid="5">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6" end="6"/>
                                            </p:txEl>
                                          </p:spTgt>
                                        </p:tgtEl>
                                        <p:attrNameLst>
                                          <p:attrName>style.visibility</p:attrName>
                                        </p:attrNameLst>
                                      </p:cBhvr>
                                      <p:to>
                                        <p:strVal val="visible"/>
                                      </p:to>
                                    </p:set>
                                    <p:animEffect transition="in" filter="fade">
                                      <p:cBhvr>
                                        <p:cTn id="18"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3DB194-F7C1-8811-FD82-4F23A423A18C}"/>
              </a:ext>
            </a:extLst>
          </p:cNvPr>
          <p:cNvSpPr>
            <a:spLocks noGrp="1"/>
          </p:cNvSpPr>
          <p:nvPr>
            <p:ph type="title"/>
          </p:nvPr>
        </p:nvSpPr>
        <p:spPr>
          <a:xfrm>
            <a:off x="-12200" y="69490"/>
            <a:ext cx="9484597" cy="533400"/>
          </a:xfrm>
        </p:spPr>
        <p:txBody>
          <a:bodyPr/>
          <a:lstStyle/>
          <a:p>
            <a:r>
              <a:rPr lang="zh-CN" altLang="en-US" dirty="0">
                <a:solidFill>
                  <a:schemeClr val="accent1">
                    <a:lumMod val="75000"/>
                  </a:schemeClr>
                </a:solidFill>
              </a:rPr>
              <a:t>硬币问题</a:t>
            </a:r>
          </a:p>
        </p:txBody>
      </p:sp>
      <p:sp>
        <p:nvSpPr>
          <p:cNvPr id="3" name="文本框 2">
            <a:extLst>
              <a:ext uri="{FF2B5EF4-FFF2-40B4-BE49-F238E27FC236}">
                <a16:creationId xmlns:a16="http://schemas.microsoft.com/office/drawing/2014/main" id="{04B57A7E-2805-C5F9-AA8B-F94E540043B5}"/>
              </a:ext>
            </a:extLst>
          </p:cNvPr>
          <p:cNvSpPr txBox="1"/>
          <p:nvPr/>
        </p:nvSpPr>
        <p:spPr>
          <a:xfrm>
            <a:off x="598620" y="1291130"/>
            <a:ext cx="10231235" cy="707886"/>
          </a:xfrm>
          <a:prstGeom prst="rect">
            <a:avLst/>
          </a:prstGeom>
          <a:noFill/>
        </p:spPr>
        <p:txBody>
          <a:bodyPr wrap="square" rtlCol="0">
            <a:spAutoFit/>
          </a:bodyPr>
          <a:lstStyle/>
          <a:p>
            <a:r>
              <a:rPr lang="zh-CN" altLang="en-US" dirty="0">
                <a:solidFill>
                  <a:schemeClr val="tx1"/>
                </a:solidFill>
              </a:rPr>
              <a:t>给你无限多的硬币，面值有</a:t>
            </a:r>
            <a:r>
              <a:rPr lang="en-US" altLang="zh-CN" dirty="0">
                <a:solidFill>
                  <a:schemeClr val="tx1"/>
                </a:solidFill>
              </a:rPr>
              <a:t>1,5,10,20,50,100.</a:t>
            </a:r>
          </a:p>
          <a:p>
            <a:r>
              <a:rPr lang="zh-CN" altLang="en-US" dirty="0">
                <a:solidFill>
                  <a:schemeClr val="tx1"/>
                </a:solidFill>
              </a:rPr>
              <a:t>给定一个数额</a:t>
            </a:r>
            <a:r>
              <a:rPr lang="en-US" altLang="zh-CN" dirty="0">
                <a:solidFill>
                  <a:schemeClr val="tx1"/>
                </a:solidFill>
              </a:rPr>
              <a:t>w</a:t>
            </a:r>
            <a:r>
              <a:rPr lang="zh-CN" altLang="en-US" dirty="0">
                <a:solidFill>
                  <a:schemeClr val="tx1"/>
                </a:solidFill>
              </a:rPr>
              <a:t>，问您最少用多少枚硬币可以凑出</a:t>
            </a:r>
            <a:r>
              <a:rPr lang="en-US" altLang="zh-CN" dirty="0">
                <a:solidFill>
                  <a:schemeClr val="tx1"/>
                </a:solidFill>
              </a:rPr>
              <a:t>w</a:t>
            </a:r>
            <a:r>
              <a:rPr lang="zh-CN" altLang="en-US" dirty="0">
                <a:solidFill>
                  <a:schemeClr val="tx1"/>
                </a:solidFill>
              </a:rPr>
              <a:t>。</a:t>
            </a:r>
          </a:p>
        </p:txBody>
      </p:sp>
      <p:sp>
        <p:nvSpPr>
          <p:cNvPr id="4" name="文本框 3">
            <a:extLst>
              <a:ext uri="{FF2B5EF4-FFF2-40B4-BE49-F238E27FC236}">
                <a16:creationId xmlns:a16="http://schemas.microsoft.com/office/drawing/2014/main" id="{E610A242-CF3F-205C-C5B5-3D32BBD0771A}"/>
              </a:ext>
            </a:extLst>
          </p:cNvPr>
          <p:cNvSpPr txBox="1"/>
          <p:nvPr/>
        </p:nvSpPr>
        <p:spPr>
          <a:xfrm>
            <a:off x="598620" y="2512770"/>
            <a:ext cx="7177135" cy="1015663"/>
          </a:xfrm>
          <a:prstGeom prst="rect">
            <a:avLst/>
          </a:prstGeom>
          <a:noFill/>
        </p:spPr>
        <p:txBody>
          <a:bodyPr wrap="square" rtlCol="0">
            <a:spAutoFit/>
          </a:bodyPr>
          <a:lstStyle/>
          <a:p>
            <a:r>
              <a:rPr lang="zh-CN" altLang="en-US" dirty="0">
                <a:solidFill>
                  <a:schemeClr val="tx1"/>
                </a:solidFill>
              </a:rPr>
              <a:t>可以发现这些面值与人民币是一致的，所以我们可以采取尽量先用大的面额再用小的面额的思路。</a:t>
            </a:r>
            <a:endParaRPr lang="en-US" altLang="zh-CN" dirty="0">
              <a:solidFill>
                <a:schemeClr val="tx1"/>
              </a:solidFill>
            </a:endParaRPr>
          </a:p>
          <a:p>
            <a:r>
              <a:rPr lang="zh-CN" altLang="en-US" dirty="0">
                <a:solidFill>
                  <a:schemeClr val="tx1"/>
                </a:solidFill>
              </a:rPr>
              <a:t>比如说</a:t>
            </a:r>
            <a:r>
              <a:rPr lang="en-US" altLang="zh-CN" dirty="0">
                <a:solidFill>
                  <a:schemeClr val="tx1"/>
                </a:solidFill>
              </a:rPr>
              <a:t>66=50+10+5+1</a:t>
            </a:r>
            <a:r>
              <a:rPr lang="zh-CN" altLang="en-US" dirty="0">
                <a:solidFill>
                  <a:schemeClr val="tx1"/>
                </a:solidFill>
              </a:rPr>
              <a:t>，用</a:t>
            </a:r>
            <a:r>
              <a:rPr lang="en-US" altLang="zh-CN" dirty="0">
                <a:solidFill>
                  <a:schemeClr val="tx1"/>
                </a:solidFill>
              </a:rPr>
              <a:t>10</a:t>
            </a:r>
            <a:r>
              <a:rPr lang="zh-CN" altLang="en-US" dirty="0">
                <a:solidFill>
                  <a:schemeClr val="tx1"/>
                </a:solidFill>
              </a:rPr>
              <a:t>枚硬币即可。</a:t>
            </a:r>
            <a:endParaRPr lang="en-US" altLang="zh-CN" dirty="0">
              <a:solidFill>
                <a:schemeClr val="tx1"/>
              </a:solidFill>
            </a:endParaRPr>
          </a:p>
        </p:txBody>
      </p:sp>
      <p:sp>
        <p:nvSpPr>
          <p:cNvPr id="5" name="文本框 4">
            <a:extLst>
              <a:ext uri="{FF2B5EF4-FFF2-40B4-BE49-F238E27FC236}">
                <a16:creationId xmlns:a16="http://schemas.microsoft.com/office/drawing/2014/main" id="{5FED9121-CC7C-7C24-B58E-8370D521916A}"/>
              </a:ext>
            </a:extLst>
          </p:cNvPr>
          <p:cNvSpPr txBox="1"/>
          <p:nvPr/>
        </p:nvSpPr>
        <p:spPr>
          <a:xfrm>
            <a:off x="598620" y="3734410"/>
            <a:ext cx="5802790" cy="400110"/>
          </a:xfrm>
          <a:prstGeom prst="rect">
            <a:avLst/>
          </a:prstGeom>
          <a:noFill/>
        </p:spPr>
        <p:txBody>
          <a:bodyPr wrap="square" rtlCol="0">
            <a:spAutoFit/>
          </a:bodyPr>
          <a:lstStyle/>
          <a:p>
            <a:r>
              <a:rPr lang="zh-CN" altLang="en-US" dirty="0">
                <a:solidFill>
                  <a:schemeClr val="tx1"/>
                </a:solidFill>
              </a:rPr>
              <a:t>这种思路即为贪心的思路。</a:t>
            </a:r>
          </a:p>
        </p:txBody>
      </p:sp>
    </p:spTree>
    <p:extLst>
      <p:ext uri="{BB962C8B-B14F-4D97-AF65-F5344CB8AC3E}">
        <p14:creationId xmlns:p14="http://schemas.microsoft.com/office/powerpoint/2010/main" val="52018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74661-FC92-61E3-6080-9C3625A58D6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19401F1-ADFC-567D-D7A9-52376C752FBA}"/>
              </a:ext>
            </a:extLst>
          </p:cNvPr>
          <p:cNvSpPr>
            <a:spLocks noGrp="1"/>
          </p:cNvSpPr>
          <p:nvPr>
            <p:ph type="title"/>
          </p:nvPr>
        </p:nvSpPr>
        <p:spPr>
          <a:xfrm>
            <a:off x="-12200" y="69490"/>
            <a:ext cx="9484597" cy="533400"/>
          </a:xfrm>
        </p:spPr>
        <p:txBody>
          <a:bodyPr/>
          <a:lstStyle/>
          <a:p>
            <a:r>
              <a:rPr lang="zh-CN" altLang="en-US" dirty="0">
                <a:solidFill>
                  <a:schemeClr val="accent1">
                    <a:lumMod val="75000"/>
                  </a:schemeClr>
                </a:solidFill>
              </a:rPr>
              <a:t>硬币问题</a:t>
            </a:r>
          </a:p>
        </p:txBody>
      </p:sp>
      <p:sp>
        <p:nvSpPr>
          <p:cNvPr id="3" name="文本框 2">
            <a:extLst>
              <a:ext uri="{FF2B5EF4-FFF2-40B4-BE49-F238E27FC236}">
                <a16:creationId xmlns:a16="http://schemas.microsoft.com/office/drawing/2014/main" id="{F5CD39FF-D974-6655-797D-DF414E15A810}"/>
              </a:ext>
            </a:extLst>
          </p:cNvPr>
          <p:cNvSpPr txBox="1"/>
          <p:nvPr/>
        </p:nvSpPr>
        <p:spPr>
          <a:xfrm>
            <a:off x="598620" y="1291130"/>
            <a:ext cx="10231235" cy="1938992"/>
          </a:xfrm>
          <a:prstGeom prst="rect">
            <a:avLst/>
          </a:prstGeom>
          <a:noFill/>
        </p:spPr>
        <p:txBody>
          <a:bodyPr wrap="square" rtlCol="0">
            <a:spAutoFit/>
          </a:bodyPr>
          <a:lstStyle/>
          <a:p>
            <a:r>
              <a:rPr lang="zh-CN" altLang="en-US" dirty="0">
                <a:solidFill>
                  <a:schemeClr val="tx1"/>
                </a:solidFill>
              </a:rPr>
              <a:t>在这套硬币面值的情况下，我们可以每次最大程度的解决问题，只考虑眼前的情况来实现最终的最优解。</a:t>
            </a:r>
            <a:endParaRPr lang="en-US" altLang="zh-CN" dirty="0">
              <a:solidFill>
                <a:schemeClr val="tx1"/>
              </a:solidFill>
            </a:endParaRPr>
          </a:p>
          <a:p>
            <a:r>
              <a:rPr lang="zh-CN" altLang="en-US" dirty="0">
                <a:solidFill>
                  <a:schemeClr val="tx1"/>
                </a:solidFill>
              </a:rPr>
              <a:t>但是如果我们换一套硬币，可能情况就不一样了，</a:t>
            </a:r>
            <a:endParaRPr lang="en-US" altLang="zh-CN" dirty="0">
              <a:solidFill>
                <a:schemeClr val="tx1"/>
              </a:solidFill>
            </a:endParaRPr>
          </a:p>
          <a:p>
            <a:r>
              <a:rPr lang="zh-CN" altLang="en-US" dirty="0">
                <a:solidFill>
                  <a:schemeClr val="tx1"/>
                </a:solidFill>
              </a:rPr>
              <a:t>比如现在硬币面值为 </a:t>
            </a:r>
            <a:r>
              <a:rPr lang="en-US" altLang="zh-CN" dirty="0">
                <a:solidFill>
                  <a:schemeClr val="tx1"/>
                </a:solidFill>
              </a:rPr>
              <a:t>1</a:t>
            </a:r>
            <a:r>
              <a:rPr lang="zh-CN" altLang="en-US" dirty="0">
                <a:solidFill>
                  <a:schemeClr val="tx1"/>
                </a:solidFill>
              </a:rPr>
              <a:t>，</a:t>
            </a:r>
            <a:r>
              <a:rPr lang="en-US" altLang="zh-CN" dirty="0">
                <a:solidFill>
                  <a:schemeClr val="tx1"/>
                </a:solidFill>
              </a:rPr>
              <a:t>5</a:t>
            </a:r>
            <a:r>
              <a:rPr lang="zh-CN" altLang="en-US" dirty="0">
                <a:solidFill>
                  <a:schemeClr val="tx1"/>
                </a:solidFill>
              </a:rPr>
              <a:t>，</a:t>
            </a:r>
            <a:r>
              <a:rPr lang="en-US" altLang="zh-CN" dirty="0">
                <a:solidFill>
                  <a:schemeClr val="tx1"/>
                </a:solidFill>
              </a:rPr>
              <a:t>11</a:t>
            </a:r>
          </a:p>
          <a:p>
            <a:endParaRPr lang="en-US" altLang="zh-CN" dirty="0">
              <a:solidFill>
                <a:schemeClr val="tx1"/>
              </a:solidFill>
            </a:endParaRPr>
          </a:p>
          <a:p>
            <a:r>
              <a:rPr lang="zh-CN" altLang="en-US" dirty="0">
                <a:solidFill>
                  <a:schemeClr val="tx1"/>
                </a:solidFill>
              </a:rPr>
              <a:t>那么我们可以发现一些反例：</a:t>
            </a:r>
          </a:p>
        </p:txBody>
      </p:sp>
      <p:sp>
        <p:nvSpPr>
          <p:cNvPr id="6" name="文本框 5">
            <a:extLst>
              <a:ext uri="{FF2B5EF4-FFF2-40B4-BE49-F238E27FC236}">
                <a16:creationId xmlns:a16="http://schemas.microsoft.com/office/drawing/2014/main" id="{13FCF6BD-AD2D-BE41-B033-35AFFE0E4879}"/>
              </a:ext>
            </a:extLst>
          </p:cNvPr>
          <p:cNvSpPr txBox="1"/>
          <p:nvPr/>
        </p:nvSpPr>
        <p:spPr>
          <a:xfrm>
            <a:off x="598620" y="3429000"/>
            <a:ext cx="6871725" cy="1323439"/>
          </a:xfrm>
          <a:prstGeom prst="rect">
            <a:avLst/>
          </a:prstGeom>
          <a:noFill/>
        </p:spPr>
        <p:txBody>
          <a:bodyPr wrap="square" rtlCol="0">
            <a:spAutoFit/>
          </a:bodyPr>
          <a:lstStyle/>
          <a:p>
            <a:r>
              <a:rPr lang="zh-CN" altLang="en-US" dirty="0">
                <a:solidFill>
                  <a:schemeClr val="tx1"/>
                </a:solidFill>
              </a:rPr>
              <a:t>按照先拿最大的思路：</a:t>
            </a:r>
            <a:r>
              <a:rPr lang="en-US" altLang="zh-CN" dirty="0">
                <a:solidFill>
                  <a:schemeClr val="tx1"/>
                </a:solidFill>
              </a:rPr>
              <a:t>15=11+4*1</a:t>
            </a:r>
            <a:r>
              <a:rPr lang="zh-CN" altLang="en-US" dirty="0">
                <a:solidFill>
                  <a:schemeClr val="tx1"/>
                </a:solidFill>
              </a:rPr>
              <a:t>，共用</a:t>
            </a:r>
            <a:r>
              <a:rPr lang="en-US" altLang="zh-CN" dirty="0">
                <a:solidFill>
                  <a:schemeClr val="tx1"/>
                </a:solidFill>
              </a:rPr>
              <a:t>5</a:t>
            </a:r>
            <a:r>
              <a:rPr lang="zh-CN" altLang="en-US" dirty="0">
                <a:solidFill>
                  <a:schemeClr val="tx1"/>
                </a:solidFill>
              </a:rPr>
              <a:t>枚硬币。</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而实际上我们容易发现最佳策略是：</a:t>
            </a:r>
            <a:endParaRPr lang="en-US" altLang="zh-CN" dirty="0">
              <a:solidFill>
                <a:schemeClr val="tx1"/>
              </a:solidFill>
            </a:endParaRPr>
          </a:p>
          <a:p>
            <a:r>
              <a:rPr lang="en-US" altLang="zh-CN" dirty="0">
                <a:solidFill>
                  <a:schemeClr val="tx1"/>
                </a:solidFill>
              </a:rPr>
              <a:t>15=3*5</a:t>
            </a:r>
            <a:r>
              <a:rPr lang="zh-CN" altLang="en-US" dirty="0">
                <a:solidFill>
                  <a:schemeClr val="tx1"/>
                </a:solidFill>
              </a:rPr>
              <a:t>，共用</a:t>
            </a:r>
            <a:r>
              <a:rPr lang="en-US" altLang="zh-CN" dirty="0">
                <a:solidFill>
                  <a:schemeClr val="tx1"/>
                </a:solidFill>
              </a:rPr>
              <a:t>3</a:t>
            </a:r>
            <a:r>
              <a:rPr lang="zh-CN" altLang="en-US" dirty="0">
                <a:solidFill>
                  <a:schemeClr val="tx1"/>
                </a:solidFill>
              </a:rPr>
              <a:t>枚硬币即解决问题。</a:t>
            </a:r>
          </a:p>
        </p:txBody>
      </p:sp>
    </p:spTree>
    <p:extLst>
      <p:ext uri="{BB962C8B-B14F-4D97-AF65-F5344CB8AC3E}">
        <p14:creationId xmlns:p14="http://schemas.microsoft.com/office/powerpoint/2010/main" val="2853196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2945A-87C6-0AA7-D8ED-77BF46133D6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A36119-7C13-1305-07E7-5ECFDF1D4B61}"/>
              </a:ext>
            </a:extLst>
          </p:cNvPr>
          <p:cNvSpPr>
            <a:spLocks noGrp="1"/>
          </p:cNvSpPr>
          <p:nvPr>
            <p:ph type="title"/>
          </p:nvPr>
        </p:nvSpPr>
        <p:spPr>
          <a:xfrm>
            <a:off x="-12200" y="69490"/>
            <a:ext cx="9484597" cy="533400"/>
          </a:xfrm>
        </p:spPr>
        <p:txBody>
          <a:bodyPr/>
          <a:lstStyle/>
          <a:p>
            <a:r>
              <a:rPr lang="zh-CN" altLang="en-US" dirty="0">
                <a:solidFill>
                  <a:schemeClr val="accent1">
                    <a:lumMod val="75000"/>
                  </a:schemeClr>
                </a:solidFill>
              </a:rPr>
              <a:t>硬币问题</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12EF093-77E1-CEE6-870B-C5733E8E4072}"/>
                  </a:ext>
                </a:extLst>
              </p:cNvPr>
              <p:cNvSpPr txBox="1"/>
              <p:nvPr/>
            </p:nvSpPr>
            <p:spPr>
              <a:xfrm>
                <a:off x="598620" y="1291130"/>
                <a:ext cx="10231235" cy="5016758"/>
              </a:xfrm>
              <a:prstGeom prst="rect">
                <a:avLst/>
              </a:prstGeom>
              <a:noFill/>
            </p:spPr>
            <p:txBody>
              <a:bodyPr wrap="square" rtlCol="0">
                <a:spAutoFit/>
              </a:bodyPr>
              <a:lstStyle/>
              <a:p>
                <a:r>
                  <a:rPr lang="zh-CN" altLang="en-US" dirty="0">
                    <a:solidFill>
                      <a:schemeClr val="tx1"/>
                    </a:solidFill>
                  </a:rPr>
                  <a:t>看来贪心并不能解决任意硬币面值的问题。</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那么我们还有什么方法？</a:t>
                </a:r>
                <a:endParaRPr lang="en-US" altLang="zh-CN" dirty="0">
                  <a:solidFill>
                    <a:schemeClr val="tx1"/>
                  </a:solidFill>
                </a:endParaRPr>
              </a:p>
              <a:p>
                <a:r>
                  <a:rPr lang="zh-CN" altLang="en-US" dirty="0">
                    <a:solidFill>
                      <a:schemeClr val="tx1"/>
                    </a:solidFill>
                  </a:rPr>
                  <a:t>有的人可能会想到，我们可以用搜索！</a:t>
                </a:r>
                <a:endParaRPr lang="en-US" altLang="zh-CN" dirty="0">
                  <a:solidFill>
                    <a:schemeClr val="tx1"/>
                  </a:solidFill>
                </a:endParaRPr>
              </a:p>
              <a:p>
                <a:r>
                  <a:rPr lang="zh-CN" altLang="en-US" dirty="0">
                    <a:solidFill>
                      <a:schemeClr val="tx1"/>
                    </a:solidFill>
                  </a:rPr>
                  <a:t>枚举出所有的情况。</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一个最简单最暴力的</a:t>
                </a:r>
                <a:r>
                  <a:rPr lang="en-US" altLang="zh-CN" dirty="0">
                    <a:solidFill>
                      <a:schemeClr val="tx1"/>
                    </a:solidFill>
                  </a:rPr>
                  <a:t>DFS</a:t>
                </a:r>
                <a:r>
                  <a:rPr lang="zh-CN" altLang="en-US" dirty="0">
                    <a:solidFill>
                      <a:schemeClr val="tx1"/>
                    </a:solidFill>
                  </a:rPr>
                  <a:t>搜索可以描述成如下的流程：</a:t>
                </a:r>
                <a:endParaRPr lang="en-US" altLang="zh-CN" dirty="0">
                  <a:solidFill>
                    <a:schemeClr val="tx1"/>
                  </a:solidFill>
                </a:endParaRPr>
              </a:p>
              <a:p>
                <a:r>
                  <a:rPr lang="zh-CN" altLang="en-US" dirty="0">
                    <a:solidFill>
                      <a:schemeClr val="tx1"/>
                    </a:solidFill>
                  </a:rPr>
                  <a:t>设置</a:t>
                </a:r>
                <a:r>
                  <a:rPr lang="en-US" altLang="zh-CN" dirty="0" err="1">
                    <a:solidFill>
                      <a:schemeClr val="tx1"/>
                    </a:solidFill>
                  </a:rPr>
                  <a:t>Dfs</a:t>
                </a:r>
                <a:r>
                  <a:rPr lang="en-US" altLang="zh-CN" dirty="0">
                    <a:solidFill>
                      <a:schemeClr val="tx1"/>
                    </a:solidFill>
                  </a:rPr>
                  <a:t>(int </a:t>
                </a:r>
                <a:r>
                  <a:rPr lang="en-US" altLang="zh-CN" dirty="0" err="1">
                    <a:solidFill>
                      <a:schemeClr val="tx1"/>
                    </a:solidFill>
                  </a:rPr>
                  <a:t>left,int</a:t>
                </a:r>
                <a:r>
                  <a:rPr lang="en-US" altLang="zh-CN" dirty="0">
                    <a:solidFill>
                      <a:schemeClr val="tx1"/>
                    </a:solidFill>
                  </a:rPr>
                  <a:t> num)     	</a:t>
                </a:r>
                <a:r>
                  <a:rPr lang="en-US" altLang="zh-CN" dirty="0">
                    <a:solidFill>
                      <a:srgbClr val="92D050"/>
                    </a:solidFill>
                  </a:rPr>
                  <a:t>//left</a:t>
                </a:r>
                <a:r>
                  <a:rPr lang="zh-CN" altLang="en-US" dirty="0">
                    <a:solidFill>
                      <a:srgbClr val="92D050"/>
                    </a:solidFill>
                  </a:rPr>
                  <a:t>表示我们现在剩下的要凑的数额</a:t>
                </a:r>
                <a:r>
                  <a:rPr lang="en-US" altLang="zh-CN" dirty="0">
                    <a:solidFill>
                      <a:srgbClr val="92D050"/>
                    </a:solidFill>
                  </a:rPr>
                  <a:t>,num</a:t>
                </a:r>
                <a:r>
                  <a:rPr lang="zh-CN" altLang="en-US" dirty="0">
                    <a:solidFill>
                      <a:srgbClr val="92D050"/>
                    </a:solidFill>
                  </a:rPr>
                  <a:t>表示已经选的硬币数量。</a:t>
                </a:r>
                <a:endParaRPr lang="en-US" altLang="zh-CN" dirty="0">
                  <a:solidFill>
                    <a:srgbClr val="92D050"/>
                  </a:solidFill>
                </a:endParaRPr>
              </a:p>
              <a:p>
                <a:r>
                  <a:rPr lang="en-US" altLang="zh-CN" dirty="0">
                    <a:solidFill>
                      <a:schemeClr val="tx1"/>
                    </a:solidFill>
                  </a:rPr>
                  <a:t>1.</a:t>
                </a:r>
                <a:r>
                  <a:rPr lang="zh-CN" altLang="en-US" dirty="0">
                    <a:solidFill>
                      <a:schemeClr val="tx1"/>
                    </a:solidFill>
                  </a:rPr>
                  <a:t>在每一层的向下搜索中，选择一枚硬币作为当前选择，进入</a:t>
                </a:r>
                <a:r>
                  <a:rPr lang="en-US" altLang="zh-CN" dirty="0" err="1">
                    <a:solidFill>
                      <a:schemeClr val="tx1"/>
                    </a:solidFill>
                  </a:rPr>
                  <a:t>dfs</a:t>
                </a:r>
                <a:r>
                  <a:rPr lang="en-US" altLang="zh-CN" dirty="0">
                    <a:solidFill>
                      <a:schemeClr val="tx1"/>
                    </a:solidFill>
                  </a:rPr>
                  <a:t>(left-c[</a:t>
                </a:r>
                <a:r>
                  <a:rPr lang="en-US" altLang="zh-CN" dirty="0" err="1">
                    <a:solidFill>
                      <a:schemeClr val="tx1"/>
                    </a:solidFill>
                  </a:rPr>
                  <a:t>i</a:t>
                </a:r>
                <a:r>
                  <a:rPr lang="en-US" altLang="zh-CN" dirty="0">
                    <a:solidFill>
                      <a:schemeClr val="tx1"/>
                    </a:solidFill>
                  </a:rPr>
                  <a:t>],num+1)</a:t>
                </a:r>
                <a:r>
                  <a:rPr lang="zh-CN" altLang="en-US" dirty="0">
                    <a:solidFill>
                      <a:schemeClr val="tx1"/>
                    </a:solidFill>
                  </a:rPr>
                  <a:t>。</a:t>
                </a:r>
                <a:endParaRPr lang="en-US" altLang="zh-CN" dirty="0">
                  <a:solidFill>
                    <a:schemeClr val="tx1"/>
                  </a:solidFill>
                </a:endParaRPr>
              </a:p>
              <a:p>
                <a:r>
                  <a:rPr lang="en-US" altLang="zh-CN" dirty="0">
                    <a:solidFill>
                      <a:schemeClr val="tx1"/>
                    </a:solidFill>
                  </a:rPr>
                  <a:t>2.</a:t>
                </a:r>
                <a:r>
                  <a:rPr lang="zh-CN" altLang="en-US" dirty="0">
                    <a:solidFill>
                      <a:schemeClr val="tx1"/>
                    </a:solidFill>
                  </a:rPr>
                  <a:t>当</a:t>
                </a:r>
                <a:r>
                  <a:rPr lang="en-US" altLang="zh-CN" dirty="0">
                    <a:solidFill>
                      <a:schemeClr val="tx1"/>
                    </a:solidFill>
                  </a:rPr>
                  <a:t>left</a:t>
                </a:r>
                <a:r>
                  <a:rPr lang="zh-CN" altLang="en-US" dirty="0">
                    <a:solidFill>
                      <a:schemeClr val="tx1"/>
                    </a:solidFill>
                  </a:rPr>
                  <a:t>为</a:t>
                </a:r>
                <a:r>
                  <a:rPr lang="en-US" altLang="zh-CN" dirty="0">
                    <a:solidFill>
                      <a:schemeClr val="tx1"/>
                    </a:solidFill>
                  </a:rPr>
                  <a:t>0</a:t>
                </a:r>
                <a:r>
                  <a:rPr lang="zh-CN" altLang="en-US" dirty="0">
                    <a:solidFill>
                      <a:schemeClr val="tx1"/>
                    </a:solidFill>
                  </a:rPr>
                  <a:t>时，停止向下的搜索，对于一个全局最优解变量</a:t>
                </a:r>
                <a:r>
                  <a:rPr lang="en-US" altLang="zh-CN" dirty="0" err="1">
                    <a:solidFill>
                      <a:schemeClr val="tx1"/>
                    </a:solidFill>
                  </a:rPr>
                  <a:t>ans</a:t>
                </a:r>
                <a:r>
                  <a:rPr lang="zh-CN" altLang="en-US" dirty="0">
                    <a:solidFill>
                      <a:schemeClr val="tx1"/>
                    </a:solidFill>
                  </a:rPr>
                  <a:t>，计算</a:t>
                </a:r>
                <a:r>
                  <a:rPr lang="en-US" altLang="zh-CN" dirty="0" err="1">
                    <a:solidFill>
                      <a:schemeClr val="tx1"/>
                    </a:solidFill>
                  </a:rPr>
                  <a:t>ans</a:t>
                </a:r>
                <a:r>
                  <a:rPr lang="en-US" altLang="zh-CN" dirty="0">
                    <a:solidFill>
                      <a:schemeClr val="tx1"/>
                    </a:solidFill>
                  </a:rPr>
                  <a:t>=min(</a:t>
                </a:r>
                <a:r>
                  <a:rPr lang="en-US" altLang="zh-CN" dirty="0" err="1">
                    <a:solidFill>
                      <a:schemeClr val="tx1"/>
                    </a:solidFill>
                  </a:rPr>
                  <a:t>num,ans</a:t>
                </a:r>
                <a:r>
                  <a:rPr lang="en-US" altLang="zh-CN" dirty="0">
                    <a:solidFill>
                      <a:schemeClr val="tx1"/>
                    </a:solidFill>
                  </a:rPr>
                  <a:t>),</a:t>
                </a:r>
                <a:r>
                  <a:rPr lang="zh-CN" altLang="en-US" dirty="0">
                    <a:solidFill>
                      <a:schemeClr val="tx1"/>
                    </a:solidFill>
                  </a:rPr>
                  <a:t>然后</a:t>
                </a:r>
                <a:r>
                  <a:rPr lang="en-US" altLang="zh-CN" dirty="0">
                    <a:solidFill>
                      <a:schemeClr val="tx1"/>
                    </a:solidFill>
                  </a:rPr>
                  <a:t>return.</a:t>
                </a:r>
              </a:p>
              <a:p>
                <a:endParaRPr lang="en-US" altLang="zh-CN" dirty="0">
                  <a:solidFill>
                    <a:schemeClr val="tx1"/>
                  </a:solidFill>
                </a:endParaRPr>
              </a:p>
              <a:p>
                <a:r>
                  <a:rPr lang="zh-CN" altLang="en-US" dirty="0">
                    <a:solidFill>
                      <a:schemeClr val="tx1"/>
                    </a:solidFill>
                  </a:rPr>
                  <a:t>可以发现这个暴力搜索的复杂度是指数级别的</a:t>
                </a:r>
                <a:r>
                  <a:rPr lang="en-US" altLang="zh-CN" dirty="0">
                    <a:solidFill>
                      <a:schemeClr val="tx1"/>
                    </a:solidFill>
                  </a:rPr>
                  <a:t>(n</a:t>
                </a:r>
                <a:r>
                  <a:rPr lang="zh-CN" altLang="en-US" dirty="0">
                    <a:solidFill>
                      <a:schemeClr val="tx1"/>
                    </a:solidFill>
                  </a:rPr>
                  <a:t>为硬币数量</a:t>
                </a:r>
                <a:r>
                  <a:rPr lang="en-US" altLang="zh-CN" dirty="0">
                    <a:solidFill>
                      <a:schemeClr val="tx1"/>
                    </a:solidFill>
                  </a:rPr>
                  <a:t>,W</a:t>
                </a:r>
                <a:r>
                  <a:rPr lang="zh-CN" altLang="en-US" dirty="0">
                    <a:solidFill>
                      <a:schemeClr val="tx1"/>
                    </a:solidFill>
                  </a:rPr>
                  <a:t>为需要的面额，</a:t>
                </a:r>
                <a:r>
                  <a:rPr lang="en-US" altLang="zh-CN" dirty="0" err="1">
                    <a:solidFill>
                      <a:schemeClr val="tx1"/>
                    </a:solidFill>
                  </a:rPr>
                  <a:t>minc</a:t>
                </a:r>
                <a:r>
                  <a:rPr lang="zh-CN" altLang="en-US" dirty="0">
                    <a:solidFill>
                      <a:schemeClr val="tx1"/>
                    </a:solidFill>
                  </a:rPr>
                  <a:t>表示最小的硬币面额，则粗略复杂度为</a:t>
                </a:r>
                <a:r>
                  <a:rPr lang="en-US" altLang="zh-CN" dirty="0">
                    <a:solidFill>
                      <a:schemeClr val="tx1"/>
                    </a:solidFill>
                  </a:rPr>
                  <a:t>O(</a:t>
                </a:r>
                <a14:m>
                  <m:oMath xmlns:m="http://schemas.openxmlformats.org/officeDocument/2006/math">
                    <m:sSup>
                      <m:sSupPr>
                        <m:ctrlPr>
                          <a:rPr lang="en-US" altLang="zh-CN" b="1" i="1" smtClean="0">
                            <a:solidFill>
                              <a:schemeClr val="tx1"/>
                            </a:solidFill>
                            <a:latin typeface="Cambria Math" panose="02040503050406030204" pitchFamily="18" charset="0"/>
                          </a:rPr>
                        </m:ctrlPr>
                      </m:sSupPr>
                      <m:e>
                        <m:r>
                          <a:rPr lang="en-US" altLang="zh-CN" b="1" i="1" smtClean="0">
                            <a:solidFill>
                              <a:schemeClr val="tx1"/>
                            </a:solidFill>
                            <a:latin typeface="Cambria Math" panose="02040503050406030204" pitchFamily="18" charset="0"/>
                          </a:rPr>
                          <m:t>𝒏</m:t>
                        </m:r>
                      </m:e>
                      <m:sup>
                        <m:r>
                          <a:rPr lang="en-US" altLang="zh-CN" b="1" i="1" smtClean="0">
                            <a:solidFill>
                              <a:schemeClr val="tx1"/>
                            </a:solidFill>
                            <a:latin typeface="Cambria Math" panose="02040503050406030204" pitchFamily="18" charset="0"/>
                          </a:rPr>
                          <m:t>𝑾</m:t>
                        </m:r>
                        <m:r>
                          <a:rPr lang="en-US" altLang="zh-CN" b="1"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𝒎𝒊𝒏𝒄</m:t>
                        </m:r>
                      </m:sup>
                    </m:sSup>
                  </m:oMath>
                </a14:m>
                <a:r>
                  <a:rPr lang="en-US" altLang="zh-CN" dirty="0">
                    <a:solidFill>
                      <a:schemeClr val="tx1"/>
                    </a:solidFill>
                  </a:rPr>
                  <a:t>)</a:t>
                </a:r>
                <a:r>
                  <a:rPr lang="zh-CN" altLang="en-US" dirty="0">
                    <a:solidFill>
                      <a:schemeClr val="tx1"/>
                    </a:solidFill>
                  </a:rPr>
                  <a:t>，硬币稍微多一点或者要解决的数额问题多一些就很难在通常约束的几秒内完成计算。</a:t>
                </a:r>
                <a:endParaRPr lang="en-US" altLang="zh-CN" dirty="0">
                  <a:solidFill>
                    <a:schemeClr val="tx1"/>
                  </a:solidFill>
                </a:endParaRPr>
              </a:p>
            </p:txBody>
          </p:sp>
        </mc:Choice>
        <mc:Fallback xmlns="">
          <p:sp>
            <p:nvSpPr>
              <p:cNvPr id="3" name="文本框 2">
                <a:extLst>
                  <a:ext uri="{FF2B5EF4-FFF2-40B4-BE49-F238E27FC236}">
                    <a16:creationId xmlns:a16="http://schemas.microsoft.com/office/drawing/2014/main" id="{512EF093-77E1-CEE6-870B-C5733E8E4072}"/>
                  </a:ext>
                </a:extLst>
              </p:cNvPr>
              <p:cNvSpPr txBox="1">
                <a:spLocks noRot="1" noChangeAspect="1" noMove="1" noResize="1" noEditPoints="1" noAdjustHandles="1" noChangeArrowheads="1" noChangeShapeType="1" noTextEdit="1"/>
              </p:cNvSpPr>
              <p:nvPr/>
            </p:nvSpPr>
            <p:spPr>
              <a:xfrm>
                <a:off x="598620" y="1291130"/>
                <a:ext cx="10231235" cy="5016758"/>
              </a:xfrm>
              <a:prstGeom prst="rect">
                <a:avLst/>
              </a:prstGeom>
              <a:blipFill>
                <a:blip r:embed="rId2"/>
                <a:stretch>
                  <a:fillRect l="-596" t="-1094" r="-60" b="-10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158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E0CF2-2D0A-EBAF-C3A7-9DC4D31967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8DB549C-7189-CE2B-B003-FEF02E76B960}"/>
              </a:ext>
            </a:extLst>
          </p:cNvPr>
          <p:cNvSpPr>
            <a:spLocks noGrp="1"/>
          </p:cNvSpPr>
          <p:nvPr>
            <p:ph type="title"/>
          </p:nvPr>
        </p:nvSpPr>
        <p:spPr>
          <a:xfrm>
            <a:off x="-12200" y="69490"/>
            <a:ext cx="9484597" cy="533400"/>
          </a:xfrm>
        </p:spPr>
        <p:txBody>
          <a:bodyPr/>
          <a:lstStyle/>
          <a:p>
            <a:r>
              <a:rPr lang="zh-CN" altLang="en-US" dirty="0">
                <a:solidFill>
                  <a:schemeClr val="accent1">
                    <a:lumMod val="75000"/>
                  </a:schemeClr>
                </a:solidFill>
              </a:rPr>
              <a:t>硬币问题</a:t>
            </a:r>
          </a:p>
        </p:txBody>
      </p:sp>
      <p:sp>
        <p:nvSpPr>
          <p:cNvPr id="3" name="文本框 2">
            <a:extLst>
              <a:ext uri="{FF2B5EF4-FFF2-40B4-BE49-F238E27FC236}">
                <a16:creationId xmlns:a16="http://schemas.microsoft.com/office/drawing/2014/main" id="{55859FCF-BE3C-3F75-D85E-3685252BBA55}"/>
              </a:ext>
            </a:extLst>
          </p:cNvPr>
          <p:cNvSpPr txBox="1"/>
          <p:nvPr/>
        </p:nvSpPr>
        <p:spPr>
          <a:xfrm>
            <a:off x="598620" y="1291130"/>
            <a:ext cx="10231235" cy="400110"/>
          </a:xfrm>
          <a:prstGeom prst="rect">
            <a:avLst/>
          </a:prstGeom>
          <a:noFill/>
        </p:spPr>
        <p:txBody>
          <a:bodyPr wrap="square" rtlCol="0">
            <a:spAutoFit/>
          </a:bodyPr>
          <a:lstStyle/>
          <a:p>
            <a:r>
              <a:rPr lang="zh-CN" altLang="en-US" dirty="0">
                <a:solidFill>
                  <a:schemeClr val="tx1"/>
                </a:solidFill>
              </a:rPr>
              <a:t>现在，贪心和搜索均被认为是不能够有效解决该问题的。</a:t>
            </a:r>
            <a:endParaRPr lang="en-US" altLang="zh-CN" dirty="0">
              <a:solidFill>
                <a:schemeClr val="tx1"/>
              </a:solidFill>
            </a:endParaRPr>
          </a:p>
        </p:txBody>
      </p:sp>
      <p:sp>
        <p:nvSpPr>
          <p:cNvPr id="4" name="文本框 3">
            <a:extLst>
              <a:ext uri="{FF2B5EF4-FFF2-40B4-BE49-F238E27FC236}">
                <a16:creationId xmlns:a16="http://schemas.microsoft.com/office/drawing/2014/main" id="{AE117FB5-5A66-35D6-9EAD-194E38409003}"/>
              </a:ext>
            </a:extLst>
          </p:cNvPr>
          <p:cNvSpPr txBox="1"/>
          <p:nvPr/>
        </p:nvSpPr>
        <p:spPr>
          <a:xfrm>
            <a:off x="598620" y="2054655"/>
            <a:ext cx="7482545" cy="707886"/>
          </a:xfrm>
          <a:prstGeom prst="rect">
            <a:avLst/>
          </a:prstGeom>
          <a:noFill/>
        </p:spPr>
        <p:txBody>
          <a:bodyPr wrap="square" rtlCol="0">
            <a:spAutoFit/>
          </a:bodyPr>
          <a:lstStyle/>
          <a:p>
            <a:r>
              <a:rPr lang="zh-CN" altLang="en-US" dirty="0">
                <a:solidFill>
                  <a:schemeClr val="tx1"/>
                </a:solidFill>
              </a:rPr>
              <a:t>这时候有一些天才指出，我们可以把这个问题划分成结构相同的子问题来解决！</a:t>
            </a:r>
          </a:p>
        </p:txBody>
      </p:sp>
      <p:sp>
        <p:nvSpPr>
          <p:cNvPr id="5" name="文本框 4">
            <a:extLst>
              <a:ext uri="{FF2B5EF4-FFF2-40B4-BE49-F238E27FC236}">
                <a16:creationId xmlns:a16="http://schemas.microsoft.com/office/drawing/2014/main" id="{4EF6FC4C-765C-7B62-C092-230E5D77C01F}"/>
              </a:ext>
            </a:extLst>
          </p:cNvPr>
          <p:cNvSpPr txBox="1"/>
          <p:nvPr/>
        </p:nvSpPr>
        <p:spPr>
          <a:xfrm>
            <a:off x="598619" y="3123590"/>
            <a:ext cx="8704185" cy="2554545"/>
          </a:xfrm>
          <a:prstGeom prst="rect">
            <a:avLst/>
          </a:prstGeom>
          <a:noFill/>
        </p:spPr>
        <p:txBody>
          <a:bodyPr wrap="square" rtlCol="0">
            <a:spAutoFit/>
          </a:bodyPr>
          <a:lstStyle/>
          <a:p>
            <a:r>
              <a:rPr lang="zh-CN" altLang="en-US" dirty="0">
                <a:solidFill>
                  <a:schemeClr val="tx1"/>
                </a:solidFill>
              </a:rPr>
              <a:t>当</a:t>
            </a:r>
            <a:r>
              <a:rPr lang="en-US" altLang="zh-CN" dirty="0">
                <a:solidFill>
                  <a:schemeClr val="tx1"/>
                </a:solidFill>
              </a:rPr>
              <a:t>w=15</a:t>
            </a:r>
            <a:r>
              <a:rPr lang="zh-CN" altLang="en-US" dirty="0">
                <a:solidFill>
                  <a:schemeClr val="tx1"/>
                </a:solidFill>
              </a:rPr>
              <a:t>时：</a:t>
            </a:r>
            <a:endParaRPr lang="en-US" altLang="zh-CN" dirty="0">
              <a:solidFill>
                <a:schemeClr val="tx1"/>
              </a:solidFill>
            </a:endParaRPr>
          </a:p>
          <a:p>
            <a:r>
              <a:rPr lang="en-US" altLang="zh-CN" dirty="0">
                <a:solidFill>
                  <a:schemeClr val="tx1"/>
                </a:solidFill>
              </a:rPr>
              <a:t>1.</a:t>
            </a:r>
            <a:r>
              <a:rPr lang="zh-CN" altLang="en-US" dirty="0">
                <a:solidFill>
                  <a:schemeClr val="tx1"/>
                </a:solidFill>
              </a:rPr>
              <a:t>如果我们取了面值为</a:t>
            </a:r>
            <a:r>
              <a:rPr lang="en-US" altLang="zh-CN" dirty="0">
                <a:solidFill>
                  <a:schemeClr val="tx1"/>
                </a:solidFill>
              </a:rPr>
              <a:t>11</a:t>
            </a:r>
            <a:r>
              <a:rPr lang="zh-CN" altLang="en-US" dirty="0">
                <a:solidFill>
                  <a:schemeClr val="tx1"/>
                </a:solidFill>
              </a:rPr>
              <a:t>的硬币，那么我们面对的实际上是</a:t>
            </a:r>
            <a:r>
              <a:rPr lang="en-US" altLang="zh-CN" dirty="0">
                <a:solidFill>
                  <a:schemeClr val="tx1"/>
                </a:solidFill>
              </a:rPr>
              <a:t>w=4</a:t>
            </a:r>
            <a:r>
              <a:rPr lang="zh-CN" altLang="en-US" dirty="0">
                <a:solidFill>
                  <a:schemeClr val="tx1"/>
                </a:solidFill>
              </a:rPr>
              <a:t>的问题，如果我们已经知道</a:t>
            </a:r>
            <a:r>
              <a:rPr lang="en-US" altLang="zh-CN" dirty="0">
                <a:solidFill>
                  <a:schemeClr val="tx1"/>
                </a:solidFill>
              </a:rPr>
              <a:t>w=4</a:t>
            </a:r>
            <a:r>
              <a:rPr lang="zh-CN" altLang="en-US" dirty="0">
                <a:solidFill>
                  <a:schemeClr val="tx1"/>
                </a:solidFill>
              </a:rPr>
              <a:t>的答案，那么我们就一下子知道我们选择一个</a:t>
            </a:r>
            <a:r>
              <a:rPr lang="en-US" altLang="zh-CN" dirty="0">
                <a:solidFill>
                  <a:schemeClr val="tx1"/>
                </a:solidFill>
              </a:rPr>
              <a:t>11</a:t>
            </a:r>
            <a:r>
              <a:rPr lang="zh-CN" altLang="en-US" dirty="0">
                <a:solidFill>
                  <a:schemeClr val="tx1"/>
                </a:solidFill>
              </a:rPr>
              <a:t>的硬币之后最优的情况是什么。</a:t>
            </a:r>
            <a:endParaRPr lang="en-US" altLang="zh-CN" dirty="0">
              <a:solidFill>
                <a:schemeClr val="tx1"/>
              </a:solidFill>
            </a:endParaRPr>
          </a:p>
          <a:p>
            <a:r>
              <a:rPr lang="en-US" altLang="zh-CN" dirty="0">
                <a:solidFill>
                  <a:schemeClr val="tx1"/>
                </a:solidFill>
              </a:rPr>
              <a:t>2.</a:t>
            </a:r>
            <a:r>
              <a:rPr lang="zh-CN" altLang="en-US" dirty="0">
                <a:solidFill>
                  <a:schemeClr val="tx1"/>
                </a:solidFill>
              </a:rPr>
              <a:t>如果我们先取了面值为</a:t>
            </a:r>
            <a:r>
              <a:rPr lang="en-US" altLang="zh-CN" dirty="0">
                <a:solidFill>
                  <a:schemeClr val="tx1"/>
                </a:solidFill>
              </a:rPr>
              <a:t>5</a:t>
            </a:r>
            <a:r>
              <a:rPr lang="zh-CN" altLang="en-US" dirty="0">
                <a:solidFill>
                  <a:schemeClr val="tx1"/>
                </a:solidFill>
              </a:rPr>
              <a:t>的硬币，我们面对的实际上就是</a:t>
            </a:r>
            <a:r>
              <a:rPr lang="en-US" altLang="zh-CN" dirty="0">
                <a:solidFill>
                  <a:schemeClr val="tx1"/>
                </a:solidFill>
              </a:rPr>
              <a:t>w=10</a:t>
            </a:r>
            <a:r>
              <a:rPr lang="zh-CN" altLang="en-US" dirty="0">
                <a:solidFill>
                  <a:schemeClr val="tx1"/>
                </a:solidFill>
              </a:rPr>
              <a:t>的问题，如果我们已经知道</a:t>
            </a:r>
            <a:r>
              <a:rPr lang="en-US" altLang="zh-CN" dirty="0">
                <a:solidFill>
                  <a:schemeClr val="tx1"/>
                </a:solidFill>
              </a:rPr>
              <a:t>w=10</a:t>
            </a:r>
            <a:r>
              <a:rPr lang="zh-CN" altLang="en-US" dirty="0">
                <a:solidFill>
                  <a:schemeClr val="tx1"/>
                </a:solidFill>
              </a:rPr>
              <a:t>的答案，那么我们就知道我们先选择一个</a:t>
            </a:r>
            <a:r>
              <a:rPr lang="en-US" altLang="zh-CN" dirty="0">
                <a:solidFill>
                  <a:schemeClr val="tx1"/>
                </a:solidFill>
              </a:rPr>
              <a:t>5</a:t>
            </a:r>
            <a:r>
              <a:rPr lang="zh-CN" altLang="en-US" dirty="0">
                <a:solidFill>
                  <a:schemeClr val="tx1"/>
                </a:solidFill>
              </a:rPr>
              <a:t>的硬币之后最优的情况是什么。</a:t>
            </a:r>
            <a:endParaRPr lang="en-US" altLang="zh-CN" dirty="0">
              <a:solidFill>
                <a:schemeClr val="tx1"/>
              </a:solidFill>
            </a:endParaRPr>
          </a:p>
          <a:p>
            <a:r>
              <a:rPr lang="zh-CN" altLang="en-US" dirty="0">
                <a:solidFill>
                  <a:schemeClr val="tx1"/>
                </a:solidFill>
              </a:rPr>
              <a:t>同理，选了</a:t>
            </a:r>
            <a:r>
              <a:rPr lang="en-US" altLang="zh-CN" dirty="0">
                <a:solidFill>
                  <a:schemeClr val="tx1"/>
                </a:solidFill>
              </a:rPr>
              <a:t>1</a:t>
            </a:r>
            <a:r>
              <a:rPr lang="zh-CN" altLang="en-US" dirty="0">
                <a:solidFill>
                  <a:schemeClr val="tx1"/>
                </a:solidFill>
              </a:rPr>
              <a:t>，我们面对的就是</a:t>
            </a:r>
            <a:r>
              <a:rPr lang="en-US" altLang="zh-CN" dirty="0">
                <a:solidFill>
                  <a:schemeClr val="tx1"/>
                </a:solidFill>
              </a:rPr>
              <a:t>w=14</a:t>
            </a:r>
            <a:r>
              <a:rPr lang="zh-CN" altLang="en-US" dirty="0">
                <a:solidFill>
                  <a:schemeClr val="tx1"/>
                </a:solidFill>
              </a:rPr>
              <a:t>的问题。</a:t>
            </a:r>
          </a:p>
        </p:txBody>
      </p:sp>
    </p:spTree>
    <p:extLst>
      <p:ext uri="{BB962C8B-B14F-4D97-AF65-F5344CB8AC3E}">
        <p14:creationId xmlns:p14="http://schemas.microsoft.com/office/powerpoint/2010/main" val="712095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E24E-E726-2870-5D81-DC10AC0076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677693B-4241-2831-B5E8-B8F46E0EB008}"/>
              </a:ext>
            </a:extLst>
          </p:cNvPr>
          <p:cNvSpPr>
            <a:spLocks noGrp="1"/>
          </p:cNvSpPr>
          <p:nvPr>
            <p:ph type="title"/>
          </p:nvPr>
        </p:nvSpPr>
        <p:spPr>
          <a:xfrm>
            <a:off x="-12200" y="69490"/>
            <a:ext cx="9484597" cy="533400"/>
          </a:xfrm>
        </p:spPr>
        <p:txBody>
          <a:bodyPr/>
          <a:lstStyle/>
          <a:p>
            <a:r>
              <a:rPr lang="zh-CN" altLang="en-US" dirty="0">
                <a:solidFill>
                  <a:schemeClr val="accent1">
                    <a:lumMod val="75000"/>
                  </a:schemeClr>
                </a:solidFill>
              </a:rPr>
              <a:t>硬币问题</a:t>
            </a:r>
          </a:p>
        </p:txBody>
      </p:sp>
      <p:sp>
        <p:nvSpPr>
          <p:cNvPr id="3" name="文本框 2">
            <a:extLst>
              <a:ext uri="{FF2B5EF4-FFF2-40B4-BE49-F238E27FC236}">
                <a16:creationId xmlns:a16="http://schemas.microsoft.com/office/drawing/2014/main" id="{1AE9C140-72C9-7AFF-F90D-06968033F730}"/>
              </a:ext>
            </a:extLst>
          </p:cNvPr>
          <p:cNvSpPr txBox="1"/>
          <p:nvPr/>
        </p:nvSpPr>
        <p:spPr>
          <a:xfrm>
            <a:off x="598620" y="1291130"/>
            <a:ext cx="10231235" cy="5016758"/>
          </a:xfrm>
          <a:prstGeom prst="rect">
            <a:avLst/>
          </a:prstGeom>
          <a:noFill/>
        </p:spPr>
        <p:txBody>
          <a:bodyPr wrap="square" rtlCol="0">
            <a:spAutoFit/>
          </a:bodyPr>
          <a:lstStyle/>
          <a:p>
            <a:r>
              <a:rPr lang="zh-CN" altLang="en-US" dirty="0">
                <a:solidFill>
                  <a:schemeClr val="tx1"/>
                </a:solidFill>
              </a:rPr>
              <a:t>我们不妨设</a:t>
            </a:r>
            <a:r>
              <a:rPr lang="en-US" altLang="zh-CN" dirty="0">
                <a:solidFill>
                  <a:schemeClr val="tx1"/>
                </a:solidFill>
              </a:rPr>
              <a:t>f(n)</a:t>
            </a:r>
            <a:r>
              <a:rPr lang="zh-CN" altLang="en-US" dirty="0">
                <a:solidFill>
                  <a:schemeClr val="tx1"/>
                </a:solidFill>
              </a:rPr>
              <a:t>表示凑出</a:t>
            </a:r>
            <a:r>
              <a:rPr lang="en-US" altLang="zh-CN" dirty="0">
                <a:solidFill>
                  <a:schemeClr val="tx1"/>
                </a:solidFill>
              </a:rPr>
              <a:t>n</a:t>
            </a:r>
            <a:r>
              <a:rPr lang="zh-CN" altLang="en-US" dirty="0">
                <a:solidFill>
                  <a:schemeClr val="tx1"/>
                </a:solidFill>
              </a:rPr>
              <a:t>最少需要的硬币数量。</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假设我们已经知道所有的</a:t>
            </a:r>
            <a:r>
              <a:rPr lang="en-US" altLang="zh-CN" dirty="0">
                <a:solidFill>
                  <a:schemeClr val="tx1"/>
                </a:solidFill>
              </a:rPr>
              <a:t>n&lt;15</a:t>
            </a:r>
            <a:r>
              <a:rPr lang="zh-CN" altLang="en-US" dirty="0">
                <a:solidFill>
                  <a:schemeClr val="tx1"/>
                </a:solidFill>
              </a:rPr>
              <a:t>时的</a:t>
            </a:r>
            <a:r>
              <a:rPr lang="en-US" altLang="zh-CN" dirty="0">
                <a:solidFill>
                  <a:schemeClr val="tx1"/>
                </a:solidFill>
              </a:rPr>
              <a:t>f(n)</a:t>
            </a:r>
          </a:p>
          <a:p>
            <a:endParaRPr lang="en-US" altLang="zh-CN" dirty="0">
              <a:solidFill>
                <a:schemeClr val="tx1"/>
              </a:solidFill>
            </a:endParaRPr>
          </a:p>
          <a:p>
            <a:r>
              <a:rPr lang="zh-CN" altLang="en-US" dirty="0">
                <a:solidFill>
                  <a:schemeClr val="tx1"/>
                </a:solidFill>
              </a:rPr>
              <a:t>那么对于</a:t>
            </a:r>
            <a:r>
              <a:rPr lang="en-US" altLang="zh-CN" dirty="0">
                <a:solidFill>
                  <a:schemeClr val="tx1"/>
                </a:solidFill>
              </a:rPr>
              <a:t>w=15</a:t>
            </a:r>
            <a:r>
              <a:rPr lang="zh-CN" altLang="en-US" dirty="0">
                <a:solidFill>
                  <a:schemeClr val="tx1"/>
                </a:solidFill>
              </a:rPr>
              <a:t>，我们要计算</a:t>
            </a:r>
            <a:r>
              <a:rPr lang="en-US" altLang="zh-CN" dirty="0">
                <a:solidFill>
                  <a:schemeClr val="tx1"/>
                </a:solidFill>
              </a:rPr>
              <a:t>f(15),</a:t>
            </a:r>
            <a:r>
              <a:rPr lang="zh-CN" altLang="en-US" dirty="0">
                <a:solidFill>
                  <a:schemeClr val="tx1"/>
                </a:solidFill>
              </a:rPr>
              <a:t>就可以只考虑如下的情况：</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第一枚取了</a:t>
            </a:r>
            <a:r>
              <a:rPr lang="en-US" altLang="zh-CN" dirty="0">
                <a:solidFill>
                  <a:schemeClr val="tx1"/>
                </a:solidFill>
              </a:rPr>
              <a:t>11</a:t>
            </a:r>
            <a:r>
              <a:rPr lang="zh-CN" altLang="en-US" dirty="0">
                <a:solidFill>
                  <a:schemeClr val="tx1"/>
                </a:solidFill>
              </a:rPr>
              <a:t>来凑，剩下的问题是</a:t>
            </a:r>
            <a:r>
              <a:rPr lang="en-US" altLang="zh-CN" dirty="0">
                <a:solidFill>
                  <a:schemeClr val="tx1"/>
                </a:solidFill>
              </a:rPr>
              <a:t>4</a:t>
            </a:r>
            <a:r>
              <a:rPr lang="zh-CN" altLang="en-US" dirty="0">
                <a:solidFill>
                  <a:schemeClr val="tx1"/>
                </a:solidFill>
              </a:rPr>
              <a:t>怎么凑，则暂时认为 </a:t>
            </a:r>
            <a:r>
              <a:rPr lang="en-US" altLang="zh-CN" dirty="0">
                <a:solidFill>
                  <a:schemeClr val="tx1"/>
                </a:solidFill>
              </a:rPr>
              <a:t>f’(15)=f(4)+1</a:t>
            </a:r>
          </a:p>
          <a:p>
            <a:r>
              <a:rPr lang="zh-CN" altLang="en-US" dirty="0">
                <a:solidFill>
                  <a:schemeClr val="tx1"/>
                </a:solidFill>
              </a:rPr>
              <a:t>第一枚取了</a:t>
            </a:r>
            <a:r>
              <a:rPr lang="en-US" altLang="zh-CN" dirty="0">
                <a:solidFill>
                  <a:schemeClr val="tx1"/>
                </a:solidFill>
              </a:rPr>
              <a:t>5</a:t>
            </a:r>
            <a:r>
              <a:rPr lang="zh-CN" altLang="en-US" dirty="0">
                <a:solidFill>
                  <a:schemeClr val="tx1"/>
                </a:solidFill>
              </a:rPr>
              <a:t>来凑，剩下的问题是</a:t>
            </a:r>
            <a:r>
              <a:rPr lang="en-US" altLang="zh-CN" dirty="0">
                <a:solidFill>
                  <a:schemeClr val="tx1"/>
                </a:solidFill>
              </a:rPr>
              <a:t>10</a:t>
            </a:r>
            <a:r>
              <a:rPr lang="zh-CN" altLang="en-US" dirty="0">
                <a:solidFill>
                  <a:schemeClr val="tx1"/>
                </a:solidFill>
              </a:rPr>
              <a:t>怎么凑，则暂时有 </a:t>
            </a:r>
            <a:r>
              <a:rPr lang="en-US" altLang="zh-CN" dirty="0">
                <a:solidFill>
                  <a:schemeClr val="tx1"/>
                </a:solidFill>
              </a:rPr>
              <a:t>f’(15)=f(10)+1</a:t>
            </a:r>
          </a:p>
          <a:p>
            <a:r>
              <a:rPr lang="zh-CN" altLang="en-US" dirty="0">
                <a:solidFill>
                  <a:schemeClr val="tx1"/>
                </a:solidFill>
              </a:rPr>
              <a:t>第一枚取了</a:t>
            </a:r>
            <a:r>
              <a:rPr lang="en-US" altLang="zh-CN" dirty="0">
                <a:solidFill>
                  <a:schemeClr val="tx1"/>
                </a:solidFill>
              </a:rPr>
              <a:t>1</a:t>
            </a:r>
            <a:r>
              <a:rPr lang="zh-CN" altLang="en-US" dirty="0">
                <a:solidFill>
                  <a:schemeClr val="tx1"/>
                </a:solidFill>
              </a:rPr>
              <a:t>来凑，剩下的问题是</a:t>
            </a:r>
            <a:r>
              <a:rPr lang="en-US" altLang="zh-CN" dirty="0">
                <a:solidFill>
                  <a:schemeClr val="tx1"/>
                </a:solidFill>
              </a:rPr>
              <a:t>14</a:t>
            </a:r>
            <a:r>
              <a:rPr lang="zh-CN" altLang="en-US" dirty="0">
                <a:solidFill>
                  <a:schemeClr val="tx1"/>
                </a:solidFill>
              </a:rPr>
              <a:t>怎么凑，则暂时有 </a:t>
            </a:r>
            <a:r>
              <a:rPr lang="en-US" altLang="zh-CN" dirty="0">
                <a:solidFill>
                  <a:schemeClr val="tx1"/>
                </a:solidFill>
              </a:rPr>
              <a:t>f’(15)=f(14)+1</a:t>
            </a:r>
          </a:p>
          <a:p>
            <a:endParaRPr lang="en-US" altLang="zh-CN" dirty="0">
              <a:solidFill>
                <a:schemeClr val="tx1"/>
              </a:solidFill>
            </a:endParaRPr>
          </a:p>
          <a:p>
            <a:r>
              <a:rPr lang="zh-CN" altLang="en-US" dirty="0">
                <a:solidFill>
                  <a:schemeClr val="tx1"/>
                </a:solidFill>
              </a:rPr>
              <a:t>那么</a:t>
            </a:r>
            <a:r>
              <a:rPr lang="en-US" altLang="zh-CN" dirty="0">
                <a:solidFill>
                  <a:schemeClr val="tx1"/>
                </a:solidFill>
              </a:rPr>
              <a:t>f(15)</a:t>
            </a:r>
            <a:r>
              <a:rPr lang="zh-CN" altLang="en-US" dirty="0">
                <a:solidFill>
                  <a:schemeClr val="tx1"/>
                </a:solidFill>
              </a:rPr>
              <a:t>究竟是多少？ 答案是上述</a:t>
            </a:r>
            <a:r>
              <a:rPr lang="en-US" altLang="zh-CN" dirty="0">
                <a:solidFill>
                  <a:schemeClr val="tx1"/>
                </a:solidFill>
              </a:rPr>
              <a:t>f’(15)</a:t>
            </a:r>
            <a:r>
              <a:rPr lang="zh-CN" altLang="en-US" dirty="0">
                <a:solidFill>
                  <a:schemeClr val="tx1"/>
                </a:solidFill>
              </a:rPr>
              <a:t>取一个最小值。</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推而广之，</a:t>
            </a:r>
            <a:r>
              <a:rPr lang="en-US" altLang="zh-CN" dirty="0">
                <a:solidFill>
                  <a:schemeClr val="tx1"/>
                </a:solidFill>
              </a:rPr>
              <a:t>f(n)</a:t>
            </a:r>
            <a:r>
              <a:rPr lang="zh-CN" altLang="en-US" dirty="0">
                <a:solidFill>
                  <a:schemeClr val="tx1"/>
                </a:solidFill>
              </a:rPr>
              <a:t>究竟是多少？</a:t>
            </a:r>
            <a:endParaRPr lang="en-US" altLang="zh-CN" dirty="0">
              <a:solidFill>
                <a:schemeClr val="tx1"/>
              </a:solidFill>
            </a:endParaRPr>
          </a:p>
          <a:p>
            <a:r>
              <a:rPr lang="zh-CN" altLang="en-US" dirty="0">
                <a:solidFill>
                  <a:schemeClr val="tx1"/>
                </a:solidFill>
              </a:rPr>
              <a:t>答案是 </a:t>
            </a:r>
            <a:r>
              <a:rPr lang="en-US" altLang="zh-CN" dirty="0">
                <a:solidFill>
                  <a:schemeClr val="tx1"/>
                </a:solidFill>
              </a:rPr>
              <a:t>f(n)=min{f(n-1)+f(n-5)+f(n-11)}+1. </a:t>
            </a:r>
          </a:p>
          <a:p>
            <a:r>
              <a:rPr lang="zh-CN" altLang="en-US" dirty="0">
                <a:solidFill>
                  <a:schemeClr val="tx1"/>
                </a:solidFill>
              </a:rPr>
              <a:t>我们发现了一个非常简单的递推式，让我们在计算一个面值</a:t>
            </a:r>
            <a:r>
              <a:rPr lang="en-US" altLang="zh-CN" dirty="0">
                <a:solidFill>
                  <a:schemeClr val="tx1"/>
                </a:solidFill>
              </a:rPr>
              <a:t>n</a:t>
            </a:r>
            <a:r>
              <a:rPr lang="zh-CN" altLang="en-US" dirty="0">
                <a:solidFill>
                  <a:schemeClr val="tx1"/>
                </a:solidFill>
              </a:rPr>
              <a:t>的时候，可以从</a:t>
            </a:r>
            <a:r>
              <a:rPr lang="en-US" altLang="zh-CN" dirty="0" err="1">
                <a:solidFill>
                  <a:schemeClr val="tx1"/>
                </a:solidFill>
              </a:rPr>
              <a:t>i</a:t>
            </a:r>
            <a:r>
              <a:rPr lang="en-US" altLang="zh-CN" dirty="0">
                <a:solidFill>
                  <a:schemeClr val="tx1"/>
                </a:solidFill>
              </a:rPr>
              <a:t>=1</a:t>
            </a:r>
            <a:r>
              <a:rPr lang="zh-CN" altLang="en-US" dirty="0">
                <a:solidFill>
                  <a:schemeClr val="tx1"/>
                </a:solidFill>
              </a:rPr>
              <a:t>枚举到</a:t>
            </a:r>
            <a:r>
              <a:rPr lang="en-US" altLang="zh-CN" dirty="0" err="1">
                <a:solidFill>
                  <a:schemeClr val="tx1"/>
                </a:solidFill>
              </a:rPr>
              <a:t>i</a:t>
            </a:r>
            <a:r>
              <a:rPr lang="en-US" altLang="zh-CN" dirty="0">
                <a:solidFill>
                  <a:schemeClr val="tx1"/>
                </a:solidFill>
              </a:rPr>
              <a:t>=n</a:t>
            </a:r>
            <a:r>
              <a:rPr lang="zh-CN" altLang="en-US" dirty="0">
                <a:solidFill>
                  <a:schemeClr val="tx1"/>
                </a:solidFill>
              </a:rPr>
              <a:t>，顺次推到</a:t>
            </a:r>
            <a:r>
              <a:rPr lang="en-US" altLang="zh-CN" dirty="0">
                <a:solidFill>
                  <a:schemeClr val="tx1"/>
                </a:solidFill>
              </a:rPr>
              <a:t>f(n)</a:t>
            </a:r>
            <a:r>
              <a:rPr lang="zh-CN" altLang="en-US" dirty="0">
                <a:solidFill>
                  <a:schemeClr val="tx1"/>
                </a:solidFill>
              </a:rPr>
              <a:t>的结果。</a:t>
            </a:r>
            <a:endParaRPr lang="en-US" altLang="zh-CN" dirty="0">
              <a:solidFill>
                <a:schemeClr val="tx1"/>
              </a:solidFill>
            </a:endParaRPr>
          </a:p>
        </p:txBody>
      </p:sp>
    </p:spTree>
    <p:extLst>
      <p:ext uri="{BB962C8B-B14F-4D97-AF65-F5344CB8AC3E}">
        <p14:creationId xmlns:p14="http://schemas.microsoft.com/office/powerpoint/2010/main" val="47868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Effect transition="in" filter="fade">
                                      <p:cBhvr>
                                        <p:cTn id="31" dur="500"/>
                                        <p:tgtEl>
                                          <p:spTgt spid="3">
                                            <p:txEl>
                                              <p:pRg st="12" end="1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3" end="13"/>
                                            </p:txEl>
                                          </p:spTgt>
                                        </p:tgtEl>
                                        <p:attrNameLst>
                                          <p:attrName>style.visibility</p:attrName>
                                        </p:attrNameLst>
                                      </p:cBhvr>
                                      <p:to>
                                        <p:strVal val="visible"/>
                                      </p:to>
                                    </p:set>
                                    <p:animEffect transition="in" filter="fade">
                                      <p:cBhvr>
                                        <p:cTn id="34" dur="500"/>
                                        <p:tgtEl>
                                          <p:spTgt spid="3">
                                            <p:txEl>
                                              <p:pRg st="13" end="1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animEffect transition="in" filter="fade">
                                      <p:cBhvr>
                                        <p:cTn id="3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C7B3-0D63-132D-90A6-91892B1CAFB6}"/>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806200D5-68AC-D89B-4D59-5F1A054B8422}"/>
              </a:ext>
            </a:extLst>
          </p:cNvPr>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sp>
        <p:nvSpPr>
          <p:cNvPr id="5" name="内容占位符 4">
            <a:extLst>
              <a:ext uri="{FF2B5EF4-FFF2-40B4-BE49-F238E27FC236}">
                <a16:creationId xmlns:a16="http://schemas.microsoft.com/office/drawing/2014/main" id="{69E5953D-1442-FFBF-CC47-DEF48B531977}"/>
              </a:ext>
            </a:extLst>
          </p:cNvPr>
          <p:cNvSpPr txBox="1">
            <a:spLocks/>
          </p:cNvSpPr>
          <p:nvPr/>
        </p:nvSpPr>
        <p:spPr>
          <a:xfrm>
            <a:off x="598620" y="1443835"/>
            <a:ext cx="10373418"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我们最后得到的这个递推的方法，就是我们的动态规划（</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用它我们可以认识到我们</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的一些概念：</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什么时候用</a:t>
            </a:r>
            <a:r>
              <a:rPr lang="en-US" altLang="zh-CN" sz="2000" dirty="0">
                <a:latin typeface="微软雅黑" panose="020B0503020204020204" pitchFamily="34" charset="-122"/>
                <a:ea typeface="微软雅黑" panose="020B0503020204020204" pitchFamily="34" charset="-122"/>
              </a:rPr>
              <a:t>DP?</a:t>
            </a:r>
          </a:p>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该问题满足</a:t>
            </a:r>
            <a:r>
              <a:rPr lang="zh-CN" altLang="en-US" sz="2000" dirty="0">
                <a:solidFill>
                  <a:srgbClr val="FF0000"/>
                </a:solidFill>
                <a:latin typeface="微软雅黑" panose="020B0503020204020204" pitchFamily="34" charset="-122"/>
                <a:ea typeface="微软雅黑" panose="020B0503020204020204" pitchFamily="34" charset="-122"/>
              </a:rPr>
              <a:t>最优子结构</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rPr>
              <a:t>无后效性</a:t>
            </a:r>
            <a:r>
              <a:rPr lang="zh-CN" altLang="en-US" sz="2000" dirty="0">
                <a:latin typeface="微软雅黑" panose="020B0503020204020204" pitchFamily="34" charset="-122"/>
                <a:ea typeface="微软雅黑" panose="020B0503020204020204" pitchFamily="34" charset="-122"/>
              </a:rPr>
              <a:t>这两个性质。</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在硬币问题中，大问题的最优解可以由小问题的最优解推出，这个性质就叫做“最优子结构”</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同样，在该问题中，一旦</a:t>
            </a:r>
            <a:r>
              <a:rPr lang="en-US" altLang="zh-CN" sz="2000" dirty="0">
                <a:latin typeface="微软雅黑" panose="020B0503020204020204" pitchFamily="34" charset="-122"/>
                <a:ea typeface="微软雅黑" panose="020B0503020204020204" pitchFamily="34" charset="-122"/>
              </a:rPr>
              <a:t>f(n)</a:t>
            </a:r>
            <a:r>
              <a:rPr lang="zh-CN" altLang="en-US" sz="2000" dirty="0">
                <a:latin typeface="微软雅黑" panose="020B0503020204020204" pitchFamily="34" charset="-122"/>
                <a:ea typeface="微软雅黑" panose="020B0503020204020204" pitchFamily="34" charset="-122"/>
              </a:rPr>
              <a:t>被确定，我们如何凑出来</a:t>
            </a:r>
            <a:r>
              <a:rPr lang="en-US" altLang="zh-CN" sz="2000" dirty="0">
                <a:latin typeface="微软雅黑" panose="020B0503020204020204" pitchFamily="34" charset="-122"/>
                <a:ea typeface="微软雅黑" panose="020B0503020204020204" pitchFamily="34" charset="-122"/>
              </a:rPr>
              <a:t>f(n)</a:t>
            </a:r>
            <a:r>
              <a:rPr lang="zh-CN" altLang="en-US" sz="2000" dirty="0">
                <a:latin typeface="微软雅黑" panose="020B0503020204020204" pitchFamily="34" charset="-122"/>
                <a:ea typeface="微软雅黑" panose="020B0503020204020204" pitchFamily="34" charset="-122"/>
              </a:rPr>
              <a:t>这件事情就不必要被关心，也就是我们推理</a:t>
            </a:r>
            <a:r>
              <a:rPr lang="en-US" altLang="zh-CN" sz="2000" dirty="0">
                <a:latin typeface="微软雅黑" panose="020B0503020204020204" pitchFamily="34" charset="-122"/>
                <a:ea typeface="微软雅黑" panose="020B0503020204020204" pitchFamily="34" charset="-122"/>
              </a:rPr>
              <a:t>f(m)(m&gt;n)</a:t>
            </a:r>
            <a:r>
              <a:rPr lang="zh-CN" altLang="en-US" sz="2000" dirty="0">
                <a:latin typeface="微软雅黑" panose="020B0503020204020204" pitchFamily="34" charset="-122"/>
                <a:ea typeface="微软雅黑" panose="020B0503020204020204" pitchFamily="34" charset="-122"/>
              </a:rPr>
              <a:t>时并不关心</a:t>
            </a:r>
            <a:r>
              <a:rPr lang="en-US" altLang="zh-CN" sz="2000" dirty="0">
                <a:latin typeface="微软雅黑" panose="020B0503020204020204" pitchFamily="34" charset="-122"/>
                <a:ea typeface="微软雅黑" panose="020B0503020204020204" pitchFamily="34" charset="-122"/>
              </a:rPr>
              <a:t>f(n)</a:t>
            </a:r>
            <a:r>
              <a:rPr lang="zh-CN" altLang="en-US" sz="2000" dirty="0">
                <a:latin typeface="微软雅黑" panose="020B0503020204020204" pitchFamily="34" charset="-122"/>
                <a:ea typeface="微软雅黑" panose="020B0503020204020204" pitchFamily="34" charset="-122"/>
              </a:rPr>
              <a:t>到底怎么凑的，反正它结果是最优就不影响我</a:t>
            </a:r>
            <a:r>
              <a:rPr lang="en-US" altLang="zh-CN" sz="2000" dirty="0">
                <a:latin typeface="微软雅黑" panose="020B0503020204020204" pitchFamily="34" charset="-122"/>
                <a:ea typeface="微软雅黑" panose="020B0503020204020204" pitchFamily="34" charset="-122"/>
              </a:rPr>
              <a:t>f(m)</a:t>
            </a:r>
            <a:r>
              <a:rPr lang="zh-CN" altLang="en-US" sz="2000" dirty="0">
                <a:latin typeface="微软雅黑" panose="020B0503020204020204" pitchFamily="34" charset="-122"/>
                <a:ea typeface="微软雅黑" panose="020B0503020204020204" pitchFamily="34" charset="-122"/>
              </a:rPr>
              <a:t>能凑出来最优，这个性质就叫做“无后效性”</a:t>
            </a:r>
            <a:endParaRPr lang="en-US" altLang="zh-CN" sz="200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921519478"/>
      </p:ext>
    </p:extLst>
  </p:cSld>
  <p:clrMapOvr>
    <a:masterClrMapping/>
  </p:clrMapOvr>
  <mc:AlternateContent xmlns:mc="http://schemas.openxmlformats.org/markup-compatibility/2006" xmlns:p14="http://schemas.microsoft.com/office/powerpoint/2010/main">
    <mc:Choice Requires="p14">
      <p:transition spd="slow" p14:dur="2000" advTm="49425"/>
    </mc:Choice>
    <mc:Fallback xmlns="">
      <p:transition spd="slow" advTm="494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FF4C2-9B4D-4D74-DAA3-896A760A0349}"/>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F493B385-0793-089F-96D9-BF156A39AA17}"/>
              </a:ext>
            </a:extLst>
          </p:cNvPr>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sp>
        <p:nvSpPr>
          <p:cNvPr id="5" name="内容占位符 4">
            <a:extLst>
              <a:ext uri="{FF2B5EF4-FFF2-40B4-BE49-F238E27FC236}">
                <a16:creationId xmlns:a16="http://schemas.microsoft.com/office/drawing/2014/main" id="{C777ABC1-4122-6171-E3CA-A8AB16B9FCE1}"/>
              </a:ext>
            </a:extLst>
          </p:cNvPr>
          <p:cNvSpPr txBox="1">
            <a:spLocks/>
          </p:cNvSpPr>
          <p:nvPr/>
        </p:nvSpPr>
        <p:spPr>
          <a:xfrm>
            <a:off x="598620" y="1443835"/>
            <a:ext cx="10373418"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我们最后得到的这个递推的方法，就是我们的动态规划（</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用它我们可以认识到我们</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的一些概念：</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中的术语</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状态设计</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rPr>
              <a:t>状态转移</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在硬币问题中，我们设计了</a:t>
            </a:r>
            <a:r>
              <a:rPr lang="en-US" altLang="zh-CN" sz="2000" dirty="0">
                <a:solidFill>
                  <a:srgbClr val="FF0000"/>
                </a:solidFill>
                <a:latin typeface="微软雅黑" panose="020B0503020204020204" pitchFamily="34" charset="-122"/>
                <a:ea typeface="微软雅黑" panose="020B0503020204020204" pitchFamily="34" charset="-122"/>
              </a:rPr>
              <a:t>f(n)</a:t>
            </a:r>
            <a:r>
              <a:rPr lang="zh-CN" altLang="en-US" sz="2000" dirty="0">
                <a:solidFill>
                  <a:srgbClr val="FF0000"/>
                </a:solidFill>
                <a:latin typeface="微软雅黑" panose="020B0503020204020204" pitchFamily="34" charset="-122"/>
                <a:ea typeface="微软雅黑" panose="020B0503020204020204" pitchFamily="34" charset="-122"/>
              </a:rPr>
              <a:t>表示“凑到</a:t>
            </a:r>
            <a:r>
              <a:rPr lang="en-US" altLang="zh-CN" sz="2000" dirty="0">
                <a:solidFill>
                  <a:srgbClr val="FF0000"/>
                </a:solidFill>
                <a:latin typeface="微软雅黑" panose="020B0503020204020204" pitchFamily="34" charset="-122"/>
                <a:ea typeface="微软雅黑" panose="020B0503020204020204" pitchFamily="34" charset="-122"/>
              </a:rPr>
              <a:t>n</a:t>
            </a:r>
            <a:r>
              <a:rPr lang="zh-CN" altLang="en-US" sz="2000" dirty="0">
                <a:solidFill>
                  <a:srgbClr val="FF0000"/>
                </a:solidFill>
                <a:latin typeface="微软雅黑" panose="020B0503020204020204" pitchFamily="34" charset="-122"/>
                <a:ea typeface="微软雅黑" panose="020B0503020204020204" pitchFamily="34" charset="-122"/>
              </a:rPr>
              <a:t>所用的最少的硬币数量”</a:t>
            </a:r>
            <a:r>
              <a:rPr lang="zh-CN" altLang="en-US" sz="2000" dirty="0">
                <a:latin typeface="微软雅黑" panose="020B0503020204020204" pitchFamily="34" charset="-122"/>
                <a:ea typeface="微软雅黑" panose="020B0503020204020204" pitchFamily="34" charset="-122"/>
              </a:rPr>
              <a:t>，像这样</a:t>
            </a: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将原问题划分为若干阶段，每个阶段对应若干个子问题，这些子问题的特征</a:t>
            </a:r>
            <a:r>
              <a:rPr lang="zh-CN" altLang="en-US" sz="2000" dirty="0">
                <a:latin typeface="微软雅黑" panose="020B0503020204020204" pitchFamily="34" charset="-122"/>
                <a:ea typeface="微软雅黑" panose="020B0503020204020204" pitchFamily="34" charset="-122"/>
                <a:cs typeface="+mn-ea"/>
                <a:sym typeface="+mn-lt"/>
              </a:rPr>
              <a:t>，或者我们解决某个目标下面对的情况</a:t>
            </a:r>
            <a:r>
              <a:rPr lang="en-US" altLang="zh-CN" sz="2000" dirty="0">
                <a:latin typeface="微软雅黑" panose="020B0503020204020204" pitchFamily="34" charset="-122"/>
                <a:ea typeface="微软雅黑" panose="020B0503020204020204" pitchFamily="34" charset="-122"/>
                <a:cs typeface="+mn-ea"/>
                <a:sym typeface="+mn-lt"/>
              </a:rPr>
              <a:t>/</a:t>
            </a:r>
            <a:r>
              <a:rPr lang="zh-CN" altLang="en-US" sz="2000" dirty="0">
                <a:latin typeface="微软雅黑" panose="020B0503020204020204" pitchFamily="34" charset="-122"/>
                <a:ea typeface="微软雅黑" panose="020B0503020204020204" pitchFamily="34" charset="-122"/>
                <a:cs typeface="+mn-ea"/>
                <a:sym typeface="+mn-lt"/>
              </a:rPr>
              <a:t>局面，</a:t>
            </a: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就称之为状态。解决一道</a:t>
            </a:r>
            <a:r>
              <a:rPr lang="en-US" altLang="zh-CN" sz="20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000" dirty="0">
                <a:solidFill>
                  <a:schemeClr val="tx1"/>
                </a:solidFill>
                <a:latin typeface="微软雅黑" panose="020B0503020204020204" pitchFamily="34" charset="-122"/>
                <a:ea typeface="微软雅黑" panose="020B0503020204020204" pitchFamily="34" charset="-122"/>
                <a:cs typeface="+mn-ea"/>
                <a:sym typeface="+mn-lt"/>
              </a:rPr>
              <a:t>题的很关键的地方就是能否设计合适的状态。</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在该问题中，我们写出了一个递推式</a:t>
            </a:r>
            <a:r>
              <a:rPr lang="en-US" altLang="zh-CN" sz="2000" dirty="0">
                <a:solidFill>
                  <a:schemeClr val="tx1"/>
                </a:solidFill>
              </a:rPr>
              <a:t>f(n)=min{f(n-1)+f(n-5)+f(n-11)}+1. </a:t>
            </a:r>
            <a:r>
              <a:rPr lang="zh-CN" altLang="en-US" sz="2000" dirty="0">
                <a:solidFill>
                  <a:schemeClr val="tx1"/>
                </a:solidFill>
                <a:latin typeface="微软雅黑" panose="020B0503020204020204" pitchFamily="34" charset="-122"/>
                <a:ea typeface="微软雅黑" panose="020B0503020204020204" pitchFamily="34" charset="-122"/>
              </a:rPr>
              <a:t>类似这样的能够实现状态之间的推理，推导的关系式就叫做“状态转移方程”。</a:t>
            </a:r>
            <a:endParaRPr lang="en-US" altLang="zh-CN" sz="2000"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4189325217"/>
      </p:ext>
    </p:extLst>
  </p:cSld>
  <p:clrMapOvr>
    <a:masterClrMapping/>
  </p:clrMapOvr>
  <mc:AlternateContent xmlns:mc="http://schemas.openxmlformats.org/markup-compatibility/2006" xmlns:p14="http://schemas.microsoft.com/office/powerpoint/2010/main">
    <mc:Choice Requires="p14">
      <p:transition spd="slow" p14:dur="2000" advTm="49425"/>
    </mc:Choice>
    <mc:Fallback xmlns="">
      <p:transition spd="slow" advTm="494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50EFF-BC1C-5C36-73EB-E4FA5A768E56}"/>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30149F84-5498-B5DB-F9C5-3C44A97E0509}"/>
              </a:ext>
            </a:extLst>
          </p:cNvPr>
          <p:cNvSpPr/>
          <p:nvPr/>
        </p:nvSpPr>
        <p:spPr>
          <a:xfrm>
            <a:off x="193693" y="131817"/>
            <a:ext cx="6524741" cy="523220"/>
          </a:xfrm>
          <a:prstGeom prst="rect">
            <a:avLst/>
          </a:prstGeom>
        </p:spPr>
        <p:txBody>
          <a:bodyPr wrap="square">
            <a:spAutoFit/>
          </a:bodyPr>
          <a:lstStyle/>
          <a:p>
            <a:pPr lvl="0">
              <a:defRPr/>
            </a:pPr>
            <a:r>
              <a:rPr lang="zh-CN" altLang="en-US" sz="2800" dirty="0">
                <a:solidFill>
                  <a:srgbClr val="005E9C"/>
                </a:solidFill>
                <a:latin typeface="微软雅黑" panose="020B0503020204020204" pitchFamily="34" charset="-122"/>
                <a:ea typeface="微软雅黑" panose="020B0503020204020204" pitchFamily="34" charset="-122"/>
                <a:cs typeface="+mn-ea"/>
                <a:sym typeface="思源黑体" panose="020B0500000000000000" pitchFamily="34" charset="-122"/>
              </a:rPr>
              <a:t>动态规划</a:t>
            </a:r>
          </a:p>
        </p:txBody>
      </p:sp>
      <p:sp>
        <p:nvSpPr>
          <p:cNvPr id="5" name="内容占位符 4">
            <a:extLst>
              <a:ext uri="{FF2B5EF4-FFF2-40B4-BE49-F238E27FC236}">
                <a16:creationId xmlns:a16="http://schemas.microsoft.com/office/drawing/2014/main" id="{F7316AAC-6633-029D-0DE4-C6C8C057D581}"/>
              </a:ext>
            </a:extLst>
          </p:cNvPr>
          <p:cNvSpPr txBox="1">
            <a:spLocks/>
          </p:cNvSpPr>
          <p:nvPr/>
        </p:nvSpPr>
        <p:spPr>
          <a:xfrm>
            <a:off x="598620" y="1443835"/>
            <a:ext cx="10373418"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我们最后得到的这个递推的方法，就是我们的动态规划（</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用它我们可以认识到我们</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的一些概念：</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的核心</a:t>
            </a:r>
            <a:endParaRPr lang="en-US" altLang="zh-CN" sz="2000"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spcAft>
                <a:spcPts val="0"/>
              </a:spcAft>
              <a:buNone/>
            </a:pPr>
            <a:r>
              <a:rPr lang="zh-CN" altLang="en-US" sz="2000" dirty="0">
                <a:latin typeface="微软雅黑" panose="020B0503020204020204" pitchFamily="34" charset="-122"/>
                <a:ea typeface="微软雅黑" panose="020B0503020204020204" pitchFamily="34" charset="-122"/>
              </a:rPr>
              <a:t>缩小解的空间</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舍弃了一大堆</a:t>
            </a:r>
            <a:r>
              <a:rPr lang="zh-CN" altLang="en-US" sz="2000" dirty="0">
                <a:solidFill>
                  <a:srgbClr val="FF0000"/>
                </a:solidFill>
                <a:latin typeface="微软雅黑" panose="020B0503020204020204" pitchFamily="34" charset="-122"/>
                <a:ea typeface="微软雅黑" panose="020B0503020204020204" pitchFamily="34" charset="-122"/>
              </a:rPr>
              <a:t>不可能成为最优解</a:t>
            </a:r>
            <a:r>
              <a:rPr lang="zh-CN" altLang="en-US" sz="2000" dirty="0">
                <a:latin typeface="微软雅黑" panose="020B0503020204020204" pitchFamily="34" charset="-122"/>
                <a:ea typeface="微软雅黑" panose="020B0503020204020204" pitchFamily="34" charset="-122"/>
              </a:rPr>
              <a:t>的答案。譬如硬币问题：</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15 = 5+5+5 </a:t>
            </a:r>
            <a:r>
              <a:rPr lang="zh-CN" altLang="en-US" sz="2000" dirty="0">
                <a:latin typeface="微软雅黑" panose="020B0503020204020204" pitchFamily="34" charset="-122"/>
                <a:ea typeface="微软雅黑" panose="020B0503020204020204" pitchFamily="34" charset="-122"/>
              </a:rPr>
              <a:t>被考虑了。</a:t>
            </a:r>
            <a:endParaRPr lang="en-US" altLang="zh-CN" sz="2000" dirty="0">
              <a:latin typeface="微软雅黑" panose="020B0503020204020204" pitchFamily="34" charset="-122"/>
              <a:ea typeface="微软雅黑" panose="020B0503020204020204" pitchFamily="34" charset="-122"/>
            </a:endParaRPr>
          </a:p>
          <a:p>
            <a:r>
              <a:rPr lang="en-US" altLang="zh-CN" sz="2000" dirty="0">
                <a:latin typeface="微软雅黑" panose="020B0503020204020204" pitchFamily="34" charset="-122"/>
                <a:ea typeface="微软雅黑" panose="020B0503020204020204" pitchFamily="34" charset="-122"/>
              </a:rPr>
              <a:t>15 = 5+5+1+1+1+1+1 </a:t>
            </a:r>
            <a:r>
              <a:rPr lang="zh-CN" altLang="en-US" sz="2000" dirty="0">
                <a:latin typeface="微软雅黑" panose="020B0503020204020204" pitchFamily="34" charset="-122"/>
                <a:ea typeface="微软雅黑" panose="020B0503020204020204" pitchFamily="34" charset="-122"/>
              </a:rPr>
              <a:t>从来没有考虑过，因为这不可能成为最优解。</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在暴力算法中，可能解空间往往是指数级的大小；如果我们采用</a:t>
            </a:r>
            <a:r>
              <a:rPr lang="en-US" altLang="zh-CN" sz="2000" dirty="0">
                <a:latin typeface="微软雅黑" panose="020B0503020204020204" pitchFamily="34" charset="-122"/>
                <a:ea typeface="微软雅黑" panose="020B0503020204020204" pitchFamily="34" charset="-122"/>
              </a:rPr>
              <a:t>DP</a:t>
            </a:r>
            <a:r>
              <a:rPr lang="zh-CN" altLang="en-US" sz="2000" dirty="0">
                <a:latin typeface="微软雅黑" panose="020B0503020204020204" pitchFamily="34" charset="-122"/>
                <a:ea typeface="微软雅黑" panose="020B0503020204020204" pitchFamily="34" charset="-122"/>
              </a:rPr>
              <a:t>，那么有可能把解空间的大小降到多项式级。</a:t>
            </a:r>
            <a:endParaRPr lang="en-US" altLang="zh-CN" sz="2000" dirty="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一般来说，解空间越小，寻找解就越快。这样就完成了优化。</a:t>
            </a:r>
          </a:p>
        </p:txBody>
      </p:sp>
    </p:spTree>
    <p:custDataLst>
      <p:tags r:id="rId1"/>
    </p:custDataLst>
    <p:extLst>
      <p:ext uri="{BB962C8B-B14F-4D97-AF65-F5344CB8AC3E}">
        <p14:creationId xmlns:p14="http://schemas.microsoft.com/office/powerpoint/2010/main" val="2252605443"/>
      </p:ext>
    </p:extLst>
  </p:cSld>
  <p:clrMapOvr>
    <a:masterClrMapping/>
  </p:clrMapOvr>
  <mc:AlternateContent xmlns:mc="http://schemas.openxmlformats.org/markup-compatibility/2006">
    <mc:Choice xmlns:p14="http://schemas.microsoft.com/office/powerpoint/2010/main" Requires="p14">
      <p:transition spd="slow" p14:dur="2000" advTm="49425"/>
    </mc:Choice>
    <mc:Fallback>
      <p:transition spd="slow" advTm="494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8.2  </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动态规划的两种编码方法</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671939501"/>
      </p:ext>
    </p:extLst>
  </p:cSld>
  <p:clrMapOvr>
    <a:masterClrMapping/>
  </p:clrMapOvr>
  <p:transition spd="med" advTm="5391">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93693" y="131817"/>
            <a:ext cx="6524741" cy="523220"/>
          </a:xfrm>
          <a:prstGeom prst="rect">
            <a:avLst/>
          </a:prstGeom>
        </p:spPr>
        <p:txBody>
          <a:bodyPr wrap="square">
            <a:spAutoFit/>
          </a:bodyPr>
          <a:lstStyle/>
          <a:p>
            <a:r>
              <a:rPr lang="en-US" altLang="zh-CN" sz="2800" dirty="0">
                <a:solidFill>
                  <a:srgbClr val="0070C0"/>
                </a:solidFill>
                <a:latin typeface="微软雅黑" panose="020B0503020204020204" pitchFamily="34" charset="-122"/>
                <a:ea typeface="微软雅黑" panose="020B0503020204020204" pitchFamily="34" charset="-122"/>
              </a:rPr>
              <a:t>DP</a:t>
            </a:r>
            <a:r>
              <a:rPr lang="zh-CN" altLang="en-US" sz="2800" dirty="0">
                <a:solidFill>
                  <a:srgbClr val="0070C0"/>
                </a:solidFill>
                <a:latin typeface="微软雅黑" panose="020B0503020204020204" pitchFamily="34" charset="-122"/>
                <a:ea typeface="微软雅黑" panose="020B0503020204020204" pitchFamily="34" charset="-122"/>
              </a:rPr>
              <a:t>的两种编程方法</a:t>
            </a:r>
          </a:p>
        </p:txBody>
      </p:sp>
      <p:sp>
        <p:nvSpPr>
          <p:cNvPr id="5" name="内容占位符 4"/>
          <p:cNvSpPr txBox="1">
            <a:spLocks/>
          </p:cNvSpPr>
          <p:nvPr/>
        </p:nvSpPr>
        <p:spPr>
          <a:xfrm>
            <a:off x="904030" y="1291130"/>
            <a:ext cx="10373417" cy="48865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DP</a:t>
            </a:r>
            <a:r>
              <a:rPr lang="zh-CN" altLang="en-US" sz="2400" b="1" dirty="0">
                <a:latin typeface="微软雅黑" panose="020B0503020204020204" pitchFamily="34" charset="-122"/>
                <a:ea typeface="微软雅黑" panose="020B0503020204020204" pitchFamily="34" charset="-122"/>
              </a:rPr>
              <a:t>的两种思路：</a:t>
            </a:r>
          </a:p>
          <a:p>
            <a:pPr lvl="1" algn="just" fontAlgn="auto">
              <a:lnSpc>
                <a:spcPct val="140000"/>
              </a:lnSpc>
              <a:spcBef>
                <a:spcPts val="0"/>
              </a:spcBef>
              <a:spcAft>
                <a:spcPts val="0"/>
              </a:spcAft>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自顶向下（</a:t>
            </a:r>
            <a:r>
              <a:rPr lang="en-US" altLang="zh-CN" b="1" dirty="0">
                <a:latin typeface="微软雅黑" panose="020B0503020204020204" pitchFamily="34" charset="-122"/>
                <a:ea typeface="微软雅黑" panose="020B0503020204020204" pitchFamily="34" charset="-122"/>
              </a:rPr>
              <a:t>Top-Down </a:t>
            </a:r>
            <a:r>
              <a:rPr lang="zh-CN" altLang="en-US" b="1" dirty="0">
                <a:latin typeface="微软雅黑" panose="020B0503020204020204" pitchFamily="34" charset="-122"/>
                <a:ea typeface="微软雅黑" panose="020B0503020204020204" pitchFamily="34" charset="-122"/>
              </a:rPr>
              <a:t>，先大问题再小问题）</a:t>
            </a:r>
          </a:p>
          <a:p>
            <a:pPr lvl="1" algn="just" fontAlgn="auto">
              <a:lnSpc>
                <a:spcPct val="140000"/>
              </a:lnSpc>
              <a:spcBef>
                <a:spcPts val="0"/>
              </a:spcBef>
              <a:spcAft>
                <a:spcPts val="0"/>
              </a:spcAft>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自下而上（</a:t>
            </a:r>
            <a:r>
              <a:rPr lang="en-US" altLang="zh-CN" b="1" dirty="0">
                <a:latin typeface="微软雅黑" panose="020B0503020204020204" pitchFamily="34" charset="-122"/>
                <a:ea typeface="微软雅黑" panose="020B0503020204020204" pitchFamily="34" charset="-122"/>
              </a:rPr>
              <a:t>Bottom-Up</a:t>
            </a:r>
            <a:r>
              <a:rPr lang="zh-CN" altLang="en-US" b="1" dirty="0">
                <a:latin typeface="微软雅黑" panose="020B0503020204020204" pitchFamily="34" charset="-122"/>
                <a:ea typeface="微软雅黑" panose="020B0503020204020204" pitchFamily="34" charset="-122"/>
              </a:rPr>
              <a:t>，先小问题再大问题）</a:t>
            </a:r>
            <a:endParaRPr lang="en-US" altLang="zh-CN" b="1" dirty="0">
              <a:latin typeface="微软雅黑" panose="020B0503020204020204" pitchFamily="34" charset="-122"/>
              <a:ea typeface="微软雅黑" panose="020B0503020204020204" pitchFamily="34" charset="-122"/>
            </a:endParaRPr>
          </a:p>
          <a:p>
            <a:pPr lvl="1" algn="just" fontAlgn="auto">
              <a:lnSpc>
                <a:spcPct val="140000"/>
              </a:lnSpc>
              <a:spcBef>
                <a:spcPts val="0"/>
              </a:spcBef>
              <a:spcAft>
                <a:spcPts val="0"/>
              </a:spcAft>
              <a:buFont typeface="Wingdings" panose="05000000000000000000" pitchFamily="2" charset="2"/>
              <a:buChar char="ü"/>
            </a:pPr>
            <a:endParaRPr lang="zh-CN" altLang="en-US" b="1"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en-US" altLang="zh-CN" sz="2400" b="1" dirty="0">
                <a:latin typeface="微软雅黑" panose="020B0503020204020204" pitchFamily="34" charset="-122"/>
                <a:ea typeface="微软雅黑" panose="020B0503020204020204" pitchFamily="34" charset="-122"/>
              </a:rPr>
              <a:t>DP</a:t>
            </a:r>
            <a:r>
              <a:rPr lang="zh-CN" altLang="en-US" sz="2400" b="1" dirty="0">
                <a:latin typeface="微软雅黑" panose="020B0503020204020204" pitchFamily="34" charset="-122"/>
                <a:ea typeface="微软雅黑" panose="020B0503020204020204" pitchFamily="34" charset="-122"/>
              </a:rPr>
              <a:t>的两种编程方法：</a:t>
            </a:r>
          </a:p>
          <a:p>
            <a:pPr lvl="1" algn="just" fontAlgn="auto">
              <a:lnSpc>
                <a:spcPct val="140000"/>
              </a:lnSpc>
              <a:spcBef>
                <a:spcPts val="0"/>
              </a:spcBef>
              <a:spcAft>
                <a:spcPts val="0"/>
              </a:spcAft>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自顶向下：用带</a:t>
            </a:r>
            <a:r>
              <a:rPr lang="zh-CN" altLang="en-US" b="1" dirty="0">
                <a:solidFill>
                  <a:srgbClr val="FF0000"/>
                </a:solidFill>
                <a:latin typeface="微软雅黑" panose="020B0503020204020204" pitchFamily="34" charset="-122"/>
                <a:ea typeface="微软雅黑" panose="020B0503020204020204" pitchFamily="34" charset="-122"/>
              </a:rPr>
              <a:t>记忆化的递归</a:t>
            </a:r>
            <a:r>
              <a:rPr lang="zh-CN" altLang="en-US" b="1" dirty="0">
                <a:latin typeface="微软雅黑" panose="020B0503020204020204" pitchFamily="34" charset="-122"/>
                <a:ea typeface="微软雅黑" panose="020B0503020204020204" pitchFamily="34" charset="-122"/>
              </a:rPr>
              <a:t>编码</a:t>
            </a:r>
          </a:p>
          <a:p>
            <a:pPr lvl="1" algn="just" fontAlgn="auto">
              <a:lnSpc>
                <a:spcPct val="140000"/>
              </a:lnSpc>
              <a:spcBef>
                <a:spcPts val="0"/>
              </a:spcBef>
              <a:spcAft>
                <a:spcPts val="0"/>
              </a:spcAft>
              <a:buFont typeface="Wingdings" panose="05000000000000000000" pitchFamily="2" charset="2"/>
              <a:buChar char="ü"/>
            </a:pPr>
            <a:r>
              <a:rPr lang="zh-CN" altLang="en-US" b="1" dirty="0">
                <a:latin typeface="微软雅黑" panose="020B0503020204020204" pitchFamily="34" charset="-122"/>
                <a:ea typeface="微软雅黑" panose="020B0503020204020204" pitchFamily="34" charset="-122"/>
              </a:rPr>
              <a:t>自下而上：用</a:t>
            </a:r>
            <a:r>
              <a:rPr lang="zh-CN" altLang="en-US" b="1" dirty="0">
                <a:solidFill>
                  <a:srgbClr val="FF0000"/>
                </a:solidFill>
                <a:latin typeface="微软雅黑" panose="020B0503020204020204" pitchFamily="34" charset="-122"/>
                <a:ea typeface="微软雅黑" panose="020B0503020204020204" pitchFamily="34" charset="-122"/>
              </a:rPr>
              <a:t>递推</a:t>
            </a:r>
            <a:r>
              <a:rPr lang="zh-CN" altLang="en-US" b="1" dirty="0">
                <a:latin typeface="微软雅黑" panose="020B0503020204020204" pitchFamily="34" charset="-122"/>
                <a:ea typeface="微软雅黑" panose="020B0503020204020204" pitchFamily="34" charset="-122"/>
              </a:rPr>
              <a:t>编码</a:t>
            </a:r>
          </a:p>
          <a:p>
            <a:pPr algn="just" fontAlgn="auto">
              <a:lnSpc>
                <a:spcPct val="140000"/>
              </a:lnSpc>
              <a:spcBef>
                <a:spcPts val="0"/>
              </a:spcBef>
              <a:spcAft>
                <a:spcPts val="0"/>
              </a:spcAft>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两种方法的复杂度一样：每个子问题都计算一遍，而且只计算一遍。</a:t>
            </a:r>
          </a:p>
        </p:txBody>
      </p:sp>
    </p:spTree>
    <p:custDataLst>
      <p:tags r:id="rId1"/>
    </p:custDataLst>
    <p:extLst>
      <p:ext uri="{BB962C8B-B14F-4D97-AF65-F5344CB8AC3E}">
        <p14:creationId xmlns:p14="http://schemas.microsoft.com/office/powerpoint/2010/main" val="2731023740"/>
      </p:ext>
    </p:extLst>
  </p:cSld>
  <p:clrMapOvr>
    <a:masterClrMapping/>
  </p:clrMapOvr>
  <mc:AlternateContent xmlns:mc="http://schemas.openxmlformats.org/markup-compatibility/2006" xmlns:p14="http://schemas.microsoft.com/office/powerpoint/2010/main">
    <mc:Choice Requires="p14">
      <p:transition spd="slow" p14:dur="2000" advTm="56927"/>
    </mc:Choice>
    <mc:Fallback xmlns="">
      <p:transition spd="slow" advTm="569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500"/>
                                        <p:tgtEl>
                                          <p:spTgt spid="5">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5" end="5"/>
                                            </p:txEl>
                                          </p:spTgt>
                                        </p:tgtEl>
                                        <p:attrNameLst>
                                          <p:attrName>style.visibility</p:attrName>
                                        </p:attrNameLst>
                                      </p:cBhvr>
                                      <p:to>
                                        <p:strVal val="visible"/>
                                      </p:to>
                                    </p:set>
                                    <p:animEffect transition="in" filter="fade">
                                      <p:cBhvr>
                                        <p:cTn id="10" dur="500"/>
                                        <p:tgtEl>
                                          <p:spTgt spid="5">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Effect transition="in" filter="fade">
                                      <p:cBhvr>
                                        <p:cTn id="13" dur="500"/>
                                        <p:tgtEl>
                                          <p:spTgt spid="5">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7" end="7"/>
                                            </p:txEl>
                                          </p:spTgt>
                                        </p:tgtEl>
                                        <p:attrNameLst>
                                          <p:attrName>style.visibility</p:attrName>
                                        </p:attrNameLst>
                                      </p:cBhvr>
                                      <p:to>
                                        <p:strVal val="visible"/>
                                      </p:to>
                                    </p:set>
                                    <p:animEffect transition="in" filter="fade">
                                      <p:cBhvr>
                                        <p:cTn id="1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5915" y="655037"/>
            <a:ext cx="6524741" cy="523220"/>
          </a:xfrm>
          <a:prstGeom prst="rect">
            <a:avLst/>
          </a:prstGeom>
        </p:spPr>
        <p:txBody>
          <a:bodyPr wrap="square">
            <a:spAutoFit/>
          </a:bodyPr>
          <a:lstStyle/>
          <a:p>
            <a:r>
              <a:rPr lang="zh-CN" altLang="en-US" sz="2800" dirty="0">
                <a:solidFill>
                  <a:srgbClr val="FF0000"/>
                </a:solidFill>
                <a:latin typeface="微软雅黑" panose="020B0503020204020204" pitchFamily="34" charset="-122"/>
                <a:ea typeface="微软雅黑" panose="020B0503020204020204" pitchFamily="34" charset="-122"/>
              </a:rPr>
              <a:t>（</a:t>
            </a:r>
            <a:r>
              <a:rPr lang="en-US" altLang="zh-CN" sz="2800" dirty="0">
                <a:solidFill>
                  <a:srgbClr val="FF0000"/>
                </a:solidFill>
                <a:latin typeface="微软雅黑" panose="020B0503020204020204" pitchFamily="34" charset="-122"/>
                <a:ea typeface="微软雅黑" panose="020B0503020204020204" pitchFamily="34" charset="-122"/>
              </a:rPr>
              <a:t>1</a:t>
            </a:r>
            <a:r>
              <a:rPr lang="zh-CN" altLang="en-US" sz="2800" dirty="0">
                <a:solidFill>
                  <a:srgbClr val="FF0000"/>
                </a:solidFill>
                <a:latin typeface="微软雅黑" panose="020B0503020204020204" pitchFamily="34" charset="-122"/>
                <a:ea typeface="微软雅黑" panose="020B0503020204020204" pitchFamily="34" charset="-122"/>
              </a:rPr>
              <a:t>）自顶向下与记忆化</a:t>
            </a:r>
          </a:p>
        </p:txBody>
      </p:sp>
      <p:sp>
        <p:nvSpPr>
          <p:cNvPr id="5" name="内容占位符 4"/>
          <p:cNvSpPr txBox="1">
            <a:spLocks/>
          </p:cNvSpPr>
          <p:nvPr/>
        </p:nvSpPr>
        <p:spPr>
          <a:xfrm>
            <a:off x="904030" y="1291130"/>
            <a:ext cx="10373417" cy="488655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rPr>
              <a:t>自顶向下：</a:t>
            </a:r>
            <a:r>
              <a:rPr lang="zh-CN" altLang="en-US" sz="2400" dirty="0">
                <a:latin typeface="微软雅黑" panose="020B0503020204020204" pitchFamily="34" charset="-122"/>
                <a:ea typeface="微软雅黑" panose="020B0503020204020204" pitchFamily="34" charset="-122"/>
              </a:rPr>
              <a:t>先考虑大问题，再缩小到小问题，直到最小的问题无法再缩小。</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由于递归很直接地体现了这种思路，所以也可以用递归来写</a:t>
            </a:r>
            <a:r>
              <a:rPr lang="en-US" altLang="zh-CN" sz="2400" dirty="0">
                <a:latin typeface="微软雅黑" panose="020B0503020204020204" pitchFamily="34" charset="-122"/>
                <a:ea typeface="微软雅黑" panose="020B0503020204020204" pitchFamily="34" charset="-122"/>
              </a:rPr>
              <a:t>DP</a:t>
            </a:r>
            <a:r>
              <a:rPr lang="zh-CN" altLang="en-US" sz="2400" dirty="0">
                <a:latin typeface="微软雅黑" panose="020B0503020204020204" pitchFamily="34" charset="-122"/>
                <a:ea typeface="微软雅黑" panose="020B0503020204020204" pitchFamily="34" charset="-122"/>
              </a:rPr>
              <a:t>的代码。</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endParaRPr lang="zh-CN" altLang="en-US"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rPr>
              <a:t>记忆化：</a:t>
            </a:r>
            <a:r>
              <a:rPr lang="zh-CN" altLang="en-US" sz="2400" dirty="0">
                <a:latin typeface="微软雅黑" panose="020B0503020204020204" pitchFamily="34" charset="-122"/>
                <a:ea typeface="微软雅黑" panose="020B0503020204020204" pitchFamily="34" charset="-122"/>
              </a:rPr>
              <a:t>为避免递归时重复计算子问题，可以在子问题得到解决时，就保存结果，再次需要这个结果时，直接返回保存的结果就行了。这种存储已经解决的子问题的结果的技术称为“记忆化” 。</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68743833"/>
      </p:ext>
    </p:extLst>
  </p:cSld>
  <p:clrMapOvr>
    <a:masterClrMapping/>
  </p:clrMapOvr>
  <mc:AlternateContent xmlns:mc="http://schemas.openxmlformats.org/markup-compatibility/2006" xmlns:p14="http://schemas.microsoft.com/office/powerpoint/2010/main">
    <mc:Choice Requires="p14">
      <p:transition spd="slow" p14:dur="2000" advTm="76994"/>
    </mc:Choice>
    <mc:Fallback xmlns="">
      <p:transition spd="slow" advTm="7699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19</a:t>
            </a:fld>
            <a:endParaRPr lang="en-US" altLang="zh-CN" b="0" dirty="0">
              <a:solidFill>
                <a:schemeClr val="tx1"/>
              </a:solidFill>
            </a:endParaRPr>
          </a:p>
        </p:txBody>
      </p:sp>
      <p:sp>
        <p:nvSpPr>
          <p:cNvPr id="21" name="内容占位符 2"/>
          <p:cNvSpPr txBox="1"/>
          <p:nvPr/>
        </p:nvSpPr>
        <p:spPr>
          <a:xfrm>
            <a:off x="1056735" y="2011855"/>
            <a:ext cx="9620415" cy="43366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const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 = 42;            //</a:t>
            </a:r>
            <a:r>
              <a:rPr lang="zh-CN" altLang="en-US" sz="2000" b="0" dirty="0">
                <a:latin typeface="宋体" panose="02010600030101010101" pitchFamily="2" charset="-122"/>
                <a:ea typeface="宋体" panose="02010600030101010101" pitchFamily="2" charset="-122"/>
              </a:rPr>
              <a:t>因为斐波那契数增长太快，这里只算</a:t>
            </a:r>
            <a:r>
              <a:rPr lang="en-US" altLang="zh-CN" sz="2000" b="0" dirty="0">
                <a:latin typeface="宋体" panose="02010600030101010101" pitchFamily="2" charset="-122"/>
                <a:ea typeface="宋体" panose="02010600030101010101" pitchFamily="2" charset="-122"/>
              </a:rPr>
              <a:t>41</a:t>
            </a:r>
            <a:r>
              <a:rPr lang="zh-CN" altLang="en-US" sz="2000" b="0" dirty="0">
                <a:latin typeface="宋体" panose="02010600030101010101" pitchFamily="2" charset="-122"/>
                <a:ea typeface="宋体" panose="02010600030101010101" pitchFamily="2" charset="-122"/>
              </a:rPr>
              <a:t>个数</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                  //</a:t>
            </a:r>
            <a:r>
              <a:rPr lang="zh-CN" altLang="en-US" sz="2000" b="0" dirty="0">
                <a:latin typeface="宋体" panose="02010600030101010101" pitchFamily="2" charset="-122"/>
                <a:ea typeface="宋体" panose="02010600030101010101" pitchFamily="2" charset="-122"/>
              </a:rPr>
              <a:t>记忆结果</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fib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(n == 1 || n == 2)  return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 != 0) return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  //</a:t>
            </a:r>
            <a:r>
              <a:rPr lang="zh-CN" altLang="en-US" sz="2000" b="0" dirty="0">
                <a:latin typeface="宋体" panose="02010600030101010101" pitchFamily="2" charset="-122"/>
                <a:ea typeface="宋体" panose="02010600030101010101" pitchFamily="2" charset="-122"/>
              </a:rPr>
              <a:t>已经计算过，直接返回结果，不再递归</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 fib (n - 1) + fib (n - 2);    //</a:t>
            </a:r>
            <a:r>
              <a:rPr lang="zh-CN" altLang="en-US" sz="2000" b="0" dirty="0">
                <a:latin typeface="宋体" panose="02010600030101010101" pitchFamily="2" charset="-122"/>
                <a:ea typeface="宋体" panose="02010600030101010101" pitchFamily="2" charset="-122"/>
              </a:rPr>
              <a:t>递归计算，并记忆</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a:latin typeface="宋体" panose="02010600030101010101" pitchFamily="2" charset="-122"/>
                <a:ea typeface="宋体" panose="02010600030101010101" pitchFamily="2" charset="-122"/>
              </a:rPr>
              <a:t>return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fib(41);       //</a:t>
            </a:r>
            <a:r>
              <a:rPr lang="zh-CN" altLang="en-US" sz="2000" b="0" dirty="0">
                <a:latin typeface="宋体" panose="02010600030101010101" pitchFamily="2" charset="-122"/>
                <a:ea typeface="宋体" panose="02010600030101010101" pitchFamily="2" charset="-122"/>
              </a:rPr>
              <a:t>计算第</a:t>
            </a:r>
            <a:r>
              <a:rPr lang="en-US" altLang="zh-CN" sz="2000" b="0" dirty="0">
                <a:latin typeface="宋体" panose="02010600030101010101" pitchFamily="2" charset="-122"/>
                <a:ea typeface="宋体" panose="02010600030101010101" pitchFamily="2" charset="-122"/>
              </a:rPr>
              <a:t>41</a:t>
            </a:r>
            <a:r>
              <a:rPr lang="zh-CN" altLang="en-US" sz="2000" b="0" dirty="0">
                <a:latin typeface="宋体" panose="02010600030101010101" pitchFamily="2" charset="-122"/>
                <a:ea typeface="宋体" panose="02010600030101010101" pitchFamily="2" charset="-122"/>
              </a:rPr>
              <a:t>个斐波那契数</a:t>
            </a:r>
            <a:r>
              <a:rPr lang="en-US" altLang="zh-CN" sz="2000" b="0" dirty="0">
                <a:latin typeface="宋体" panose="02010600030101010101" pitchFamily="2" charset="-122"/>
                <a:ea typeface="宋体" panose="02010600030101010101" pitchFamily="2" charset="-122"/>
              </a:rPr>
              <a:t>: 165580141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729306" y="985720"/>
            <a:ext cx="8420794" cy="7635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a:latin typeface="微软雅黑" panose="020B0503020204020204" pitchFamily="34" charset="-122"/>
                <a:ea typeface="微软雅黑" panose="020B0503020204020204" pitchFamily="34" charset="-122"/>
              </a:rPr>
              <a:t>斐波那契数，</a:t>
            </a:r>
            <a:r>
              <a:rPr lang="zh-CN" altLang="en-US" sz="2400" dirty="0">
                <a:latin typeface="微软雅黑" panose="020B0503020204020204" pitchFamily="34" charset="-122"/>
                <a:ea typeface="微软雅黑" panose="020B0503020204020204" pitchFamily="34" charset="-122"/>
              </a:rPr>
              <a:t>记忆化代码：</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53654023"/>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445915" y="655037"/>
            <a:ext cx="6524741" cy="523220"/>
          </a:xfrm>
          <a:prstGeom prst="rect">
            <a:avLst/>
          </a:prstGeom>
        </p:spPr>
        <p:txBody>
          <a:bodyPr wrap="square">
            <a:spAutoFit/>
          </a:bodyPr>
          <a:lstStyle/>
          <a:p>
            <a:r>
              <a:rPr lang="zh-CN" altLang="en-US" sz="2800" dirty="0">
                <a:solidFill>
                  <a:srgbClr val="FF0000"/>
                </a:solidFill>
                <a:latin typeface="微软雅黑" panose="020B0503020204020204" pitchFamily="34" charset="-122"/>
                <a:ea typeface="微软雅黑" panose="020B0503020204020204" pitchFamily="34" charset="-122"/>
              </a:rPr>
              <a:t>（</a:t>
            </a:r>
            <a:r>
              <a:rPr lang="en-US" altLang="zh-CN" sz="2800" dirty="0">
                <a:solidFill>
                  <a:srgbClr val="FF0000"/>
                </a:solidFill>
                <a:latin typeface="微软雅黑" panose="020B0503020204020204" pitchFamily="34" charset="-122"/>
                <a:ea typeface="微软雅黑" panose="020B0503020204020204" pitchFamily="34" charset="-122"/>
              </a:rPr>
              <a:t>2</a:t>
            </a:r>
            <a:r>
              <a:rPr lang="zh-CN" altLang="en-US" sz="2800" dirty="0">
                <a:solidFill>
                  <a:srgbClr val="FF0000"/>
                </a:solidFill>
                <a:latin typeface="微软雅黑" panose="020B0503020204020204" pitchFamily="34" charset="-122"/>
                <a:ea typeface="微软雅黑" panose="020B0503020204020204" pitchFamily="34" charset="-122"/>
              </a:rPr>
              <a:t>）自下而上与制表递推。</a:t>
            </a:r>
          </a:p>
        </p:txBody>
      </p:sp>
      <p:sp>
        <p:nvSpPr>
          <p:cNvPr id="5" name="内容占位符 4"/>
          <p:cNvSpPr txBox="1">
            <a:spLocks/>
          </p:cNvSpPr>
          <p:nvPr/>
        </p:nvSpPr>
        <p:spPr>
          <a:xfrm>
            <a:off x="904030" y="1291130"/>
            <a:ext cx="10373417" cy="320680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这种方法与递归的自顶向下相反。</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思路：先解决子问题，再递推到大问题。</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通过填写表格来完成：根据表中的结果，逐步计算出大问题的解决方案。</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例：计算斐波那契数</a:t>
            </a:r>
            <a:endParaRPr lang="zh-CN" altLang="en-US" sz="2400" b="1"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1449671" y="4192525"/>
          <a:ext cx="8551481" cy="914400"/>
        </p:xfrm>
        <a:graphic>
          <a:graphicData uri="http://schemas.openxmlformats.org/drawingml/2006/table">
            <a:tbl>
              <a:tblPr>
                <a:tableStyleId>{5C22544A-7EE6-4342-B048-85BDC9FD1C3A}</a:tableStyleId>
              </a:tblPr>
              <a:tblGrid>
                <a:gridCol w="949478">
                  <a:extLst>
                    <a:ext uri="{9D8B030D-6E8A-4147-A177-3AD203B41FA5}">
                      <a16:colId xmlns:a16="http://schemas.microsoft.com/office/drawing/2014/main" val="1496990962"/>
                    </a:ext>
                  </a:extLst>
                </a:gridCol>
                <a:gridCol w="949478">
                  <a:extLst>
                    <a:ext uri="{9D8B030D-6E8A-4147-A177-3AD203B41FA5}">
                      <a16:colId xmlns:a16="http://schemas.microsoft.com/office/drawing/2014/main" val="1013467644"/>
                    </a:ext>
                  </a:extLst>
                </a:gridCol>
                <a:gridCol w="949478">
                  <a:extLst>
                    <a:ext uri="{9D8B030D-6E8A-4147-A177-3AD203B41FA5}">
                      <a16:colId xmlns:a16="http://schemas.microsoft.com/office/drawing/2014/main" val="417109352"/>
                    </a:ext>
                  </a:extLst>
                </a:gridCol>
                <a:gridCol w="949478">
                  <a:extLst>
                    <a:ext uri="{9D8B030D-6E8A-4147-A177-3AD203B41FA5}">
                      <a16:colId xmlns:a16="http://schemas.microsoft.com/office/drawing/2014/main" val="2814379350"/>
                    </a:ext>
                  </a:extLst>
                </a:gridCol>
                <a:gridCol w="949478">
                  <a:extLst>
                    <a:ext uri="{9D8B030D-6E8A-4147-A177-3AD203B41FA5}">
                      <a16:colId xmlns:a16="http://schemas.microsoft.com/office/drawing/2014/main" val="1059372605"/>
                    </a:ext>
                  </a:extLst>
                </a:gridCol>
                <a:gridCol w="949478">
                  <a:extLst>
                    <a:ext uri="{9D8B030D-6E8A-4147-A177-3AD203B41FA5}">
                      <a16:colId xmlns:a16="http://schemas.microsoft.com/office/drawing/2014/main" val="2454216865"/>
                    </a:ext>
                  </a:extLst>
                </a:gridCol>
                <a:gridCol w="949478">
                  <a:extLst>
                    <a:ext uri="{9D8B030D-6E8A-4147-A177-3AD203B41FA5}">
                      <a16:colId xmlns:a16="http://schemas.microsoft.com/office/drawing/2014/main" val="3515205538"/>
                    </a:ext>
                  </a:extLst>
                </a:gridCol>
                <a:gridCol w="949478">
                  <a:extLst>
                    <a:ext uri="{9D8B030D-6E8A-4147-A177-3AD203B41FA5}">
                      <a16:colId xmlns:a16="http://schemas.microsoft.com/office/drawing/2014/main" val="3369829563"/>
                    </a:ext>
                  </a:extLst>
                </a:gridCol>
                <a:gridCol w="955657">
                  <a:extLst>
                    <a:ext uri="{9D8B030D-6E8A-4147-A177-3AD203B41FA5}">
                      <a16:colId xmlns:a16="http://schemas.microsoft.com/office/drawing/2014/main" val="2759109359"/>
                    </a:ext>
                  </a:extLst>
                </a:gridCol>
              </a:tblGrid>
              <a:tr h="219710">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dp[1]</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dp[2]</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dp[3]</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dp[4]</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dp[5]</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dp[6]</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dp[7]</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sz="2400" b="1" kern="2200">
                          <a:effectLst/>
                          <a:latin typeface="宋体" panose="02010600030101010101" pitchFamily="2" charset="-122"/>
                          <a:ea typeface="宋体" panose="02010600030101010101" pitchFamily="2" charset="-122"/>
                        </a:rPr>
                        <a:t>dp[8]</a:t>
                      </a:r>
                      <a:endParaRPr 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a:t>
                      </a:r>
                      <a:endParaRPr lang="en-US" altLang="zh-CN" sz="24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3666279673"/>
                  </a:ext>
                </a:extLst>
              </a:tr>
              <a:tr h="191770">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1</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1</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2</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3</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5</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8</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13</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a:effectLst/>
                          <a:latin typeface="宋体" panose="02010600030101010101" pitchFamily="2" charset="-122"/>
                          <a:ea typeface="宋体" panose="02010600030101010101" pitchFamily="2" charset="-122"/>
                        </a:rPr>
                        <a:t>21</a:t>
                      </a:r>
                      <a:endParaRPr lang="zh-CN" altLang="en-US" sz="4800" b="1" kern="220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tc>
                  <a:txBody>
                    <a:bodyPr/>
                    <a:lstStyle/>
                    <a:p>
                      <a:pPr marL="0" marR="0" algn="ctr">
                        <a:spcBef>
                          <a:spcPts val="0"/>
                        </a:spcBef>
                        <a:spcAft>
                          <a:spcPts val="0"/>
                        </a:spcAft>
                      </a:pPr>
                      <a:r>
                        <a:rPr lang="en-US" altLang="zh-CN" sz="2400" b="1" kern="2200" dirty="0">
                          <a:effectLst/>
                          <a:latin typeface="宋体" panose="02010600030101010101" pitchFamily="2" charset="-122"/>
                          <a:ea typeface="宋体" panose="02010600030101010101" pitchFamily="2" charset="-122"/>
                        </a:rPr>
                        <a:t>...</a:t>
                      </a:r>
                      <a:endParaRPr lang="en-US" altLang="zh-CN" sz="2400" b="1" kern="22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a:tc>
                <a:extLst>
                  <a:ext uri="{0D108BD9-81ED-4DB2-BD59-A6C34878D82A}">
                    <a16:rowId xmlns:a16="http://schemas.microsoft.com/office/drawing/2014/main" val="1617916558"/>
                  </a:ext>
                </a:extLst>
              </a:tr>
            </a:tbl>
          </a:graphicData>
        </a:graphic>
      </p:graphicFrame>
    </p:spTree>
    <p:extLst>
      <p:ext uri="{BB962C8B-B14F-4D97-AF65-F5344CB8AC3E}">
        <p14:creationId xmlns:p14="http://schemas.microsoft.com/office/powerpoint/2010/main" val="3102533848"/>
      </p:ext>
    </p:extLst>
  </p:cSld>
  <p:clrMapOvr>
    <a:masterClrMapping/>
  </p:clrMapOvr>
  <mc:AlternateContent xmlns:mc="http://schemas.openxmlformats.org/markup-compatibility/2006" xmlns:p14="http://schemas.microsoft.com/office/powerpoint/2010/main">
    <mc:Choice Requires="p14">
      <p:transition spd="slow" p14:dur="2000" advTm="63205"/>
    </mc:Choice>
    <mc:Fallback xmlns="">
      <p:transition spd="slow" advTm="6320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21</a:t>
            </a:fld>
            <a:endParaRPr lang="en-US" altLang="zh-CN" b="0" dirty="0">
              <a:solidFill>
                <a:schemeClr val="tx1"/>
              </a:solidFill>
            </a:endParaRPr>
          </a:p>
        </p:txBody>
      </p:sp>
      <p:sp>
        <p:nvSpPr>
          <p:cNvPr id="21" name="内容占位符 2"/>
          <p:cNvSpPr txBox="1"/>
          <p:nvPr/>
        </p:nvSpPr>
        <p:spPr>
          <a:xfrm>
            <a:off x="1056735" y="2011855"/>
            <a:ext cx="9620415" cy="43366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const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 = 42;            </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               </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fib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[1] =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[2]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=3;i&lt;=</a:t>
            </a:r>
            <a:r>
              <a:rPr lang="en-US" altLang="zh-CN" sz="2000" b="0" dirty="0" err="1">
                <a:latin typeface="宋体" panose="02010600030101010101" pitchFamily="2" charset="-122"/>
                <a:ea typeface="宋体" panose="02010600030101010101" pitchFamily="2" charset="-122"/>
              </a:rPr>
              <a:t>n;i</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[i-1]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[i-2];</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fib(41);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729306" y="985720"/>
            <a:ext cx="8420794" cy="7635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斐波那契数，递推代码：</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301662"/>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8.3</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a:t>
            </a:r>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DP</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设计基础</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3175806864"/>
      </p:ext>
    </p:extLst>
  </p:cSld>
  <p:clrMapOvr>
    <a:masterClrMapping/>
  </p:clrMapOvr>
  <p:transition spd="med" advTm="3987">
    <p:randomBar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en-US" altLang="zh-CN" sz="4000" dirty="0">
                <a:solidFill>
                  <a:srgbClr val="C00000"/>
                </a:solidFill>
                <a:effectLst/>
                <a:latin typeface="微软雅黑" panose="020B0503020204020204" pitchFamily="34" charset="-122"/>
                <a:ea typeface="微软雅黑" panose="020B0503020204020204" pitchFamily="34" charset="-122"/>
              </a:rPr>
              <a:t>DP</a:t>
            </a:r>
            <a:r>
              <a:rPr lang="zh-CN" altLang="en-US" sz="4000" dirty="0">
                <a:solidFill>
                  <a:srgbClr val="C00000"/>
                </a:solidFill>
                <a:effectLst/>
                <a:latin typeface="微软雅黑" panose="020B0503020204020204" pitchFamily="34" charset="-122"/>
                <a:ea typeface="微软雅黑" panose="020B0503020204020204" pitchFamily="34" charset="-122"/>
              </a:rPr>
              <a:t>的基本问题</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23</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50408" y="1749245"/>
            <a:ext cx="9915613" cy="3720377"/>
          </a:xfrm>
          <a:prstGeom prst="rect">
            <a:avLst/>
          </a:prstGeom>
          <a:noFill/>
        </p:spPr>
        <p:txBody>
          <a:bodyPr wrap="square">
            <a:spAutoFit/>
          </a:bodyPr>
          <a:lstStyle/>
          <a:p>
            <a:pPr>
              <a:lnSpc>
                <a:spcPct val="150000"/>
              </a:lnSpc>
              <a:spcBef>
                <a:spcPts val="0"/>
              </a:spcBef>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状态设计</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p>
          <a:p>
            <a:pPr>
              <a:lnSpc>
                <a:spcPct val="150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a:t>
            </a:r>
            <a:r>
              <a:rPr lang="zh-CN" altLang="en-US" dirty="0">
                <a:solidFill>
                  <a:schemeClr val="tx1"/>
                </a:solidFill>
                <a:latin typeface="微软雅黑" panose="020B0503020204020204" pitchFamily="34" charset="-122"/>
                <a:ea typeface="微软雅黑" panose="020B0503020204020204" pitchFamily="34" charset="-122"/>
                <a:cs typeface="+mn-ea"/>
                <a:sym typeface="+mn-lt"/>
              </a:rPr>
              <a:t>将原问题划分为若干 阶段，每个阶段对应若干个子问题，提取这些子问题的特征（称之为 状态）；</a:t>
            </a:r>
            <a:endParaRPr lang="en-US" altLang="zh-CN"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状态转移</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p>
          <a:p>
            <a:pPr>
              <a:lnSpc>
                <a:spcPct val="150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a:t>
            </a:r>
            <a:r>
              <a:rPr lang="zh-CN" altLang="en-US" dirty="0">
                <a:solidFill>
                  <a:schemeClr val="tx1"/>
                </a:solidFill>
                <a:latin typeface="微软雅黑" panose="020B0503020204020204" pitchFamily="34" charset="-122"/>
                <a:ea typeface="微软雅黑" panose="020B0503020204020204" pitchFamily="34" charset="-122"/>
                <a:cs typeface="+mn-ea"/>
                <a:sym typeface="+mn-lt"/>
              </a:rPr>
              <a:t>寻找每一个状态的可能 决策，或者说是各状态间的相互转移方式（用数学的语言描述就是 状态转移方程）。</a:t>
            </a:r>
            <a:endParaRPr lang="en-US" altLang="zh-CN"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buFont typeface="Wingdings" panose="05000000000000000000" pitchFamily="2" charset="2"/>
              <a:buChar char="u"/>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编码实现</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727473347"/>
      </p:ext>
    </p:extLst>
  </p:cSld>
  <p:clrMapOvr>
    <a:masterClrMapping/>
  </p:clrMapOvr>
  <mc:AlternateContent xmlns:mc="http://schemas.openxmlformats.org/markup-compatibility/2006" xmlns:p14="http://schemas.microsoft.com/office/powerpoint/2010/main">
    <mc:Choice Requires="p14">
      <p:transition spd="slow" p14:dur="2000" advTm="18656"/>
    </mc:Choice>
    <mc:Fallback xmlns="">
      <p:transition spd="slow" advTm="1865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a:solidFill>
                  <a:srgbClr val="C00000"/>
                </a:solidFill>
                <a:effectLst/>
                <a:latin typeface="微软雅黑" panose="020B0503020204020204" pitchFamily="34" charset="-122"/>
                <a:ea typeface="微软雅黑" panose="020B0503020204020204" pitchFamily="34" charset="-122"/>
              </a:rPr>
              <a:t>更小的数 </a:t>
            </a:r>
            <a:r>
              <a:rPr lang="en-US" altLang="zh-CN" sz="2800" dirty="0" err="1">
                <a:solidFill>
                  <a:srgbClr val="C00000"/>
                </a:solidFill>
                <a:effectLst/>
                <a:latin typeface="微软雅黑" panose="020B0503020204020204" pitchFamily="34" charset="-122"/>
                <a:ea typeface="微软雅黑" panose="020B0503020204020204" pitchFamily="34" charset="-122"/>
              </a:rPr>
              <a:t>LanqiaoOJ</a:t>
            </a:r>
            <a:r>
              <a:rPr lang="en-US" altLang="zh-CN" sz="2800" dirty="0">
                <a:solidFill>
                  <a:srgbClr val="C00000"/>
                </a:solidFill>
                <a:effectLst/>
                <a:latin typeface="微软雅黑" panose="020B0503020204020204" pitchFamily="34" charset="-122"/>
                <a:ea typeface="微软雅黑" panose="020B0503020204020204" pitchFamily="34" charset="-122"/>
              </a:rPr>
              <a:t> 3503</a:t>
            </a:r>
            <a:endParaRPr lang="zh-CN" altLang="en-US" sz="28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24</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721509" y="1291130"/>
            <a:ext cx="9915613" cy="4247317"/>
          </a:xfrm>
          <a:prstGeom prst="rect">
            <a:avLst/>
          </a:prstGeom>
          <a:noFill/>
        </p:spPr>
        <p:txBody>
          <a:bodyPr wrap="square">
            <a:spAutoFit/>
          </a:bodyPr>
          <a:lstStyle/>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问题描述：</a:t>
            </a:r>
            <a:r>
              <a:rPr lang="zh-CN" altLang="en-US" dirty="0">
                <a:solidFill>
                  <a:schemeClr val="tx1"/>
                </a:solidFill>
                <a:latin typeface="微软雅黑" panose="020B0503020204020204" pitchFamily="34" charset="-122"/>
                <a:ea typeface="微软雅黑" panose="020B0503020204020204" pitchFamily="34" charset="-122"/>
              </a:rPr>
              <a:t>有一个长度为</a:t>
            </a:r>
            <a:r>
              <a:rPr lang="en-US" altLang="zh-CN" dirty="0">
                <a:solidFill>
                  <a:schemeClr val="tx1"/>
                </a:solidFill>
                <a:latin typeface="微软雅黑" panose="020B0503020204020204" pitchFamily="34" charset="-122"/>
                <a:ea typeface="微软雅黑" panose="020B0503020204020204" pitchFamily="34" charset="-122"/>
              </a:rPr>
              <a:t>n</a:t>
            </a:r>
            <a:r>
              <a:rPr lang="zh-CN" altLang="en-US" dirty="0">
                <a:solidFill>
                  <a:schemeClr val="tx1"/>
                </a:solidFill>
                <a:latin typeface="微软雅黑" panose="020B0503020204020204" pitchFamily="34" charset="-122"/>
                <a:ea typeface="微软雅黑" panose="020B0503020204020204" pitchFamily="34" charset="-122"/>
              </a:rPr>
              <a:t>且仅由数字字符</a:t>
            </a:r>
            <a:r>
              <a:rPr lang="en-US" altLang="zh-CN" dirty="0">
                <a:solidFill>
                  <a:schemeClr val="tx1"/>
                </a:solidFill>
                <a:latin typeface="微软雅黑" panose="020B0503020204020204" pitchFamily="34" charset="-122"/>
                <a:ea typeface="微软雅黑" panose="020B0503020204020204" pitchFamily="34" charset="-122"/>
              </a:rPr>
              <a:t>0 ~ 9</a:t>
            </a:r>
            <a:r>
              <a:rPr lang="zh-CN" altLang="en-US" dirty="0">
                <a:solidFill>
                  <a:schemeClr val="tx1"/>
                </a:solidFill>
                <a:latin typeface="微软雅黑" panose="020B0503020204020204" pitchFamily="34" charset="-122"/>
                <a:ea typeface="微软雅黑" panose="020B0503020204020204" pitchFamily="34" charset="-122"/>
              </a:rPr>
              <a:t>组成的字符串，下标从</a:t>
            </a:r>
            <a:r>
              <a:rPr lang="en-US" altLang="zh-CN" dirty="0">
                <a:solidFill>
                  <a:schemeClr val="tx1"/>
                </a:solidFill>
                <a:latin typeface="微软雅黑" panose="020B0503020204020204" pitchFamily="34" charset="-122"/>
                <a:ea typeface="微软雅黑" panose="020B0503020204020204" pitchFamily="34" charset="-122"/>
              </a:rPr>
              <a:t>0</a:t>
            </a:r>
            <a:r>
              <a:rPr lang="zh-CN" altLang="en-US" dirty="0">
                <a:solidFill>
                  <a:schemeClr val="tx1"/>
                </a:solidFill>
                <a:latin typeface="微软雅黑" panose="020B0503020204020204" pitchFamily="34" charset="-122"/>
                <a:ea typeface="微软雅黑" panose="020B0503020204020204" pitchFamily="34" charset="-122"/>
              </a:rPr>
              <a:t>到</a:t>
            </a:r>
            <a:r>
              <a:rPr lang="en-US" altLang="zh-CN" dirty="0">
                <a:solidFill>
                  <a:schemeClr val="tx1"/>
                </a:solidFill>
                <a:latin typeface="微软雅黑" panose="020B0503020204020204" pitchFamily="34" charset="-122"/>
                <a:ea typeface="微软雅黑" panose="020B0503020204020204" pitchFamily="34" charset="-122"/>
              </a:rPr>
              <a:t>n-1</a:t>
            </a:r>
            <a:r>
              <a:rPr lang="zh-CN" altLang="en-US" dirty="0">
                <a:solidFill>
                  <a:schemeClr val="tx1"/>
                </a:solidFill>
                <a:latin typeface="微软雅黑" panose="020B0503020204020204" pitchFamily="34" charset="-122"/>
                <a:ea typeface="微软雅黑" panose="020B0503020204020204" pitchFamily="34" charset="-122"/>
              </a:rPr>
              <a:t>。你可以将其视作是一个具有</a:t>
            </a:r>
            <a:r>
              <a:rPr lang="en-US" altLang="zh-CN" dirty="0">
                <a:solidFill>
                  <a:schemeClr val="tx1"/>
                </a:solidFill>
                <a:latin typeface="微软雅黑" panose="020B0503020204020204" pitchFamily="34" charset="-122"/>
                <a:ea typeface="微软雅黑" panose="020B0503020204020204" pitchFamily="34" charset="-122"/>
              </a:rPr>
              <a:t>n</a:t>
            </a:r>
            <a:r>
              <a:rPr lang="zh-CN" altLang="en-US" dirty="0">
                <a:solidFill>
                  <a:schemeClr val="tx1"/>
                </a:solidFill>
                <a:latin typeface="微软雅黑" panose="020B0503020204020204" pitchFamily="34" charset="-122"/>
                <a:ea typeface="微软雅黑" panose="020B0503020204020204" pitchFamily="34" charset="-122"/>
              </a:rPr>
              <a:t>位的十进制数字</a:t>
            </a:r>
            <a:r>
              <a:rPr lang="en-US" altLang="zh-CN" dirty="0" err="1">
                <a:solidFill>
                  <a:schemeClr val="tx1"/>
                </a:solidFill>
                <a:latin typeface="微软雅黑" panose="020B0503020204020204" pitchFamily="34" charset="-122"/>
                <a:ea typeface="微软雅黑" panose="020B0503020204020204" pitchFamily="34" charset="-122"/>
              </a:rPr>
              <a:t>num</a:t>
            </a:r>
            <a:r>
              <a:rPr lang="zh-CN" altLang="en-US" dirty="0">
                <a:solidFill>
                  <a:schemeClr val="tx1"/>
                </a:solidFill>
                <a:latin typeface="微软雅黑" panose="020B0503020204020204" pitchFamily="34" charset="-122"/>
                <a:ea typeface="微软雅黑" panose="020B0503020204020204" pitchFamily="34" charset="-122"/>
              </a:rPr>
              <a:t>。小蓝可以从</a:t>
            </a:r>
            <a:r>
              <a:rPr lang="en-US" altLang="zh-CN" dirty="0" err="1">
                <a:solidFill>
                  <a:schemeClr val="tx1"/>
                </a:solidFill>
                <a:latin typeface="微软雅黑" panose="020B0503020204020204" pitchFamily="34" charset="-122"/>
                <a:ea typeface="微软雅黑" panose="020B0503020204020204" pitchFamily="34" charset="-122"/>
              </a:rPr>
              <a:t>num</a:t>
            </a:r>
            <a:r>
              <a:rPr lang="zh-CN" altLang="en-US" dirty="0">
                <a:solidFill>
                  <a:schemeClr val="tx1"/>
                </a:solidFill>
                <a:latin typeface="微软雅黑" panose="020B0503020204020204" pitchFamily="34" charset="-122"/>
                <a:ea typeface="微软雅黑" panose="020B0503020204020204" pitchFamily="34" charset="-122"/>
              </a:rPr>
              <a:t>中选出一段连续的子串并将子串进行反转，最多反转一次。小蓝想要将选出的子串进行反转后再放入原位置处得到的新的数字</a:t>
            </a:r>
            <a:r>
              <a:rPr lang="en-US" altLang="zh-CN" dirty="0" err="1">
                <a:solidFill>
                  <a:schemeClr val="tx1"/>
                </a:solidFill>
                <a:latin typeface="微软雅黑" panose="020B0503020204020204" pitchFamily="34" charset="-122"/>
                <a:ea typeface="微软雅黑" panose="020B0503020204020204" pitchFamily="34" charset="-122"/>
              </a:rPr>
              <a:t>num</a:t>
            </a:r>
            <a:r>
              <a:rPr lang="en-US" altLang="zh-CN" baseline="-25000" dirty="0" err="1">
                <a:solidFill>
                  <a:schemeClr val="tx1"/>
                </a:solidFill>
                <a:latin typeface="微软雅黑" panose="020B0503020204020204" pitchFamily="34" charset="-122"/>
                <a:ea typeface="微软雅黑" panose="020B0503020204020204" pitchFamily="34" charset="-122"/>
              </a:rPr>
              <a:t>new</a:t>
            </a:r>
            <a:r>
              <a:rPr lang="zh-CN" altLang="en-US" dirty="0">
                <a:solidFill>
                  <a:schemeClr val="tx1"/>
                </a:solidFill>
                <a:latin typeface="微软雅黑" panose="020B0503020204020204" pitchFamily="34" charset="-122"/>
                <a:ea typeface="微软雅黑" panose="020B0503020204020204" pitchFamily="34" charset="-122"/>
              </a:rPr>
              <a:t>满足条件</a:t>
            </a:r>
            <a:r>
              <a:rPr lang="en-US" altLang="zh-CN" dirty="0" err="1">
                <a:solidFill>
                  <a:schemeClr val="tx1"/>
                </a:solidFill>
                <a:latin typeface="微软雅黑" panose="020B0503020204020204" pitchFamily="34" charset="-122"/>
                <a:ea typeface="微软雅黑" panose="020B0503020204020204" pitchFamily="34" charset="-122"/>
              </a:rPr>
              <a:t>num</a:t>
            </a:r>
            <a:r>
              <a:rPr lang="en-US" altLang="zh-CN" baseline="-25000" dirty="0" err="1">
                <a:solidFill>
                  <a:schemeClr val="tx1"/>
                </a:solidFill>
                <a:latin typeface="微软雅黑" panose="020B0503020204020204" pitchFamily="34" charset="-122"/>
                <a:ea typeface="微软雅黑" panose="020B0503020204020204" pitchFamily="34" charset="-122"/>
              </a:rPr>
              <a:t>new</a:t>
            </a:r>
            <a:r>
              <a:rPr lang="zh-CN" altLang="en-US"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&lt; </a:t>
            </a:r>
            <a:r>
              <a:rPr lang="en-US" altLang="zh-CN" dirty="0" err="1">
                <a:solidFill>
                  <a:schemeClr val="tx1"/>
                </a:solidFill>
                <a:latin typeface="微软雅黑" panose="020B0503020204020204" pitchFamily="34" charset="-122"/>
                <a:ea typeface="微软雅黑" panose="020B0503020204020204" pitchFamily="34" charset="-122"/>
              </a:rPr>
              <a:t>num</a:t>
            </a:r>
            <a:r>
              <a:rPr lang="zh-CN" altLang="en-US" dirty="0">
                <a:solidFill>
                  <a:schemeClr val="tx1"/>
                </a:solidFill>
                <a:latin typeface="微软雅黑" panose="020B0503020204020204" pitchFamily="34" charset="-122"/>
                <a:ea typeface="微软雅黑" panose="020B0503020204020204" pitchFamily="34" charset="-122"/>
              </a:rPr>
              <a:t>。请你帮他计算下一共有多少种不同的子串选择方案。只要两个子串在</a:t>
            </a:r>
            <a:r>
              <a:rPr lang="en-US" altLang="zh-CN" dirty="0" err="1">
                <a:solidFill>
                  <a:schemeClr val="tx1"/>
                </a:solidFill>
                <a:latin typeface="微软雅黑" panose="020B0503020204020204" pitchFamily="34" charset="-122"/>
                <a:ea typeface="微软雅黑" panose="020B0503020204020204" pitchFamily="34" charset="-122"/>
              </a:rPr>
              <a:t>num</a:t>
            </a:r>
            <a:r>
              <a:rPr lang="zh-CN" altLang="en-US" dirty="0">
                <a:solidFill>
                  <a:schemeClr val="tx1"/>
                </a:solidFill>
                <a:latin typeface="微软雅黑" panose="020B0503020204020204" pitchFamily="34" charset="-122"/>
                <a:ea typeface="微软雅黑" panose="020B0503020204020204" pitchFamily="34" charset="-122"/>
              </a:rPr>
              <a:t>中的位置不完全相同我们就视作是不同的方案。注意，我们允许前导零的存在，即数字的最高位可以是</a:t>
            </a:r>
            <a:r>
              <a:rPr lang="en-US" altLang="zh-CN" dirty="0">
                <a:solidFill>
                  <a:schemeClr val="tx1"/>
                </a:solidFill>
                <a:latin typeface="微软雅黑" panose="020B0503020204020204" pitchFamily="34" charset="-122"/>
                <a:ea typeface="微软雅黑" panose="020B0503020204020204" pitchFamily="34" charset="-122"/>
              </a:rPr>
              <a:t>0</a:t>
            </a:r>
            <a:r>
              <a:rPr lang="zh-CN" altLang="en-US" dirty="0">
                <a:solidFill>
                  <a:schemeClr val="tx1"/>
                </a:solidFill>
                <a:latin typeface="微软雅黑" panose="020B0503020204020204" pitchFamily="34" charset="-122"/>
                <a:ea typeface="微软雅黑" panose="020B0503020204020204" pitchFamily="34" charset="-122"/>
              </a:rPr>
              <a:t>，这是合法的。</a:t>
            </a: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输入：</a:t>
            </a:r>
            <a:r>
              <a:rPr lang="zh-CN" altLang="en-US" dirty="0">
                <a:solidFill>
                  <a:schemeClr val="tx1"/>
                </a:solidFill>
                <a:latin typeface="微软雅黑" panose="020B0503020204020204" pitchFamily="34" charset="-122"/>
                <a:ea typeface="微软雅黑" panose="020B0503020204020204" pitchFamily="34" charset="-122"/>
              </a:rPr>
              <a:t>输入一行包含一个长度为</a:t>
            </a:r>
            <a:r>
              <a:rPr lang="en-US" altLang="zh-CN" dirty="0">
                <a:solidFill>
                  <a:schemeClr val="tx1"/>
                </a:solidFill>
                <a:latin typeface="微软雅黑" panose="020B0503020204020204" pitchFamily="34" charset="-122"/>
                <a:ea typeface="微软雅黑" panose="020B0503020204020204" pitchFamily="34" charset="-122"/>
              </a:rPr>
              <a:t>n</a:t>
            </a:r>
            <a:r>
              <a:rPr lang="zh-CN" altLang="en-US" dirty="0">
                <a:solidFill>
                  <a:schemeClr val="tx1"/>
                </a:solidFill>
                <a:latin typeface="微软雅黑" panose="020B0503020204020204" pitchFamily="34" charset="-122"/>
                <a:ea typeface="微软雅黑" panose="020B0503020204020204" pitchFamily="34" charset="-122"/>
              </a:rPr>
              <a:t>的字符串表示</a:t>
            </a:r>
            <a:r>
              <a:rPr lang="en-US" altLang="zh-CN" dirty="0" err="1">
                <a:solidFill>
                  <a:schemeClr val="tx1"/>
                </a:solidFill>
                <a:latin typeface="微软雅黑" panose="020B0503020204020204" pitchFamily="34" charset="-122"/>
                <a:ea typeface="微软雅黑" panose="020B0503020204020204" pitchFamily="34" charset="-122"/>
              </a:rPr>
              <a:t>num</a:t>
            </a:r>
            <a:r>
              <a:rPr lang="zh-CN" altLang="en-US" dirty="0">
                <a:solidFill>
                  <a:schemeClr val="tx1"/>
                </a:solidFill>
                <a:latin typeface="微软雅黑" panose="020B0503020204020204" pitchFamily="34" charset="-122"/>
                <a:ea typeface="微软雅黑" panose="020B0503020204020204" pitchFamily="34" charset="-122"/>
              </a:rPr>
              <a:t>（仅包含数字字符</a:t>
            </a:r>
            <a:r>
              <a:rPr lang="en-US" altLang="zh-CN" dirty="0">
                <a:solidFill>
                  <a:schemeClr val="tx1"/>
                </a:solidFill>
                <a:latin typeface="微软雅黑" panose="020B0503020204020204" pitchFamily="34" charset="-122"/>
                <a:ea typeface="微软雅黑" panose="020B0503020204020204" pitchFamily="34" charset="-122"/>
              </a:rPr>
              <a:t>0 ∼9</a:t>
            </a:r>
            <a:r>
              <a:rPr lang="zh-CN" altLang="en-US" dirty="0">
                <a:solidFill>
                  <a:schemeClr val="tx1"/>
                </a:solidFill>
                <a:latin typeface="微软雅黑" panose="020B0503020204020204" pitchFamily="34" charset="-122"/>
                <a:ea typeface="微软雅黑" panose="020B0503020204020204" pitchFamily="34" charset="-122"/>
              </a:rPr>
              <a:t>），从左至右下标依次为 </a:t>
            </a:r>
            <a:r>
              <a:rPr lang="en-US" altLang="zh-CN" dirty="0">
                <a:solidFill>
                  <a:schemeClr val="tx1"/>
                </a:solidFill>
                <a:latin typeface="微软雅黑" panose="020B0503020204020204" pitchFamily="34" charset="-122"/>
                <a:ea typeface="微软雅黑" panose="020B0503020204020204" pitchFamily="34" charset="-122"/>
              </a:rPr>
              <a:t>0 ∼n−1</a:t>
            </a:r>
            <a:r>
              <a:rPr lang="zh-CN" altLang="en-US" dirty="0">
                <a:solidFill>
                  <a:schemeClr val="tx1"/>
                </a:solidFill>
                <a:latin typeface="微软雅黑" panose="020B0503020204020204" pitchFamily="34" charset="-122"/>
                <a:ea typeface="微软雅黑" panose="020B0503020204020204" pitchFamily="34" charset="-122"/>
              </a:rPr>
              <a:t>。</a:t>
            </a: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输出：</a:t>
            </a:r>
            <a:r>
              <a:rPr lang="zh-CN" altLang="en-US" dirty="0">
                <a:solidFill>
                  <a:schemeClr val="tx1"/>
                </a:solidFill>
                <a:latin typeface="微软雅黑" panose="020B0503020204020204" pitchFamily="34" charset="-122"/>
                <a:ea typeface="微软雅黑" panose="020B0503020204020204" pitchFamily="34" charset="-122"/>
              </a:rPr>
              <a:t>输出一个整数表示答案。</a:t>
            </a:r>
          </a:p>
        </p:txBody>
      </p:sp>
    </p:spTree>
    <p:custDataLst>
      <p:tags r:id="rId1"/>
    </p:custDataLst>
    <p:extLst>
      <p:ext uri="{BB962C8B-B14F-4D97-AF65-F5344CB8AC3E}">
        <p14:creationId xmlns:p14="http://schemas.microsoft.com/office/powerpoint/2010/main" val="4159336527"/>
      </p:ext>
    </p:extLst>
  </p:cSld>
  <p:clrMapOvr>
    <a:masterClrMapping/>
  </p:clrMapOvr>
  <mc:AlternateContent xmlns:mc="http://schemas.openxmlformats.org/markup-compatibility/2006" xmlns:p14="http://schemas.microsoft.com/office/powerpoint/2010/main">
    <mc:Choice Requires="p14">
      <p:transition spd="slow" p14:dur="2000" advTm="107502"/>
    </mc:Choice>
    <mc:Fallback xmlns="">
      <p:transition spd="slow" advTm="1075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xEl>
                                              <p:pRg st="1" end="1"/>
                                            </p:txEl>
                                          </p:spTgt>
                                        </p:tgtEl>
                                        <p:attrNameLst>
                                          <p:attrName>style.visibility</p:attrName>
                                        </p:attrNameLst>
                                      </p:cBhvr>
                                      <p:to>
                                        <p:strVal val="visible"/>
                                      </p:to>
                                    </p:set>
                                    <p:animEffect transition="in" filter="fade">
                                      <p:cBhvr>
                                        <p:cTn id="7" dur="500"/>
                                        <p:tgtEl>
                                          <p:spTgt spid="5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8">
                                            <p:txEl>
                                              <p:pRg st="2" end="2"/>
                                            </p:txEl>
                                          </p:spTgt>
                                        </p:tgtEl>
                                        <p:attrNameLst>
                                          <p:attrName>style.visibility</p:attrName>
                                        </p:attrNameLst>
                                      </p:cBhvr>
                                      <p:to>
                                        <p:strVal val="visible"/>
                                      </p:to>
                                    </p:set>
                                    <p:animEffect transition="in" filter="fade">
                                      <p:cBhvr>
                                        <p:cTn id="10" dur="500"/>
                                        <p:tgtEl>
                                          <p:spTgt spid="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AEED0-C70A-61EF-2A56-9429B60FA077}"/>
            </a:ext>
          </a:extLst>
        </p:cNvPr>
        <p:cNvGrpSpPr/>
        <p:nvPr/>
      </p:nvGrpSpPr>
      <p:grpSpPr>
        <a:xfrm>
          <a:off x="0" y="0"/>
          <a:ext cx="0" cy="0"/>
          <a:chOff x="0" y="0"/>
          <a:chExt cx="0" cy="0"/>
        </a:xfrm>
      </p:grpSpPr>
      <p:sp>
        <p:nvSpPr>
          <p:cNvPr id="57" name="Rectangle 2">
            <a:extLst>
              <a:ext uri="{FF2B5EF4-FFF2-40B4-BE49-F238E27FC236}">
                <a16:creationId xmlns:a16="http://schemas.microsoft.com/office/drawing/2014/main" id="{E6C82160-D884-C025-3013-200BBB0CEB64}"/>
              </a:ext>
            </a:extLst>
          </p:cNvPr>
          <p:cNvSpPr txBox="1">
            <a:spLocks noChangeArrowheads="1"/>
          </p:cNvSpPr>
          <p:nvPr/>
        </p:nvSpPr>
        <p:spPr>
          <a:xfrm>
            <a:off x="681165" y="401863"/>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a:solidFill>
                  <a:srgbClr val="C00000"/>
                </a:solidFill>
                <a:effectLst/>
                <a:latin typeface="微软雅黑" panose="020B0503020204020204" pitchFamily="34" charset="-122"/>
                <a:ea typeface="微软雅黑" panose="020B0503020204020204" pitchFamily="34" charset="-122"/>
              </a:rPr>
              <a:t>暴力</a:t>
            </a:r>
          </a:p>
        </p:txBody>
      </p:sp>
      <p:sp>
        <p:nvSpPr>
          <p:cNvPr id="2" name="灯片编号占位符 1">
            <a:extLst>
              <a:ext uri="{FF2B5EF4-FFF2-40B4-BE49-F238E27FC236}">
                <a16:creationId xmlns:a16="http://schemas.microsoft.com/office/drawing/2014/main" id="{B629DD73-4AEB-1C19-6531-F738E918F5F2}"/>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25</a:t>
            </a:fld>
            <a:endParaRPr lang="en-US" altLang="zh-CN" b="0" dirty="0">
              <a:solidFill>
                <a:schemeClr val="tx1"/>
              </a:solidFill>
            </a:endParaRPr>
          </a:p>
        </p:txBody>
      </p:sp>
      <p:sp>
        <p:nvSpPr>
          <p:cNvPr id="58" name="矩形 57">
            <a:extLst>
              <a:ext uri="{FF2B5EF4-FFF2-40B4-BE49-F238E27FC236}">
                <a16:creationId xmlns:a16="http://schemas.microsoft.com/office/drawing/2014/main" id="{E2254E65-FE30-DF39-2A89-F8F1D9087A20}"/>
              </a:ext>
            </a:extLst>
          </p:cNvPr>
          <p:cNvSpPr/>
          <p:nvPr/>
        </p:nvSpPr>
        <p:spPr>
          <a:xfrm>
            <a:off x="681165" y="839042"/>
            <a:ext cx="9915613" cy="961289"/>
          </a:xfrm>
          <a:prstGeom prst="rect">
            <a:avLst/>
          </a:prstGeom>
          <a:noFill/>
        </p:spPr>
        <p:txBody>
          <a:bodyPr wrap="square">
            <a:spAutoFit/>
          </a:bodyPr>
          <a:lstStyle/>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我们考虑枚举所有的区间，然后将子串反转一下，然后比较一下，那么最坏时间复杂度将是</a:t>
            </a:r>
            <a:r>
              <a:rPr lang="en-US" altLang="zh-CN" dirty="0">
                <a:solidFill>
                  <a:schemeClr val="tx1"/>
                </a:solidFill>
                <a:latin typeface="微软雅黑" panose="020B0503020204020204" pitchFamily="34" charset="-122"/>
                <a:ea typeface="微软雅黑" panose="020B0503020204020204" pitchFamily="34" charset="-122"/>
              </a:rPr>
              <a:t>O(n^3),</a:t>
            </a:r>
            <a:r>
              <a:rPr lang="zh-CN" altLang="en-US" dirty="0">
                <a:solidFill>
                  <a:schemeClr val="tx1"/>
                </a:solidFill>
                <a:latin typeface="微软雅黑" panose="020B0503020204020204" pitchFamily="34" charset="-122"/>
                <a:ea typeface="微软雅黑" panose="020B0503020204020204" pitchFamily="34" charset="-122"/>
              </a:rPr>
              <a:t>主体代码如下：</a:t>
            </a:r>
            <a:endParaRPr lang="en-US" altLang="zh-CN" dirty="0">
              <a:solidFill>
                <a:schemeClr val="tx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20F57495-9C69-ECA5-72A0-4F4775D89B87}"/>
              </a:ext>
            </a:extLst>
          </p:cNvPr>
          <p:cNvPicPr>
            <a:picLocks noChangeAspect="1"/>
          </p:cNvPicPr>
          <p:nvPr/>
        </p:nvPicPr>
        <p:blipFill>
          <a:blip r:embed="rId3"/>
          <a:stretch>
            <a:fillRect/>
          </a:stretch>
        </p:blipFill>
        <p:spPr>
          <a:xfrm>
            <a:off x="751325" y="2427423"/>
            <a:ext cx="6413610" cy="4070914"/>
          </a:xfrm>
          <a:prstGeom prst="rect">
            <a:avLst/>
          </a:prstGeom>
        </p:spPr>
      </p:pic>
      <p:sp>
        <p:nvSpPr>
          <p:cNvPr id="7" name="文本框 6">
            <a:extLst>
              <a:ext uri="{FF2B5EF4-FFF2-40B4-BE49-F238E27FC236}">
                <a16:creationId xmlns:a16="http://schemas.microsoft.com/office/drawing/2014/main" id="{52300793-64F1-95EE-478C-30B4F369E0EC}"/>
              </a:ext>
            </a:extLst>
          </p:cNvPr>
          <p:cNvSpPr txBox="1"/>
          <p:nvPr/>
        </p:nvSpPr>
        <p:spPr>
          <a:xfrm>
            <a:off x="8386575" y="4650640"/>
            <a:ext cx="2748690" cy="1323439"/>
          </a:xfrm>
          <a:prstGeom prst="rect">
            <a:avLst/>
          </a:prstGeom>
          <a:noFill/>
        </p:spPr>
        <p:txBody>
          <a:bodyPr wrap="square" rtlCol="0">
            <a:spAutoFit/>
          </a:bodyPr>
          <a:lstStyle/>
          <a:p>
            <a:r>
              <a:rPr lang="zh-CN" altLang="en-US" dirty="0">
                <a:solidFill>
                  <a:schemeClr val="tx1"/>
                </a:solidFill>
                <a:latin typeface="微软雅黑" panose="020B0503020204020204" pitchFamily="34" charset="-122"/>
                <a:ea typeface="微软雅黑" panose="020B0503020204020204" pitchFamily="34" charset="-122"/>
              </a:rPr>
              <a:t>（理论上不能通过，但是显然测试方提供的数据较弱所以可以通过）</a:t>
            </a:r>
            <a:endParaRPr lang="en-US" altLang="zh-CN" dirty="0">
              <a:solidFill>
                <a:schemeClr val="tx1"/>
              </a:solidFill>
              <a:latin typeface="微软雅黑" panose="020B0503020204020204" pitchFamily="34" charset="-122"/>
              <a:ea typeface="微软雅黑" panose="020B0503020204020204" pitchFamily="34" charset="-122"/>
            </a:endParaRPr>
          </a:p>
          <a:p>
            <a:endParaRPr lang="zh-CN" altLang="en-US" dirty="0"/>
          </a:p>
        </p:txBody>
      </p:sp>
    </p:spTree>
    <p:custDataLst>
      <p:tags r:id="rId1"/>
    </p:custDataLst>
    <p:extLst>
      <p:ext uri="{BB962C8B-B14F-4D97-AF65-F5344CB8AC3E}">
        <p14:creationId xmlns:p14="http://schemas.microsoft.com/office/powerpoint/2010/main" val="677730027"/>
      </p:ext>
    </p:extLst>
  </p:cSld>
  <p:clrMapOvr>
    <a:masterClrMapping/>
  </p:clrMapOvr>
  <mc:AlternateContent xmlns:mc="http://schemas.openxmlformats.org/markup-compatibility/2006" xmlns:p14="http://schemas.microsoft.com/office/powerpoint/2010/main">
    <mc:Choice Requires="p14">
      <p:transition spd="slow" p14:dur="2000" advTm="107502"/>
    </mc:Choice>
    <mc:Fallback xmlns="">
      <p:transition spd="slow" advTm="1075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en-US" altLang="zh-CN" sz="3200" dirty="0">
                <a:solidFill>
                  <a:srgbClr val="C00000"/>
                </a:solidFill>
                <a:effectLst/>
                <a:latin typeface="微软雅黑" panose="020B0503020204020204" pitchFamily="34" charset="-122"/>
                <a:ea typeface="微软雅黑" panose="020B0503020204020204" pitchFamily="34" charset="-122"/>
              </a:rPr>
              <a:t>1</a:t>
            </a:r>
            <a:r>
              <a:rPr lang="zh-CN" altLang="en-US" sz="3200" dirty="0">
                <a:solidFill>
                  <a:srgbClr val="C00000"/>
                </a:solidFill>
                <a:effectLst/>
                <a:latin typeface="微软雅黑" panose="020B0503020204020204" pitchFamily="34" charset="-122"/>
                <a:ea typeface="微软雅黑" panose="020B0503020204020204" pitchFamily="34" charset="-122"/>
              </a:rPr>
              <a:t>、</a:t>
            </a:r>
            <a:r>
              <a:rPr lang="en-US" altLang="zh-CN" sz="3200" dirty="0">
                <a:solidFill>
                  <a:srgbClr val="C00000"/>
                </a:solidFill>
                <a:effectLst/>
                <a:latin typeface="微软雅黑" panose="020B0503020204020204" pitchFamily="34" charset="-122"/>
                <a:ea typeface="微软雅黑" panose="020B0503020204020204" pitchFamily="34" charset="-122"/>
              </a:rPr>
              <a:t>DP</a:t>
            </a:r>
            <a:r>
              <a:rPr lang="zh-CN" altLang="en-US" sz="3200" dirty="0">
                <a:solidFill>
                  <a:srgbClr val="C00000"/>
                </a:solidFill>
                <a:effectLst/>
                <a:latin typeface="微软雅黑" panose="020B0503020204020204" pitchFamily="34" charset="-122"/>
                <a:ea typeface="微软雅黑" panose="020B0503020204020204" pitchFamily="34" charset="-122"/>
              </a:rPr>
              <a:t>状态设计</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26</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50408" y="1749245"/>
            <a:ext cx="9915613" cy="2308324"/>
          </a:xfrm>
          <a:prstGeom prst="rect">
            <a:avLst/>
          </a:prstGeom>
          <a:noFill/>
        </p:spPr>
        <p:txBody>
          <a:bodyPr wrap="square">
            <a:spAutoFit/>
          </a:bodyPr>
          <a:lstStyle/>
          <a:p>
            <a:pPr>
              <a:lnSpc>
                <a:spcPct val="150000"/>
              </a:lnSpc>
              <a:spcBef>
                <a:spcPts val="0"/>
              </a:spcBef>
            </a:pP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DP</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状态：</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定义二维数组</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][j]</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表示子串</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]~s[j]</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反转之后是否大于反转前的子串。</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pP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][j]=1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：表示反转之后变小，符合要求；</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pP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][j]=0</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：表示反转之后没有变小。</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869535110"/>
      </p:ext>
    </p:extLst>
  </p:cSld>
  <p:clrMapOvr>
    <a:masterClrMapping/>
  </p:clrMapOvr>
  <mc:AlternateContent xmlns:mc="http://schemas.openxmlformats.org/markup-compatibility/2006" xmlns:p14="http://schemas.microsoft.com/office/powerpoint/2010/main">
    <mc:Choice Requires="p14">
      <p:transition spd="slow" p14:dur="2000" advTm="43734"/>
    </mc:Choice>
    <mc:Fallback xmlns="">
      <p:transition spd="slow" advTm="4373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en-US" altLang="zh-CN" sz="3200" dirty="0">
                <a:solidFill>
                  <a:srgbClr val="C00000"/>
                </a:solidFill>
                <a:effectLst/>
                <a:latin typeface="微软雅黑" panose="020B0503020204020204" pitchFamily="34" charset="-122"/>
                <a:ea typeface="微软雅黑" panose="020B0503020204020204" pitchFamily="34" charset="-122"/>
              </a:rPr>
              <a:t>2</a:t>
            </a:r>
            <a:r>
              <a:rPr lang="zh-CN" altLang="en-US" sz="3200" dirty="0">
                <a:solidFill>
                  <a:srgbClr val="C00000"/>
                </a:solidFill>
                <a:effectLst/>
                <a:latin typeface="微软雅黑" panose="020B0503020204020204" pitchFamily="34" charset="-122"/>
                <a:ea typeface="微软雅黑" panose="020B0503020204020204" pitchFamily="34" charset="-122"/>
              </a:rPr>
              <a:t>、</a:t>
            </a:r>
            <a:r>
              <a:rPr lang="en-US" altLang="zh-CN" sz="3200" dirty="0">
                <a:solidFill>
                  <a:srgbClr val="C00000"/>
                </a:solidFill>
                <a:effectLst/>
                <a:latin typeface="微软雅黑" panose="020B0503020204020204" pitchFamily="34" charset="-122"/>
                <a:ea typeface="微软雅黑" panose="020B0503020204020204" pitchFamily="34" charset="-122"/>
              </a:rPr>
              <a:t>DP</a:t>
            </a:r>
            <a:r>
              <a:rPr lang="zh-CN" altLang="en-US" sz="3200" dirty="0">
                <a:solidFill>
                  <a:srgbClr val="C00000"/>
                </a:solidFill>
                <a:effectLst/>
                <a:latin typeface="微软雅黑" panose="020B0503020204020204" pitchFamily="34" charset="-122"/>
                <a:ea typeface="微软雅黑" panose="020B0503020204020204" pitchFamily="34" charset="-122"/>
              </a:rPr>
              <a:t>转移方程</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27</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04030" y="1596540"/>
            <a:ext cx="10184857" cy="3416320"/>
          </a:xfrm>
          <a:prstGeom prst="rect">
            <a:avLst/>
          </a:prstGeom>
          <a:noFill/>
        </p:spPr>
        <p:txBody>
          <a:bodyPr wrap="square">
            <a:spAutoFit/>
          </a:bodyPr>
          <a:lstStyle/>
          <a:p>
            <a:pPr>
              <a:lnSpc>
                <a:spcPct val="150000"/>
              </a:lnSpc>
              <a:spcBef>
                <a:spcPts val="0"/>
              </a:spcBef>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对于每个子串，比较它的首尾字符</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和</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s[j]</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，得到状态转移方程。</a:t>
            </a:r>
          </a:p>
          <a:p>
            <a:pPr>
              <a:lnSpc>
                <a:spcPct val="150000"/>
              </a:lnSpc>
              <a:spcBef>
                <a:spcPts val="0"/>
              </a:spcBef>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）若</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&gt; s[j]</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，说明反转后的子串肯定小于原子串，符合要求，赋值</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][j] = 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p>
          <a:p>
            <a:pPr>
              <a:lnSpc>
                <a:spcPct val="150000"/>
              </a:lnSpc>
              <a:spcBef>
                <a:spcPts val="0"/>
              </a:spcBef>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2</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）若</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&lt; s[j]</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，说明反转后的子串肯定大于原子串，赋值</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][j] = 0</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p>
          <a:p>
            <a:pPr>
              <a:lnSpc>
                <a:spcPct val="150000"/>
              </a:lnSpc>
              <a:spcBef>
                <a:spcPts val="0"/>
              </a:spcBef>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3</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）若</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 s[j]</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，需要继续比较</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s[i+1]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和</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s[j-1]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，有</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][j] = </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[i+1][j-1]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custDataLst>
      <p:tags r:id="rId1"/>
    </p:custDataLst>
    <p:extLst>
      <p:ext uri="{BB962C8B-B14F-4D97-AF65-F5344CB8AC3E}">
        <p14:creationId xmlns:p14="http://schemas.microsoft.com/office/powerpoint/2010/main" val="292699531"/>
      </p:ext>
    </p:extLst>
  </p:cSld>
  <p:clrMapOvr>
    <a:masterClrMapping/>
  </p:clrMapOvr>
  <mc:AlternateContent xmlns:mc="http://schemas.openxmlformats.org/markup-compatibility/2006" xmlns:p14="http://schemas.microsoft.com/office/powerpoint/2010/main">
    <mc:Choice Requires="p14">
      <p:transition spd="slow" p14:dur="2000" advTm="72349"/>
    </mc:Choice>
    <mc:Fallback xmlns="">
      <p:transition spd="slow" advTm="7234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en-US" altLang="zh-CN" sz="3200" dirty="0">
                <a:solidFill>
                  <a:srgbClr val="C00000"/>
                </a:solidFill>
                <a:effectLst/>
                <a:latin typeface="微软雅黑" panose="020B0503020204020204" pitchFamily="34" charset="-122"/>
                <a:ea typeface="微软雅黑" panose="020B0503020204020204" pitchFamily="34" charset="-122"/>
              </a:rPr>
              <a:t>3</a:t>
            </a:r>
            <a:r>
              <a:rPr lang="zh-CN" altLang="en-US" sz="3200" dirty="0">
                <a:solidFill>
                  <a:srgbClr val="C00000"/>
                </a:solidFill>
                <a:effectLst/>
                <a:latin typeface="微软雅黑" panose="020B0503020204020204" pitchFamily="34" charset="-122"/>
                <a:ea typeface="微软雅黑" panose="020B0503020204020204" pitchFamily="34" charset="-122"/>
              </a:rPr>
              <a:t>、编程实现</a:t>
            </a: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28</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04030" y="1596540"/>
            <a:ext cx="10184857" cy="2308324"/>
          </a:xfrm>
          <a:prstGeom prst="rect">
            <a:avLst/>
          </a:prstGeom>
          <a:noFill/>
        </p:spPr>
        <p:txBody>
          <a:bodyPr wrap="square">
            <a:spAutoFit/>
          </a:bodyPr>
          <a:lstStyle/>
          <a:p>
            <a:pPr marL="342900"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计算所有的</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：长度为</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2</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的子串计算结果，在计算长度为</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4</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的子串时用到；长度为</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3</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的子串计算结果，在计算长度为</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5</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的子串时用到；</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p>
          <a:p>
            <a:pPr marL="342900" indent="-342900">
              <a:lnSpc>
                <a:spcPct val="150000"/>
              </a:lnSpc>
              <a:spcBef>
                <a:spcPts val="0"/>
              </a:spcBef>
              <a:buFont typeface="Wingdings" panose="05000000000000000000" pitchFamily="2" charset="2"/>
              <a:buChar char="Ø"/>
            </a:pP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marL="342900"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统计符合要求的</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的数量，就是答案。</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custDataLst>
      <p:tags r:id="rId1"/>
    </p:custDataLst>
    <p:extLst>
      <p:ext uri="{BB962C8B-B14F-4D97-AF65-F5344CB8AC3E}">
        <p14:creationId xmlns:p14="http://schemas.microsoft.com/office/powerpoint/2010/main" val="3516296617"/>
      </p:ext>
    </p:extLst>
  </p:cSld>
  <p:clrMapOvr>
    <a:masterClrMapping/>
  </p:clrMapOvr>
  <mc:AlternateContent xmlns:mc="http://schemas.openxmlformats.org/markup-compatibility/2006" xmlns:p14="http://schemas.microsoft.com/office/powerpoint/2010/main">
    <mc:Choice Requires="p14">
      <p:transition spd="slow" p14:dur="2000" advTm="50013"/>
    </mc:Choice>
    <mc:Fallback xmlns="">
      <p:transition spd="slow" advTm="5001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29</a:t>
            </a:fld>
            <a:endParaRPr lang="en-US" altLang="zh-CN" b="0" dirty="0">
              <a:solidFill>
                <a:schemeClr val="tx1"/>
              </a:solidFill>
            </a:endParaRPr>
          </a:p>
        </p:txBody>
      </p:sp>
      <p:sp>
        <p:nvSpPr>
          <p:cNvPr id="21" name="内容占位符 2"/>
          <p:cNvSpPr txBox="1"/>
          <p:nvPr/>
        </p:nvSpPr>
        <p:spPr>
          <a:xfrm>
            <a:off x="4721655" y="680310"/>
            <a:ext cx="7329840" cy="565443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[5010][5010];</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 {</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string s;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s;</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ans</a:t>
            </a:r>
            <a:r>
              <a:rPr lang="en-US" altLang="zh-CN" sz="2000" b="0" dirty="0">
                <a:latin typeface="宋体" panose="02010600030101010101" pitchFamily="2" charset="-122"/>
                <a:ea typeface="宋体" panose="02010600030101010101" pitchFamily="2" charset="-122"/>
              </a:rPr>
              <a:t> = 0;</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a:solidFill>
                  <a:srgbClr val="FF0000"/>
                </a:solidFill>
                <a:latin typeface="宋体" panose="02010600030101010101" pitchFamily="2" charset="-122"/>
                <a:ea typeface="宋体" panose="02010600030101010101" pitchFamily="2" charset="-122"/>
              </a:rPr>
              <a:t>for</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0;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a:t>
            </a:r>
            <a:r>
              <a:rPr lang="en-US" altLang="zh-CN" sz="2000" b="0" dirty="0" err="1">
                <a:latin typeface="宋体" panose="02010600030101010101" pitchFamily="2" charset="-122"/>
                <a:ea typeface="宋体" panose="02010600030101010101" pitchFamily="2" charset="-122"/>
              </a:rPr>
              <a:t>s.length</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r>
              <a:rPr lang="zh-CN" altLang="zh-CN" sz="2000" b="0" dirty="0">
                <a:latin typeface="宋体" panose="02010600030101010101" pitchFamily="2" charset="-122"/>
                <a:ea typeface="宋体" panose="02010600030101010101" pitchFamily="2" charset="-122"/>
              </a:rPr>
              <a:t>子串从</a:t>
            </a:r>
            <a:r>
              <a:rPr lang="en-US" altLang="zh-CN" sz="2000" b="0" dirty="0">
                <a:latin typeface="宋体" panose="02010600030101010101" pitchFamily="2" charset="-122"/>
                <a:ea typeface="宋体" panose="02010600030101010101" pitchFamily="2" charset="-122"/>
              </a:rPr>
              <a:t>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r>
              <a:rPr lang="zh-CN" altLang="zh-CN" sz="2000" b="0" dirty="0">
                <a:latin typeface="宋体" panose="02010600030101010101" pitchFamily="2" charset="-122"/>
                <a:ea typeface="宋体" panose="02010600030101010101" pitchFamily="2" charset="-122"/>
              </a:rPr>
              <a:t>开始</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a:solidFill>
                  <a:srgbClr val="FF0000"/>
                </a:solidFill>
                <a:latin typeface="宋体" panose="02010600030101010101" pitchFamily="2" charset="-122"/>
                <a:ea typeface="宋体" panose="02010600030101010101" pitchFamily="2" charset="-122"/>
              </a:rPr>
              <a:t>for</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j = i+1; j &lt; </a:t>
            </a:r>
            <a:r>
              <a:rPr lang="en-US" altLang="zh-CN" sz="2000" b="0" dirty="0" err="1">
                <a:latin typeface="宋体" panose="02010600030101010101" pitchFamily="2" charset="-122"/>
                <a:ea typeface="宋体" panose="02010600030101010101" pitchFamily="2" charset="-122"/>
              </a:rPr>
              <a:t>s.length</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j++</a:t>
            </a:r>
            <a:r>
              <a:rPr lang="en-US" altLang="zh-CN" sz="20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zh-CN" altLang="zh-CN" sz="2000" b="0" dirty="0">
                <a:latin typeface="宋体" panose="02010600030101010101" pitchFamily="2" charset="-122"/>
                <a:ea typeface="宋体" panose="02010600030101010101" pitchFamily="2" charset="-122"/>
              </a:rPr>
              <a:t>子串末尾是</a:t>
            </a:r>
            <a:r>
              <a:rPr lang="en-US" altLang="zh-CN" sz="2000" b="0" dirty="0">
                <a:latin typeface="宋体" panose="02010600030101010101" pitchFamily="2" charset="-122"/>
                <a:ea typeface="宋体" panose="02010600030101010101" pitchFamily="2" charset="-122"/>
              </a:rPr>
              <a:t>s[j]</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&gt; s[j])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1;</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s[j])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0;</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s[j])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+ 1][j - 1];</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1) </a:t>
            </a:r>
            <a:r>
              <a:rPr lang="en-US" altLang="zh-CN" sz="2000" b="0" dirty="0" err="1">
                <a:latin typeface="宋体" panose="02010600030101010101" pitchFamily="2" charset="-122"/>
                <a:ea typeface="宋体" panose="02010600030101010101" pitchFamily="2" charset="-122"/>
              </a:rPr>
              <a:t>ans</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a:t>
            </a:r>
            <a:r>
              <a:rPr lang="en-US" altLang="zh-CN" sz="2000" b="0" dirty="0" err="1">
                <a:latin typeface="宋体" panose="02010600030101010101" pitchFamily="2" charset="-122"/>
                <a:ea typeface="宋体" panose="02010600030101010101" pitchFamily="2" charset="-122"/>
              </a:rPr>
              <a:t>ans</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dirty="0">
                <a:latin typeface="宋体" panose="02010600030101010101" pitchFamily="2" charset="-122"/>
                <a:ea typeface="宋体" panose="02010600030101010101" pitchFamily="2" charset="-122"/>
              </a:rPr>
              <a:t>}</a:t>
            </a:r>
            <a:endParaRPr lang="en-US" altLang="zh-CN" sz="1600" b="0" dirty="0">
              <a:latin typeface="宋体" panose="02010600030101010101" pitchFamily="2" charset="-122"/>
              <a:ea typeface="宋体" panose="02010600030101010101" pitchFamily="2" charset="-122"/>
            </a:endParaRPr>
          </a:p>
        </p:txBody>
      </p:sp>
      <p:sp>
        <p:nvSpPr>
          <p:cNvPr id="4" name="内容占位符 4"/>
          <p:cNvSpPr txBox="1">
            <a:spLocks/>
          </p:cNvSpPr>
          <p:nvPr/>
        </p:nvSpPr>
        <p:spPr>
          <a:xfrm>
            <a:off x="729306" y="985720"/>
            <a:ext cx="3839643"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错误代码：</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问题出在的</a:t>
            </a:r>
            <a:r>
              <a:rPr lang="en-US" altLang="zh-CN" sz="2400" dirty="0">
                <a:latin typeface="微软雅黑" panose="020B0503020204020204" pitchFamily="34" charset="-122"/>
                <a:ea typeface="微软雅黑" panose="020B0503020204020204" pitchFamily="34" charset="-122"/>
              </a:rPr>
              <a:t>for</a:t>
            </a:r>
            <a:r>
              <a:rPr lang="zh-CN" altLang="en-US" sz="2400" dirty="0">
                <a:latin typeface="微软雅黑" panose="020B0503020204020204" pitchFamily="34" charset="-122"/>
                <a:ea typeface="微软雅黑" panose="020B0503020204020204" pitchFamily="34" charset="-122"/>
              </a:rPr>
              <a:t>循环。</a:t>
            </a:r>
            <a:endParaRPr lang="en-US" altLang="zh-CN" sz="24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例如第</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行</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 = 0</a:t>
            </a:r>
            <a:r>
              <a:rPr lang="zh-CN" altLang="en-US" sz="2400" dirty="0">
                <a:latin typeface="微软雅黑" panose="020B0503020204020204" pitchFamily="34" charset="-122"/>
                <a:ea typeface="微软雅黑" panose="020B0503020204020204" pitchFamily="34" charset="-122"/>
              </a:rPr>
              <a:t>，第</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行</a:t>
            </a:r>
            <a:r>
              <a:rPr lang="en-US" altLang="zh-CN" sz="2400" dirty="0">
                <a:latin typeface="微软雅黑" panose="020B0503020204020204" pitchFamily="34" charset="-122"/>
                <a:ea typeface="微软雅黑" panose="020B0503020204020204" pitchFamily="34" charset="-122"/>
              </a:rPr>
              <a:t>j = 8</a:t>
            </a:r>
            <a:r>
              <a:rPr lang="zh-CN" altLang="en-US" sz="2400" dirty="0">
                <a:latin typeface="微软雅黑" panose="020B0503020204020204" pitchFamily="34" charset="-122"/>
                <a:ea typeface="微软雅黑" panose="020B0503020204020204" pitchFamily="34" charset="-122"/>
              </a:rPr>
              <a:t>时，递推得</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[0][8] =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[1][7]</a:t>
            </a:r>
            <a:r>
              <a:rPr lang="zh-CN" altLang="en-US" sz="2400" dirty="0">
                <a:latin typeface="微软雅黑" panose="020B0503020204020204" pitchFamily="34" charset="-122"/>
                <a:ea typeface="微软雅黑" panose="020B0503020204020204" pitchFamily="34" charset="-122"/>
              </a:rPr>
              <a:t>，但是此时</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[1][7]</a:t>
            </a:r>
            <a:r>
              <a:rPr lang="zh-CN" altLang="en-US" sz="2400" dirty="0">
                <a:latin typeface="微软雅黑" panose="020B0503020204020204" pitchFamily="34" charset="-122"/>
                <a:ea typeface="微软雅黑" panose="020B0503020204020204" pitchFamily="34" charset="-122"/>
              </a:rPr>
              <a:t>还没计算。</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34096708"/>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30</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682640" y="222195"/>
            <a:ext cx="10989270" cy="6740307"/>
          </a:xfrm>
          <a:prstGeom prst="rect">
            <a:avLst/>
          </a:prstGeom>
          <a:noFill/>
        </p:spPr>
        <p:txBody>
          <a:bodyPr wrap="square">
            <a:spAutoFit/>
          </a:bodyPr>
          <a:lstStyle/>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根据</a:t>
            </a:r>
            <a:r>
              <a:rPr lang="en-US" altLang="zh-CN" sz="2400" dirty="0">
                <a:solidFill>
                  <a:schemeClr val="tx1"/>
                </a:solidFill>
                <a:latin typeface="微软雅黑" panose="020B0503020204020204" pitchFamily="34" charset="-122"/>
                <a:ea typeface="微软雅黑" panose="020B0503020204020204" pitchFamily="34" charset="-122"/>
              </a:rPr>
              <a:t>DP</a:t>
            </a:r>
            <a:r>
              <a:rPr lang="zh-CN" altLang="zh-CN" sz="2400" dirty="0">
                <a:solidFill>
                  <a:schemeClr val="tx1"/>
                </a:solidFill>
                <a:latin typeface="微软雅黑" panose="020B0503020204020204" pitchFamily="34" charset="-122"/>
                <a:ea typeface="微软雅黑" panose="020B0503020204020204" pitchFamily="34" charset="-122"/>
              </a:rPr>
              <a:t>的原理，应该先算出小规模问题的解，再递推大规模问题的解。</a:t>
            </a:r>
            <a:endParaRPr lang="en-US" altLang="zh-CN" sz="2400" dirty="0">
              <a:solidFill>
                <a:schemeClr val="tx1"/>
              </a:solidFill>
              <a:latin typeface="微软雅黑" panose="020B0503020204020204" pitchFamily="34" charset="-122"/>
              <a:ea typeface="微软雅黑" panose="020B0503020204020204" pitchFamily="34" charset="-122"/>
            </a:endParaRPr>
          </a:p>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计算应该这样进行：</a:t>
            </a:r>
          </a:p>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1</a:t>
            </a:r>
            <a:r>
              <a:rPr lang="zh-CN" altLang="zh-CN" sz="2400" dirty="0">
                <a:solidFill>
                  <a:schemeClr val="tx1"/>
                </a:solidFill>
                <a:latin typeface="微软雅黑" panose="020B0503020204020204" pitchFamily="34" charset="-122"/>
                <a:ea typeface="微软雅黑" panose="020B0503020204020204" pitchFamily="34" charset="-122"/>
              </a:rPr>
              <a:t>）初始化：</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a:t>
            </a:r>
            <a:r>
              <a:rPr lang="zh-CN" altLang="zh-CN" sz="2400" dirty="0">
                <a:solidFill>
                  <a:schemeClr val="tx1"/>
                </a:solidFill>
                <a:latin typeface="微软雅黑" panose="020B0503020204020204" pitchFamily="34" charset="-122"/>
                <a:ea typeface="微软雅黑" panose="020B0503020204020204" pitchFamily="34" charset="-122"/>
              </a:rPr>
              <a:t>，其中的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[0][0]=0</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[1][1]=0</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[1][0]</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，在后续计算中有用。</a:t>
            </a:r>
          </a:p>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zh-CN" sz="2400" dirty="0">
                <a:solidFill>
                  <a:schemeClr val="tx1"/>
                </a:solidFill>
                <a:latin typeface="微软雅黑" panose="020B0503020204020204" pitchFamily="34" charset="-122"/>
                <a:ea typeface="微软雅黑" panose="020B0503020204020204" pitchFamily="34" charset="-122"/>
              </a:rPr>
              <a:t>）第一轮递推：计算长度为</a:t>
            </a:r>
            <a:r>
              <a:rPr lang="en-US" altLang="zh-CN" sz="2400" dirty="0">
                <a:solidFill>
                  <a:schemeClr val="tx1"/>
                </a:solidFill>
                <a:latin typeface="微软雅黑" panose="020B0503020204020204" pitchFamily="34" charset="-122"/>
                <a:ea typeface="微软雅黑" panose="020B0503020204020204" pitchFamily="34" charset="-122"/>
              </a:rPr>
              <a:t>2</a:t>
            </a:r>
            <a:r>
              <a:rPr lang="zh-CN" altLang="zh-CN" sz="2400" dirty="0">
                <a:solidFill>
                  <a:schemeClr val="tx1"/>
                </a:solidFill>
                <a:latin typeface="微软雅黑" panose="020B0503020204020204" pitchFamily="34" charset="-122"/>
                <a:ea typeface="微软雅黑" panose="020B0503020204020204" pitchFamily="34" charset="-122"/>
              </a:rPr>
              <a:t>的子串的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，即计算出</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[0][1]</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[1][2]</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[2][3]</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。例如计算</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[0][1]</a:t>
            </a:r>
            <a:r>
              <a:rPr lang="zh-CN" altLang="zh-CN" sz="2400" dirty="0">
                <a:solidFill>
                  <a:schemeClr val="tx1"/>
                </a:solidFill>
                <a:latin typeface="微软雅黑" panose="020B0503020204020204" pitchFamily="34" charset="-122"/>
                <a:ea typeface="微软雅黑" panose="020B0503020204020204" pitchFamily="34" charset="-122"/>
              </a:rPr>
              <a:t>，若</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0</a:t>
            </a:r>
            <a:r>
              <a:rPr lang="en-US" altLang="zh-CN" sz="2400" dirty="0">
                <a:solidFill>
                  <a:schemeClr val="tx1"/>
                </a:solidFill>
                <a:latin typeface="微软雅黑" panose="020B0503020204020204" pitchFamily="34" charset="-122"/>
                <a:ea typeface="微软雅黑" panose="020B0503020204020204" pitchFamily="34" charset="-122"/>
              </a:rPr>
              <a:t>&gt;s</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zh-CN" sz="2400" dirty="0">
                <a:solidFill>
                  <a:schemeClr val="tx1"/>
                </a:solidFill>
                <a:latin typeface="微软雅黑" panose="020B0503020204020204" pitchFamily="34" charset="-122"/>
                <a:ea typeface="微软雅黑" panose="020B0503020204020204" pitchFamily="34" charset="-122"/>
              </a:rPr>
              <a:t>，则</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[0][1]=1</a:t>
            </a:r>
            <a:r>
              <a:rPr lang="zh-CN" altLang="zh-CN" sz="2400" dirty="0">
                <a:solidFill>
                  <a:schemeClr val="tx1"/>
                </a:solidFill>
                <a:latin typeface="微软雅黑" panose="020B0503020204020204" pitchFamily="34" charset="-122"/>
                <a:ea typeface="微软雅黑" panose="020B0503020204020204" pitchFamily="34" charset="-122"/>
              </a:rPr>
              <a:t>；若</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0</a:t>
            </a:r>
            <a:r>
              <a:rPr lang="en-US" altLang="zh-CN" sz="2400" dirty="0">
                <a:solidFill>
                  <a:schemeClr val="tx1"/>
                </a:solidFill>
                <a:latin typeface="微软雅黑" panose="020B0503020204020204" pitchFamily="34" charset="-122"/>
                <a:ea typeface="微软雅黑" panose="020B0503020204020204" pitchFamily="34" charset="-122"/>
              </a:rPr>
              <a:t>&lt;s</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zh-CN" sz="2400" dirty="0">
                <a:solidFill>
                  <a:schemeClr val="tx1"/>
                </a:solidFill>
                <a:latin typeface="微软雅黑" panose="020B0503020204020204" pitchFamily="34" charset="-122"/>
                <a:ea typeface="微软雅黑" panose="020B0503020204020204" pitchFamily="34" charset="-122"/>
              </a:rPr>
              <a:t>，则</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[0][1]=0</a:t>
            </a:r>
            <a:r>
              <a:rPr lang="zh-CN" altLang="zh-CN" sz="2400" dirty="0">
                <a:solidFill>
                  <a:schemeClr val="tx1"/>
                </a:solidFill>
                <a:latin typeface="微软雅黑" panose="020B0503020204020204" pitchFamily="34" charset="-122"/>
                <a:ea typeface="微软雅黑" panose="020B0503020204020204" pitchFamily="34" charset="-122"/>
              </a:rPr>
              <a:t>；若</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0</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zh-CN" sz="2400" dirty="0">
                <a:solidFill>
                  <a:schemeClr val="tx1"/>
                </a:solidFill>
                <a:latin typeface="微软雅黑" panose="020B0503020204020204" pitchFamily="34" charset="-122"/>
                <a:ea typeface="微软雅黑" panose="020B0503020204020204" pitchFamily="34" charset="-122"/>
              </a:rPr>
              <a:t>，则</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[0][1]=</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[1][0]=0</a:t>
            </a:r>
            <a:r>
              <a:rPr lang="zh-CN" altLang="zh-CN" sz="2400" dirty="0">
                <a:solidFill>
                  <a:schemeClr val="tx1"/>
                </a:solidFill>
                <a:latin typeface="微软雅黑" panose="020B0503020204020204" pitchFamily="34" charset="-122"/>
                <a:ea typeface="微软雅黑" panose="020B0503020204020204" pitchFamily="34" charset="-122"/>
              </a:rPr>
              <a:t>，这里</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[1][0]=0</a:t>
            </a:r>
            <a:r>
              <a:rPr lang="zh-CN" altLang="zh-CN" sz="2400" dirty="0">
                <a:solidFill>
                  <a:schemeClr val="tx1"/>
                </a:solidFill>
                <a:latin typeface="微软雅黑" panose="020B0503020204020204" pitchFamily="34" charset="-122"/>
                <a:ea typeface="微软雅黑" panose="020B0503020204020204" pitchFamily="34" charset="-122"/>
              </a:rPr>
              <a:t>是初始化得到的。</a:t>
            </a:r>
          </a:p>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zh-CN" sz="2400" dirty="0">
                <a:solidFill>
                  <a:schemeClr val="tx1"/>
                </a:solidFill>
                <a:latin typeface="微软雅黑" panose="020B0503020204020204" pitchFamily="34" charset="-122"/>
                <a:ea typeface="微软雅黑" panose="020B0503020204020204" pitchFamily="34" charset="-122"/>
              </a:rPr>
              <a:t>）第二轮递推：计算长度为</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zh-CN" sz="2400" dirty="0">
                <a:solidFill>
                  <a:schemeClr val="tx1"/>
                </a:solidFill>
                <a:latin typeface="微软雅黑" panose="020B0503020204020204" pitchFamily="34" charset="-122"/>
                <a:ea typeface="微软雅黑" panose="020B0503020204020204" pitchFamily="34" charset="-122"/>
              </a:rPr>
              <a:t>的子串的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，即计算出</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[0][2]</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[1][3]</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[2][4]</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。例如计算</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[0][2]</a:t>
            </a:r>
            <a:r>
              <a:rPr lang="zh-CN" altLang="zh-CN" sz="2400" dirty="0">
                <a:solidFill>
                  <a:schemeClr val="tx1"/>
                </a:solidFill>
                <a:latin typeface="微软雅黑" panose="020B0503020204020204" pitchFamily="34" charset="-122"/>
                <a:ea typeface="微软雅黑" panose="020B0503020204020204" pitchFamily="34" charset="-122"/>
              </a:rPr>
              <a:t>，若</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0</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2</a:t>
            </a:r>
            <a:r>
              <a:rPr lang="zh-CN" altLang="zh-CN" sz="2400" dirty="0">
                <a:solidFill>
                  <a:schemeClr val="tx1"/>
                </a:solidFill>
                <a:latin typeface="微软雅黑" panose="020B0503020204020204" pitchFamily="34" charset="-122"/>
                <a:ea typeface="微软雅黑" panose="020B0503020204020204" pitchFamily="34" charset="-122"/>
              </a:rPr>
              <a:t>，则有</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[0][2]=</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[1][1]=0</a:t>
            </a:r>
            <a:r>
              <a:rPr lang="zh-CN" altLang="zh-CN" sz="2400" dirty="0">
                <a:solidFill>
                  <a:schemeClr val="tx1"/>
                </a:solidFill>
                <a:latin typeface="微软雅黑" panose="020B0503020204020204" pitchFamily="34" charset="-122"/>
                <a:ea typeface="微软雅黑" panose="020B0503020204020204" pitchFamily="34" charset="-122"/>
              </a:rPr>
              <a:t>，这时用到了前面得到的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[1][1]</a:t>
            </a:r>
            <a:r>
              <a:rPr lang="zh-CN" altLang="zh-CN" sz="2400" dirty="0">
                <a:solidFill>
                  <a:schemeClr val="tx1"/>
                </a:solidFill>
                <a:latin typeface="微软雅黑" panose="020B0503020204020204" pitchFamily="34" charset="-122"/>
                <a:ea typeface="微软雅黑" panose="020B0503020204020204" pitchFamily="34" charset="-122"/>
              </a:rPr>
              <a:t>。</a:t>
            </a:r>
          </a:p>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zh-CN" sz="2400" dirty="0">
                <a:solidFill>
                  <a:schemeClr val="tx1"/>
                </a:solidFill>
                <a:latin typeface="微软雅黑" panose="020B0503020204020204" pitchFamily="34" charset="-122"/>
                <a:ea typeface="微软雅黑" panose="020B0503020204020204" pitchFamily="34" charset="-122"/>
              </a:rPr>
              <a:t>）第三轮递推：计算长度为</a:t>
            </a:r>
            <a:r>
              <a:rPr lang="en-US" altLang="zh-CN" sz="2400" dirty="0">
                <a:solidFill>
                  <a:schemeClr val="tx1"/>
                </a:solidFill>
                <a:latin typeface="微软雅黑" panose="020B0503020204020204" pitchFamily="34" charset="-122"/>
                <a:ea typeface="微软雅黑" panose="020B0503020204020204" pitchFamily="34" charset="-122"/>
              </a:rPr>
              <a:t>4</a:t>
            </a:r>
            <a:r>
              <a:rPr lang="zh-CN" altLang="zh-CN" sz="2400" dirty="0">
                <a:solidFill>
                  <a:schemeClr val="tx1"/>
                </a:solidFill>
                <a:latin typeface="微软雅黑" panose="020B0503020204020204" pitchFamily="34" charset="-122"/>
                <a:ea typeface="微软雅黑" panose="020B0503020204020204" pitchFamily="34" charset="-122"/>
              </a:rPr>
              <a:t>的子串的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，即计算出</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[0][3]</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[1][4]</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[2][5]</a:t>
            </a: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。例如计算</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[0][3]</a:t>
            </a:r>
            <a:r>
              <a:rPr lang="zh-CN" altLang="zh-CN" sz="2400" dirty="0">
                <a:solidFill>
                  <a:schemeClr val="tx1"/>
                </a:solidFill>
                <a:latin typeface="微软雅黑" panose="020B0503020204020204" pitchFamily="34" charset="-122"/>
                <a:ea typeface="微软雅黑" panose="020B0503020204020204" pitchFamily="34" charset="-122"/>
              </a:rPr>
              <a:t>，若</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0</a:t>
            </a:r>
            <a:r>
              <a:rPr lang="en-US" altLang="zh-CN" sz="2400" dirty="0">
                <a:solidFill>
                  <a:schemeClr val="tx1"/>
                </a:solidFill>
                <a:latin typeface="微软雅黑" panose="020B0503020204020204" pitchFamily="34" charset="-122"/>
                <a:ea typeface="微软雅黑" panose="020B0503020204020204" pitchFamily="34" charset="-122"/>
              </a:rPr>
              <a:t>=s</a:t>
            </a:r>
            <a:r>
              <a:rPr lang="en-US" altLang="zh-CN" sz="2400" baseline="-25000" dirty="0">
                <a:solidFill>
                  <a:schemeClr val="tx1"/>
                </a:solidFill>
                <a:latin typeface="微软雅黑" panose="020B0503020204020204" pitchFamily="34" charset="-122"/>
                <a:ea typeface="微软雅黑" panose="020B0503020204020204" pitchFamily="34" charset="-122"/>
              </a:rPr>
              <a:t>3</a:t>
            </a:r>
            <a:r>
              <a:rPr lang="zh-CN" altLang="zh-CN" sz="2400" dirty="0">
                <a:solidFill>
                  <a:schemeClr val="tx1"/>
                </a:solidFill>
                <a:latin typeface="微软雅黑" panose="020B0503020204020204" pitchFamily="34" charset="-122"/>
                <a:ea typeface="微软雅黑" panose="020B0503020204020204" pitchFamily="34" charset="-122"/>
              </a:rPr>
              <a:t>，则有</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[0][3]=</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[1][2]</a:t>
            </a:r>
            <a:r>
              <a:rPr lang="zh-CN" altLang="zh-CN" sz="2400" dirty="0">
                <a:solidFill>
                  <a:schemeClr val="tx1"/>
                </a:solidFill>
                <a:latin typeface="微软雅黑" panose="020B0503020204020204" pitchFamily="34" charset="-122"/>
                <a:ea typeface="微软雅黑" panose="020B0503020204020204" pitchFamily="34" charset="-122"/>
              </a:rPr>
              <a:t>，这时用到了前面得到的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[1][2]</a:t>
            </a:r>
            <a:r>
              <a:rPr lang="zh-CN" altLang="zh-CN" sz="2400" dirty="0">
                <a:solidFill>
                  <a:schemeClr val="tx1"/>
                </a:solidFill>
                <a:latin typeface="微软雅黑" panose="020B0503020204020204" pitchFamily="34" charset="-122"/>
                <a:ea typeface="微软雅黑" panose="020B0503020204020204" pitchFamily="34" charset="-122"/>
              </a:rPr>
              <a:t>。</a:t>
            </a:r>
          </a:p>
          <a:p>
            <a:pPr>
              <a:lnSpc>
                <a:spcPct val="120000"/>
              </a:lnSpc>
            </a:pPr>
            <a:r>
              <a:rPr lang="zh-CN" altLang="zh-CN"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5</a:t>
            </a:r>
            <a:r>
              <a:rPr lang="zh-CN" altLang="zh-CN" sz="2400" dirty="0">
                <a:solidFill>
                  <a:schemeClr val="tx1"/>
                </a:solidFill>
                <a:latin typeface="微软雅黑" panose="020B0503020204020204" pitchFamily="34" charset="-122"/>
                <a:ea typeface="微软雅黑" panose="020B0503020204020204" pitchFamily="34" charset="-122"/>
              </a:rPr>
              <a:t>）继续递推，最后得到所有的</a:t>
            </a:r>
            <a:r>
              <a:rPr lang="en-US" altLang="zh-CN" sz="2400" dirty="0" err="1">
                <a:solidFill>
                  <a:schemeClr val="tx1"/>
                </a:solidFill>
                <a:latin typeface="微软雅黑" panose="020B0503020204020204" pitchFamily="34" charset="-122"/>
                <a:ea typeface="微软雅黑" panose="020B0503020204020204" pitchFamily="34" charset="-122"/>
              </a:rPr>
              <a:t>dp</a:t>
            </a:r>
            <a:r>
              <a:rPr lang="en-US" altLang="zh-CN" sz="2400" dirty="0">
                <a:solidFill>
                  <a:schemeClr val="tx1"/>
                </a:solidFill>
                <a:latin typeface="微软雅黑" panose="020B0503020204020204" pitchFamily="34" charset="-122"/>
                <a:ea typeface="微软雅黑" panose="020B0503020204020204" pitchFamily="34" charset="-122"/>
              </a:rPr>
              <a:t>[][]</a:t>
            </a:r>
            <a:r>
              <a:rPr lang="zh-CN" altLang="zh-CN" sz="2400" dirty="0">
                <a:solidFill>
                  <a:schemeClr val="tx1"/>
                </a:solidFill>
                <a:latin typeface="微软雅黑" panose="020B0503020204020204" pitchFamily="34" charset="-122"/>
                <a:ea typeface="微软雅黑" panose="020B0503020204020204" pitchFamily="34" charset="-122"/>
              </a:rPr>
              <a:t>。</a:t>
            </a:r>
            <a:endParaRPr lang="en-US" altLang="zh-CN" sz="2800" dirty="0">
              <a:solidFill>
                <a:schemeClr val="tx1"/>
              </a:solidFill>
              <a:latin typeface="微软雅黑" panose="020B0503020204020204" pitchFamily="34" charset="-122"/>
              <a:ea typeface="微软雅黑" panose="020B0503020204020204" pitchFamily="34" charset="-122"/>
              <a:cs typeface="+mn-ea"/>
              <a:sym typeface="+mn-lt"/>
            </a:endParaRPr>
          </a:p>
        </p:txBody>
      </p:sp>
    </p:spTree>
    <p:custDataLst>
      <p:tags r:id="rId1"/>
    </p:custDataLst>
    <p:extLst>
      <p:ext uri="{BB962C8B-B14F-4D97-AF65-F5344CB8AC3E}">
        <p14:creationId xmlns:p14="http://schemas.microsoft.com/office/powerpoint/2010/main" val="540335601"/>
      </p:ext>
    </p:extLst>
  </p:cSld>
  <p:clrMapOvr>
    <a:masterClrMapping/>
  </p:clrMapOvr>
  <mc:AlternateContent xmlns:mc="http://schemas.openxmlformats.org/markup-compatibility/2006" xmlns:p14="http://schemas.microsoft.com/office/powerpoint/2010/main">
    <mc:Choice Requires="p14">
      <p:transition spd="slow" p14:dur="2000" advTm="50013"/>
    </mc:Choice>
    <mc:Fallback xmlns="">
      <p:transition spd="slow" advTm="5001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31</a:t>
            </a:fld>
            <a:endParaRPr lang="en-US" altLang="zh-CN" b="0" dirty="0">
              <a:solidFill>
                <a:schemeClr val="tx1"/>
              </a:solidFill>
            </a:endParaRPr>
          </a:p>
        </p:txBody>
      </p:sp>
      <p:sp>
        <p:nvSpPr>
          <p:cNvPr id="21" name="内容占位符 2"/>
          <p:cNvSpPr txBox="1"/>
          <p:nvPr/>
        </p:nvSpPr>
        <p:spPr>
          <a:xfrm>
            <a:off x="4263540" y="527605"/>
            <a:ext cx="7809750" cy="61082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[5010][5010];         //</a:t>
            </a:r>
            <a:r>
              <a:rPr lang="zh-CN" altLang="en-US" sz="2000" b="0" dirty="0">
                <a:latin typeface="宋体" panose="02010600030101010101" pitchFamily="2" charset="-122"/>
                <a:ea typeface="宋体" panose="02010600030101010101" pitchFamily="2" charset="-122"/>
              </a:rPr>
              <a:t>全局数组，初始化为</a:t>
            </a:r>
            <a:r>
              <a:rPr lang="en-US" altLang="zh-CN" sz="2000" b="0" dirty="0">
                <a:latin typeface="宋体" panose="02010600030101010101" pitchFamily="2" charset="-122"/>
                <a:ea typeface="宋体" panose="02010600030101010101" pitchFamily="2" charset="-122"/>
              </a:rPr>
              <a:t>0</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string s;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s;</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ans</a:t>
            </a:r>
            <a:r>
              <a:rPr lang="en-US" altLang="zh-CN" sz="2000" b="0" dirty="0">
                <a:latin typeface="宋体" panose="02010600030101010101" pitchFamily="2" charset="-122"/>
                <a:ea typeface="宋体" panose="02010600030101010101" pitchFamily="2" charset="-122"/>
              </a:rPr>
              <a:t> =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k = 1; k &lt; </a:t>
            </a:r>
            <a:r>
              <a:rPr lang="en-US" altLang="zh-CN" sz="2000" b="0" dirty="0" err="1">
                <a:latin typeface="宋体" panose="02010600030101010101" pitchFamily="2" charset="-122"/>
                <a:ea typeface="宋体" panose="02010600030101010101" pitchFamily="2" charset="-122"/>
              </a:rPr>
              <a:t>s.length</a:t>
            </a:r>
            <a:r>
              <a:rPr lang="en-US" altLang="zh-CN" sz="2000" b="0" dirty="0">
                <a:latin typeface="宋体" panose="02010600030101010101" pitchFamily="2" charset="-122"/>
                <a:ea typeface="宋体" panose="02010600030101010101" pitchFamily="2" charset="-122"/>
              </a:rPr>
              <a:t>(); k++)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zh-CN" altLang="en-US" sz="2000" b="0" dirty="0">
                <a:latin typeface="宋体" panose="02010600030101010101" pitchFamily="2" charset="-122"/>
                <a:ea typeface="宋体" panose="02010600030101010101" pitchFamily="2" charset="-122"/>
              </a:rPr>
              <a:t>第</a:t>
            </a:r>
            <a:r>
              <a:rPr lang="en-US" altLang="zh-CN" sz="2000" b="0" dirty="0">
                <a:latin typeface="宋体" panose="02010600030101010101" pitchFamily="2" charset="-122"/>
                <a:ea typeface="宋体" panose="02010600030101010101" pitchFamily="2" charset="-122"/>
              </a:rPr>
              <a:t>k</a:t>
            </a:r>
            <a:r>
              <a:rPr lang="zh-CN" altLang="en-US" sz="2000" b="0" dirty="0">
                <a:latin typeface="宋体" panose="02010600030101010101" pitchFamily="2" charset="-122"/>
                <a:ea typeface="宋体" panose="02010600030101010101" pitchFamily="2" charset="-122"/>
              </a:rPr>
              <a:t>轮递推。</a:t>
            </a:r>
            <a:r>
              <a:rPr lang="en-US" altLang="zh-CN" sz="2000" b="0" dirty="0">
                <a:latin typeface="宋体" panose="02010600030101010101" pitchFamily="2" charset="-122"/>
                <a:ea typeface="宋体" panose="02010600030101010101" pitchFamily="2" charset="-122"/>
              </a:rPr>
              <a:t>k=j-</a:t>
            </a:r>
            <a:r>
              <a:rPr lang="en-US" altLang="zh-CN" sz="2000" b="0" dirty="0" err="1">
                <a:latin typeface="宋体" panose="02010600030101010101" pitchFamily="2" charset="-122"/>
                <a:ea typeface="宋体" panose="02010600030101010101" pitchFamily="2" charset="-122"/>
              </a:rPr>
              <a:t>i</a:t>
            </a:r>
            <a:endParaRPr lang="en-US" altLang="zh-CN" sz="20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0; </a:t>
            </a:r>
            <a:r>
              <a:rPr lang="en-US" altLang="zh-CN" sz="2000" b="0" dirty="0" err="1">
                <a:latin typeface="宋体" panose="02010600030101010101" pitchFamily="2" charset="-122"/>
                <a:ea typeface="宋体" panose="02010600030101010101" pitchFamily="2" charset="-122"/>
              </a:rPr>
              <a:t>i+k</a:t>
            </a:r>
            <a:r>
              <a:rPr lang="en-US" altLang="zh-CN" sz="2000" b="0" dirty="0">
                <a:latin typeface="宋体" panose="02010600030101010101" pitchFamily="2" charset="-122"/>
                <a:ea typeface="宋体" panose="02010600030101010101" pitchFamily="2" charset="-122"/>
              </a:rPr>
              <a:t> &lt; </a:t>
            </a:r>
            <a:r>
              <a:rPr lang="en-US" altLang="zh-CN" sz="2000" b="0" dirty="0" err="1">
                <a:latin typeface="宋体" panose="02010600030101010101" pitchFamily="2" charset="-122"/>
                <a:ea typeface="宋体" panose="02010600030101010101" pitchFamily="2" charset="-122"/>
              </a:rPr>
              <a:t>s.length</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zh-CN" altLang="en-US" sz="2000" b="0" dirty="0">
                <a:latin typeface="宋体" panose="02010600030101010101" pitchFamily="2" charset="-122"/>
                <a:ea typeface="宋体" panose="02010600030101010101" pitchFamily="2" charset="-122"/>
              </a:rPr>
              <a:t>子串从</a:t>
            </a:r>
            <a:r>
              <a:rPr lang="en-US" altLang="zh-CN" sz="2000" b="0" dirty="0">
                <a:latin typeface="宋体" panose="02010600030101010101" pitchFamily="2" charset="-122"/>
                <a:ea typeface="宋体" panose="02010600030101010101" pitchFamily="2" charset="-122"/>
              </a:rPr>
              <a:t>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开始</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j = </a:t>
            </a:r>
            <a:r>
              <a:rPr lang="en-US" altLang="zh-CN" sz="2000" b="0" dirty="0" err="1">
                <a:latin typeface="宋体" panose="02010600030101010101" pitchFamily="2" charset="-122"/>
                <a:ea typeface="宋体" panose="02010600030101010101" pitchFamily="2" charset="-122"/>
              </a:rPr>
              <a:t>i+k</a:t>
            </a:r>
            <a:r>
              <a:rPr lang="en-US" altLang="zh-CN" sz="2000" b="0" dirty="0">
                <a:latin typeface="宋体" panose="02010600030101010101" pitchFamily="2" charset="-122"/>
                <a:ea typeface="宋体" panose="02010600030101010101" pitchFamily="2" charset="-122"/>
              </a:rPr>
              <a:t>;    //</a:t>
            </a:r>
            <a:r>
              <a:rPr lang="zh-CN" altLang="en-US" sz="2000" b="0" dirty="0">
                <a:latin typeface="宋体" panose="02010600030101010101" pitchFamily="2" charset="-122"/>
                <a:ea typeface="宋体" panose="02010600030101010101" pitchFamily="2" charset="-122"/>
              </a:rPr>
              <a:t>子串末尾是</a:t>
            </a:r>
            <a:r>
              <a:rPr lang="en-US" altLang="zh-CN" sz="2000" b="0" dirty="0">
                <a:latin typeface="宋体" panose="02010600030101010101" pitchFamily="2" charset="-122"/>
                <a:ea typeface="宋体" panose="02010600030101010101" pitchFamily="2" charset="-122"/>
              </a:rPr>
              <a:t>s[j]</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&gt; s[j])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s[j])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(s[</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s[j])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+ 1][j - 1];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1)  </a:t>
            </a:r>
            <a:r>
              <a:rPr lang="en-US" altLang="zh-CN" sz="2000" b="0" dirty="0" err="1">
                <a:latin typeface="宋体" panose="02010600030101010101" pitchFamily="2" charset="-122"/>
                <a:ea typeface="宋体" panose="02010600030101010101" pitchFamily="2" charset="-122"/>
              </a:rPr>
              <a:t>ans</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a:t>
            </a:r>
            <a:r>
              <a:rPr lang="en-US" altLang="zh-CN" sz="2000" b="0" dirty="0" err="1">
                <a:latin typeface="宋体" panose="02010600030101010101" pitchFamily="2" charset="-122"/>
                <a:ea typeface="宋体" panose="02010600030101010101" pitchFamily="2" charset="-122"/>
              </a:rPr>
              <a:t>ans</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729306" y="985720"/>
            <a:ext cx="3076119"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用循环变量</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表示第</a:t>
            </a:r>
            <a:r>
              <a:rPr lang="en-US" altLang="zh-CN" sz="2400" dirty="0">
                <a:latin typeface="微软雅黑" panose="020B0503020204020204" pitchFamily="34" charset="-122"/>
                <a:ea typeface="微软雅黑" panose="020B0503020204020204" pitchFamily="34" charset="-122"/>
              </a:rPr>
              <a:t>k</a:t>
            </a:r>
            <a:r>
              <a:rPr lang="zh-CN" altLang="en-US" sz="2400" dirty="0">
                <a:latin typeface="微软雅黑" panose="020B0503020204020204" pitchFamily="34" charset="-122"/>
                <a:ea typeface="微软雅黑" panose="020B0503020204020204" pitchFamily="34" charset="-122"/>
              </a:rPr>
              <a:t>轮递推</a:t>
            </a:r>
            <a:r>
              <a:rPr lang="en-US" altLang="zh-CN" sz="2400" dirty="0">
                <a:latin typeface="微软雅黑" panose="020B0503020204020204" pitchFamily="34" charset="-122"/>
                <a:ea typeface="微软雅黑" panose="020B0503020204020204" pitchFamily="34" charset="-122"/>
              </a:rPr>
              <a:t> </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2385461"/>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8.4</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a:t>
            </a:r>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DP</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背包</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1023609734"/>
      </p:ext>
    </p:extLst>
  </p:cSld>
  <p:clrMapOvr>
    <a:masterClrMapping/>
  </p:clrMapOvr>
  <p:transition spd="med" advTm="4368">
    <p:randomBar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6960" y="248263"/>
            <a:ext cx="10515600" cy="1042868"/>
          </a:xfrm>
        </p:spPr>
        <p:txBody>
          <a:bodyPr>
            <a:normAutofit/>
          </a:bodyPr>
          <a:lstStyle/>
          <a:p>
            <a:pPr marL="742950" indent="-742950" eaLnBrk="0" fontAlgn="base" hangingPunct="0">
              <a:spcAft>
                <a:spcPct val="0"/>
              </a:spcAft>
              <a:buFont typeface="Wingdings" panose="05000000000000000000" pitchFamily="2" charset="2"/>
              <a:buChar char="p"/>
            </a:pPr>
            <a:r>
              <a:rPr lang="zh-CN" altLang="en-US" sz="3600" b="1" dirty="0">
                <a:solidFill>
                  <a:srgbClr val="C00000"/>
                </a:solidFill>
                <a:latin typeface="微软雅黑" panose="020B0503020204020204" pitchFamily="34" charset="-122"/>
                <a:ea typeface="微软雅黑" panose="020B0503020204020204" pitchFamily="34" charset="-122"/>
              </a:rPr>
              <a:t>最经典的</a:t>
            </a:r>
            <a:r>
              <a:rPr lang="en-US" altLang="zh-CN" sz="3600" b="1" dirty="0">
                <a:solidFill>
                  <a:srgbClr val="C00000"/>
                </a:solidFill>
                <a:latin typeface="微软雅黑" panose="020B0503020204020204" pitchFamily="34" charset="-122"/>
                <a:ea typeface="微软雅黑" panose="020B0503020204020204" pitchFamily="34" charset="-122"/>
              </a:rPr>
              <a:t>DP</a:t>
            </a:r>
            <a:r>
              <a:rPr lang="zh-CN" altLang="en-US" sz="3600" b="1" dirty="0">
                <a:solidFill>
                  <a:srgbClr val="C00000"/>
                </a:solidFill>
                <a:latin typeface="微软雅黑" panose="020B0503020204020204" pitchFamily="34" charset="-122"/>
                <a:ea typeface="微软雅黑" panose="020B0503020204020204" pitchFamily="34" charset="-122"/>
              </a:rPr>
              <a:t>问题： </a:t>
            </a:r>
            <a:r>
              <a:rPr lang="en-US" altLang="zh-CN" sz="3600" b="1" dirty="0">
                <a:solidFill>
                  <a:srgbClr val="C00000"/>
                </a:solidFill>
                <a:latin typeface="微软雅黑" panose="020B0503020204020204" pitchFamily="34" charset="-122"/>
                <a:ea typeface="微软雅黑" panose="020B0503020204020204" pitchFamily="34" charset="-122"/>
              </a:rPr>
              <a:t>0/1</a:t>
            </a:r>
            <a:r>
              <a:rPr lang="zh-CN" altLang="en-US" sz="3600" b="1" dirty="0">
                <a:solidFill>
                  <a:srgbClr val="C00000"/>
                </a:solidFill>
                <a:latin typeface="微软雅黑" panose="020B0503020204020204" pitchFamily="34" charset="-122"/>
                <a:ea typeface="微软雅黑" panose="020B0503020204020204" pitchFamily="34" charset="-122"/>
              </a:rPr>
              <a:t>背包</a:t>
            </a:r>
          </a:p>
        </p:txBody>
      </p:sp>
      <p:sp>
        <p:nvSpPr>
          <p:cNvPr id="5" name="内容占位符 4"/>
          <p:cNvSpPr>
            <a:spLocks noGrp="1"/>
          </p:cNvSpPr>
          <p:nvPr>
            <p:ph idx="1"/>
          </p:nvPr>
        </p:nvSpPr>
        <p:spPr>
          <a:xfrm>
            <a:off x="761847" y="1639145"/>
            <a:ext cx="8540957" cy="4369190"/>
          </a:xfrm>
        </p:spPr>
        <p:txBody>
          <a:bodyPr>
            <a:noAutofit/>
          </a:bodyPr>
          <a:lstStyle/>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给定</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种物品和一个背包，物品</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的重量是</a:t>
            </a:r>
            <a:r>
              <a:rPr lang="en-US" altLang="zh-CN" sz="2400" b="1" dirty="0" err="1">
                <a:latin typeface="微软雅黑" panose="020B0503020204020204" pitchFamily="34" charset="-122"/>
                <a:ea typeface="微软雅黑" panose="020B0503020204020204" pitchFamily="34" charset="-122"/>
              </a:rPr>
              <a:t>wi</a:t>
            </a:r>
            <a:r>
              <a:rPr lang="zh-CN" altLang="en-US" sz="2400" b="1" dirty="0">
                <a:latin typeface="微软雅黑" panose="020B0503020204020204" pitchFamily="34" charset="-122"/>
                <a:ea typeface="微软雅黑" panose="020B0503020204020204" pitchFamily="34" charset="-122"/>
              </a:rPr>
              <a:t>，其价值为</a:t>
            </a:r>
            <a:r>
              <a:rPr lang="en-US" altLang="zh-CN" sz="2400" b="1" dirty="0">
                <a:latin typeface="微软雅黑" panose="020B0503020204020204" pitchFamily="34" charset="-122"/>
                <a:ea typeface="微软雅黑" panose="020B0503020204020204" pitchFamily="34" charset="-122"/>
              </a:rPr>
              <a:t>vi</a:t>
            </a:r>
            <a:r>
              <a:rPr lang="zh-CN" altLang="en-US" sz="2400" b="1" dirty="0">
                <a:latin typeface="微软雅黑" panose="020B0503020204020204" pitchFamily="34" charset="-122"/>
                <a:ea typeface="微软雅黑" panose="020B0503020204020204" pitchFamily="34" charset="-122"/>
              </a:rPr>
              <a:t>，背包的容量为</a:t>
            </a:r>
            <a:r>
              <a:rPr lang="en-US" altLang="zh-CN" sz="2400" b="1" dirty="0">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a:t>
            </a:r>
          </a:p>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背包问题：选择装入背包的物品，使得装入背包中物品的总价值最大。</a:t>
            </a:r>
          </a:p>
          <a:p>
            <a:pPr marL="447675" indent="-447675" algn="just" fontAlgn="auto">
              <a:lnSpc>
                <a:spcPct val="140000"/>
              </a:lnSpc>
              <a:spcBef>
                <a:spcPts val="0"/>
              </a:spcBef>
              <a:buFont typeface="Wingdings" panose="05000000000000000000" pitchFamily="2" charset="2"/>
              <a:buChar char="p"/>
            </a:pPr>
            <a:endParaRPr lang="zh-CN" altLang="en-US" sz="2400" b="1" dirty="0">
              <a:latin typeface="微软雅黑" panose="020B0503020204020204" pitchFamily="34" charset="-122"/>
              <a:ea typeface="微软雅黑" panose="020B0503020204020204" pitchFamily="34" charset="-122"/>
            </a:endParaRPr>
          </a:p>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如果在选择装入背包的物品时，每种物品</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只有两种选择：装入背包或不装入背包，称为</a:t>
            </a:r>
            <a:r>
              <a:rPr lang="en-US" altLang="zh-CN" sz="2400" b="1" dirty="0">
                <a:latin typeface="微软雅黑" panose="020B0503020204020204" pitchFamily="34" charset="-122"/>
                <a:ea typeface="微软雅黑" panose="020B0503020204020204" pitchFamily="34" charset="-122"/>
              </a:rPr>
              <a:t>0/1</a:t>
            </a:r>
            <a:r>
              <a:rPr lang="zh-CN" altLang="en-US" sz="2400" b="1" dirty="0">
                <a:latin typeface="微软雅黑" panose="020B0503020204020204" pitchFamily="34" charset="-122"/>
                <a:ea typeface="微软雅黑" panose="020B0503020204020204" pitchFamily="34" charset="-122"/>
              </a:rPr>
              <a:t>背包问题。</a:t>
            </a:r>
          </a:p>
        </p:txBody>
      </p:sp>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33</a:t>
            </a:fld>
            <a:endParaRPr lang="en-US" altLang="zh-CN" sz="2000" b="0" dirty="0">
              <a:solidFill>
                <a:schemeClr val="tx1"/>
              </a:solidFill>
              <a:latin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9760920" y="2512770"/>
            <a:ext cx="2158873" cy="2394500"/>
          </a:xfrm>
          <a:prstGeom prst="rect">
            <a:avLst/>
          </a:prstGeom>
          <a:noFill/>
          <a:ln w="38100" cap="flat" cmpd="sng">
            <a:solidFill>
              <a:schemeClr val="hlink"/>
            </a:solidFill>
            <a:prstDash val="solid"/>
            <a:miter/>
            <a:headEnd type="none" w="med" len="med"/>
            <a:tailEnd type="none" w="med" len="med"/>
          </a:ln>
        </p:spPr>
      </p:pic>
    </p:spTree>
    <p:extLst>
      <p:ext uri="{BB962C8B-B14F-4D97-AF65-F5344CB8AC3E}">
        <p14:creationId xmlns:p14="http://schemas.microsoft.com/office/powerpoint/2010/main" val="2852546342"/>
      </p:ext>
    </p:extLst>
  </p:cSld>
  <p:clrMapOvr>
    <a:masterClrMapping/>
  </p:clrMapOvr>
  <mc:AlternateContent xmlns:mc="http://schemas.openxmlformats.org/markup-compatibility/2006" xmlns:p14="http://schemas.microsoft.com/office/powerpoint/2010/main">
    <mc:Choice Requires="p14">
      <p:transition spd="slow" p14:dur="2000" advTm="41935"/>
    </mc:Choice>
    <mc:Fallback xmlns="">
      <p:transition spd="slow" advTm="41935"/>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6960" y="248263"/>
            <a:ext cx="10515600" cy="1042868"/>
          </a:xfrm>
        </p:spPr>
        <p:txBody>
          <a:bodyPr>
            <a:normAutofit/>
          </a:bodyPr>
          <a:lstStyle/>
          <a:p>
            <a:pPr marL="742950" indent="-742950" eaLnBrk="0" fontAlgn="base" hangingPunct="0">
              <a:spcAft>
                <a:spcPct val="0"/>
              </a:spcAft>
              <a:buFont typeface="Wingdings" panose="05000000000000000000" pitchFamily="2" charset="2"/>
              <a:buChar char="Ø"/>
            </a:pPr>
            <a:r>
              <a:rPr lang="zh-CN" altLang="en-US" sz="3600" b="1" dirty="0">
                <a:solidFill>
                  <a:srgbClr val="C00000"/>
                </a:solidFill>
                <a:latin typeface="微软雅黑" panose="020B0503020204020204" pitchFamily="34" charset="-122"/>
                <a:ea typeface="微软雅黑" panose="020B0503020204020204" pitchFamily="34" charset="-122"/>
              </a:rPr>
              <a:t>模型</a:t>
            </a:r>
          </a:p>
        </p:txBody>
      </p:sp>
      <p:sp>
        <p:nvSpPr>
          <p:cNvPr id="5" name="内容占位符 4"/>
          <p:cNvSpPr>
            <a:spLocks noGrp="1"/>
          </p:cNvSpPr>
          <p:nvPr>
            <p:ph idx="1"/>
          </p:nvPr>
        </p:nvSpPr>
        <p:spPr>
          <a:xfrm>
            <a:off x="761847" y="1291131"/>
            <a:ext cx="9925825" cy="4369190"/>
          </a:xfrm>
        </p:spPr>
        <p:txBody>
          <a:bodyPr>
            <a:noAutofit/>
          </a:bodyPr>
          <a:lstStyle/>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设</a:t>
            </a:r>
            <a:r>
              <a:rPr lang="en-US" altLang="zh-CN" sz="2400" b="1" dirty="0">
                <a:latin typeface="微软雅黑" panose="020B0503020204020204" pitchFamily="34" charset="-122"/>
                <a:ea typeface="微软雅黑" panose="020B0503020204020204" pitchFamily="34" charset="-122"/>
              </a:rPr>
              <a:t>x</a:t>
            </a:r>
            <a:r>
              <a:rPr lang="en-US" altLang="zh-CN" sz="2400" b="1" baseline="-25000" dirty="0">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表示物品</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装入背包的情况，</a:t>
            </a:r>
          </a:p>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x</a:t>
            </a:r>
            <a:r>
              <a:rPr lang="en-US" altLang="zh-CN" sz="2400" b="1" baseline="-25000" dirty="0">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，表示物品</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没有被装入背包</a:t>
            </a:r>
          </a:p>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x</a:t>
            </a:r>
            <a:r>
              <a:rPr lang="en-US" altLang="zh-CN" sz="2400" b="1" baseline="-25000" dirty="0">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，表示物品</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被装入背包</a:t>
            </a:r>
          </a:p>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约束条件：</a:t>
            </a:r>
          </a:p>
          <a:p>
            <a:pPr marL="447675" indent="-447675" algn="just" fontAlgn="auto">
              <a:lnSpc>
                <a:spcPct val="140000"/>
              </a:lnSpc>
              <a:spcBef>
                <a:spcPts val="0"/>
              </a:spcBef>
              <a:buFont typeface="Wingdings" panose="05000000000000000000" pitchFamily="2" charset="2"/>
              <a:buChar char="p"/>
            </a:pPr>
            <a:endParaRPr lang="zh-CN" altLang="en-US" sz="2400" b="1" dirty="0">
              <a:latin typeface="微软雅黑" panose="020B0503020204020204" pitchFamily="34" charset="-122"/>
              <a:ea typeface="微软雅黑" panose="020B0503020204020204" pitchFamily="34" charset="-122"/>
            </a:endParaRPr>
          </a:p>
          <a:p>
            <a:pPr marL="447675" indent="-447675" algn="just" fontAlgn="auto">
              <a:lnSpc>
                <a:spcPct val="140000"/>
              </a:lnSpc>
              <a:spcBef>
                <a:spcPts val="0"/>
              </a:spcBef>
              <a:buFont typeface="Wingdings" panose="05000000000000000000" pitchFamily="2" charset="2"/>
              <a:buChar char="p"/>
            </a:pPr>
            <a:endParaRPr lang="zh-CN" altLang="en-US" sz="2400" b="1" dirty="0">
              <a:latin typeface="微软雅黑" panose="020B0503020204020204" pitchFamily="34" charset="-122"/>
              <a:ea typeface="微软雅黑" panose="020B0503020204020204" pitchFamily="34" charset="-122"/>
            </a:endParaRPr>
          </a:p>
          <a:p>
            <a:pPr marL="447675" indent="-447675" algn="just" fontAlgn="auto">
              <a:lnSpc>
                <a:spcPct val="140000"/>
              </a:lnSpc>
              <a:spcBef>
                <a:spcPts val="0"/>
              </a:spcBef>
              <a:buFont typeface="Wingdings" panose="05000000000000000000" pitchFamily="2" charset="2"/>
              <a:buChar char="p"/>
            </a:pPr>
            <a:endParaRPr lang="zh-CN" altLang="en-US" sz="2400" b="1" dirty="0">
              <a:latin typeface="微软雅黑" panose="020B0503020204020204" pitchFamily="34" charset="-122"/>
              <a:ea typeface="微软雅黑" panose="020B0503020204020204" pitchFamily="34" charset="-122"/>
            </a:endParaRPr>
          </a:p>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目标函数： </a:t>
            </a:r>
          </a:p>
        </p:txBody>
      </p:sp>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34</a:t>
            </a:fld>
            <a:endParaRPr lang="en-US" altLang="zh-CN" sz="2000" b="0" dirty="0">
              <a:solidFill>
                <a:schemeClr val="tx1"/>
              </a:solidFill>
              <a:latin typeface="Times New Roman" panose="02020603050405020304" pitchFamily="18" charset="0"/>
            </a:endParaRPr>
          </a:p>
        </p:txBody>
      </p:sp>
      <p:grpSp>
        <p:nvGrpSpPr>
          <p:cNvPr id="7" name="组合 6"/>
          <p:cNvGrpSpPr/>
          <p:nvPr/>
        </p:nvGrpSpPr>
        <p:grpSpPr>
          <a:xfrm>
            <a:off x="3041900" y="3078103"/>
            <a:ext cx="8246070" cy="1480324"/>
            <a:chOff x="0" y="0"/>
            <a:chExt cx="4114" cy="879"/>
          </a:xfrm>
        </p:grpSpPr>
        <p:pic>
          <p:nvPicPr>
            <p:cNvPr id="8" name="图片 7"/>
            <p:cNvPicPr/>
            <p:nvPr/>
          </p:nvPicPr>
          <p:blipFill>
            <a:blip r:embed="rId2"/>
            <a:stretch>
              <a:fillRect/>
            </a:stretch>
          </p:blipFill>
          <p:spPr>
            <a:xfrm>
              <a:off x="0" y="0"/>
              <a:ext cx="2100" cy="879"/>
            </a:xfrm>
            <a:prstGeom prst="rect">
              <a:avLst/>
            </a:prstGeom>
            <a:noFill/>
            <a:ln w="38100">
              <a:noFill/>
              <a:miter/>
            </a:ln>
          </p:spPr>
        </p:pic>
        <p:sp>
          <p:nvSpPr>
            <p:cNvPr id="11" name="Text Box 48"/>
            <p:cNvSpPr txBox="1"/>
            <p:nvPr/>
          </p:nvSpPr>
          <p:spPr>
            <a:xfrm>
              <a:off x="3074" y="310"/>
              <a:ext cx="1040" cy="360"/>
            </a:xfrm>
            <a:prstGeom prst="rect">
              <a:avLst/>
            </a:prstGeom>
            <a:noFill/>
            <a:ln w="9525">
              <a:noFill/>
            </a:ln>
          </p:spPr>
          <p:txBody>
            <a:bodyPr lIns="0" tIns="0" rIns="0" bIns="0" anchor="t"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just" eaLnBrk="0" hangingPunct="0"/>
              <a:endParaRPr lang="zh-CN" altLang="en-US" dirty="0">
                <a:latin typeface="Times New Roman" panose="02020603050405020304" pitchFamily="18" charset="0"/>
                <a:ea typeface="宋体" panose="02010600030101010101" pitchFamily="2" charset="-122"/>
              </a:endParaRPr>
            </a:p>
          </p:txBody>
        </p:sp>
      </p:grpSp>
      <p:grpSp>
        <p:nvGrpSpPr>
          <p:cNvPr id="12" name="组合 11"/>
          <p:cNvGrpSpPr/>
          <p:nvPr/>
        </p:nvGrpSpPr>
        <p:grpSpPr>
          <a:xfrm>
            <a:off x="3183215" y="4839001"/>
            <a:ext cx="8033404" cy="1033279"/>
            <a:chOff x="0" y="0"/>
            <a:chExt cx="3914" cy="680"/>
          </a:xfrm>
        </p:grpSpPr>
        <p:pic>
          <p:nvPicPr>
            <p:cNvPr id="13" name="图片 12"/>
            <p:cNvPicPr/>
            <p:nvPr/>
          </p:nvPicPr>
          <p:blipFill>
            <a:blip r:embed="rId3"/>
            <a:stretch>
              <a:fillRect/>
            </a:stretch>
          </p:blipFill>
          <p:spPr>
            <a:xfrm>
              <a:off x="0" y="0"/>
              <a:ext cx="1160" cy="680"/>
            </a:xfrm>
            <a:prstGeom prst="rect">
              <a:avLst/>
            </a:prstGeom>
            <a:noFill/>
            <a:ln w="38100">
              <a:noFill/>
              <a:miter/>
            </a:ln>
          </p:spPr>
        </p:pic>
        <p:sp>
          <p:nvSpPr>
            <p:cNvPr id="14" name="Text Box 51"/>
            <p:cNvSpPr txBox="1"/>
            <p:nvPr/>
          </p:nvSpPr>
          <p:spPr>
            <a:xfrm>
              <a:off x="2874" y="114"/>
              <a:ext cx="1040" cy="360"/>
            </a:xfrm>
            <a:prstGeom prst="rect">
              <a:avLst/>
            </a:prstGeom>
            <a:noFill/>
            <a:ln w="9525">
              <a:noFill/>
            </a:ln>
          </p:spPr>
          <p:txBody>
            <a:bodyPr lIns="0" tIns="0" rIns="0" bIns="0" anchor="t" anchorCtr="0"/>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just" eaLnBrk="0" hangingPunct="0"/>
              <a:endParaRPr lang="zh-CN" altLang="en-US" sz="2000" dirty="0">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3534157568"/>
      </p:ext>
    </p:extLst>
  </p:cSld>
  <p:clrMapOvr>
    <a:masterClrMapping/>
  </p:clrMapOvr>
  <mc:AlternateContent xmlns:mc="http://schemas.openxmlformats.org/markup-compatibility/2006" xmlns:p14="http://schemas.microsoft.com/office/powerpoint/2010/main">
    <mc:Choice Requires="p14">
      <p:transition spd="slow" p14:dur="2000" advTm="30363"/>
    </mc:Choice>
    <mc:Fallback xmlns="">
      <p:transition spd="slow" advTm="3036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6960" y="248263"/>
            <a:ext cx="10515600" cy="1042868"/>
          </a:xfrm>
        </p:spPr>
        <p:txBody>
          <a:bodyPr>
            <a:normAutofit/>
          </a:bodyPr>
          <a:lstStyle/>
          <a:p>
            <a:pPr eaLnBrk="0" fontAlgn="base" hangingPunct="0">
              <a:spcAft>
                <a:spcPct val="0"/>
              </a:spcAft>
            </a:pPr>
            <a:r>
              <a:rPr lang="zh-CN" altLang="en-US" sz="3600" b="1" dirty="0">
                <a:solidFill>
                  <a:srgbClr val="C00000"/>
                </a:solidFill>
                <a:latin typeface="微软雅黑" panose="020B0503020204020204" pitchFamily="34" charset="-122"/>
                <a:ea typeface="微软雅黑" panose="020B0503020204020204" pitchFamily="34" charset="-122"/>
              </a:rPr>
              <a:t>暴力法</a:t>
            </a:r>
          </a:p>
        </p:txBody>
      </p:sp>
      <p:sp>
        <p:nvSpPr>
          <p:cNvPr id="5" name="内容占位符 4"/>
          <p:cNvSpPr>
            <a:spLocks noGrp="1"/>
          </p:cNvSpPr>
          <p:nvPr>
            <p:ph idx="1"/>
          </p:nvPr>
        </p:nvSpPr>
        <p:spPr>
          <a:xfrm>
            <a:off x="761847" y="1291131"/>
            <a:ext cx="9925825" cy="3206804"/>
          </a:xfrm>
        </p:spPr>
        <p:txBody>
          <a:bodyPr>
            <a:noAutofit/>
          </a:bodyPr>
          <a:lstStyle/>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组合问题，每个物品有装进背包和不装进背包两种选择，</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个物品有</a:t>
            </a:r>
            <a:r>
              <a:rPr lang="en-US" altLang="zh-CN" sz="2400" b="1" dirty="0">
                <a:latin typeface="微软雅黑" panose="020B0503020204020204" pitchFamily="34" charset="-122"/>
                <a:ea typeface="微软雅黑" panose="020B0503020204020204" pitchFamily="34" charset="-122"/>
              </a:rPr>
              <a:t>2</a:t>
            </a:r>
            <a:r>
              <a:rPr lang="en-US" altLang="zh-CN" sz="2400" b="1" baseline="30000"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种组合，在这</a:t>
            </a:r>
            <a:r>
              <a:rPr lang="en-US" altLang="zh-CN" sz="2400" b="1" dirty="0">
                <a:latin typeface="微软雅黑" panose="020B0503020204020204" pitchFamily="34" charset="-122"/>
                <a:ea typeface="微软雅黑" panose="020B0503020204020204" pitchFamily="34" charset="-122"/>
              </a:rPr>
              <a:t>2</a:t>
            </a:r>
            <a:r>
              <a:rPr lang="en-US" altLang="zh-CN" sz="2400" b="1" baseline="30000"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种组合中找到最大价值的组合。</a:t>
            </a:r>
            <a:endParaRPr lang="en-US" altLang="zh-CN" sz="2400" b="1" dirty="0">
              <a:latin typeface="微软雅黑" panose="020B0503020204020204" pitchFamily="34" charset="-122"/>
              <a:ea typeface="微软雅黑" panose="020B0503020204020204" pitchFamily="34" charset="-122"/>
            </a:endParaRPr>
          </a:p>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例如有</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个物品，用二进制帮助求组合，就是</a:t>
            </a:r>
            <a:r>
              <a:rPr lang="en-US" altLang="zh-CN" sz="2400" b="1" dirty="0">
                <a:latin typeface="微软雅黑" panose="020B0503020204020204" pitchFamily="34" charset="-122"/>
                <a:ea typeface="微软雅黑" panose="020B0503020204020204" pitchFamily="34" charset="-122"/>
              </a:rPr>
              <a:t>{00000, 00001, 00010, ..., 11110, 11111)</a:t>
            </a:r>
            <a:r>
              <a:rPr lang="zh-CN" altLang="en-US" sz="2400" b="1" dirty="0">
                <a:latin typeface="微软雅黑" panose="020B0503020204020204" pitchFamily="34" charset="-122"/>
                <a:ea typeface="微软雅黑" panose="020B0503020204020204" pitchFamily="34" charset="-122"/>
              </a:rPr>
              <a:t>共</a:t>
            </a:r>
            <a:r>
              <a:rPr lang="en-US" altLang="zh-CN" sz="2400" b="1" dirty="0">
                <a:latin typeface="微软雅黑" panose="020B0503020204020204" pitchFamily="34" charset="-122"/>
                <a:ea typeface="微软雅黑" panose="020B0503020204020204" pitchFamily="34" charset="-122"/>
              </a:rPr>
              <a:t>2</a:t>
            </a:r>
            <a:r>
              <a:rPr lang="en-US" altLang="zh-CN" sz="2400" b="1" baseline="30000"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种组合。</a:t>
            </a:r>
            <a:r>
              <a:rPr lang="en-US" altLang="zh-CN" sz="2400" b="1" dirty="0">
                <a:latin typeface="微软雅黑" panose="020B0503020204020204" pitchFamily="34" charset="-122"/>
                <a:ea typeface="微软雅黑" panose="020B0503020204020204" pitchFamily="34" charset="-122"/>
              </a:rPr>
              <a:t> </a:t>
            </a:r>
          </a:p>
          <a:p>
            <a:pPr marL="447675" indent="-447675" algn="just" fontAlgn="auto">
              <a:lnSpc>
                <a:spcPct val="140000"/>
              </a:lnSpc>
              <a:spcBef>
                <a:spcPts val="0"/>
              </a:spcBef>
              <a:buFont typeface="Wingdings" panose="05000000000000000000" pitchFamily="2" charset="2"/>
              <a:buChar char="p"/>
            </a:pPr>
            <a:endParaRPr lang="en-US" altLang="zh-CN" sz="2400" b="1" dirty="0">
              <a:latin typeface="微软雅黑" panose="020B0503020204020204" pitchFamily="34" charset="-122"/>
              <a:ea typeface="微软雅黑" panose="020B0503020204020204" pitchFamily="34" charset="-122"/>
            </a:endParaRPr>
          </a:p>
          <a:p>
            <a:pPr marL="447675" indent="-447675" algn="just" fontAlgn="auto">
              <a:lnSpc>
                <a:spcPct val="140000"/>
              </a:lnSpc>
              <a:spcBef>
                <a:spcPts val="0"/>
              </a:spcBef>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暴力法：写</a:t>
            </a:r>
            <a:r>
              <a:rPr lang="en-US" altLang="zh-CN" sz="2400" b="1" dirty="0">
                <a:latin typeface="微软雅黑" panose="020B0503020204020204" pitchFamily="34" charset="-122"/>
                <a:ea typeface="微软雅黑" panose="020B0503020204020204" pitchFamily="34" charset="-122"/>
              </a:rPr>
              <a:t>n</a:t>
            </a:r>
            <a:r>
              <a:rPr lang="zh-CN" altLang="en-US" sz="2400" b="1" dirty="0">
                <a:latin typeface="微软雅黑" panose="020B0503020204020204" pitchFamily="34" charset="-122"/>
                <a:ea typeface="微软雅黑" panose="020B0503020204020204" pitchFamily="34" charset="-122"/>
              </a:rPr>
              <a:t>个</a:t>
            </a:r>
            <a:r>
              <a:rPr lang="en-US" altLang="zh-CN" sz="2400" b="1" dirty="0">
                <a:latin typeface="微软雅黑" panose="020B0503020204020204" pitchFamily="34" charset="-122"/>
                <a:ea typeface="微软雅黑" panose="020B0503020204020204" pitchFamily="34" charset="-122"/>
              </a:rPr>
              <a:t>for</a:t>
            </a:r>
            <a:r>
              <a:rPr lang="zh-CN" altLang="en-US" sz="2400" b="1" dirty="0">
                <a:latin typeface="微软雅黑" panose="020B0503020204020204" pitchFamily="34" charset="-122"/>
                <a:ea typeface="微软雅黑" panose="020B0503020204020204" pitchFamily="34" charset="-122"/>
              </a:rPr>
              <a:t>，每个物品取、不取两种情况。</a:t>
            </a:r>
            <a:endParaRPr lang="en-US" altLang="zh-CN" sz="2400" b="1"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buNone/>
            </a:pPr>
            <a:endParaRPr lang="zh-CN" altLang="en-US" sz="2400" b="1"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35</a:t>
            </a:fld>
            <a:endParaRPr lang="en-US" altLang="zh-CN" sz="2000" b="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627001136"/>
      </p:ext>
    </p:extLst>
  </p:cSld>
  <p:clrMapOvr>
    <a:masterClrMapping/>
  </p:clrMapOvr>
  <mc:AlternateContent xmlns:mc="http://schemas.openxmlformats.org/markup-compatibility/2006" xmlns:p14="http://schemas.microsoft.com/office/powerpoint/2010/main">
    <mc:Choice Requires="p14">
      <p:transition spd="slow" p14:dur="2000" advTm="173847"/>
    </mc:Choice>
    <mc:Fallback xmlns="">
      <p:transition spd="slow" advTm="173847"/>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2A279-737C-458C-43A0-23C26E3D69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51213A5-003D-8C3F-2920-A6CAA1210E06}"/>
              </a:ext>
            </a:extLst>
          </p:cNvPr>
          <p:cNvSpPr>
            <a:spLocks noGrp="1"/>
          </p:cNvSpPr>
          <p:nvPr>
            <p:ph type="title"/>
          </p:nvPr>
        </p:nvSpPr>
        <p:spPr>
          <a:xfrm>
            <a:off x="466960" y="248263"/>
            <a:ext cx="10515600" cy="1042868"/>
          </a:xfrm>
        </p:spPr>
        <p:txBody>
          <a:bodyPr>
            <a:normAutofit/>
          </a:bodyPr>
          <a:lstStyle/>
          <a:p>
            <a:pPr eaLnBrk="0" fontAlgn="base" hangingPunct="0">
              <a:spcAft>
                <a:spcPct val="0"/>
              </a:spcAft>
            </a:pPr>
            <a:r>
              <a:rPr lang="zh-CN" altLang="en-US" sz="3600" b="1" dirty="0">
                <a:solidFill>
                  <a:srgbClr val="C00000"/>
                </a:solidFill>
                <a:latin typeface="微软雅黑" panose="020B0503020204020204" pitchFamily="34" charset="-122"/>
                <a:ea typeface="微软雅黑" panose="020B0503020204020204" pitchFamily="34" charset="-122"/>
              </a:rPr>
              <a:t>贪心法</a:t>
            </a:r>
          </a:p>
        </p:txBody>
      </p:sp>
      <p:sp>
        <p:nvSpPr>
          <p:cNvPr id="5" name="内容占位符 4">
            <a:extLst>
              <a:ext uri="{FF2B5EF4-FFF2-40B4-BE49-F238E27FC236}">
                <a16:creationId xmlns:a16="http://schemas.microsoft.com/office/drawing/2014/main" id="{015F0C7F-93BC-3030-FB91-33C9F8A8B459}"/>
              </a:ext>
            </a:extLst>
          </p:cNvPr>
          <p:cNvSpPr>
            <a:spLocks noGrp="1"/>
          </p:cNvSpPr>
          <p:nvPr>
            <p:ph idx="1"/>
          </p:nvPr>
        </p:nvSpPr>
        <p:spPr>
          <a:xfrm>
            <a:off x="761847" y="1291131"/>
            <a:ext cx="9925825" cy="4733854"/>
          </a:xfrm>
        </p:spPr>
        <p:txBody>
          <a:bodyPr>
            <a:noAutofit/>
          </a:bodyPr>
          <a:lstStyle/>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每次尽量选择单价最高的物品，也就是</a:t>
            </a:r>
            <a:r>
              <a:rPr lang="en-US" altLang="zh-CN" sz="2400" b="1" dirty="0">
                <a:latin typeface="微软雅黑" panose="020B0503020204020204" pitchFamily="34" charset="-122"/>
                <a:ea typeface="微软雅黑" panose="020B0503020204020204" pitchFamily="34" charset="-122"/>
              </a:rPr>
              <a:t>vi/</a:t>
            </a:r>
            <a:r>
              <a:rPr lang="en-US" altLang="zh-CN" sz="2400" b="1" dirty="0" err="1">
                <a:latin typeface="微软雅黑" panose="020B0503020204020204" pitchFamily="34" charset="-122"/>
                <a:ea typeface="微软雅黑" panose="020B0503020204020204" pitchFamily="34" charset="-122"/>
              </a:rPr>
              <a:t>wi</a:t>
            </a:r>
            <a:r>
              <a:rPr lang="zh-CN" altLang="en-US" sz="2400" b="1" dirty="0">
                <a:latin typeface="微软雅黑" panose="020B0503020204020204" pitchFamily="34" charset="-122"/>
                <a:ea typeface="微软雅黑" panose="020B0503020204020204" pitchFamily="34" charset="-122"/>
              </a:rPr>
              <a:t>高的物品。</a:t>
            </a:r>
            <a:endParaRPr lang="en-US" altLang="zh-CN" sz="2400" b="1"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buNone/>
            </a:pPr>
            <a:endParaRPr lang="en-US" altLang="zh-CN" sz="2400" b="1"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很容易找到反例：</a:t>
            </a:r>
            <a:endParaRPr lang="en-US" altLang="zh-CN" sz="2400" b="1"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C=10</a:t>
            </a:r>
          </a:p>
          <a:p>
            <a:pPr marL="0" indent="0" algn="just" fontAlgn="auto">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vi : 7 5</a:t>
            </a:r>
          </a:p>
          <a:p>
            <a:pPr marL="0" indent="0" algn="just" fontAlgn="auto">
              <a:lnSpc>
                <a:spcPct val="140000"/>
              </a:lnSpc>
              <a:spcBef>
                <a:spcPts val="0"/>
              </a:spcBef>
              <a:buNone/>
            </a:pPr>
            <a:r>
              <a:rPr lang="en-US" altLang="zh-CN" sz="2400" b="1" dirty="0" err="1">
                <a:latin typeface="微软雅黑" panose="020B0503020204020204" pitchFamily="34" charset="-122"/>
                <a:ea typeface="微软雅黑" panose="020B0503020204020204" pitchFamily="34" charset="-122"/>
              </a:rPr>
              <a:t>wi</a:t>
            </a:r>
            <a:r>
              <a:rPr lang="en-US" altLang="zh-CN" sz="2400" b="1" dirty="0">
                <a:latin typeface="微软雅黑" panose="020B0503020204020204" pitchFamily="34" charset="-122"/>
                <a:ea typeface="微软雅黑" panose="020B0503020204020204" pitchFamily="34" charset="-122"/>
              </a:rPr>
              <a:t> :6 5</a:t>
            </a:r>
          </a:p>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假如贪心的选择了第一个物品，那么无法装下第二个物品，最后价值为</a:t>
            </a:r>
            <a:r>
              <a:rPr lang="en-US" altLang="zh-CN" sz="2400" b="1" dirty="0">
                <a:latin typeface="微软雅黑" panose="020B0503020204020204" pitchFamily="34" charset="-122"/>
                <a:ea typeface="微软雅黑" panose="020B0503020204020204" pitchFamily="34" charset="-122"/>
              </a:rPr>
              <a:t>7</a:t>
            </a:r>
          </a:p>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而如果选择第二个，则最后能装下价值为</a:t>
            </a:r>
            <a:r>
              <a:rPr lang="en-US" altLang="zh-CN" sz="2400" b="1" dirty="0">
                <a:latin typeface="微软雅黑" panose="020B0503020204020204" pitchFamily="34" charset="-122"/>
                <a:ea typeface="微软雅黑" panose="020B0503020204020204" pitchFamily="34" charset="-122"/>
              </a:rPr>
              <a:t>10</a:t>
            </a:r>
            <a:r>
              <a:rPr lang="zh-CN" altLang="en-US" sz="2400" b="1" dirty="0">
                <a:latin typeface="微软雅黑" panose="020B0503020204020204" pitchFamily="34" charset="-122"/>
                <a:ea typeface="微软雅黑" panose="020B0503020204020204" pitchFamily="34" charset="-122"/>
              </a:rPr>
              <a:t>的物品。</a:t>
            </a:r>
            <a:endParaRPr lang="en-US" altLang="zh-CN" sz="2400" b="1" dirty="0">
              <a:latin typeface="微软雅黑" panose="020B0503020204020204" pitchFamily="34" charset="-122"/>
              <a:ea typeface="微软雅黑" panose="020B0503020204020204" pitchFamily="34" charset="-122"/>
            </a:endParaRPr>
          </a:p>
          <a:p>
            <a:pPr marL="0" indent="0" algn="just" fontAlgn="auto">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 </a:t>
            </a:r>
            <a:endParaRPr lang="zh-CN" altLang="en-US" sz="2400" b="1" dirty="0">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1B176951-6CAB-DF60-255A-5A2AA01E91AF}"/>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36</a:t>
            </a:fld>
            <a:endParaRPr lang="en-US" altLang="zh-CN" sz="2000" b="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44657620"/>
      </p:ext>
    </p:extLst>
  </p:cSld>
  <p:clrMapOvr>
    <a:masterClrMapping/>
  </p:clrMapOvr>
  <mc:AlternateContent xmlns:mc="http://schemas.openxmlformats.org/markup-compatibility/2006" xmlns:p14="http://schemas.microsoft.com/office/powerpoint/2010/main">
    <mc:Choice Requires="p14">
      <p:transition spd="slow" p14:dur="2000" advTm="173847"/>
    </mc:Choice>
    <mc:Fallback xmlns="">
      <p:transition spd="slow" advTm="1738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598620" y="374900"/>
            <a:ext cx="10994760" cy="4369190"/>
          </a:xfrm>
        </p:spPr>
        <p:txBody>
          <a:bodyPr>
            <a:noAutofit/>
          </a:bodyPr>
          <a:lstStyle/>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例：有</a:t>
            </a:r>
            <a:r>
              <a:rPr lang="en-US" altLang="zh-CN" sz="2400" b="1" dirty="0">
                <a:latin typeface="微软雅黑" panose="020B0503020204020204" pitchFamily="34" charset="-122"/>
                <a:ea typeface="微软雅黑" panose="020B0503020204020204" pitchFamily="34" charset="-122"/>
              </a:rPr>
              <a:t>5</a:t>
            </a:r>
            <a:r>
              <a:rPr lang="zh-CN" altLang="en-US" sz="2400" b="1" dirty="0">
                <a:latin typeface="微软雅黑" panose="020B0503020204020204" pitchFamily="34" charset="-122"/>
                <a:ea typeface="微软雅黑" panose="020B0503020204020204" pitchFamily="34" charset="-122"/>
              </a:rPr>
              <a:t>个物品，重量分别是</a:t>
            </a:r>
            <a:r>
              <a:rPr lang="en-US" altLang="zh-CN" sz="2400" b="1" dirty="0">
                <a:latin typeface="微软雅黑" panose="020B0503020204020204" pitchFamily="34" charset="-122"/>
                <a:ea typeface="微软雅黑" panose="020B0503020204020204" pitchFamily="34" charset="-122"/>
              </a:rPr>
              <a:t>{2, 2, 6, 5, 4}</a:t>
            </a:r>
            <a:r>
              <a:rPr lang="zh-CN" altLang="en-US" sz="2400" b="1" dirty="0">
                <a:latin typeface="微软雅黑" panose="020B0503020204020204" pitchFamily="34" charset="-122"/>
                <a:ea typeface="微软雅黑" panose="020B0503020204020204" pitchFamily="34" charset="-122"/>
              </a:rPr>
              <a:t>，价值分别为</a:t>
            </a:r>
            <a:r>
              <a:rPr lang="en-US" altLang="zh-CN" sz="2400" b="1" dirty="0">
                <a:latin typeface="微软雅黑" panose="020B0503020204020204" pitchFamily="34" charset="-122"/>
                <a:ea typeface="微软雅黑" panose="020B0503020204020204" pitchFamily="34" charset="-122"/>
              </a:rPr>
              <a:t>{6, 3, 5, 4, 6}</a:t>
            </a:r>
            <a:r>
              <a:rPr lang="zh-CN" altLang="en-US" sz="2400" b="1" dirty="0">
                <a:latin typeface="微软雅黑" panose="020B0503020204020204" pitchFamily="34" charset="-122"/>
                <a:ea typeface="微软雅黑" panose="020B0503020204020204" pitchFamily="34" charset="-122"/>
              </a:rPr>
              <a:t>，背包的容量为</a:t>
            </a:r>
            <a:r>
              <a:rPr lang="en-US" altLang="zh-CN" sz="2400" b="1" dirty="0">
                <a:latin typeface="微软雅黑" panose="020B0503020204020204" pitchFamily="34" charset="-122"/>
                <a:ea typeface="微软雅黑" panose="020B0503020204020204" pitchFamily="34" charset="-122"/>
              </a:rPr>
              <a:t>10</a:t>
            </a:r>
            <a:r>
              <a:rPr lang="zh-CN" altLang="en-US" sz="2400" b="1" dirty="0">
                <a:latin typeface="微软雅黑" panose="020B0503020204020204" pitchFamily="34" charset="-122"/>
                <a:ea typeface="微软雅黑" panose="020B0503020204020204" pitchFamily="34" charset="-122"/>
              </a:rPr>
              <a:t>。</a:t>
            </a:r>
          </a:p>
          <a:p>
            <a:pPr algn="just" fontAlgn="auto">
              <a:lnSpc>
                <a:spcPct val="140000"/>
              </a:lnSpc>
              <a:spcBef>
                <a:spcPts val="0"/>
              </a:spcBef>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定义状态：二维表</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p>
          <a:p>
            <a:pPr algn="just" fontAlgn="auto">
              <a:lnSpc>
                <a:spcPct val="140000"/>
              </a:lnSpc>
              <a:spcBef>
                <a:spcPts val="0"/>
              </a:spcBef>
              <a:buFont typeface="Wingdings" panose="05000000000000000000" pitchFamily="2" charset="2"/>
              <a:buChar char="Ø"/>
            </a:pP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：表示把前</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个物品装入容量为</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的背包中获得的最大价值。 </a:t>
            </a:r>
          </a:p>
        </p:txBody>
      </p:sp>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37</a:t>
            </a:fld>
            <a:endParaRPr lang="en-US" altLang="zh-CN" sz="2000" b="0" dirty="0">
              <a:solidFill>
                <a:schemeClr val="tx1"/>
              </a:solidFill>
              <a:latin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2736489" y="3416717"/>
            <a:ext cx="6747701" cy="3219087"/>
          </a:xfrm>
          <a:prstGeom prst="rect">
            <a:avLst/>
          </a:prstGeom>
        </p:spPr>
      </p:pic>
      <p:sp>
        <p:nvSpPr>
          <p:cNvPr id="11" name="直接连接符 10"/>
          <p:cNvSpPr/>
          <p:nvPr/>
        </p:nvSpPr>
        <p:spPr>
          <a:xfrm>
            <a:off x="1820260" y="2512770"/>
            <a:ext cx="2748690" cy="1679755"/>
          </a:xfrm>
          <a:prstGeom prst="line">
            <a:avLst/>
          </a:prstGeom>
          <a:ln w="76200" cap="flat" cmpd="sng">
            <a:solidFill>
              <a:srgbClr val="CC0000"/>
            </a:solidFill>
            <a:prstDash val="solid"/>
            <a:round/>
            <a:headEnd type="none" w="med" len="med"/>
            <a:tailEnd type="triangle" w="med" len="med"/>
          </a:ln>
        </p:spPr>
      </p:sp>
    </p:spTree>
    <p:extLst>
      <p:ext uri="{BB962C8B-B14F-4D97-AF65-F5344CB8AC3E}">
        <p14:creationId xmlns:p14="http://schemas.microsoft.com/office/powerpoint/2010/main" val="3125156106"/>
      </p:ext>
    </p:extLst>
  </p:cSld>
  <p:clrMapOvr>
    <a:masterClrMapping/>
  </p:clrMapOvr>
  <mc:AlternateContent xmlns:mc="http://schemas.openxmlformats.org/markup-compatibility/2006" xmlns:p14="http://schemas.microsoft.com/office/powerpoint/2010/main">
    <mc:Choice Requires="p14">
      <p:transition spd="slow" p14:dur="2000" advTm="41236"/>
    </mc:Choice>
    <mc:Fallback xmlns="">
      <p:transition spd="slow" advTm="4123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598620" y="833015"/>
            <a:ext cx="10994760" cy="4369190"/>
          </a:xfrm>
        </p:spPr>
        <p:txBody>
          <a:bodyPr>
            <a:noAutofit/>
          </a:bodyPr>
          <a:lstStyle/>
          <a:p>
            <a:pPr marL="0" indent="0" algn="just" fontAlgn="auto">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填表：按只放第</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个物品、只放前</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个、只放前</a:t>
            </a:r>
            <a:r>
              <a:rPr lang="en-US" altLang="zh-CN" sz="2400" b="1" dirty="0">
                <a:latin typeface="微软雅黑" panose="020B0503020204020204" pitchFamily="34" charset="-122"/>
                <a:ea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rPr>
              <a:t>个</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一直到放完，这样的顺序考虑。</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从小问题扩展到大问题</a:t>
            </a:r>
            <a:r>
              <a:rPr lang="en-US" altLang="zh-CN" sz="2400" b="1" dirty="0">
                <a:latin typeface="微软雅黑" panose="020B0503020204020204" pitchFamily="34" charset="-122"/>
                <a:ea typeface="微软雅黑" panose="020B0503020204020204" pitchFamily="34" charset="-122"/>
              </a:rPr>
              <a:t>)</a:t>
            </a:r>
          </a:p>
          <a:p>
            <a:pPr marL="0" indent="0" algn="just" fontAlgn="auto">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、只装第</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个物品。</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横向是递增的背包容量</a:t>
            </a:r>
            <a:r>
              <a:rPr lang="en-US" altLang="zh-CN" sz="2400" b="1" dirty="0">
                <a:latin typeface="微软雅黑" panose="020B0503020204020204" pitchFamily="34" charset="-122"/>
                <a:ea typeface="微软雅黑" panose="020B0503020204020204" pitchFamily="34" charset="-122"/>
              </a:rPr>
              <a:t>)</a:t>
            </a:r>
          </a:p>
        </p:txBody>
      </p:sp>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38</a:t>
            </a:fld>
            <a:endParaRPr lang="en-US" altLang="zh-CN" sz="2000" b="0" dirty="0">
              <a:solidFill>
                <a:schemeClr val="tx1"/>
              </a:solidFill>
              <a:latin typeface="Times New Roman" panose="02020603050405020304" pitchFamily="18" charset="0"/>
            </a:endParaRPr>
          </a:p>
        </p:txBody>
      </p:sp>
      <p:pic>
        <p:nvPicPr>
          <p:cNvPr id="8" name="图片 7"/>
          <p:cNvPicPr>
            <a:picLocks noChangeAspect="1"/>
          </p:cNvPicPr>
          <p:nvPr/>
        </p:nvPicPr>
        <p:blipFill>
          <a:blip r:embed="rId2"/>
          <a:stretch>
            <a:fillRect/>
          </a:stretch>
        </p:blipFill>
        <p:spPr>
          <a:xfrm>
            <a:off x="2889195" y="3276295"/>
            <a:ext cx="6550582" cy="3173469"/>
          </a:xfrm>
          <a:prstGeom prst="rect">
            <a:avLst/>
          </a:prstGeom>
        </p:spPr>
      </p:pic>
    </p:spTree>
    <p:extLst>
      <p:ext uri="{BB962C8B-B14F-4D97-AF65-F5344CB8AC3E}">
        <p14:creationId xmlns:p14="http://schemas.microsoft.com/office/powerpoint/2010/main" val="75220702"/>
      </p:ext>
    </p:extLst>
  </p:cSld>
  <p:clrMapOvr>
    <a:masterClrMapping/>
  </p:clrMapOvr>
  <mc:AlternateContent xmlns:mc="http://schemas.openxmlformats.org/markup-compatibility/2006" xmlns:p14="http://schemas.microsoft.com/office/powerpoint/2010/main">
    <mc:Choice Requires="p14">
      <p:transition spd="slow" p14:dur="2000" advTm="56020"/>
    </mc:Choice>
    <mc:Fallback xmlns="">
      <p:transition spd="slow" advTm="5602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39</a:t>
            </a:fld>
            <a:endParaRPr lang="en-US" altLang="zh-CN" sz="2000" b="0" dirty="0">
              <a:solidFill>
                <a:schemeClr val="tx1"/>
              </a:solidFill>
              <a:latin typeface="Times New Roman" panose="02020603050405020304" pitchFamily="18" charset="0"/>
            </a:endParaRPr>
          </a:p>
        </p:txBody>
      </p:sp>
      <p:sp>
        <p:nvSpPr>
          <p:cNvPr id="7" name="Text Box 305"/>
          <p:cNvSpPr txBox="1"/>
          <p:nvPr/>
        </p:nvSpPr>
        <p:spPr>
          <a:xfrm>
            <a:off x="598619" y="374900"/>
            <a:ext cx="11452875" cy="193899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0" hangingPunct="0">
              <a:spcBef>
                <a:spcPts val="0"/>
              </a:spcBef>
            </a:pPr>
            <a:r>
              <a:rPr lang="zh-CN" altLang="en-US" sz="2400" b="1" dirty="0">
                <a:latin typeface="微软雅黑" panose="020B0503020204020204" pitchFamily="34" charset="-122"/>
                <a:ea typeface="微软雅黑" panose="020B0503020204020204" pitchFamily="34" charset="-122"/>
              </a:rPr>
              <a:t>2、只装前2个物品。</a:t>
            </a:r>
            <a:endParaRPr lang="en-US" altLang="zh-CN" sz="2400" b="1" dirty="0">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latin typeface="微软雅黑" panose="020B0503020204020204" pitchFamily="34" charset="-122"/>
                <a:ea typeface="微软雅黑" panose="020B0503020204020204" pitchFamily="34" charset="-122"/>
              </a:rPr>
              <a:t>如果第2个物品重量比背包容量大，那么不能装第2个物品，情况和只装第1个一样。</a:t>
            </a:r>
            <a:endParaRPr lang="en-US" altLang="zh-CN" sz="2400" b="1" dirty="0">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如果第2个物品重量小于背包容量，那么：（1）如果把物品2装进去(重量是2)，那么相当于只把1装到(容量-2)的背包中。（2）如果不装2，那么相当于只把1装到背包中。  －－取（1）和（2）的最大值。</a:t>
            </a:r>
          </a:p>
        </p:txBody>
      </p:sp>
      <p:pic>
        <p:nvPicPr>
          <p:cNvPr id="8" name="图片 7"/>
          <p:cNvPicPr>
            <a:picLocks noChangeAspect="1"/>
          </p:cNvPicPr>
          <p:nvPr/>
        </p:nvPicPr>
        <p:blipFill>
          <a:blip r:embed="rId2"/>
          <a:stretch>
            <a:fillRect/>
          </a:stretch>
        </p:blipFill>
        <p:spPr>
          <a:xfrm>
            <a:off x="2278375" y="3235177"/>
            <a:ext cx="7065421" cy="3388284"/>
          </a:xfrm>
          <a:prstGeom prst="rect">
            <a:avLst/>
          </a:prstGeom>
        </p:spPr>
      </p:pic>
      <p:sp>
        <p:nvSpPr>
          <p:cNvPr id="9" name="直接连接符 8"/>
          <p:cNvSpPr/>
          <p:nvPr/>
        </p:nvSpPr>
        <p:spPr>
          <a:xfrm flipH="1">
            <a:off x="4721652" y="1291130"/>
            <a:ext cx="1832461" cy="3512215"/>
          </a:xfrm>
          <a:prstGeom prst="line">
            <a:avLst/>
          </a:prstGeom>
          <a:ln w="76200" cap="flat" cmpd="sng">
            <a:solidFill>
              <a:srgbClr val="CC0000"/>
            </a:solidFill>
            <a:prstDash val="solid"/>
            <a:round/>
            <a:headEnd type="none" w="med" len="med"/>
            <a:tailEnd type="triangle" w="med" len="med"/>
          </a:ln>
        </p:spPr>
      </p:sp>
    </p:spTree>
    <p:extLst>
      <p:ext uri="{BB962C8B-B14F-4D97-AF65-F5344CB8AC3E}">
        <p14:creationId xmlns:p14="http://schemas.microsoft.com/office/powerpoint/2010/main" val="2351903788"/>
      </p:ext>
    </p:extLst>
  </p:cSld>
  <p:clrMapOvr>
    <a:masterClrMapping/>
  </p:clrMapOvr>
  <mc:AlternateContent xmlns:mc="http://schemas.openxmlformats.org/markup-compatibility/2006" xmlns:p14="http://schemas.microsoft.com/office/powerpoint/2010/main">
    <mc:Choice Requires="p14">
      <p:transition spd="slow" p14:dur="2000" advTm="34472"/>
    </mc:Choice>
    <mc:Fallback xmlns="">
      <p:transition spd="slow" advTm="3447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40</a:t>
            </a:fld>
            <a:endParaRPr lang="en-US" altLang="zh-CN" sz="2000" b="0" dirty="0">
              <a:solidFill>
                <a:schemeClr val="tx1"/>
              </a:solidFill>
              <a:latin typeface="Times New Roman" panose="02020603050405020304" pitchFamily="18" charset="0"/>
            </a:endParaRPr>
          </a:p>
        </p:txBody>
      </p:sp>
      <p:sp>
        <p:nvSpPr>
          <p:cNvPr id="7" name="Text Box 305"/>
          <p:cNvSpPr txBox="1"/>
          <p:nvPr/>
        </p:nvSpPr>
        <p:spPr>
          <a:xfrm>
            <a:off x="598620" y="268368"/>
            <a:ext cx="11452875" cy="193899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0" hangingPunct="0">
              <a:spcBef>
                <a:spcPts val="0"/>
              </a:spcBef>
            </a:pPr>
            <a:r>
              <a:rPr lang="zh-CN" altLang="en-US" sz="2400" b="1" dirty="0">
                <a:latin typeface="微软雅黑" panose="020B0503020204020204" pitchFamily="34" charset="-122"/>
                <a:ea typeface="微软雅黑" panose="020B0503020204020204" pitchFamily="34" charset="-122"/>
              </a:rPr>
              <a:t>2、只装前2个物品。</a:t>
            </a:r>
            <a:endParaRPr lang="en-US" altLang="zh-CN" sz="2400" b="1" dirty="0">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如果第2个物品重量比背包容量大，那么不能装第2个物品，情况和只装第1个一样。</a:t>
            </a:r>
            <a:endParaRPr lang="en-US" altLang="zh-CN" sz="2400" b="1" dirty="0">
              <a:solidFill>
                <a:schemeClr val="bg1">
                  <a:lumMod val="75000"/>
                </a:schemeClr>
              </a:solidFill>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latin typeface="微软雅黑" panose="020B0503020204020204" pitchFamily="34" charset="-122"/>
                <a:ea typeface="微软雅黑" panose="020B0503020204020204" pitchFamily="34" charset="-122"/>
              </a:rPr>
              <a:t>如果第2个物品重量小于背包容量，那么：（1）如果把物品2装进去(重量是2)，那么相当于只把1装到(容量-2)的背包中。</a:t>
            </a: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（2）如果不装2，那么相当于只把1装到背包中。  －－取（1）和（2）的最大值。</a:t>
            </a:r>
          </a:p>
        </p:txBody>
      </p:sp>
      <p:pic>
        <p:nvPicPr>
          <p:cNvPr id="8" name="图片 7"/>
          <p:cNvPicPr>
            <a:picLocks noChangeAspect="1"/>
          </p:cNvPicPr>
          <p:nvPr/>
        </p:nvPicPr>
        <p:blipFill>
          <a:blip r:embed="rId2"/>
          <a:stretch>
            <a:fillRect/>
          </a:stretch>
        </p:blipFill>
        <p:spPr>
          <a:xfrm>
            <a:off x="2622980" y="2938489"/>
            <a:ext cx="6946035" cy="3791190"/>
          </a:xfrm>
          <a:prstGeom prst="rect">
            <a:avLst/>
          </a:prstGeom>
        </p:spPr>
      </p:pic>
      <p:sp>
        <p:nvSpPr>
          <p:cNvPr id="9" name="直接连接符 8"/>
          <p:cNvSpPr/>
          <p:nvPr/>
        </p:nvSpPr>
        <p:spPr>
          <a:xfrm flipH="1">
            <a:off x="5637884" y="1443835"/>
            <a:ext cx="1374345" cy="2901396"/>
          </a:xfrm>
          <a:prstGeom prst="line">
            <a:avLst/>
          </a:prstGeom>
          <a:ln w="76200" cap="flat" cmpd="sng">
            <a:solidFill>
              <a:srgbClr val="FF0000"/>
            </a:solidFill>
            <a:prstDash val="solid"/>
            <a:round/>
            <a:headEnd type="none" w="med" len="med"/>
            <a:tailEnd type="triangle" w="med" len="med"/>
          </a:ln>
        </p:spPr>
      </p:sp>
    </p:spTree>
    <p:extLst>
      <p:ext uri="{BB962C8B-B14F-4D97-AF65-F5344CB8AC3E}">
        <p14:creationId xmlns:p14="http://schemas.microsoft.com/office/powerpoint/2010/main" val="605684111"/>
      </p:ext>
    </p:extLst>
  </p:cSld>
  <p:clrMapOvr>
    <a:masterClrMapping/>
  </p:clrMapOvr>
  <mc:AlternateContent xmlns:mc="http://schemas.openxmlformats.org/markup-compatibility/2006" xmlns:p14="http://schemas.microsoft.com/office/powerpoint/2010/main">
    <mc:Choice Requires="p14">
      <p:transition spd="slow" p14:dur="2000" advTm="40231"/>
    </mc:Choice>
    <mc:Fallback xmlns="">
      <p:transition spd="slow" advTm="4023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41</a:t>
            </a:fld>
            <a:endParaRPr lang="en-US" altLang="zh-CN" sz="2000" b="0" dirty="0">
              <a:solidFill>
                <a:schemeClr val="tx1"/>
              </a:solidFill>
              <a:latin typeface="Times New Roman" panose="02020603050405020304" pitchFamily="18" charset="0"/>
            </a:endParaRPr>
          </a:p>
        </p:txBody>
      </p:sp>
      <p:sp>
        <p:nvSpPr>
          <p:cNvPr id="7" name="Text Box 305"/>
          <p:cNvSpPr txBox="1"/>
          <p:nvPr/>
        </p:nvSpPr>
        <p:spPr>
          <a:xfrm>
            <a:off x="522266" y="216257"/>
            <a:ext cx="11605580" cy="193899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0" hangingPunct="0">
              <a:spcBef>
                <a:spcPts val="0"/>
              </a:spcBef>
            </a:pPr>
            <a:r>
              <a:rPr lang="zh-CN" altLang="en-US" sz="2400" b="1" dirty="0">
                <a:latin typeface="微软雅黑" panose="020B0503020204020204" pitchFamily="34" charset="-122"/>
                <a:ea typeface="微软雅黑" panose="020B0503020204020204" pitchFamily="34" charset="-122"/>
              </a:rPr>
              <a:t>2、只装前2个物品。</a:t>
            </a:r>
            <a:endParaRPr lang="en-US" altLang="zh-CN" sz="2400" b="1" dirty="0">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如果第2个物品重量比背包容量大，那么不能装第2个物品，情况和只装第1个一样。</a:t>
            </a:r>
            <a:endParaRPr lang="en-US" altLang="zh-CN" sz="2400" b="1" dirty="0">
              <a:solidFill>
                <a:schemeClr val="bg1">
                  <a:lumMod val="75000"/>
                </a:schemeClr>
              </a:solidFill>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latin typeface="微软雅黑" panose="020B0503020204020204" pitchFamily="34" charset="-122"/>
                <a:ea typeface="微软雅黑" panose="020B0503020204020204" pitchFamily="34" charset="-122"/>
              </a:rPr>
              <a:t>如果第2个物品重量小于背包容量</a:t>
            </a: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，那么：（1）如果把物品2装进去(重量是2)，那么相当于只把1装到(容量-2)的背包中。</a:t>
            </a:r>
            <a:r>
              <a:rPr lang="zh-CN" altLang="en-US" sz="2400" b="1" dirty="0">
                <a:latin typeface="微软雅黑" panose="020B0503020204020204" pitchFamily="34" charset="-122"/>
                <a:ea typeface="微软雅黑" panose="020B0503020204020204" pitchFamily="34" charset="-122"/>
              </a:rPr>
              <a:t>（2）如果不装2，那么相当于只把1装到背包中。  －－取（1）和（2）的最大值。</a:t>
            </a:r>
          </a:p>
        </p:txBody>
      </p:sp>
      <p:pic>
        <p:nvPicPr>
          <p:cNvPr id="8" name="图片 7"/>
          <p:cNvPicPr>
            <a:picLocks noChangeAspect="1"/>
          </p:cNvPicPr>
          <p:nvPr/>
        </p:nvPicPr>
        <p:blipFill>
          <a:blip r:embed="rId2"/>
          <a:stretch>
            <a:fillRect/>
          </a:stretch>
        </p:blipFill>
        <p:spPr>
          <a:xfrm>
            <a:off x="2285699" y="2668648"/>
            <a:ext cx="8116179" cy="3908760"/>
          </a:xfrm>
          <a:prstGeom prst="rect">
            <a:avLst/>
          </a:prstGeom>
        </p:spPr>
      </p:pic>
      <p:sp>
        <p:nvSpPr>
          <p:cNvPr id="9" name="直接连接符 8"/>
          <p:cNvSpPr/>
          <p:nvPr/>
        </p:nvSpPr>
        <p:spPr>
          <a:xfrm flipH="1">
            <a:off x="5637883" y="1901951"/>
            <a:ext cx="1374346" cy="2619672"/>
          </a:xfrm>
          <a:prstGeom prst="line">
            <a:avLst/>
          </a:prstGeom>
          <a:ln w="76200" cap="flat" cmpd="sng">
            <a:solidFill>
              <a:srgbClr val="CC0000"/>
            </a:solidFill>
            <a:prstDash val="solid"/>
            <a:round/>
            <a:headEnd type="none" w="med" len="med"/>
            <a:tailEnd type="triangle" w="med" len="med"/>
          </a:ln>
        </p:spPr>
      </p:sp>
    </p:spTree>
    <p:extLst>
      <p:ext uri="{BB962C8B-B14F-4D97-AF65-F5344CB8AC3E}">
        <p14:creationId xmlns:p14="http://schemas.microsoft.com/office/powerpoint/2010/main" val="874121506"/>
      </p:ext>
    </p:extLst>
  </p:cSld>
  <p:clrMapOvr>
    <a:masterClrMapping/>
  </p:clrMapOvr>
  <mc:AlternateContent xmlns:mc="http://schemas.openxmlformats.org/markup-compatibility/2006" xmlns:p14="http://schemas.microsoft.com/office/powerpoint/2010/main">
    <mc:Choice Requires="p14">
      <p:transition spd="slow" p14:dur="2000" advTm="155482"/>
    </mc:Choice>
    <mc:Fallback xmlns="">
      <p:transition spd="slow" advTm="155482"/>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42</a:t>
            </a:fld>
            <a:endParaRPr lang="en-US" altLang="zh-CN" sz="2000" b="0" dirty="0">
              <a:solidFill>
                <a:schemeClr val="tx1"/>
              </a:solidFill>
              <a:latin typeface="Times New Roman" panose="02020603050405020304" pitchFamily="18" charset="0"/>
            </a:endParaRPr>
          </a:p>
        </p:txBody>
      </p:sp>
      <p:sp>
        <p:nvSpPr>
          <p:cNvPr id="12" name="Text Box 305"/>
          <p:cNvSpPr txBox="1"/>
          <p:nvPr/>
        </p:nvSpPr>
        <p:spPr>
          <a:xfrm>
            <a:off x="540195" y="222195"/>
            <a:ext cx="11593380" cy="193899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0" hangingPunct="0">
              <a:spcBef>
                <a:spcPts val="0"/>
              </a:spcBef>
            </a:pPr>
            <a:r>
              <a:rPr lang="zh-CN" altLang="en-US" sz="2400" b="1" dirty="0">
                <a:latin typeface="微软雅黑" panose="020B0503020204020204" pitchFamily="34" charset="-122"/>
                <a:ea typeface="微软雅黑" panose="020B0503020204020204" pitchFamily="34" charset="-122"/>
              </a:rPr>
              <a:t>2、只装前2个物品。</a:t>
            </a:r>
            <a:endParaRPr lang="en-US" altLang="zh-CN" sz="2400" b="1" dirty="0">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如果第2个物品重量比背包容量大，那么不能装第2个物品，情况和只装第1个一样。</a:t>
            </a:r>
            <a:endParaRPr lang="en-US" altLang="zh-CN" sz="2400" b="1" dirty="0">
              <a:solidFill>
                <a:schemeClr val="bg1">
                  <a:lumMod val="75000"/>
                </a:schemeClr>
              </a:solidFill>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latin typeface="微软雅黑" panose="020B0503020204020204" pitchFamily="34" charset="-122"/>
                <a:ea typeface="微软雅黑" panose="020B0503020204020204" pitchFamily="34" charset="-122"/>
              </a:rPr>
              <a:t>如果第2个物品重量小于背包容量，那么：（1）如果把物品2装进去(重量是2)，那么相当于只把1装到(容量-2)的背包中。</a:t>
            </a: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（2）如果不装2，那么相当于只把1装到背包中。  －－取（1）和（2）的最大值。</a:t>
            </a:r>
          </a:p>
        </p:txBody>
      </p:sp>
      <p:pic>
        <p:nvPicPr>
          <p:cNvPr id="13" name="图片 12"/>
          <p:cNvPicPr>
            <a:picLocks noChangeAspect="1"/>
          </p:cNvPicPr>
          <p:nvPr/>
        </p:nvPicPr>
        <p:blipFill>
          <a:blip r:embed="rId2"/>
          <a:stretch>
            <a:fillRect/>
          </a:stretch>
        </p:blipFill>
        <p:spPr>
          <a:xfrm>
            <a:off x="2278375" y="2665475"/>
            <a:ext cx="8091411" cy="3873437"/>
          </a:xfrm>
          <a:prstGeom prst="rect">
            <a:avLst/>
          </a:prstGeom>
        </p:spPr>
      </p:pic>
      <p:sp>
        <p:nvSpPr>
          <p:cNvPr id="14" name="直接连接符 13"/>
          <p:cNvSpPr/>
          <p:nvPr/>
        </p:nvSpPr>
        <p:spPr>
          <a:xfrm flipH="1">
            <a:off x="6790003" y="1443835"/>
            <a:ext cx="1068935" cy="2944809"/>
          </a:xfrm>
          <a:prstGeom prst="line">
            <a:avLst/>
          </a:prstGeom>
          <a:ln w="76200" cap="flat" cmpd="sng">
            <a:solidFill>
              <a:srgbClr val="FF0000"/>
            </a:solidFill>
            <a:prstDash val="solid"/>
            <a:round/>
            <a:headEnd type="none" w="med" len="med"/>
            <a:tailEnd type="triangle" w="med" len="med"/>
          </a:ln>
        </p:spPr>
      </p:sp>
    </p:spTree>
    <p:extLst>
      <p:ext uri="{BB962C8B-B14F-4D97-AF65-F5344CB8AC3E}">
        <p14:creationId xmlns:p14="http://schemas.microsoft.com/office/powerpoint/2010/main" val="2211505384"/>
      </p:ext>
    </p:extLst>
  </p:cSld>
  <p:clrMapOvr>
    <a:masterClrMapping/>
  </p:clrMapOvr>
  <mc:AlternateContent xmlns:mc="http://schemas.openxmlformats.org/markup-compatibility/2006" xmlns:p14="http://schemas.microsoft.com/office/powerpoint/2010/main">
    <mc:Choice Requires="p14">
      <p:transition spd="slow" p14:dur="2000" advTm="9238"/>
    </mc:Choice>
    <mc:Fallback xmlns="">
      <p:transition spd="slow" advTm="9238"/>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43</a:t>
            </a:fld>
            <a:endParaRPr lang="en-US" altLang="zh-CN" sz="2000" b="0" dirty="0">
              <a:solidFill>
                <a:schemeClr val="tx1"/>
              </a:solidFill>
              <a:latin typeface="Times New Roman" panose="02020603050405020304" pitchFamily="18" charset="0"/>
            </a:endParaRPr>
          </a:p>
        </p:txBody>
      </p:sp>
      <p:pic>
        <p:nvPicPr>
          <p:cNvPr id="11" name="图片 10"/>
          <p:cNvPicPr>
            <a:picLocks noChangeAspect="1"/>
          </p:cNvPicPr>
          <p:nvPr/>
        </p:nvPicPr>
        <p:blipFill>
          <a:blip r:embed="rId2"/>
          <a:stretch>
            <a:fillRect/>
          </a:stretch>
        </p:blipFill>
        <p:spPr>
          <a:xfrm>
            <a:off x="2554948" y="2818179"/>
            <a:ext cx="8149447" cy="3903295"/>
          </a:xfrm>
          <a:prstGeom prst="rect">
            <a:avLst/>
          </a:prstGeom>
        </p:spPr>
      </p:pic>
      <p:sp>
        <p:nvSpPr>
          <p:cNvPr id="13" name="Text Box 305"/>
          <p:cNvSpPr txBox="1"/>
          <p:nvPr/>
        </p:nvSpPr>
        <p:spPr>
          <a:xfrm>
            <a:off x="445915" y="222195"/>
            <a:ext cx="11468356" cy="1938992"/>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0" hangingPunct="0">
              <a:spcBef>
                <a:spcPts val="0"/>
              </a:spcBef>
            </a:pPr>
            <a:r>
              <a:rPr lang="zh-CN" altLang="en-US" sz="2400" b="1" dirty="0">
                <a:latin typeface="微软雅黑" panose="020B0503020204020204" pitchFamily="34" charset="-122"/>
                <a:ea typeface="微软雅黑" panose="020B0503020204020204" pitchFamily="34" charset="-122"/>
              </a:rPr>
              <a:t>2、只装前2个物品。</a:t>
            </a:r>
            <a:endParaRPr lang="en-US" altLang="zh-CN" sz="2400" b="1" dirty="0">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如果第2个物品重量比背包容量大，那么不能装第2个物品，情况和只装第1个一样。</a:t>
            </a:r>
            <a:endParaRPr lang="en-US" altLang="zh-CN" sz="2400" b="1" dirty="0">
              <a:solidFill>
                <a:schemeClr val="bg1">
                  <a:lumMod val="75000"/>
                </a:schemeClr>
              </a:solidFill>
              <a:latin typeface="微软雅黑" panose="020B0503020204020204" pitchFamily="34" charset="-122"/>
              <a:ea typeface="微软雅黑" panose="020B0503020204020204" pitchFamily="34" charset="-122"/>
            </a:endParaRPr>
          </a:p>
          <a:p>
            <a:pPr eaLnBrk="0" hangingPunct="0">
              <a:spcBef>
                <a:spcPts val="0"/>
              </a:spcBef>
            </a:pPr>
            <a:r>
              <a:rPr lang="zh-CN" altLang="en-US" sz="2400" b="1" dirty="0">
                <a:latin typeface="微软雅黑" panose="020B0503020204020204" pitchFamily="34" charset="-122"/>
                <a:ea typeface="微软雅黑" panose="020B0503020204020204" pitchFamily="34" charset="-122"/>
              </a:rPr>
              <a:t>如果第2个物品重量小于背包容量</a:t>
            </a:r>
            <a:r>
              <a:rPr lang="zh-CN" altLang="en-US" sz="2400" b="1" dirty="0">
                <a:solidFill>
                  <a:schemeClr val="bg1">
                    <a:lumMod val="75000"/>
                  </a:schemeClr>
                </a:solidFill>
                <a:latin typeface="微软雅黑" panose="020B0503020204020204" pitchFamily="34" charset="-122"/>
                <a:ea typeface="微软雅黑" panose="020B0503020204020204" pitchFamily="34" charset="-122"/>
              </a:rPr>
              <a:t>，那么：（1）如果把物品2装进去(重量是2)，那么相当于只把1装到(容量-2)的背包中。</a:t>
            </a:r>
            <a:r>
              <a:rPr lang="zh-CN" altLang="en-US" sz="2400" b="1" dirty="0">
                <a:latin typeface="微软雅黑" panose="020B0503020204020204" pitchFamily="34" charset="-122"/>
                <a:ea typeface="微软雅黑" panose="020B0503020204020204" pitchFamily="34" charset="-122"/>
              </a:rPr>
              <a:t>（2）如果不装2，那么相当于只把1装到背包中。  －－取（1）和（2）的最大值。</a:t>
            </a:r>
          </a:p>
        </p:txBody>
      </p:sp>
      <p:sp>
        <p:nvSpPr>
          <p:cNvPr id="14" name="直接连接符 13"/>
          <p:cNvSpPr/>
          <p:nvPr/>
        </p:nvSpPr>
        <p:spPr>
          <a:xfrm flipH="1">
            <a:off x="7164935" y="1749245"/>
            <a:ext cx="1068935" cy="2887211"/>
          </a:xfrm>
          <a:prstGeom prst="line">
            <a:avLst/>
          </a:prstGeom>
          <a:ln w="76200" cap="flat" cmpd="sng">
            <a:solidFill>
              <a:srgbClr val="CC0000"/>
            </a:solidFill>
            <a:prstDash val="solid"/>
            <a:round/>
            <a:headEnd type="none" w="med" len="med"/>
            <a:tailEnd type="triangle" w="med" len="med"/>
          </a:ln>
        </p:spPr>
      </p:sp>
    </p:spTree>
    <p:extLst>
      <p:ext uri="{BB962C8B-B14F-4D97-AF65-F5344CB8AC3E}">
        <p14:creationId xmlns:p14="http://schemas.microsoft.com/office/powerpoint/2010/main" val="2018456563"/>
      </p:ext>
    </p:extLst>
  </p:cSld>
  <p:clrMapOvr>
    <a:masterClrMapping/>
  </p:clrMapOvr>
  <mc:AlternateContent xmlns:mc="http://schemas.openxmlformats.org/markup-compatibility/2006" xmlns:p14="http://schemas.microsoft.com/office/powerpoint/2010/main">
    <mc:Choice Requires="p14">
      <p:transition spd="slow" p14:dur="2000" advTm="2072"/>
    </mc:Choice>
    <mc:Fallback xmlns="">
      <p:transition spd="slow" advTm="2072"/>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3357808-7FE0-4D45-8421-FE4F8819DEDA}"/>
              </a:ext>
            </a:extLst>
          </p:cNvPr>
          <p:cNvSpPr>
            <a:spLocks noGrp="1"/>
          </p:cNvSpPr>
          <p:nvPr>
            <p:ph type="sldNum" sz="quarter" idx="12"/>
          </p:nvPr>
        </p:nvSpPr>
        <p:spPr>
          <a:xfrm>
            <a:off x="9018366" y="6356350"/>
            <a:ext cx="2743200" cy="365125"/>
          </a:xfrm>
        </p:spPr>
        <p:txBody>
          <a:bodyPr vert="horz" lIns="91440" tIns="45720" rIns="91440" bIns="45720" rtlCol="0" anchor="ctr"/>
          <a:lstStyle/>
          <a:p>
            <a:fld id="{EB7C6F6D-FFA8-468C-AF6A-CB4C27E2EEF8}" type="slidenum">
              <a:rPr lang="zh-CN" altLang="en-US" sz="2000" b="0" smtClean="0">
                <a:solidFill>
                  <a:schemeClr val="tx1"/>
                </a:solidFill>
                <a:latin typeface="Times New Roman" panose="02020603050405020304" pitchFamily="18" charset="0"/>
              </a:rPr>
              <a:pPr/>
              <a:t>44</a:t>
            </a:fld>
            <a:endParaRPr lang="en-US" altLang="zh-CN" sz="2000" b="0" dirty="0">
              <a:solidFill>
                <a:schemeClr val="tx1"/>
              </a:solidFill>
              <a:latin typeface="Times New Roman" panose="02020603050405020304" pitchFamily="18" charset="0"/>
            </a:endParaRPr>
          </a:p>
        </p:txBody>
      </p:sp>
      <p:sp>
        <p:nvSpPr>
          <p:cNvPr id="5" name="Text Box 305"/>
          <p:cNvSpPr txBox="1"/>
          <p:nvPr/>
        </p:nvSpPr>
        <p:spPr>
          <a:xfrm>
            <a:off x="664822" y="776262"/>
            <a:ext cx="10689350" cy="1015663"/>
          </a:xfrm>
          <a:prstGeom prst="rect">
            <a:avLst/>
          </a:prstGeom>
          <a:noFill/>
          <a:ln w="9525">
            <a:noFill/>
          </a:ln>
        </p:spPr>
        <p:txBody>
          <a:bodyPr wrap="square" anchor="t" anchorCtr="0">
            <a:spAutoFit/>
          </a:bodyPr>
          <a:ls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0" hangingPunct="0">
              <a:spcBef>
                <a:spcPct val="50000"/>
              </a:spcBef>
            </a:pPr>
            <a:r>
              <a:rPr lang="zh-CN" altLang="en-US" sz="2400" b="1" dirty="0">
                <a:latin typeface="微软雅黑" panose="020B0503020204020204" pitchFamily="34" charset="-122"/>
                <a:ea typeface="微软雅黑" panose="020B0503020204020204" pitchFamily="34" charset="-122"/>
              </a:rPr>
              <a:t>按这样的规律一行行填表，直到结束。现在回头考虑，装了哪些物品。</a:t>
            </a:r>
          </a:p>
          <a:p>
            <a:pPr eaLnBrk="0" hangingPunct="0">
              <a:spcBef>
                <a:spcPct val="50000"/>
              </a:spcBef>
            </a:pPr>
            <a:r>
              <a:rPr lang="zh-CN" altLang="en-US" sz="2400" b="1" dirty="0">
                <a:latin typeface="微软雅黑" panose="020B0503020204020204" pitchFamily="34" charset="-122"/>
                <a:ea typeface="微软雅黑" panose="020B0503020204020204" pitchFamily="34" charset="-122"/>
              </a:rPr>
              <a:t>看最后一列，15&gt;14，说明装了物品5，否则价值不会变化。</a:t>
            </a:r>
          </a:p>
        </p:txBody>
      </p:sp>
      <p:pic>
        <p:nvPicPr>
          <p:cNvPr id="6" name="图片 5"/>
          <p:cNvPicPr>
            <a:picLocks noChangeAspect="1"/>
          </p:cNvPicPr>
          <p:nvPr/>
        </p:nvPicPr>
        <p:blipFill>
          <a:blip r:embed="rId3"/>
          <a:stretch>
            <a:fillRect/>
          </a:stretch>
        </p:blipFill>
        <p:spPr>
          <a:xfrm>
            <a:off x="1563029" y="2627681"/>
            <a:ext cx="8892936" cy="3788107"/>
          </a:xfrm>
          <a:prstGeom prst="rect">
            <a:avLst/>
          </a:prstGeom>
        </p:spPr>
      </p:pic>
      <p:sp>
        <p:nvSpPr>
          <p:cNvPr id="7" name="直接连接符 6"/>
          <p:cNvSpPr/>
          <p:nvPr/>
        </p:nvSpPr>
        <p:spPr>
          <a:xfrm>
            <a:off x="5943294" y="1791924"/>
            <a:ext cx="3075071" cy="4195577"/>
          </a:xfrm>
          <a:prstGeom prst="line">
            <a:avLst/>
          </a:prstGeom>
          <a:ln w="76200" cap="flat" cmpd="sng">
            <a:solidFill>
              <a:srgbClr val="CC0000"/>
            </a:solidFill>
            <a:prstDash val="solid"/>
            <a:round/>
            <a:headEnd type="none" w="med" len="med"/>
            <a:tailEnd type="triangle" w="med" len="med"/>
          </a:ln>
        </p:spPr>
      </p:sp>
      <p:sp>
        <p:nvSpPr>
          <p:cNvPr id="8" name="矩形标注 7"/>
          <p:cNvSpPr/>
          <p:nvPr/>
        </p:nvSpPr>
        <p:spPr>
          <a:xfrm>
            <a:off x="9984322" y="1589781"/>
            <a:ext cx="1777244" cy="599993"/>
          </a:xfrm>
          <a:prstGeom prst="wedgeRectCallout">
            <a:avLst>
              <a:gd name="adj1" fmla="val -76354"/>
              <a:gd name="adj2" fmla="val 6352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dirty="0">
                <a:solidFill>
                  <a:srgbClr val="FFFF00"/>
                </a:solidFill>
                <a:latin typeface="Times New Roman" panose="02020603050405020304" pitchFamily="18" charset="0"/>
                <a:ea typeface="思源宋体 CN" panose="02020400000000000000" charset="-122"/>
                <a:cs typeface="Times New Roman" panose="02020603050405020304" pitchFamily="18" charset="0"/>
              </a:rPr>
              <a:t>DP</a:t>
            </a:r>
            <a:r>
              <a:rPr lang="zh-CN" altLang="en-US" sz="2400" dirty="0">
                <a:solidFill>
                  <a:srgbClr val="FFFF00"/>
                </a:solidFill>
                <a:latin typeface="Times New Roman" panose="02020603050405020304" pitchFamily="18" charset="0"/>
                <a:ea typeface="思源宋体 CN" panose="02020400000000000000" charset="-122"/>
                <a:cs typeface="Times New Roman" panose="02020603050405020304" pitchFamily="18" charset="0"/>
              </a:rPr>
              <a:t>复杂度？</a:t>
            </a:r>
            <a:endParaRPr lang="zh-CN" altLang="en-US" sz="2400" dirty="0">
              <a:solidFill>
                <a:srgbClr val="FFFF00"/>
              </a:solidFill>
            </a:endParaRPr>
          </a:p>
        </p:txBody>
      </p:sp>
    </p:spTree>
    <p:custDataLst>
      <p:tags r:id="rId1"/>
    </p:custDataLst>
    <p:extLst>
      <p:ext uri="{BB962C8B-B14F-4D97-AF65-F5344CB8AC3E}">
        <p14:creationId xmlns:p14="http://schemas.microsoft.com/office/powerpoint/2010/main" val="4264716170"/>
      </p:ext>
    </p:extLst>
  </p:cSld>
  <p:clrMapOvr>
    <a:masterClrMapping/>
  </p:clrMapOvr>
  <mc:AlternateContent xmlns:mc="http://schemas.openxmlformats.org/markup-compatibility/2006" xmlns:p14="http://schemas.microsoft.com/office/powerpoint/2010/main">
    <mc:Choice Requires="p14">
      <p:transition spd="slow" p14:dur="2000" advTm="162115"/>
    </mc:Choice>
    <mc:Fallback xmlns="">
      <p:transition spd="slow" advTm="1621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20595"/>
          </a:xfrm>
        </p:spPr>
        <p:txBody>
          <a:bodyPr vert="horz" lIns="91440" tIns="45720" rIns="91440" bIns="45720" rtlCol="0" anchor="ctr">
            <a:normAutofit/>
          </a:bodyPr>
          <a:lstStyle/>
          <a:p>
            <a:pPr eaLnBrk="0" fontAlgn="base" hangingPunct="0">
              <a:spcAft>
                <a:spcPct val="0"/>
              </a:spcAft>
            </a:pPr>
            <a:r>
              <a:rPr lang="zh-CN" altLang="en-US" sz="3600" b="1" dirty="0">
                <a:solidFill>
                  <a:srgbClr val="C00000"/>
                </a:solidFill>
                <a:latin typeface="微软雅黑" panose="020B0503020204020204" pitchFamily="34" charset="-122"/>
                <a:ea typeface="微软雅黑" panose="020B0503020204020204" pitchFamily="34" charset="-122"/>
              </a:rPr>
              <a:t>状态转移方程</a:t>
            </a:r>
          </a:p>
        </p:txBody>
      </p:sp>
      <p:sp>
        <p:nvSpPr>
          <p:cNvPr id="3" name="内容占位符 2"/>
          <p:cNvSpPr>
            <a:spLocks noGrp="1"/>
          </p:cNvSpPr>
          <p:nvPr>
            <p:ph idx="1"/>
          </p:nvPr>
        </p:nvSpPr>
        <p:spPr>
          <a:xfrm>
            <a:off x="751325" y="1138425"/>
            <a:ext cx="10515600" cy="4351338"/>
          </a:xfrm>
        </p:spPr>
        <p:txBody>
          <a:bodyPr>
            <a:noAutofit/>
          </a:bodyPr>
          <a:lstStyle/>
          <a:p>
            <a:pPr marL="0" indent="0">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）第</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个物品的体积比容量</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还大，不能装进容量</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的背包。那么直接继承前</a:t>
            </a:r>
            <a:r>
              <a:rPr lang="en-US" altLang="zh-CN" sz="2400" b="1" dirty="0">
                <a:latin typeface="微软雅黑" panose="020B0503020204020204" pitchFamily="34" charset="-122"/>
                <a:ea typeface="微软雅黑" panose="020B0503020204020204" pitchFamily="34" charset="-122"/>
              </a:rPr>
              <a:t>i-1</a:t>
            </a:r>
            <a:r>
              <a:rPr lang="zh-CN" altLang="en-US" sz="2400" b="1" dirty="0">
                <a:latin typeface="微软雅黑" panose="020B0503020204020204" pitchFamily="34" charset="-122"/>
                <a:ea typeface="微软雅黑" panose="020B0503020204020204" pitchFamily="34" charset="-122"/>
              </a:rPr>
              <a:t>个物品装进容量</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的背包的情况即可，状态转移方程：</a:t>
            </a:r>
          </a:p>
          <a:p>
            <a:pPr marL="0" indent="0">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][j] =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[i-1][j]</a:t>
            </a:r>
          </a:p>
          <a:p>
            <a:pPr marL="0" indent="0">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）第</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个物品的体积比容量</a:t>
            </a:r>
            <a:r>
              <a:rPr lang="en-US" altLang="zh-CN" sz="2400" b="1" dirty="0">
                <a:latin typeface="微软雅黑" panose="020B0503020204020204" pitchFamily="34" charset="-122"/>
                <a:ea typeface="微软雅黑" panose="020B0503020204020204" pitchFamily="34" charset="-122"/>
              </a:rPr>
              <a:t>j</a:t>
            </a:r>
            <a:r>
              <a:rPr lang="zh-CN" altLang="en-US" sz="2400" b="1" dirty="0">
                <a:latin typeface="微软雅黑" panose="020B0503020204020204" pitchFamily="34" charset="-122"/>
                <a:ea typeface="微软雅黑" panose="020B0503020204020204" pitchFamily="34" charset="-122"/>
              </a:rPr>
              <a:t>小，能装进背包。继续分为两种情况：装或者不装第</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a:t>
            </a:r>
          </a:p>
          <a:p>
            <a:pPr marL="0" indent="0">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）装第</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个。从前</a:t>
            </a:r>
            <a:r>
              <a:rPr lang="en-US" altLang="zh-CN" sz="2400" b="1" dirty="0">
                <a:latin typeface="微软雅黑" panose="020B0503020204020204" pitchFamily="34" charset="-122"/>
                <a:ea typeface="微软雅黑" panose="020B0503020204020204" pitchFamily="34" charset="-122"/>
              </a:rPr>
              <a:t>i-1</a:t>
            </a:r>
            <a:r>
              <a:rPr lang="zh-CN" altLang="en-US" sz="2400" b="1" dirty="0">
                <a:latin typeface="微软雅黑" panose="020B0503020204020204" pitchFamily="34" charset="-122"/>
                <a:ea typeface="微软雅黑" panose="020B0503020204020204" pitchFamily="34" charset="-122"/>
              </a:rPr>
              <a:t>个物品的情况下推广而来，前</a:t>
            </a:r>
            <a:r>
              <a:rPr lang="en-US" altLang="zh-CN" sz="2400" b="1" dirty="0">
                <a:latin typeface="微软雅黑" panose="020B0503020204020204" pitchFamily="34" charset="-122"/>
                <a:ea typeface="微软雅黑" panose="020B0503020204020204" pitchFamily="34" charset="-122"/>
              </a:rPr>
              <a:t>i-1</a:t>
            </a:r>
            <a:r>
              <a:rPr lang="zh-CN" altLang="en-US" sz="2400" b="1" dirty="0">
                <a:latin typeface="微软雅黑" panose="020B0503020204020204" pitchFamily="34" charset="-122"/>
                <a:ea typeface="微软雅黑" panose="020B0503020204020204" pitchFamily="34" charset="-122"/>
              </a:rPr>
              <a:t>个物品是</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[i-1][j]</a:t>
            </a:r>
            <a:r>
              <a:rPr lang="zh-CN" altLang="en-US" sz="2400" b="1" dirty="0">
                <a:latin typeface="微软雅黑" panose="020B0503020204020204" pitchFamily="34" charset="-122"/>
                <a:ea typeface="微软雅黑" panose="020B0503020204020204" pitchFamily="34" charset="-122"/>
              </a:rPr>
              <a:t>。第</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个物品装进背包后，背包容量减少</a:t>
            </a:r>
            <a:r>
              <a:rPr lang="en-US" altLang="zh-CN" sz="2400" b="1" dirty="0">
                <a:latin typeface="微软雅黑" panose="020B0503020204020204" pitchFamily="34" charset="-122"/>
                <a:ea typeface="微软雅黑" panose="020B0503020204020204" pitchFamily="34" charset="-122"/>
              </a:rPr>
              <a:t>c[</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，价值增加</a:t>
            </a:r>
            <a:r>
              <a:rPr lang="en-US" altLang="zh-CN" sz="2400" b="1" dirty="0">
                <a:latin typeface="微软雅黑" panose="020B0503020204020204" pitchFamily="34" charset="-122"/>
                <a:ea typeface="微软雅黑" panose="020B0503020204020204" pitchFamily="34" charset="-122"/>
              </a:rPr>
              <a:t>w[</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a:t>
            </a:r>
          </a:p>
          <a:p>
            <a:pPr marL="0" indent="0">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][j] =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[i-1][j-c[</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 + w[</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a:t>
            </a:r>
          </a:p>
          <a:p>
            <a:pPr marL="0" indent="0">
              <a:lnSpc>
                <a:spcPct val="140000"/>
              </a:lnSpc>
              <a:spcBef>
                <a:spcPts val="0"/>
              </a:spcBef>
              <a:buNone/>
            </a:pP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）不装第</a:t>
            </a:r>
            <a:r>
              <a:rPr lang="en-US" altLang="zh-CN" sz="2400" b="1" dirty="0" err="1">
                <a:latin typeface="微软雅黑" panose="020B0503020204020204" pitchFamily="34" charset="-122"/>
                <a:ea typeface="微软雅黑" panose="020B0503020204020204" pitchFamily="34" charset="-122"/>
              </a:rPr>
              <a:t>i</a:t>
            </a:r>
            <a:r>
              <a:rPr lang="zh-CN" altLang="en-US" sz="2400" b="1" dirty="0">
                <a:latin typeface="微软雅黑" panose="020B0503020204020204" pitchFamily="34" charset="-122"/>
                <a:ea typeface="微软雅黑" panose="020B0503020204020204" pitchFamily="34" charset="-122"/>
              </a:rPr>
              <a:t>个。那么：</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][j] =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[i-1][j]</a:t>
            </a:r>
            <a:r>
              <a:rPr lang="zh-CN" altLang="en-US" sz="2400" b="1" dirty="0">
                <a:latin typeface="微软雅黑" panose="020B0503020204020204" pitchFamily="34" charset="-122"/>
                <a:ea typeface="微软雅黑" panose="020B0503020204020204" pitchFamily="34" charset="-122"/>
              </a:rPr>
              <a:t>。</a:t>
            </a:r>
          </a:p>
          <a:p>
            <a:pPr marL="0" indent="0">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取</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）的最大值，状态转移方程：</a:t>
            </a:r>
          </a:p>
          <a:p>
            <a:pPr marL="0" indent="0">
              <a:lnSpc>
                <a:spcPct val="140000"/>
              </a:lnSpc>
              <a:spcBef>
                <a:spcPts val="0"/>
              </a:spcBef>
              <a:buNone/>
            </a:pPr>
            <a:r>
              <a:rPr lang="zh-CN" altLang="en-US" sz="2400" b="1" dirty="0">
                <a:latin typeface="微软雅黑" panose="020B0503020204020204" pitchFamily="34" charset="-122"/>
                <a:ea typeface="微软雅黑" panose="020B0503020204020204" pitchFamily="34" charset="-122"/>
              </a:rPr>
              <a:t>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][j] = max(</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 - 1][j], </a:t>
            </a:r>
            <a:r>
              <a:rPr lang="en-US" altLang="zh-CN" sz="2400" b="1" dirty="0" err="1">
                <a:latin typeface="微软雅黑" panose="020B0503020204020204" pitchFamily="34" charset="-122"/>
                <a:ea typeface="微软雅黑" panose="020B0503020204020204" pitchFamily="34" charset="-122"/>
              </a:rPr>
              <a:t>dp</a:t>
            </a:r>
            <a:r>
              <a:rPr lang="en-US" altLang="zh-CN" sz="2400" b="1" dirty="0">
                <a:latin typeface="微软雅黑" panose="020B0503020204020204" pitchFamily="34" charset="-122"/>
                <a:ea typeface="微软雅黑" panose="020B0503020204020204" pitchFamily="34" charset="-122"/>
              </a:rPr>
              <a:t>[</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 - 1][j - c[</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 + w[</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EB7C6F6D-FFA8-468C-AF6A-CB4C27E2EEF8}" type="slidenum">
              <a:rPr lang="zh-CN" altLang="en-US" smtClean="0"/>
              <a:t>45</a:t>
            </a:fld>
            <a:endParaRPr lang="en-US" altLang="zh-CN"/>
          </a:p>
        </p:txBody>
      </p:sp>
    </p:spTree>
    <p:custDataLst>
      <p:tags r:id="rId1"/>
    </p:custDataLst>
    <p:extLst>
      <p:ext uri="{BB962C8B-B14F-4D97-AF65-F5344CB8AC3E}">
        <p14:creationId xmlns:p14="http://schemas.microsoft.com/office/powerpoint/2010/main" val="4293909435"/>
      </p:ext>
    </p:extLst>
  </p:cSld>
  <p:clrMapOvr>
    <a:masterClrMapping/>
  </p:clrMapOvr>
  <mc:AlternateContent xmlns:mc="http://schemas.openxmlformats.org/markup-compatibility/2006" xmlns:p14="http://schemas.microsoft.com/office/powerpoint/2010/main">
    <mc:Choice Requires="p14">
      <p:transition spd="slow" p14:dur="2000" advTm="76800"/>
    </mc:Choice>
    <mc:Fallback xmlns="">
      <p:transition spd="slow" advTm="768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46</a:t>
            </a:fld>
            <a:endParaRPr lang="en-US" altLang="zh-CN" b="0" dirty="0">
              <a:solidFill>
                <a:schemeClr val="tx1"/>
              </a:solidFill>
            </a:endParaRPr>
          </a:p>
        </p:txBody>
      </p:sp>
      <p:sp>
        <p:nvSpPr>
          <p:cNvPr id="21" name="内容占位符 2"/>
          <p:cNvSpPr txBox="1"/>
          <p:nvPr/>
        </p:nvSpPr>
        <p:spPr>
          <a:xfrm>
            <a:off x="4416245" y="366375"/>
            <a:ext cx="7787955" cy="63303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const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 = 3011;</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w[N], c[N];              // </a:t>
            </a:r>
            <a:r>
              <a:rPr lang="zh-CN" altLang="en-US" sz="2000" b="0" dirty="0">
                <a:latin typeface="宋体" panose="02010600030101010101" pitchFamily="2" charset="-122"/>
                <a:ea typeface="宋体" panose="02010600030101010101" pitchFamily="2" charset="-122"/>
              </a:rPr>
              <a:t>物品的价值和体积</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[N][N];          //</a:t>
            </a:r>
            <a:r>
              <a:rPr lang="zh-CN" altLang="en-US" sz="2000" b="0" dirty="0">
                <a:latin typeface="宋体" panose="02010600030101010101" pitchFamily="2" charset="-122"/>
                <a:ea typeface="宋体" panose="02010600030101010101" pitchFamily="2" charset="-122"/>
              </a:rPr>
              <a:t>全局静态数组</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自动初始化为</a:t>
            </a:r>
            <a:r>
              <a:rPr lang="en-US" altLang="zh-CN" sz="2000" b="0" dirty="0">
                <a:latin typeface="宋体" panose="02010600030101010101" pitchFamily="2" charset="-122"/>
                <a:ea typeface="宋体" panose="02010600030101010101" pitchFamily="2" charset="-122"/>
              </a:rPr>
              <a:t>0</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solve(</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=1;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&lt;=n;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j=0; j&lt;=C; </a:t>
            </a:r>
            <a:r>
              <a:rPr lang="en-US" altLang="zh-CN" sz="2000" b="0" dirty="0" err="1">
                <a:latin typeface="宋体" panose="02010600030101010101" pitchFamily="2" charset="-122"/>
                <a:ea typeface="宋体" panose="02010600030101010101" pitchFamily="2" charset="-122"/>
              </a:rPr>
              <a:t>j++</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第</a:t>
            </a:r>
            <a:r>
              <a:rPr lang="en-US" altLang="zh-CN" sz="2000" b="0" dirty="0" err="1">
                <a:latin typeface="宋体" panose="02010600030101010101" pitchFamily="2" charset="-122"/>
                <a:ea typeface="宋体" panose="02010600030101010101" pitchFamily="2" charset="-122"/>
              </a:rPr>
              <a:t>i</a:t>
            </a:r>
            <a:r>
              <a:rPr lang="zh-CN" altLang="en-US" sz="2000" b="0" dirty="0">
                <a:latin typeface="宋体" panose="02010600030101010101" pitchFamily="2" charset="-122"/>
                <a:ea typeface="宋体" panose="02010600030101010101" pitchFamily="2" charset="-122"/>
              </a:rPr>
              <a:t>个物品比背包大，装不了</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]&gt;j)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[i-1][j];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else                  //</a:t>
            </a:r>
            <a:r>
              <a:rPr lang="zh-CN" altLang="en-US" sz="2000" b="0" dirty="0">
                <a:latin typeface="宋体" panose="02010600030101010101" pitchFamily="2" charset="-122"/>
                <a:ea typeface="宋体" panose="02010600030101010101" pitchFamily="2" charset="-122"/>
              </a:rPr>
              <a:t>第</a:t>
            </a:r>
            <a:r>
              <a:rPr lang="en-US" altLang="zh-CN" sz="2000" b="0" dirty="0" err="1">
                <a:latin typeface="宋体" panose="02010600030101010101" pitchFamily="2" charset="-122"/>
                <a:ea typeface="宋体" panose="02010600030101010101" pitchFamily="2" charset="-122"/>
              </a:rPr>
              <a:t>i</a:t>
            </a:r>
            <a:r>
              <a:rPr lang="zh-CN" altLang="en-US" sz="2000" b="0" dirty="0">
                <a:latin typeface="宋体" panose="02010600030101010101" pitchFamily="2" charset="-122"/>
                <a:ea typeface="宋体" panose="02010600030101010101" pitchFamily="2" charset="-122"/>
              </a:rPr>
              <a:t>个物品可以装</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a:t>
            </a:r>
            <a:r>
              <a:rPr lang="en-US" altLang="zh-CN" sz="1800" b="0" dirty="0">
                <a:latin typeface="宋体" panose="02010600030101010101" pitchFamily="2" charset="-122"/>
                <a:ea typeface="宋体" panose="02010600030101010101" pitchFamily="2" charset="-122"/>
              </a:rPr>
              <a:t>= max(</a:t>
            </a:r>
            <a:r>
              <a:rPr lang="en-US" altLang="zh-CN" sz="1800" b="0" dirty="0" err="1">
                <a:latin typeface="宋体" panose="02010600030101010101" pitchFamily="2" charset="-122"/>
                <a:ea typeface="宋体" panose="02010600030101010101" pitchFamily="2" charset="-122"/>
              </a:rPr>
              <a:t>dp</a:t>
            </a:r>
            <a:r>
              <a:rPr lang="en-US" altLang="zh-CN" sz="1800" b="0" dirty="0">
                <a:latin typeface="宋体" panose="02010600030101010101" pitchFamily="2" charset="-122"/>
                <a:ea typeface="宋体" panose="02010600030101010101" pitchFamily="2" charset="-122"/>
              </a:rPr>
              <a:t>[i-1][j], </a:t>
            </a:r>
            <a:r>
              <a:rPr lang="en-US" altLang="zh-CN" sz="1800" b="0" dirty="0" err="1">
                <a:latin typeface="宋体" panose="02010600030101010101" pitchFamily="2" charset="-122"/>
                <a:ea typeface="宋体" panose="02010600030101010101" pitchFamily="2" charset="-122"/>
              </a:rPr>
              <a:t>dp</a:t>
            </a:r>
            <a:r>
              <a:rPr lang="en-US" altLang="zh-CN" sz="1800" b="0" dirty="0">
                <a:latin typeface="宋体" panose="02010600030101010101" pitchFamily="2" charset="-122"/>
                <a:ea typeface="宋体" panose="02010600030101010101" pitchFamily="2" charset="-122"/>
              </a:rPr>
              <a:t>[i-1][j-c[</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]]+w[</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n,C</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&gt;&gt;n&gt;&gt;C;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=1;i&lt;=</a:t>
            </a:r>
            <a:r>
              <a:rPr lang="en-US" altLang="zh-CN" sz="2000" b="0" dirty="0" err="1">
                <a:latin typeface="宋体" panose="02010600030101010101" pitchFamily="2" charset="-122"/>
                <a:ea typeface="宋体" panose="02010600030101010101" pitchFamily="2" charset="-122"/>
              </a:rPr>
              <a:t>n;i</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&gt;&gt;c[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]&gt;&gt;w[</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solve(n, 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445915" y="1138425"/>
            <a:ext cx="3228824"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填写多维表格来完成，编码时用若干</a:t>
            </a:r>
            <a:r>
              <a:rPr lang="en-US" altLang="zh-CN" sz="2400" dirty="0">
                <a:latin typeface="微软雅黑" panose="020B0503020204020204" pitchFamily="34" charset="-122"/>
                <a:ea typeface="微软雅黑" panose="020B0503020204020204" pitchFamily="34" charset="-122"/>
              </a:rPr>
              <a:t>for</a:t>
            </a:r>
            <a:r>
              <a:rPr lang="zh-CN" altLang="en-US" sz="2400" dirty="0">
                <a:latin typeface="微软雅黑" panose="020B0503020204020204" pitchFamily="34" charset="-122"/>
                <a:ea typeface="微软雅黑" panose="020B0503020204020204" pitchFamily="34" charset="-122"/>
              </a:rPr>
              <a:t>循环语句填表。根据表中的结果，逐步计算出大问题的解决方案。</a:t>
            </a:r>
            <a:endParaRPr lang="zh-CN" altLang="en-US" sz="2400" b="1" dirty="0">
              <a:latin typeface="微软雅黑" panose="020B0503020204020204" pitchFamily="34" charset="-122"/>
              <a:ea typeface="微软雅黑" panose="020B0503020204020204" pitchFamily="34" charset="-122"/>
            </a:endParaRPr>
          </a:p>
        </p:txBody>
      </p:sp>
      <p:sp>
        <p:nvSpPr>
          <p:cNvPr id="5" name="Rectangle 2"/>
          <p:cNvSpPr txBox="1">
            <a:spLocks noChangeArrowheads="1"/>
          </p:cNvSpPr>
          <p:nvPr/>
        </p:nvSpPr>
        <p:spPr>
          <a:xfrm>
            <a:off x="681165" y="222194"/>
            <a:ext cx="2666145" cy="734065"/>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400" dirty="0">
                <a:solidFill>
                  <a:srgbClr val="C00000"/>
                </a:solidFill>
                <a:effectLst/>
                <a:latin typeface="微软雅黑" panose="020B0503020204020204" pitchFamily="34" charset="-122"/>
                <a:ea typeface="微软雅黑" panose="020B0503020204020204" pitchFamily="34" charset="-122"/>
              </a:rPr>
              <a:t>（</a:t>
            </a:r>
            <a:r>
              <a:rPr lang="en-US" altLang="zh-CN" sz="2400" dirty="0">
                <a:solidFill>
                  <a:srgbClr val="C00000"/>
                </a:solidFill>
                <a:effectLst/>
                <a:latin typeface="微软雅黑" panose="020B0503020204020204" pitchFamily="34" charset="-122"/>
                <a:ea typeface="微软雅黑" panose="020B0503020204020204" pitchFamily="34" charset="-122"/>
              </a:rPr>
              <a:t>1</a:t>
            </a:r>
            <a:r>
              <a:rPr lang="zh-CN" altLang="en-US" sz="2400" dirty="0">
                <a:solidFill>
                  <a:srgbClr val="C00000"/>
                </a:solidFill>
                <a:effectLst/>
                <a:latin typeface="微软雅黑" panose="020B0503020204020204" pitchFamily="34" charset="-122"/>
                <a:ea typeface="微软雅黑" panose="020B0503020204020204" pitchFamily="34" charset="-122"/>
              </a:rPr>
              <a:t>）递推代码</a:t>
            </a:r>
          </a:p>
        </p:txBody>
      </p:sp>
    </p:spTree>
    <p:extLst>
      <p:ext uri="{BB962C8B-B14F-4D97-AF65-F5344CB8AC3E}">
        <p14:creationId xmlns:p14="http://schemas.microsoft.com/office/powerpoint/2010/main" val="499721461"/>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47</a:t>
            </a:fld>
            <a:endParaRPr lang="en-US" altLang="zh-CN" b="0" dirty="0">
              <a:solidFill>
                <a:schemeClr val="tx1"/>
              </a:solidFill>
            </a:endParaRPr>
          </a:p>
        </p:txBody>
      </p:sp>
      <p:sp>
        <p:nvSpPr>
          <p:cNvPr id="21" name="内容占位符 2"/>
          <p:cNvSpPr txBox="1"/>
          <p:nvPr/>
        </p:nvSpPr>
        <p:spPr>
          <a:xfrm>
            <a:off x="4416245" y="366375"/>
            <a:ext cx="7787955" cy="63303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const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N = 3011;</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w[N], c[N];  </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[N][N];</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solve(</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j){  //</a:t>
            </a:r>
            <a:r>
              <a:rPr lang="zh-CN" altLang="en-US" sz="2000" b="0" dirty="0">
                <a:latin typeface="宋体" panose="02010600030101010101" pitchFamily="2" charset="-122"/>
                <a:ea typeface="宋体" panose="02010600030101010101" pitchFamily="2" charset="-122"/>
              </a:rPr>
              <a:t>前</a:t>
            </a:r>
            <a:r>
              <a:rPr lang="en-US" altLang="zh-CN" sz="2000" b="0" dirty="0" err="1">
                <a:latin typeface="宋体" panose="02010600030101010101" pitchFamily="2" charset="-122"/>
                <a:ea typeface="宋体" panose="02010600030101010101" pitchFamily="2" charset="-122"/>
              </a:rPr>
              <a:t>i</a:t>
            </a:r>
            <a:r>
              <a:rPr lang="zh-CN" altLang="en-US" sz="2000" b="0" dirty="0">
                <a:latin typeface="宋体" panose="02010600030101010101" pitchFamily="2" charset="-122"/>
                <a:ea typeface="宋体" panose="02010600030101010101" pitchFamily="2" charset="-122"/>
              </a:rPr>
              <a:t>个物品，放进容量</a:t>
            </a:r>
            <a:r>
              <a:rPr lang="en-US" altLang="zh-CN" sz="2000" b="0" dirty="0">
                <a:latin typeface="宋体" panose="02010600030101010101" pitchFamily="2" charset="-122"/>
                <a:ea typeface="宋体" panose="02010600030101010101" pitchFamily="2" charset="-122"/>
              </a:rPr>
              <a:t>j</a:t>
            </a:r>
            <a:r>
              <a:rPr lang="zh-CN" altLang="en-US" sz="2000" b="0" dirty="0">
                <a:latin typeface="宋体" panose="02010600030101010101" pitchFamily="2" charset="-122"/>
                <a:ea typeface="宋体" panose="02010600030101010101" pitchFamily="2" charset="-122"/>
              </a:rPr>
              <a:t>的背包</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a:latin typeface="宋体" panose="02010600030101010101" pitchFamily="2" charset="-122"/>
                <a:ea typeface="宋体" panose="02010600030101010101" pitchFamily="2" charset="-122"/>
              </a:rPr>
              <a:t>if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0)   return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a:t>
            </a:r>
            <a:r>
              <a:rPr lang="zh-CN" altLang="en-US" sz="2000" b="0" dirty="0">
                <a:latin typeface="宋体" panose="02010600030101010101" pitchFamily="2" charset="-122"/>
                <a:ea typeface="宋体" panose="02010600030101010101" pitchFamily="2" charset="-122"/>
              </a:rPr>
              <a:t>记忆化</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a:latin typeface="宋体" panose="02010600030101010101" pitchFamily="2" charset="-122"/>
                <a:ea typeface="宋体" panose="02010600030101010101" pitchFamily="2" charset="-122"/>
              </a:rPr>
              <a:t>if(</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0) return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if(c[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&gt; 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solve(i-1,j);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else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a:t>
            </a:r>
            <a:r>
              <a:rPr lang="en-US" altLang="zh-CN" sz="1800" b="0" dirty="0">
                <a:latin typeface="宋体" panose="02010600030101010101" pitchFamily="2" charset="-122"/>
                <a:ea typeface="宋体" panose="02010600030101010101" pitchFamily="2" charset="-122"/>
              </a:rPr>
              <a:t>max(solve(i-1,j), solve(i-1,j-c[</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])+w[</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n,C</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n &gt;&gt; 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=1;i&lt;=</a:t>
            </a:r>
            <a:r>
              <a:rPr lang="en-US" altLang="zh-CN" sz="2000" b="0" dirty="0" err="1">
                <a:latin typeface="宋体" panose="02010600030101010101" pitchFamily="2" charset="-122"/>
                <a:ea typeface="宋体" panose="02010600030101010101" pitchFamily="2" charset="-122"/>
              </a:rPr>
              <a:t>n;i</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&gt;&gt; w[</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solve(n, C) &lt;&lt; </a:t>
            </a:r>
            <a:r>
              <a:rPr lang="en-US" altLang="zh-CN" sz="2000" b="0" dirty="0" err="1">
                <a:latin typeface="宋体" panose="02010600030101010101" pitchFamily="2" charset="-122"/>
                <a:ea typeface="宋体" panose="02010600030101010101" pitchFamily="2" charset="-122"/>
              </a:rPr>
              <a:t>endl</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445915" y="1138425"/>
            <a:ext cx="3228824"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先考虑大问题，再缩小到小问题，用递归实现。为避免递归时重复计算子问题，可以用“记忆化”，在子问题得到解决时，就保存结果，再次需要这个结果时，直接返回保存的结果。	</a:t>
            </a:r>
            <a:endParaRPr lang="zh-CN" altLang="en-US" sz="2000" b="1" dirty="0">
              <a:latin typeface="微软雅黑" panose="020B0503020204020204" pitchFamily="34" charset="-122"/>
              <a:ea typeface="微软雅黑" panose="020B0503020204020204" pitchFamily="34" charset="-122"/>
            </a:endParaRPr>
          </a:p>
        </p:txBody>
      </p:sp>
      <p:sp>
        <p:nvSpPr>
          <p:cNvPr id="5" name="Rectangle 2"/>
          <p:cNvSpPr txBox="1">
            <a:spLocks noChangeArrowheads="1"/>
          </p:cNvSpPr>
          <p:nvPr/>
        </p:nvSpPr>
        <p:spPr>
          <a:xfrm>
            <a:off x="681165" y="222194"/>
            <a:ext cx="2818850" cy="734065"/>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400" dirty="0">
                <a:solidFill>
                  <a:srgbClr val="C00000"/>
                </a:solidFill>
                <a:effectLst/>
                <a:latin typeface="微软雅黑" panose="020B0503020204020204" pitchFamily="34" charset="-122"/>
                <a:ea typeface="微软雅黑" panose="020B0503020204020204" pitchFamily="34" charset="-122"/>
              </a:rPr>
              <a:t>（</a:t>
            </a:r>
            <a:r>
              <a:rPr lang="en-US" altLang="zh-CN" sz="2400" dirty="0">
                <a:solidFill>
                  <a:srgbClr val="C00000"/>
                </a:solidFill>
                <a:effectLst/>
                <a:latin typeface="微软雅黑" panose="020B0503020204020204" pitchFamily="34" charset="-122"/>
                <a:ea typeface="微软雅黑" panose="020B0503020204020204" pitchFamily="34" charset="-122"/>
              </a:rPr>
              <a:t>2</a:t>
            </a:r>
            <a:r>
              <a:rPr lang="zh-CN" altLang="en-US" sz="2400" dirty="0">
                <a:solidFill>
                  <a:srgbClr val="C00000"/>
                </a:solidFill>
                <a:effectLst/>
                <a:latin typeface="微软雅黑" panose="020B0503020204020204" pitchFamily="34" charset="-122"/>
                <a:ea typeface="微软雅黑" panose="020B0503020204020204" pitchFamily="34" charset="-122"/>
              </a:rPr>
              <a:t>）递归代码代码</a:t>
            </a:r>
          </a:p>
        </p:txBody>
      </p:sp>
    </p:spTree>
    <p:extLst>
      <p:ext uri="{BB962C8B-B14F-4D97-AF65-F5344CB8AC3E}">
        <p14:creationId xmlns:p14="http://schemas.microsoft.com/office/powerpoint/2010/main" val="881870907"/>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69758"/>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4000" dirty="0">
                <a:solidFill>
                  <a:srgbClr val="C00000"/>
                </a:solidFill>
                <a:effectLst/>
                <a:latin typeface="微软雅黑" panose="020B0503020204020204" pitchFamily="34" charset="-122"/>
                <a:ea typeface="微软雅黑" panose="020B0503020204020204" pitchFamily="34" charset="-122"/>
              </a:rPr>
              <a:t>例题</a:t>
            </a:r>
            <a:r>
              <a:rPr lang="en-US" altLang="zh-CN" sz="4000" dirty="0">
                <a:solidFill>
                  <a:srgbClr val="C00000"/>
                </a:solidFill>
                <a:effectLst/>
                <a:latin typeface="微软雅黑" panose="020B0503020204020204" pitchFamily="34" charset="-122"/>
                <a:ea typeface="微软雅黑" panose="020B0503020204020204" pitchFamily="34" charset="-122"/>
              </a:rPr>
              <a:t>8.3</a:t>
            </a:r>
            <a:r>
              <a:rPr lang="zh-CN" altLang="en-US" sz="4000" dirty="0">
                <a:solidFill>
                  <a:srgbClr val="C00000"/>
                </a:solidFill>
                <a:effectLst/>
                <a:latin typeface="微软雅黑" panose="020B0503020204020204" pitchFamily="34" charset="-122"/>
                <a:ea typeface="微软雅黑" panose="020B0503020204020204" pitchFamily="34" charset="-122"/>
              </a:rPr>
              <a:t>：</a:t>
            </a:r>
            <a:r>
              <a:rPr lang="en-US" altLang="zh-CN" sz="4000" dirty="0">
                <a:solidFill>
                  <a:srgbClr val="C00000"/>
                </a:solidFill>
                <a:effectLst/>
                <a:latin typeface="微软雅黑" panose="020B0503020204020204" pitchFamily="34" charset="-122"/>
                <a:ea typeface="微软雅黑" panose="020B0503020204020204" pitchFamily="34" charset="-122"/>
              </a:rPr>
              <a:t>2022</a:t>
            </a:r>
            <a:r>
              <a:rPr lang="zh-CN" altLang="en-US" sz="4000" dirty="0">
                <a:solidFill>
                  <a:srgbClr val="0070C0"/>
                </a:solidFill>
                <a:latin typeface="微软雅黑" panose="020B0503020204020204" pitchFamily="34" charset="-122"/>
                <a:ea typeface="微软雅黑" panose="020B0503020204020204" pitchFamily="34" charset="-122"/>
                <a:sym typeface="+mn-ea"/>
              </a:rPr>
              <a:t>【</a:t>
            </a:r>
            <a:r>
              <a:rPr lang="en-US" altLang="zh-CN" sz="4000" dirty="0" err="1">
                <a:solidFill>
                  <a:srgbClr val="0070C0"/>
                </a:solidFill>
                <a:latin typeface="微软雅黑" panose="020B0503020204020204" pitchFamily="34" charset="-122"/>
                <a:ea typeface="微软雅黑" panose="020B0503020204020204" pitchFamily="34" charset="-122"/>
                <a:sym typeface="+mn-ea"/>
              </a:rPr>
              <a:t>lanqiaoOJ</a:t>
            </a:r>
            <a:r>
              <a:rPr lang="en-US" altLang="zh-CN" sz="4000" dirty="0">
                <a:solidFill>
                  <a:srgbClr val="0070C0"/>
                </a:solidFill>
                <a:latin typeface="微软雅黑" panose="020B0503020204020204" pitchFamily="34" charset="-122"/>
                <a:ea typeface="微软雅黑" panose="020B0503020204020204" pitchFamily="34" charset="-122"/>
                <a:sym typeface="+mn-ea"/>
              </a:rPr>
              <a:t> 2186</a:t>
            </a:r>
            <a:r>
              <a:rPr lang="zh-CN" altLang="en-US" sz="4000" dirty="0">
                <a:solidFill>
                  <a:srgbClr val="0070C0"/>
                </a:solidFill>
                <a:latin typeface="微软雅黑" panose="020B0503020204020204" pitchFamily="34" charset="-122"/>
                <a:ea typeface="微软雅黑" panose="020B0503020204020204" pitchFamily="34" charset="-122"/>
                <a:sym typeface="+mn-ea"/>
              </a:rPr>
              <a:t>】</a:t>
            </a:r>
            <a:endParaRPr lang="zh-CN" altLang="en-US" sz="40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48</a:t>
            </a:fld>
            <a:endParaRPr lang="en-US" altLang="zh-CN" b="0" dirty="0">
              <a:solidFill>
                <a:schemeClr val="tx1"/>
              </a:solidFill>
            </a:endParaRPr>
          </a:p>
        </p:txBody>
      </p:sp>
      <p:graphicFrame>
        <p:nvGraphicFramePr>
          <p:cNvPr id="4" name="表格 3"/>
          <p:cNvGraphicFramePr/>
          <p:nvPr>
            <p:custDataLst>
              <p:tags r:id="rId1"/>
            </p:custDataLst>
          </p:nvPr>
        </p:nvGraphicFramePr>
        <p:xfrm>
          <a:off x="579755" y="1749245"/>
          <a:ext cx="10656570" cy="2897050"/>
        </p:xfrm>
        <a:graphic>
          <a:graphicData uri="http://schemas.openxmlformats.org/drawingml/2006/table">
            <a:tbl>
              <a:tblPr/>
              <a:tblGrid>
                <a:gridCol w="10656570">
                  <a:extLst>
                    <a:ext uri="{9D8B030D-6E8A-4147-A177-3AD203B41FA5}">
                      <a16:colId xmlns:a16="http://schemas.microsoft.com/office/drawing/2014/main" val="20000"/>
                    </a:ext>
                  </a:extLst>
                </a:gridCol>
              </a:tblGrid>
              <a:tr h="2897050">
                <a:tc>
                  <a:txBody>
                    <a:bodyPr/>
                    <a:lstStyle/>
                    <a:p>
                      <a:pPr marL="0" indent="0" algn="just">
                        <a:lnSpc>
                          <a:spcPct val="150000"/>
                        </a:lnSpc>
                        <a:spcBef>
                          <a:spcPct val="0"/>
                        </a:spcBef>
                        <a:spcAft>
                          <a:spcPct val="0"/>
                        </a:spcAft>
                      </a:pPr>
                      <a:r>
                        <a:rPr lang="zh-CN" altLang="en-US" sz="2400" b="1" dirty="0">
                          <a:latin typeface="微软雅黑" panose="020B0503020204020204" pitchFamily="34" charset="-122"/>
                          <a:ea typeface="微软雅黑" panose="020B0503020204020204" pitchFamily="34" charset="-122"/>
                        </a:rPr>
                        <a:t>问题描述：将</a:t>
                      </a:r>
                      <a:r>
                        <a:rPr lang="en-US" altLang="zh-CN" sz="2400" b="1" dirty="0">
                          <a:latin typeface="微软雅黑" panose="020B0503020204020204" pitchFamily="34" charset="-122"/>
                          <a:ea typeface="微软雅黑" panose="020B0503020204020204" pitchFamily="34" charset="-122"/>
                        </a:rPr>
                        <a:t>2022</a:t>
                      </a:r>
                      <a:r>
                        <a:rPr lang="zh-CN" altLang="en-US" sz="2400" b="1" dirty="0">
                          <a:latin typeface="微软雅黑" panose="020B0503020204020204" pitchFamily="34" charset="-122"/>
                          <a:ea typeface="微软雅黑" panose="020B0503020204020204" pitchFamily="34" charset="-122"/>
                        </a:rPr>
                        <a:t>拆分成</a:t>
                      </a:r>
                      <a:r>
                        <a:rPr lang="en-US" altLang="zh-CN" sz="2400" b="1" dirty="0">
                          <a:latin typeface="微软雅黑" panose="020B0503020204020204" pitchFamily="34" charset="-122"/>
                          <a:ea typeface="微软雅黑" panose="020B0503020204020204" pitchFamily="34" charset="-122"/>
                        </a:rPr>
                        <a:t>10</a:t>
                      </a:r>
                      <a:r>
                        <a:rPr lang="zh-CN" altLang="en-US" sz="2400" b="1" dirty="0">
                          <a:latin typeface="微软雅黑" panose="020B0503020204020204" pitchFamily="34" charset="-122"/>
                          <a:ea typeface="微软雅黑" panose="020B0503020204020204" pitchFamily="34" charset="-122"/>
                        </a:rPr>
                        <a:t>个互不相同的正整数之和，总共有多少种拆分方法？注意交换顺序视为同一种方法。</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lgn="ctr">
                      <a:solidFill>
                        <a:srgbClr val="000008"/>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44927886"/>
      </p:ext>
    </p:extLst>
  </p:cSld>
  <p:clrMapOvr>
    <a:masterClrMapping/>
  </p:clrMapOvr>
  <mc:AlternateContent xmlns:mc="http://schemas.openxmlformats.org/markup-compatibility/2006" xmlns:p14="http://schemas.microsoft.com/office/powerpoint/2010/main">
    <mc:Choice Requires="p14">
      <p:transition spd="slow" p14:dur="2000" advTm="80440"/>
    </mc:Choice>
    <mc:Fallback xmlns="">
      <p:transition spd="slow" advTm="8044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49</a:t>
            </a:fld>
            <a:endParaRPr lang="en-US" altLang="zh-CN" b="0" dirty="0">
              <a:solidFill>
                <a:schemeClr val="tx1"/>
              </a:solidFill>
            </a:endParaRPr>
          </a:p>
        </p:txBody>
      </p:sp>
      <p:sp>
        <p:nvSpPr>
          <p:cNvPr id="4" name="内容占位符 4"/>
          <p:cNvSpPr txBox="1">
            <a:spLocks/>
          </p:cNvSpPr>
          <p:nvPr/>
        </p:nvSpPr>
        <p:spPr>
          <a:xfrm>
            <a:off x="598620" y="680311"/>
            <a:ext cx="10383940" cy="549737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这一题是</a:t>
            </a:r>
            <a:r>
              <a:rPr lang="en-US" altLang="zh-CN" sz="2400" dirty="0">
                <a:latin typeface="微软雅黑" panose="020B0503020204020204" pitchFamily="34" charset="-122"/>
                <a:ea typeface="微软雅黑" panose="020B0503020204020204" pitchFamily="34" charset="-122"/>
              </a:rPr>
              <a:t>0/1</a:t>
            </a:r>
            <a:r>
              <a:rPr lang="zh-CN" altLang="zh-CN" sz="2400" dirty="0">
                <a:latin typeface="微软雅黑" panose="020B0503020204020204" pitchFamily="34" charset="-122"/>
                <a:ea typeface="微软雅黑" panose="020B0503020204020204" pitchFamily="34" charset="-122"/>
              </a:rPr>
              <a:t>背包：背包容量为</a:t>
            </a:r>
            <a:r>
              <a:rPr lang="en-US" altLang="zh-CN" sz="2400" dirty="0">
                <a:latin typeface="微软雅黑" panose="020B0503020204020204" pitchFamily="34" charset="-122"/>
                <a:ea typeface="微软雅黑" panose="020B0503020204020204" pitchFamily="34" charset="-122"/>
              </a:rPr>
              <a:t>2022</a:t>
            </a:r>
            <a:r>
              <a:rPr lang="zh-CN" altLang="zh-CN" sz="2400" dirty="0">
                <a:latin typeface="微软雅黑" panose="020B0503020204020204" pitchFamily="34" charset="-122"/>
                <a:ea typeface="微软雅黑" panose="020B0503020204020204" pitchFamily="34" charset="-122"/>
              </a:rPr>
              <a:t>，物品体积为</a:t>
            </a:r>
            <a:r>
              <a:rPr lang="en-US" altLang="zh-CN" sz="2400" dirty="0">
                <a:latin typeface="微软雅黑" panose="020B0503020204020204" pitchFamily="34" charset="-122"/>
                <a:ea typeface="微软雅黑" panose="020B0503020204020204" pitchFamily="34" charset="-122"/>
              </a:rPr>
              <a:t>1~2022</a:t>
            </a:r>
            <a:r>
              <a:rPr lang="zh-CN" altLang="zh-CN" sz="2400" dirty="0">
                <a:latin typeface="微软雅黑" panose="020B0503020204020204" pitchFamily="34" charset="-122"/>
                <a:ea typeface="微软雅黑" panose="020B0503020204020204" pitchFamily="34" charset="-122"/>
              </a:rPr>
              <a:t>，往背包中装</a:t>
            </a:r>
            <a:r>
              <a:rPr lang="en-US" altLang="zh-CN" sz="2400" dirty="0">
                <a:latin typeface="微软雅黑" panose="020B0503020204020204" pitchFamily="34" charset="-122"/>
                <a:ea typeface="微软雅黑" panose="020B0503020204020204" pitchFamily="34" charset="-122"/>
              </a:rPr>
              <a:t>10</a:t>
            </a:r>
            <a:r>
              <a:rPr lang="zh-CN" altLang="zh-CN" sz="2400" dirty="0">
                <a:latin typeface="微软雅黑" panose="020B0503020204020204" pitchFamily="34" charset="-122"/>
                <a:ea typeface="微软雅黑" panose="020B0503020204020204" pitchFamily="34" charset="-122"/>
              </a:rPr>
              <a:t>个物品，要求总体积为</a:t>
            </a:r>
            <a:r>
              <a:rPr lang="en-US" altLang="zh-CN" sz="2400" dirty="0">
                <a:latin typeface="微软雅黑" panose="020B0503020204020204" pitchFamily="34" charset="-122"/>
                <a:ea typeface="微软雅黑" panose="020B0503020204020204" pitchFamily="34" charset="-122"/>
              </a:rPr>
              <a:t>2022</a:t>
            </a:r>
            <a:r>
              <a:rPr lang="zh-CN" altLang="zh-CN" sz="2400" dirty="0">
                <a:latin typeface="微软雅黑" panose="020B0503020204020204" pitchFamily="34" charset="-122"/>
                <a:ea typeface="微软雅黑" panose="020B0503020204020204" pitchFamily="34" charset="-122"/>
              </a:rPr>
              <a:t>，问一共有多少种方案。</a:t>
            </a:r>
          </a:p>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定义</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][j][k]</a:t>
            </a:r>
            <a:r>
              <a:rPr lang="zh-CN" altLang="zh-CN" sz="2400" dirty="0">
                <a:latin typeface="微软雅黑" panose="020B0503020204020204" pitchFamily="34" charset="-122"/>
                <a:ea typeface="微软雅黑" panose="020B0503020204020204" pitchFamily="34" charset="-122"/>
              </a:rPr>
              <a:t>表示数字</a:t>
            </a:r>
            <a:r>
              <a:rPr lang="en-US" altLang="zh-CN" sz="2400" dirty="0">
                <a:latin typeface="微软雅黑" panose="020B0503020204020204" pitchFamily="34" charset="-122"/>
                <a:ea typeface="微软雅黑" panose="020B0503020204020204" pitchFamily="34" charset="-122"/>
              </a:rPr>
              <a:t>1~i</a:t>
            </a:r>
            <a:r>
              <a:rPr lang="zh-CN" altLang="zh-CN" sz="2400" dirty="0">
                <a:latin typeface="微软雅黑" panose="020B0503020204020204" pitchFamily="34" charset="-122"/>
                <a:ea typeface="微软雅黑" panose="020B0503020204020204" pitchFamily="34" charset="-122"/>
              </a:rPr>
              <a:t>取</a:t>
            </a:r>
            <a:r>
              <a:rPr lang="en-US" altLang="zh-CN" sz="2400" dirty="0">
                <a:latin typeface="微软雅黑" panose="020B0503020204020204" pitchFamily="34" charset="-122"/>
                <a:ea typeface="微软雅黑" panose="020B0503020204020204" pitchFamily="34" charset="-122"/>
              </a:rPr>
              <a:t>j</a:t>
            </a:r>
            <a:r>
              <a:rPr lang="zh-CN" altLang="zh-CN" sz="2400" dirty="0">
                <a:latin typeface="微软雅黑" panose="020B0503020204020204" pitchFamily="34" charset="-122"/>
                <a:ea typeface="微软雅黑" panose="020B0503020204020204" pitchFamily="34" charset="-122"/>
              </a:rPr>
              <a:t>个和为</a:t>
            </a:r>
            <a:r>
              <a:rPr lang="en-US" altLang="zh-CN" sz="2400" dirty="0">
                <a:latin typeface="微软雅黑" panose="020B0503020204020204" pitchFamily="34" charset="-122"/>
                <a:ea typeface="微软雅黑" panose="020B0503020204020204" pitchFamily="34" charset="-122"/>
              </a:rPr>
              <a:t>k</a:t>
            </a:r>
            <a:r>
              <a:rPr lang="zh-CN" altLang="zh-CN" sz="2400" dirty="0">
                <a:latin typeface="微软雅黑" panose="020B0503020204020204" pitchFamily="34" charset="-122"/>
                <a:ea typeface="微软雅黑" panose="020B0503020204020204" pitchFamily="34" charset="-122"/>
              </a:rPr>
              <a:t>的方案数。</a:t>
            </a:r>
          </a:p>
          <a:p>
            <a:pPr>
              <a:lnSpc>
                <a:spcPct val="150000"/>
              </a:lnSpc>
              <a:spcBef>
                <a:spcPts val="0"/>
              </a:spcBef>
            </a:pPr>
            <a:r>
              <a:rPr lang="zh-CN" altLang="en-US" sz="2400" dirty="0">
                <a:latin typeface="微软雅黑" panose="020B0503020204020204" pitchFamily="34" charset="-122"/>
                <a:ea typeface="微软雅黑" panose="020B0503020204020204" pitchFamily="34" charset="-122"/>
              </a:rPr>
              <a:t>状态转移：</a:t>
            </a:r>
            <a:r>
              <a:rPr lang="zh-CN" altLang="zh-CN" sz="2400" dirty="0">
                <a:latin typeface="微软雅黑" panose="020B0503020204020204" pitchFamily="34" charset="-122"/>
                <a:ea typeface="微软雅黑" panose="020B0503020204020204" pitchFamily="34" charset="-122"/>
              </a:rPr>
              <a:t>从</a:t>
            </a:r>
            <a:r>
              <a:rPr lang="en-US" altLang="zh-CN" sz="2400" dirty="0">
                <a:latin typeface="微软雅黑" panose="020B0503020204020204" pitchFamily="34" charset="-122"/>
                <a:ea typeface="微软雅黑" panose="020B0503020204020204" pitchFamily="34" charset="-122"/>
              </a:rPr>
              <a:t>i-1</a:t>
            </a:r>
            <a:r>
              <a:rPr lang="zh-CN" altLang="zh-CN" sz="2400" dirty="0">
                <a:latin typeface="微软雅黑" panose="020B0503020204020204" pitchFamily="34" charset="-122"/>
                <a:ea typeface="微软雅黑" panose="020B0503020204020204" pitchFamily="34" charset="-122"/>
              </a:rPr>
              <a:t>扩展到</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，分两种情况：</a:t>
            </a:r>
          </a:p>
          <a:p>
            <a:pPr marL="0" indent="0">
              <a:lnSpc>
                <a:spcPct val="150000"/>
              </a:lnSpc>
              <a:spcBef>
                <a:spcPts val="0"/>
              </a:spcBef>
              <a:buNone/>
            </a:pP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k</a:t>
            </a:r>
            <a:r>
              <a:rPr lang="zh-CN"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。数</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可以要，也可以不要。</a:t>
            </a:r>
          </a:p>
          <a:p>
            <a:pPr marL="457200" lvl="1" indent="0">
              <a:lnSpc>
                <a:spcPct val="150000"/>
              </a:lnSpc>
              <a:spcBef>
                <a:spcPts val="0"/>
              </a:spcBef>
              <a:buNone/>
            </a:pPr>
            <a:r>
              <a:rPr lang="zh-CN" altLang="zh-CN" dirty="0">
                <a:latin typeface="微软雅黑" panose="020B0503020204020204" pitchFamily="34" charset="-122"/>
                <a:ea typeface="微软雅黑" panose="020B0503020204020204" pitchFamily="34" charset="-122"/>
              </a:rPr>
              <a:t>要</a:t>
            </a:r>
            <a:r>
              <a:rPr lang="en-US" altLang="zh-CN" dirty="0" err="1">
                <a:latin typeface="微软雅黑" panose="020B0503020204020204" pitchFamily="34" charset="-122"/>
                <a:ea typeface="微软雅黑" panose="020B0503020204020204" pitchFamily="34" charset="-122"/>
              </a:rPr>
              <a:t>i</a:t>
            </a:r>
            <a:r>
              <a:rPr lang="zh-CN" altLang="zh-CN" dirty="0">
                <a:latin typeface="微软雅黑" panose="020B0503020204020204" pitchFamily="34" charset="-122"/>
                <a:ea typeface="微软雅黑" panose="020B0503020204020204" pitchFamily="34" charset="-122"/>
              </a:rPr>
              <a:t>。从</a:t>
            </a:r>
            <a:r>
              <a:rPr lang="en-US" altLang="zh-CN" dirty="0">
                <a:latin typeface="微软雅黑" panose="020B0503020204020204" pitchFamily="34" charset="-122"/>
                <a:ea typeface="微软雅黑" panose="020B0503020204020204" pitchFamily="34" charset="-122"/>
              </a:rPr>
              <a:t>1~i-1</a:t>
            </a:r>
            <a:r>
              <a:rPr lang="zh-CN" altLang="zh-CN" dirty="0">
                <a:latin typeface="微软雅黑" panose="020B0503020204020204" pitchFamily="34" charset="-122"/>
                <a:ea typeface="微软雅黑" panose="020B0503020204020204" pitchFamily="34" charset="-122"/>
              </a:rPr>
              <a:t>中取</a:t>
            </a:r>
            <a:r>
              <a:rPr lang="en-US" altLang="zh-CN" dirty="0">
                <a:latin typeface="微软雅黑" panose="020B0503020204020204" pitchFamily="34" charset="-122"/>
                <a:ea typeface="微软雅黑" panose="020B0503020204020204" pitchFamily="34" charset="-122"/>
              </a:rPr>
              <a:t>j-1</a:t>
            </a:r>
            <a:r>
              <a:rPr lang="zh-CN" altLang="zh-CN" dirty="0">
                <a:latin typeface="微软雅黑" panose="020B0503020204020204" pitchFamily="34" charset="-122"/>
                <a:ea typeface="微软雅黑" panose="020B0503020204020204" pitchFamily="34" charset="-122"/>
              </a:rPr>
              <a:t>个数，再取</a:t>
            </a:r>
            <a:r>
              <a:rPr lang="en-US" altLang="zh-CN" dirty="0" err="1">
                <a:latin typeface="微软雅黑" panose="020B0503020204020204" pitchFamily="34" charset="-122"/>
                <a:ea typeface="微软雅黑" panose="020B0503020204020204" pitchFamily="34" charset="-122"/>
              </a:rPr>
              <a:t>i</a:t>
            </a:r>
            <a:r>
              <a:rPr lang="zh-CN" altLang="zh-CN" dirty="0">
                <a:latin typeface="微软雅黑" panose="020B0503020204020204" pitchFamily="34" charset="-122"/>
                <a:ea typeface="微软雅黑" panose="020B0503020204020204" pitchFamily="34" charset="-122"/>
              </a:rPr>
              <a:t>，等价于</a:t>
            </a:r>
            <a:r>
              <a:rPr lang="en-US" altLang="zh-CN" dirty="0" err="1">
                <a:latin typeface="微软雅黑" panose="020B0503020204020204" pitchFamily="34" charset="-122"/>
                <a:ea typeface="微软雅黑" panose="020B0503020204020204" pitchFamily="34" charset="-122"/>
              </a:rPr>
              <a:t>dp</a:t>
            </a:r>
            <a:r>
              <a:rPr lang="en-US" altLang="zh-CN" dirty="0">
                <a:latin typeface="微软雅黑" panose="020B0503020204020204" pitchFamily="34" charset="-122"/>
                <a:ea typeface="微软雅黑" panose="020B0503020204020204" pitchFamily="34" charset="-122"/>
              </a:rPr>
              <a:t>[i-1][j-1][k-</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a:t>
            </a:r>
          </a:p>
          <a:p>
            <a:pPr marL="0" indent="0">
              <a:lnSpc>
                <a:spcPct val="150000"/>
              </a:lnSpc>
              <a:spcBef>
                <a:spcPts val="0"/>
              </a:spcBef>
              <a:buNone/>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不要</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。从</a:t>
            </a:r>
            <a:r>
              <a:rPr lang="en-US" altLang="zh-CN" sz="2400" dirty="0">
                <a:latin typeface="微软雅黑" panose="020B0503020204020204" pitchFamily="34" charset="-122"/>
                <a:ea typeface="微软雅黑" panose="020B0503020204020204" pitchFamily="34" charset="-122"/>
              </a:rPr>
              <a:t>1~i-1</a:t>
            </a:r>
            <a:r>
              <a:rPr lang="zh-CN" altLang="zh-CN" sz="2400" dirty="0">
                <a:latin typeface="微软雅黑" panose="020B0503020204020204" pitchFamily="34" charset="-122"/>
                <a:ea typeface="微软雅黑" panose="020B0503020204020204" pitchFamily="34" charset="-122"/>
              </a:rPr>
              <a:t>中取</a:t>
            </a:r>
            <a:r>
              <a:rPr lang="en-US" altLang="zh-CN" sz="2400" dirty="0">
                <a:latin typeface="微软雅黑" panose="020B0503020204020204" pitchFamily="34" charset="-122"/>
                <a:ea typeface="微软雅黑" panose="020B0503020204020204" pitchFamily="34" charset="-122"/>
              </a:rPr>
              <a:t>j</a:t>
            </a:r>
            <a:r>
              <a:rPr lang="zh-CN" altLang="zh-CN" sz="2400" dirty="0">
                <a:latin typeface="微软雅黑" panose="020B0503020204020204" pitchFamily="34" charset="-122"/>
                <a:ea typeface="微软雅黑" panose="020B0503020204020204" pitchFamily="34" charset="-122"/>
              </a:rPr>
              <a:t>个数，等价于</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[i-1][j][k]</a:t>
            </a:r>
            <a:r>
              <a:rPr lang="zh-CN" altLang="zh-CN" sz="2400" dirty="0">
                <a:latin typeface="微软雅黑" panose="020B0503020204020204" pitchFamily="34" charset="-122"/>
                <a:ea typeface="微软雅黑" panose="020B0503020204020204" pitchFamily="34" charset="-122"/>
              </a:rPr>
              <a:t>。</a:t>
            </a:r>
          </a:p>
          <a:p>
            <a:pPr marL="0" indent="0">
              <a:lnSpc>
                <a:spcPct val="150000"/>
              </a:lnSpc>
              <a:spcBef>
                <a:spcPts val="0"/>
              </a:spcBef>
              <a:buNone/>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合起来：</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][j][k]=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[i-1][j][k] +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[i-1][j-1][k-</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p>
          <a:p>
            <a:pPr marL="0" indent="0">
              <a:lnSpc>
                <a:spcPct val="150000"/>
              </a:lnSpc>
              <a:spcBef>
                <a:spcPts val="0"/>
              </a:spcBef>
              <a:buNone/>
            </a:pP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k&lt;</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。由于数</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比总和</a:t>
            </a:r>
            <a:r>
              <a:rPr lang="en-US" altLang="zh-CN" sz="2400" dirty="0">
                <a:latin typeface="微软雅黑" panose="020B0503020204020204" pitchFamily="34" charset="-122"/>
                <a:ea typeface="微软雅黑" panose="020B0503020204020204" pitchFamily="34" charset="-122"/>
              </a:rPr>
              <a:t>k</a:t>
            </a:r>
            <a:r>
              <a:rPr lang="zh-CN" altLang="zh-CN" sz="2400" dirty="0">
                <a:latin typeface="微软雅黑" panose="020B0503020204020204" pitchFamily="34" charset="-122"/>
                <a:ea typeface="微软雅黑" panose="020B0503020204020204" pitchFamily="34" charset="-122"/>
              </a:rPr>
              <a:t>还大，显然</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不能用，有</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][j][k] = </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[i-1][j][k]</a:t>
            </a:r>
            <a:r>
              <a:rPr lang="zh-CN" altLang="zh-CN" sz="2400" dirty="0">
                <a:latin typeface="微软雅黑" panose="020B0503020204020204" pitchFamily="34" charset="-122"/>
                <a:ea typeface="微软雅黑" panose="020B0503020204020204" pitchFamily="34" charset="-122"/>
              </a:rPr>
              <a:t>。</a:t>
            </a:r>
          </a:p>
        </p:txBody>
      </p:sp>
      <p:sp>
        <p:nvSpPr>
          <p:cNvPr id="5" name="Rectangle 2"/>
          <p:cNvSpPr txBox="1">
            <a:spLocks noChangeArrowheads="1"/>
          </p:cNvSpPr>
          <p:nvPr/>
        </p:nvSpPr>
        <p:spPr>
          <a:xfrm>
            <a:off x="681165" y="222195"/>
            <a:ext cx="2818850" cy="458116"/>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400" dirty="0">
                <a:solidFill>
                  <a:srgbClr val="C00000"/>
                </a:solidFill>
                <a:effectLst/>
                <a:latin typeface="微软雅黑" panose="020B0503020204020204" pitchFamily="34" charset="-122"/>
                <a:ea typeface="微软雅黑" panose="020B0503020204020204" pitchFamily="34" charset="-122"/>
              </a:rPr>
              <a:t>题解</a:t>
            </a:r>
          </a:p>
        </p:txBody>
      </p:sp>
    </p:spTree>
    <p:extLst>
      <p:ext uri="{BB962C8B-B14F-4D97-AF65-F5344CB8AC3E}">
        <p14:creationId xmlns:p14="http://schemas.microsoft.com/office/powerpoint/2010/main" val="3046105839"/>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50</a:t>
            </a:fld>
            <a:endParaRPr lang="en-US" altLang="zh-CN" b="0" dirty="0">
              <a:solidFill>
                <a:schemeClr val="tx1"/>
              </a:solidFill>
            </a:endParaRPr>
          </a:p>
        </p:txBody>
      </p:sp>
      <p:sp>
        <p:nvSpPr>
          <p:cNvPr id="21" name="内容占位符 2"/>
          <p:cNvSpPr txBox="1"/>
          <p:nvPr/>
        </p:nvSpPr>
        <p:spPr>
          <a:xfrm>
            <a:off x="751325" y="680310"/>
            <a:ext cx="10994760" cy="55582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#include&lt;bits/</a:t>
            </a:r>
            <a:r>
              <a:rPr lang="en-US" altLang="zh-CN" sz="2400" b="0" dirty="0" err="1">
                <a:latin typeface="宋体" panose="02010600030101010101" pitchFamily="2" charset="-122"/>
                <a:ea typeface="宋体" panose="02010600030101010101" pitchFamily="2" charset="-122"/>
              </a:rPr>
              <a:t>stdc</a:t>
            </a:r>
            <a:r>
              <a:rPr lang="en-US" altLang="zh-CN" sz="24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using namespace </a:t>
            </a:r>
            <a:r>
              <a:rPr lang="en-US" altLang="zh-CN" sz="2400" b="0" dirty="0" err="1">
                <a:latin typeface="宋体" panose="02010600030101010101" pitchFamily="2" charset="-122"/>
                <a:ea typeface="宋体" panose="02010600030101010101" pitchFamily="2" charset="-122"/>
              </a:rPr>
              <a:t>std</a:t>
            </a:r>
            <a:r>
              <a:rPr lang="en-US" altLang="zh-CN" sz="24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long </a:t>
            </a:r>
            <a:r>
              <a:rPr lang="en-US" altLang="zh-CN" sz="2400" b="0" dirty="0" err="1">
                <a:latin typeface="宋体" panose="02010600030101010101" pitchFamily="2" charset="-122"/>
                <a:ea typeface="宋体" panose="02010600030101010101" pitchFamily="2" charset="-122"/>
              </a:rPr>
              <a:t>long</a:t>
            </a:r>
            <a:r>
              <a:rPr lang="en-US" altLang="zh-CN" sz="2400" b="0" dirty="0">
                <a:latin typeface="宋体" panose="02010600030101010101" pitchFamily="2" charset="-122"/>
                <a:ea typeface="宋体" panose="02010600030101010101" pitchFamily="2" charset="-122"/>
              </a:rPr>
              <a:t>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[2024][11][2024]={0};</a:t>
            </a:r>
          </a:p>
          <a:p>
            <a:pPr marL="0" indent="0">
              <a:lnSpc>
                <a:spcPct val="100000"/>
              </a:lnSpc>
              <a:spcBef>
                <a:spcPts val="0"/>
              </a:spcBef>
              <a:buNone/>
            </a:pPr>
            <a:r>
              <a:rPr lang="en-US" altLang="zh-CN" sz="2400" b="0" dirty="0" err="1">
                <a:latin typeface="宋体" panose="02010600030101010101" pitchFamily="2" charset="-122"/>
                <a:ea typeface="宋体" panose="02010600030101010101" pitchFamily="2" charset="-122"/>
              </a:rPr>
              <a:t>int</a:t>
            </a:r>
            <a:r>
              <a:rPr lang="en-US" altLang="zh-CN" sz="2400" b="0" dirty="0">
                <a:latin typeface="宋体" panose="02010600030101010101" pitchFamily="2" charset="-122"/>
                <a:ea typeface="宋体" panose="02010600030101010101" pitchFamily="2" charset="-122"/>
              </a:rPr>
              <a:t> main(){</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    for(</a:t>
            </a:r>
            <a:r>
              <a:rPr lang="en-US" altLang="zh-CN" sz="2400" b="0" dirty="0" err="1">
                <a:latin typeface="宋体" panose="02010600030101010101" pitchFamily="2" charset="-122"/>
                <a:ea typeface="宋体" panose="02010600030101010101" pitchFamily="2" charset="-122"/>
              </a:rPr>
              <a:t>int</a:t>
            </a:r>
            <a:r>
              <a:rPr lang="en-US" altLang="zh-CN" sz="2400" b="0" dirty="0">
                <a:latin typeface="宋体" panose="02010600030101010101" pitchFamily="2" charset="-122"/>
                <a:ea typeface="宋体" panose="02010600030101010101" pitchFamily="2" charset="-122"/>
              </a:rPr>
              <a:t> </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=0;i&lt;=2022;i++)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][0][0]=1; //</a:t>
            </a:r>
            <a:r>
              <a:rPr lang="zh-CN" altLang="en-US" sz="2400" b="0" dirty="0">
                <a:latin typeface="宋体" panose="02010600030101010101" pitchFamily="2" charset="-122"/>
                <a:ea typeface="宋体" panose="02010600030101010101" pitchFamily="2" charset="-122"/>
              </a:rPr>
              <a:t>特别注意这个初始化</a:t>
            </a:r>
          </a:p>
          <a:p>
            <a:pPr marL="0" indent="0">
              <a:lnSpc>
                <a:spcPct val="100000"/>
              </a:lnSpc>
              <a:spcBef>
                <a:spcPts val="0"/>
              </a:spcBef>
              <a:buNone/>
            </a:pP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for(</a:t>
            </a:r>
            <a:r>
              <a:rPr lang="en-US" altLang="zh-CN" sz="2400" b="0" dirty="0" err="1">
                <a:latin typeface="宋体" panose="02010600030101010101" pitchFamily="2" charset="-122"/>
                <a:ea typeface="宋体" panose="02010600030101010101" pitchFamily="2" charset="-122"/>
              </a:rPr>
              <a:t>int</a:t>
            </a:r>
            <a:r>
              <a:rPr lang="en-US" altLang="zh-CN" sz="2400" b="0" dirty="0">
                <a:latin typeface="宋体" panose="02010600030101010101" pitchFamily="2" charset="-122"/>
                <a:ea typeface="宋体" panose="02010600030101010101" pitchFamily="2" charset="-122"/>
              </a:rPr>
              <a:t> </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=1;i&lt;=2022;i++)</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         for(</a:t>
            </a:r>
            <a:r>
              <a:rPr lang="en-US" altLang="zh-CN" sz="2400" b="0" dirty="0" err="1">
                <a:latin typeface="宋体" panose="02010600030101010101" pitchFamily="2" charset="-122"/>
                <a:ea typeface="宋体" panose="02010600030101010101" pitchFamily="2" charset="-122"/>
              </a:rPr>
              <a:t>int</a:t>
            </a:r>
            <a:r>
              <a:rPr lang="en-US" altLang="zh-CN" sz="2400" b="0" dirty="0">
                <a:latin typeface="宋体" panose="02010600030101010101" pitchFamily="2" charset="-122"/>
                <a:ea typeface="宋体" panose="02010600030101010101" pitchFamily="2" charset="-122"/>
              </a:rPr>
              <a:t> j=1;j&lt;=10;j++) //</a:t>
            </a:r>
            <a:r>
              <a:rPr lang="zh-CN" altLang="en-US" sz="2400" b="0" dirty="0">
                <a:latin typeface="宋体" panose="02010600030101010101" pitchFamily="2" charset="-122"/>
                <a:ea typeface="宋体" panose="02010600030101010101" pitchFamily="2" charset="-122"/>
              </a:rPr>
              <a:t>注意：</a:t>
            </a:r>
            <a:r>
              <a:rPr lang="en-US" altLang="zh-CN" sz="2400" b="0" dirty="0">
                <a:latin typeface="宋体" panose="02010600030101010101" pitchFamily="2" charset="-122"/>
                <a:ea typeface="宋体" panose="02010600030101010101" pitchFamily="2" charset="-122"/>
              </a:rPr>
              <a:t>j</a:t>
            </a:r>
            <a:r>
              <a:rPr lang="zh-CN" altLang="en-US" sz="2400" b="0" dirty="0">
                <a:latin typeface="宋体" panose="02010600030101010101" pitchFamily="2" charset="-122"/>
                <a:ea typeface="宋体" panose="02010600030101010101" pitchFamily="2" charset="-122"/>
              </a:rPr>
              <a:t>从小到大，或从大到小都行</a:t>
            </a:r>
          </a:p>
          <a:p>
            <a:pPr marL="0" indent="0">
              <a:lnSpc>
                <a:spcPct val="100000"/>
              </a:lnSpc>
              <a:spcBef>
                <a:spcPts val="0"/>
              </a:spcBef>
              <a:buNone/>
            </a:pP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for(</a:t>
            </a:r>
            <a:r>
              <a:rPr lang="en-US" altLang="zh-CN" sz="2400" b="0" dirty="0" err="1">
                <a:latin typeface="宋体" panose="02010600030101010101" pitchFamily="2" charset="-122"/>
                <a:ea typeface="宋体" panose="02010600030101010101" pitchFamily="2" charset="-122"/>
              </a:rPr>
              <a:t>int</a:t>
            </a:r>
            <a:r>
              <a:rPr lang="en-US" altLang="zh-CN" sz="2400" b="0" dirty="0">
                <a:latin typeface="宋体" panose="02010600030101010101" pitchFamily="2" charset="-122"/>
                <a:ea typeface="宋体" panose="02010600030101010101" pitchFamily="2" charset="-122"/>
              </a:rPr>
              <a:t> k=1;k&lt;=2022;k++){</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                if(k&lt;</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][j][k] =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[i-1][j][k];  //</a:t>
            </a:r>
            <a:r>
              <a:rPr lang="zh-CN" altLang="en-US" sz="2400" b="0" dirty="0">
                <a:latin typeface="宋体" panose="02010600030101010101" pitchFamily="2" charset="-122"/>
                <a:ea typeface="宋体" panose="02010600030101010101" pitchFamily="2" charset="-122"/>
              </a:rPr>
              <a:t>无法装进背包</a:t>
            </a:r>
          </a:p>
          <a:p>
            <a:pPr marL="0" indent="0">
              <a:lnSpc>
                <a:spcPct val="100000"/>
              </a:lnSpc>
              <a:spcBef>
                <a:spcPts val="0"/>
              </a:spcBef>
              <a:buNone/>
            </a:pP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else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][j][k] =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[i-1][j][k]+</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[i-1][j-1][k-</a:t>
            </a:r>
            <a:r>
              <a:rPr lang="en-US" altLang="zh-CN" sz="2400" b="0" dirty="0" err="1">
                <a:latin typeface="宋体" panose="02010600030101010101" pitchFamily="2" charset="-122"/>
                <a:ea typeface="宋体" panose="02010600030101010101" pitchFamily="2" charset="-122"/>
              </a:rPr>
              <a:t>i</a:t>
            </a:r>
            <a:r>
              <a:rPr lang="en-US" altLang="zh-CN" sz="24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    </a:t>
            </a:r>
            <a:r>
              <a:rPr lang="en-US" altLang="zh-CN" sz="2400" b="0" dirty="0" err="1">
                <a:latin typeface="宋体" panose="02010600030101010101" pitchFamily="2" charset="-122"/>
                <a:ea typeface="宋体" panose="02010600030101010101" pitchFamily="2" charset="-122"/>
              </a:rPr>
              <a:t>cout</a:t>
            </a:r>
            <a:r>
              <a:rPr lang="en-US" altLang="zh-CN" sz="2400" b="0" dirty="0">
                <a:latin typeface="宋体" panose="02010600030101010101" pitchFamily="2" charset="-122"/>
                <a:ea typeface="宋体" panose="02010600030101010101" pitchFamily="2" charset="-122"/>
              </a:rPr>
              <a:t> &lt;&lt; </a:t>
            </a:r>
            <a:r>
              <a:rPr lang="en-US" altLang="zh-CN" sz="2400" b="0" dirty="0" err="1">
                <a:latin typeface="宋体" panose="02010600030101010101" pitchFamily="2" charset="-122"/>
                <a:ea typeface="宋体" panose="02010600030101010101" pitchFamily="2" charset="-122"/>
              </a:rPr>
              <a:t>dp</a:t>
            </a:r>
            <a:r>
              <a:rPr lang="en-US" altLang="zh-CN" sz="2400" b="0" dirty="0">
                <a:latin typeface="宋体" panose="02010600030101010101" pitchFamily="2" charset="-122"/>
                <a:ea typeface="宋体" panose="02010600030101010101" pitchFamily="2" charset="-122"/>
              </a:rPr>
              <a:t>[2022][10][2022];</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    return 0;</a:t>
            </a:r>
          </a:p>
          <a:p>
            <a:pPr marL="0" indent="0">
              <a:lnSpc>
                <a:spcPct val="100000"/>
              </a:lnSpc>
              <a:spcBef>
                <a:spcPts val="0"/>
              </a:spcBef>
              <a:buNone/>
            </a:pPr>
            <a:r>
              <a:rPr lang="en-US" altLang="zh-CN" sz="2400" b="0" dirty="0">
                <a:latin typeface="宋体" panose="02010600030101010101" pitchFamily="2" charset="-122"/>
                <a:ea typeface="宋体" panose="02010600030101010101" pitchFamily="2" charset="-122"/>
              </a:rPr>
              <a:t>}</a:t>
            </a:r>
          </a:p>
        </p:txBody>
      </p:sp>
    </p:spTree>
    <p:extLst>
      <p:ext uri="{BB962C8B-B14F-4D97-AF65-F5344CB8AC3E}">
        <p14:creationId xmlns:p14="http://schemas.microsoft.com/office/powerpoint/2010/main" val="562196521"/>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69758"/>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600" dirty="0">
                <a:solidFill>
                  <a:srgbClr val="C00000"/>
                </a:solidFill>
                <a:effectLst/>
                <a:latin typeface="微软雅黑" panose="020B0503020204020204" pitchFamily="34" charset="-122"/>
                <a:ea typeface="微软雅黑" panose="020B0503020204020204" pitchFamily="34" charset="-122"/>
              </a:rPr>
              <a:t>完全背包</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51</a:t>
            </a:fld>
            <a:endParaRPr lang="en-US" altLang="zh-CN" b="0" dirty="0">
              <a:solidFill>
                <a:schemeClr val="tx1"/>
              </a:solidFill>
            </a:endParaRPr>
          </a:p>
        </p:txBody>
      </p:sp>
      <p:sp>
        <p:nvSpPr>
          <p:cNvPr id="5" name="内容占位符 4"/>
          <p:cNvSpPr txBox="1">
            <a:spLocks/>
          </p:cNvSpPr>
          <p:nvPr/>
        </p:nvSpPr>
        <p:spPr>
          <a:xfrm>
            <a:off x="598620" y="1596540"/>
            <a:ext cx="10383940" cy="198516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zh-CN" altLang="en-US" sz="2400" dirty="0">
                <a:latin typeface="微软雅黑" panose="020B0503020204020204" pitchFamily="34" charset="-122"/>
                <a:ea typeface="微软雅黑" panose="020B0503020204020204" pitchFamily="34" charset="-122"/>
              </a:rPr>
              <a:t>完全背包的定义：给定一个背包和</a:t>
            </a:r>
            <a:r>
              <a:rPr lang="en-US" altLang="zh-CN" sz="24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种物品，背包容量为</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，第</a:t>
            </a:r>
            <a:r>
              <a:rPr lang="en-US" altLang="zh-CN" sz="2400" dirty="0" err="1">
                <a:latin typeface="微软雅黑" panose="020B0503020204020204" pitchFamily="34" charset="-122"/>
                <a:ea typeface="微软雅黑" panose="020B0503020204020204" pitchFamily="34" charset="-122"/>
              </a:rPr>
              <a:t>i</a:t>
            </a:r>
            <a:r>
              <a:rPr lang="zh-CN" altLang="en-US" sz="2400" dirty="0">
                <a:latin typeface="微软雅黑" panose="020B0503020204020204" pitchFamily="34" charset="-122"/>
                <a:ea typeface="微软雅黑" panose="020B0503020204020204" pitchFamily="34" charset="-122"/>
              </a:rPr>
              <a:t>种物品的体积为</a:t>
            </a:r>
            <a:r>
              <a:rPr lang="en-US" altLang="zh-CN" sz="2400" dirty="0">
                <a:latin typeface="微软雅黑" panose="020B0503020204020204" pitchFamily="34" charset="-122"/>
                <a:ea typeface="微软雅黑" panose="020B0503020204020204" pitchFamily="34" charset="-122"/>
              </a:rPr>
              <a:t>ci</a:t>
            </a:r>
            <a:r>
              <a:rPr lang="zh-CN" altLang="en-US" sz="2400" dirty="0">
                <a:latin typeface="微软雅黑" panose="020B0503020204020204" pitchFamily="34" charset="-122"/>
                <a:ea typeface="微软雅黑" panose="020B0503020204020204" pitchFamily="34" charset="-122"/>
              </a:rPr>
              <a:t>，价值为</a:t>
            </a:r>
            <a:r>
              <a:rPr lang="en-US" altLang="zh-CN" sz="2400" dirty="0" err="1">
                <a:latin typeface="微软雅黑" panose="020B0503020204020204" pitchFamily="34" charset="-122"/>
                <a:ea typeface="微软雅黑" panose="020B0503020204020204" pitchFamily="34" charset="-122"/>
              </a:rPr>
              <a:t>wi</a:t>
            </a:r>
            <a:r>
              <a:rPr lang="zh-CN" altLang="en-US" sz="2400" dirty="0">
                <a:latin typeface="微软雅黑" panose="020B0503020204020204" pitchFamily="34" charset="-122"/>
                <a:ea typeface="微软雅黑" panose="020B0503020204020204" pitchFamily="34" charset="-122"/>
              </a:rPr>
              <a:t>，数量有无限多个；选择一些物品装入背包，在不超过背包容量</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的情况下，使得背包中物品的总价值最大。</a:t>
            </a:r>
            <a:endParaRPr lang="zh-CN"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8411601"/>
      </p:ext>
    </p:extLst>
  </p:cSld>
  <p:clrMapOvr>
    <a:masterClrMapping/>
  </p:clrMapOvr>
  <mc:AlternateContent xmlns:mc="http://schemas.openxmlformats.org/markup-compatibility/2006" xmlns:p14="http://schemas.microsoft.com/office/powerpoint/2010/main">
    <mc:Choice Requires="p14">
      <p:transition spd="slow" p14:dur="2000" advTm="80440"/>
    </mc:Choice>
    <mc:Fallback xmlns="">
      <p:transition spd="slow" advTm="804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69758"/>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600" dirty="0">
                <a:solidFill>
                  <a:srgbClr val="C00000"/>
                </a:solidFill>
                <a:effectLst/>
                <a:latin typeface="微软雅黑" panose="020B0503020204020204" pitchFamily="34" charset="-122"/>
                <a:ea typeface="微软雅黑" panose="020B0503020204020204" pitchFamily="34" charset="-122"/>
              </a:rPr>
              <a:t>例题</a:t>
            </a:r>
            <a:r>
              <a:rPr lang="en-US" altLang="zh-CN" sz="3600" dirty="0">
                <a:solidFill>
                  <a:srgbClr val="C00000"/>
                </a:solidFill>
                <a:effectLst/>
                <a:latin typeface="微软雅黑" panose="020B0503020204020204" pitchFamily="34" charset="-122"/>
                <a:ea typeface="微软雅黑" panose="020B0503020204020204" pitchFamily="34" charset="-122"/>
              </a:rPr>
              <a:t>8.5</a:t>
            </a:r>
            <a:r>
              <a:rPr lang="zh-CN" altLang="en-US" sz="3600" dirty="0">
                <a:solidFill>
                  <a:srgbClr val="C00000"/>
                </a:solidFill>
                <a:effectLst/>
                <a:latin typeface="微软雅黑" panose="020B0503020204020204" pitchFamily="34" charset="-122"/>
                <a:ea typeface="微软雅黑" panose="020B0503020204020204" pitchFamily="34" charset="-122"/>
              </a:rPr>
              <a:t>：疯狂的采药 </a:t>
            </a:r>
            <a:r>
              <a:rPr lang="en-US" altLang="zh-CN" sz="2000" b="0" dirty="0">
                <a:solidFill>
                  <a:srgbClr val="0070C0"/>
                </a:solidFill>
                <a:effectLst/>
                <a:latin typeface="微软雅黑" panose="020B0503020204020204" pitchFamily="34" charset="-122"/>
                <a:ea typeface="微软雅黑" panose="020B0503020204020204" pitchFamily="34" charset="-122"/>
                <a:sym typeface="+mn-ea"/>
              </a:rPr>
              <a:t>https://www.luogu.com.cn/problem/P1616</a:t>
            </a:r>
            <a:endParaRPr lang="zh-CN" altLang="en-US" sz="2000" b="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52</a:t>
            </a:fld>
            <a:endParaRPr lang="en-US" altLang="zh-CN" b="0" dirty="0">
              <a:solidFill>
                <a:schemeClr val="tx1"/>
              </a:solidFill>
            </a:endParaRPr>
          </a:p>
        </p:txBody>
      </p:sp>
      <p:graphicFrame>
        <p:nvGraphicFramePr>
          <p:cNvPr id="4" name="表格 3"/>
          <p:cNvGraphicFramePr/>
          <p:nvPr>
            <p:custDataLst>
              <p:tags r:id="rId1"/>
            </p:custDataLst>
          </p:nvPr>
        </p:nvGraphicFramePr>
        <p:xfrm>
          <a:off x="579755" y="985720"/>
          <a:ext cx="10656570" cy="5982335"/>
        </p:xfrm>
        <a:graphic>
          <a:graphicData uri="http://schemas.openxmlformats.org/drawingml/2006/table">
            <a:tbl>
              <a:tblPr/>
              <a:tblGrid>
                <a:gridCol w="5409565">
                  <a:extLst>
                    <a:ext uri="{9D8B030D-6E8A-4147-A177-3AD203B41FA5}">
                      <a16:colId xmlns:a16="http://schemas.microsoft.com/office/drawing/2014/main" val="20000"/>
                    </a:ext>
                  </a:extLst>
                </a:gridCol>
                <a:gridCol w="5247005">
                  <a:extLst>
                    <a:ext uri="{9D8B030D-6E8A-4147-A177-3AD203B41FA5}">
                      <a16:colId xmlns:a16="http://schemas.microsoft.com/office/drawing/2014/main" val="20001"/>
                    </a:ext>
                  </a:extLst>
                </a:gridCol>
              </a:tblGrid>
              <a:tr h="3507105">
                <a:tc gridSpan="2">
                  <a:txBody>
                    <a:bodyPr/>
                    <a:lstStyle/>
                    <a:p>
                      <a:pPr>
                        <a:lnSpc>
                          <a:spcPct val="120000"/>
                        </a:lnSpc>
                      </a:pP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问题描述：药童</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Li</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去山洞里采药。山洞里有一些不同种类的草药，每种草药可以无限制地疯狂采摘。采每一种都需要一些时间，每一种也有它自身的价值。给</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Li</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一段时间，在这段时间里，让采到的草药的总价值最大。</a:t>
                      </a:r>
                    </a:p>
                    <a:p>
                      <a:pPr>
                        <a:lnSpc>
                          <a:spcPct val="120000"/>
                        </a:lnSpc>
                      </a:pP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输入：输入第一行有两个整数，分别代表总共能够用来采药的时间</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C</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和代表山洞里的草药的数目</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n</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。第</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2 </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到第</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 (n+1) </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行，每行两个整数，第</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 (i+1) </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行的整数 </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c</a:t>
                      </a:r>
                      <a:r>
                        <a:rPr lang="en-US" altLang="zh-CN" sz="2400" b="1" kern="1200" baseline="-25000" dirty="0">
                          <a:solidFill>
                            <a:schemeClr val="tx1"/>
                          </a:solidFill>
                          <a:effectLst/>
                          <a:latin typeface="微软雅黑" panose="020B0503020204020204" pitchFamily="34" charset="-122"/>
                          <a:ea typeface="微软雅黑" panose="020B0503020204020204" pitchFamily="34" charset="-122"/>
                          <a:cs typeface="+mn-cs"/>
                        </a:rPr>
                        <a:t>i</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a:t>
                      </a:r>
                      <a:r>
                        <a:rPr lang="en-US" altLang="zh-CN" sz="2400" b="1" kern="1200" dirty="0" err="1">
                          <a:solidFill>
                            <a:schemeClr val="tx1"/>
                          </a:solidFill>
                          <a:effectLst/>
                          <a:latin typeface="微软雅黑" panose="020B0503020204020204" pitchFamily="34" charset="-122"/>
                          <a:ea typeface="微软雅黑" panose="020B0503020204020204" pitchFamily="34" charset="-122"/>
                          <a:cs typeface="+mn-cs"/>
                        </a:rPr>
                        <a:t>w</a:t>
                      </a:r>
                      <a:r>
                        <a:rPr lang="en-US" altLang="zh-CN" sz="2400" b="1" kern="1200" baseline="-25000" dirty="0" err="1">
                          <a:solidFill>
                            <a:schemeClr val="tx1"/>
                          </a:solidFill>
                          <a:effectLst/>
                          <a:latin typeface="微软雅黑" panose="020B0503020204020204" pitchFamily="34" charset="-122"/>
                          <a:ea typeface="微软雅黑" panose="020B0503020204020204" pitchFamily="34" charset="-122"/>
                          <a:cs typeface="+mn-cs"/>
                        </a:rPr>
                        <a:t>i</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分别表示采摘第</a:t>
                      </a:r>
                      <a:r>
                        <a:rPr lang="en-US" altLang="zh-CN" sz="2400" b="1" kern="1200" dirty="0" err="1">
                          <a:solidFill>
                            <a:schemeClr val="tx1"/>
                          </a:solidFill>
                          <a:effectLst/>
                          <a:latin typeface="微软雅黑" panose="020B0503020204020204" pitchFamily="34" charset="-122"/>
                          <a:ea typeface="微软雅黑" panose="020B0503020204020204" pitchFamily="34" charset="-122"/>
                          <a:cs typeface="+mn-cs"/>
                        </a:rPr>
                        <a:t>i</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种草药的时间和该草药的价值。</a:t>
                      </a:r>
                    </a:p>
                    <a:p>
                      <a:pPr>
                        <a:lnSpc>
                          <a:spcPct val="120000"/>
                        </a:lnSpc>
                      </a:pP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输出：输出一行，这一行只包含一个整数，表示在规定的时间内，可以采到的草药的最大总价值。</a:t>
                      </a:r>
                      <a:endParaRPr lang="zh-CN" altLang="en-US" sz="3200" b="1" dirty="0">
                        <a:latin typeface="微软雅黑" panose="020B0503020204020204" pitchFamily="34" charset="-122"/>
                        <a:ea typeface="微软雅黑" panose="020B0503020204020204" pitchFamily="34" charset="-122"/>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lgn="ctr">
                      <a:solidFill>
                        <a:srgbClr val="000008"/>
                      </a:solidFill>
                      <a:prstDash val="solid"/>
                      <a:round/>
                      <a:headEnd type="none" w="med" len="med"/>
                      <a:tailEnd type="none" w="med" len="med"/>
                    </a:lnB>
                    <a:noFill/>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0"/>
                  </a:ext>
                </a:extLst>
              </a:tr>
              <a:tr h="1187450">
                <a:tc>
                  <a:txBody>
                    <a:bodyPr/>
                    <a:lstStyle/>
                    <a:p>
                      <a:pPr algn="just">
                        <a:spcAft>
                          <a:spcPts val="0"/>
                        </a:spcAft>
                      </a:pPr>
                      <a:r>
                        <a:rPr lang="zh-CN" sz="2000" b="0" kern="2200">
                          <a:effectLst/>
                          <a:latin typeface="Calibri" panose="020F0502020204030204" pitchFamily="34" charset="0"/>
                          <a:ea typeface="宋体" panose="02010600030101010101" pitchFamily="2" charset="-122"/>
                          <a:cs typeface="宋体" panose="02010600030101010101" pitchFamily="2" charset="-122"/>
                        </a:rPr>
                        <a:t>输入样例：</a:t>
                      </a:r>
                      <a:endParaRPr lang="zh-CN" sz="2000" b="1" kern="22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b="0" kern="2200">
                          <a:effectLst/>
                          <a:latin typeface="宋体" panose="02010600030101010101" pitchFamily="2" charset="-122"/>
                          <a:ea typeface="宋体" panose="02010600030101010101" pitchFamily="2" charset="-122"/>
                          <a:cs typeface="宋体" panose="02010600030101010101" pitchFamily="2" charset="-122"/>
                        </a:rPr>
                        <a:t>70 3</a:t>
                      </a:r>
                      <a:endParaRPr lang="zh-CN" sz="2000" b="1" kern="22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b="0" kern="2200">
                          <a:effectLst/>
                          <a:latin typeface="宋体" panose="02010600030101010101" pitchFamily="2" charset="-122"/>
                          <a:ea typeface="宋体" panose="02010600030101010101" pitchFamily="2" charset="-122"/>
                          <a:cs typeface="宋体" panose="02010600030101010101" pitchFamily="2" charset="-122"/>
                        </a:rPr>
                        <a:t>71 100</a:t>
                      </a:r>
                      <a:endParaRPr lang="zh-CN" sz="2000" b="1" kern="22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b="0" kern="2200">
                          <a:effectLst/>
                          <a:latin typeface="宋体" panose="02010600030101010101" pitchFamily="2" charset="-122"/>
                          <a:ea typeface="宋体" panose="02010600030101010101" pitchFamily="2" charset="-122"/>
                          <a:cs typeface="宋体" panose="02010600030101010101" pitchFamily="2" charset="-122"/>
                        </a:rPr>
                        <a:t>69 1</a:t>
                      </a:r>
                      <a:endParaRPr lang="zh-CN" sz="2000" b="1" kern="220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b="0" kern="2200">
                          <a:effectLst/>
                          <a:latin typeface="宋体" panose="02010600030101010101" pitchFamily="2" charset="-122"/>
                          <a:ea typeface="宋体" panose="02010600030101010101" pitchFamily="2" charset="-122"/>
                          <a:cs typeface="宋体" panose="02010600030101010101" pitchFamily="2" charset="-122"/>
                        </a:rPr>
                        <a:t>1 2</a:t>
                      </a:r>
                      <a:endParaRPr lang="zh-CN" sz="2000" b="1" kern="22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just">
                        <a:spcAft>
                          <a:spcPts val="0"/>
                        </a:spcAft>
                      </a:pPr>
                      <a:r>
                        <a:rPr lang="zh-CN" sz="2000" b="0" kern="2200" dirty="0">
                          <a:effectLst/>
                          <a:latin typeface="Calibri" panose="020F0502020204030204" pitchFamily="34" charset="0"/>
                          <a:ea typeface="宋体" panose="02010600030101010101" pitchFamily="2" charset="-122"/>
                          <a:cs typeface="宋体" panose="02010600030101010101" pitchFamily="2" charset="-122"/>
                        </a:rPr>
                        <a:t>输出样例：</a:t>
                      </a:r>
                      <a:endParaRPr lang="zh-CN" sz="2000" b="1" kern="2200" dirty="0">
                        <a:effectLst/>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sz="2000" b="0" kern="2200" dirty="0">
                          <a:effectLst/>
                          <a:latin typeface="宋体" panose="02010600030101010101" pitchFamily="2" charset="-122"/>
                          <a:ea typeface="宋体" panose="02010600030101010101" pitchFamily="2" charset="-122"/>
                          <a:cs typeface="宋体" panose="02010600030101010101" pitchFamily="2" charset="-122"/>
                        </a:rPr>
                        <a:t>140</a:t>
                      </a:r>
                      <a:endParaRPr lang="zh-CN" sz="2000" b="1" kern="22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951230">
                <a:tc gridSpan="2">
                  <a:txBody>
                    <a:bodyPr/>
                    <a:lstStyle/>
                    <a:p>
                      <a:pPr algn="just">
                        <a:spcAft>
                          <a:spcPts val="0"/>
                        </a:spcAft>
                      </a:pPr>
                      <a:r>
                        <a:rPr lang="zh-CN" altLang="zh-CN" sz="2400" kern="1200" dirty="0">
                          <a:solidFill>
                            <a:schemeClr val="tx1"/>
                          </a:solidFill>
                          <a:effectLst/>
                          <a:latin typeface="+mn-lt"/>
                          <a:ea typeface="+mn-ea"/>
                          <a:cs typeface="+mn-cs"/>
                        </a:rPr>
                        <a:t>对于</a:t>
                      </a:r>
                      <a:r>
                        <a:rPr lang="en-US" altLang="zh-CN" sz="2400" kern="1200" dirty="0">
                          <a:solidFill>
                            <a:schemeClr val="tx1"/>
                          </a:solidFill>
                          <a:effectLst/>
                          <a:latin typeface="+mn-lt"/>
                          <a:ea typeface="+mn-ea"/>
                          <a:cs typeface="+mn-cs"/>
                        </a:rPr>
                        <a:t>30%</a:t>
                      </a:r>
                      <a:r>
                        <a:rPr lang="zh-CN" altLang="zh-CN" sz="2400" kern="1200" dirty="0">
                          <a:solidFill>
                            <a:schemeClr val="tx1"/>
                          </a:solidFill>
                          <a:effectLst/>
                          <a:latin typeface="+mn-lt"/>
                          <a:ea typeface="+mn-ea"/>
                          <a:cs typeface="+mn-cs"/>
                        </a:rPr>
                        <a:t>的数据，保证</a:t>
                      </a:r>
                      <a:r>
                        <a:rPr lang="en-US" altLang="zh-CN" sz="2400" kern="1200" dirty="0">
                          <a:solidFill>
                            <a:schemeClr val="tx1"/>
                          </a:solidFill>
                          <a:effectLst/>
                          <a:latin typeface="+mn-lt"/>
                          <a:ea typeface="+mn-ea"/>
                          <a:cs typeface="+mn-cs"/>
                        </a:rPr>
                        <a:t>n</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1000</a:t>
                      </a:r>
                      <a:r>
                        <a:rPr lang="zh-CN" altLang="zh-CN" sz="2400" kern="1200" dirty="0">
                          <a:solidFill>
                            <a:schemeClr val="tx1"/>
                          </a:solidFill>
                          <a:effectLst/>
                          <a:latin typeface="+mn-lt"/>
                          <a:ea typeface="+mn-ea"/>
                          <a:cs typeface="+mn-cs"/>
                        </a:rPr>
                        <a:t>。对于</a:t>
                      </a:r>
                      <a:r>
                        <a:rPr lang="en-US" altLang="zh-CN" sz="2400" kern="1200" dirty="0">
                          <a:solidFill>
                            <a:schemeClr val="tx1"/>
                          </a:solidFill>
                          <a:effectLst/>
                          <a:latin typeface="+mn-lt"/>
                          <a:ea typeface="+mn-ea"/>
                          <a:cs typeface="+mn-cs"/>
                        </a:rPr>
                        <a:t>100%</a:t>
                      </a:r>
                      <a:r>
                        <a:rPr lang="zh-CN" altLang="zh-CN" sz="2400" kern="1200" dirty="0">
                          <a:solidFill>
                            <a:schemeClr val="tx1"/>
                          </a:solidFill>
                          <a:effectLst/>
                          <a:latin typeface="+mn-lt"/>
                          <a:ea typeface="+mn-ea"/>
                          <a:cs typeface="+mn-cs"/>
                        </a:rPr>
                        <a:t>的数据，保证</a:t>
                      </a:r>
                      <a:r>
                        <a:rPr lang="en-US" altLang="zh-CN" sz="2400" kern="1200" dirty="0">
                          <a:solidFill>
                            <a:schemeClr val="tx1"/>
                          </a:solidFill>
                          <a:effectLst/>
                          <a:latin typeface="+mn-lt"/>
                          <a:ea typeface="+mn-ea"/>
                          <a:cs typeface="+mn-cs"/>
                        </a:rPr>
                        <a:t>1</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n</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10000</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1</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C</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10</a:t>
                      </a:r>
                      <a:r>
                        <a:rPr lang="en-US" altLang="zh-CN" sz="2400" kern="1200" baseline="30000" dirty="0">
                          <a:solidFill>
                            <a:schemeClr val="tx1"/>
                          </a:solidFill>
                          <a:effectLst/>
                          <a:latin typeface="+mn-lt"/>
                          <a:ea typeface="+mn-ea"/>
                          <a:cs typeface="+mn-cs"/>
                        </a:rPr>
                        <a:t>7</a:t>
                      </a:r>
                      <a:r>
                        <a:rPr lang="zh-CN" altLang="zh-CN" sz="2400" kern="1200" dirty="0">
                          <a:solidFill>
                            <a:schemeClr val="tx1"/>
                          </a:solidFill>
                          <a:effectLst/>
                          <a:latin typeface="+mn-lt"/>
                          <a:ea typeface="+mn-ea"/>
                          <a:cs typeface="+mn-cs"/>
                        </a:rPr>
                        <a:t>，且</a:t>
                      </a:r>
                      <a:r>
                        <a:rPr lang="en-US" altLang="zh-CN" sz="2400" kern="1200" dirty="0">
                          <a:solidFill>
                            <a:schemeClr val="tx1"/>
                          </a:solidFill>
                          <a:effectLst/>
                          <a:latin typeface="+mn-lt"/>
                          <a:ea typeface="+mn-ea"/>
                          <a:cs typeface="+mn-cs"/>
                        </a:rPr>
                        <a:t>1</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n</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C</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10</a:t>
                      </a:r>
                      <a:r>
                        <a:rPr lang="en-US" altLang="zh-CN" sz="2400" kern="1200" baseline="30000" dirty="0">
                          <a:solidFill>
                            <a:schemeClr val="tx1"/>
                          </a:solidFill>
                          <a:effectLst/>
                          <a:latin typeface="+mn-lt"/>
                          <a:ea typeface="+mn-ea"/>
                          <a:cs typeface="+mn-cs"/>
                        </a:rPr>
                        <a:t>7</a:t>
                      </a:r>
                      <a:r>
                        <a:rPr lang="en-US" altLang="zh-CN" sz="2400" kern="1200" dirty="0">
                          <a:solidFill>
                            <a:schemeClr val="tx1"/>
                          </a:solidFill>
                          <a:effectLst/>
                          <a:latin typeface="+mn-lt"/>
                          <a:ea typeface="+mn-ea"/>
                          <a:cs typeface="+mn-cs"/>
                        </a:rPr>
                        <a:t>,1</a:t>
                      </a:r>
                      <a:r>
                        <a:rPr lang="zh-CN" altLang="zh-CN" sz="2400" kern="1200" dirty="0">
                          <a:solidFill>
                            <a:schemeClr val="tx1"/>
                          </a:solidFill>
                          <a:effectLst/>
                          <a:latin typeface="+mn-lt"/>
                          <a:ea typeface="+mn-ea"/>
                          <a:cs typeface="+mn-cs"/>
                        </a:rPr>
                        <a:t>≤</a:t>
                      </a:r>
                      <a:r>
                        <a:rPr lang="en-US" altLang="zh-CN" sz="2400" kern="1200" dirty="0" err="1">
                          <a:solidFill>
                            <a:schemeClr val="tx1"/>
                          </a:solidFill>
                          <a:effectLst/>
                          <a:latin typeface="+mn-lt"/>
                          <a:ea typeface="+mn-ea"/>
                          <a:cs typeface="+mn-cs"/>
                        </a:rPr>
                        <a:t>c</a:t>
                      </a:r>
                      <a:r>
                        <a:rPr lang="en-US" altLang="zh-CN" sz="2400" kern="1200" baseline="-25000" dirty="0" err="1">
                          <a:solidFill>
                            <a:schemeClr val="tx1"/>
                          </a:solidFill>
                          <a:effectLst/>
                          <a:latin typeface="+mn-lt"/>
                          <a:ea typeface="+mn-ea"/>
                          <a:cs typeface="+mn-cs"/>
                        </a:rPr>
                        <a:t>i</a:t>
                      </a:r>
                      <a:r>
                        <a:rPr lang="en-US" altLang="zh-CN" sz="2400" kern="1200" dirty="0" err="1">
                          <a:solidFill>
                            <a:schemeClr val="tx1"/>
                          </a:solidFill>
                          <a:effectLst/>
                          <a:latin typeface="+mn-lt"/>
                          <a:ea typeface="+mn-ea"/>
                          <a:cs typeface="+mn-cs"/>
                        </a:rPr>
                        <a:t>,w</a:t>
                      </a:r>
                      <a:r>
                        <a:rPr lang="en-US" altLang="zh-CN" sz="2400" kern="1200" baseline="-25000" dirty="0" err="1">
                          <a:solidFill>
                            <a:schemeClr val="tx1"/>
                          </a:solidFill>
                          <a:effectLst/>
                          <a:latin typeface="+mn-lt"/>
                          <a:ea typeface="+mn-ea"/>
                          <a:cs typeface="+mn-cs"/>
                        </a:rPr>
                        <a:t>i</a:t>
                      </a:r>
                      <a:r>
                        <a:rPr lang="zh-CN" altLang="zh-CN" sz="2400" kern="1200" dirty="0">
                          <a:solidFill>
                            <a:schemeClr val="tx1"/>
                          </a:solidFill>
                          <a:effectLst/>
                          <a:latin typeface="+mn-lt"/>
                          <a:ea typeface="+mn-ea"/>
                          <a:cs typeface="+mn-cs"/>
                        </a:rPr>
                        <a:t>≤</a:t>
                      </a:r>
                      <a:r>
                        <a:rPr lang="en-US" altLang="zh-CN" sz="2400" kern="1200" dirty="0">
                          <a:solidFill>
                            <a:schemeClr val="tx1"/>
                          </a:solidFill>
                          <a:effectLst/>
                          <a:latin typeface="+mn-lt"/>
                          <a:ea typeface="+mn-ea"/>
                          <a:cs typeface="+mn-cs"/>
                        </a:rPr>
                        <a:t>10000</a:t>
                      </a:r>
                      <a:r>
                        <a:rPr lang="zh-CN" altLang="zh-CN" sz="2400" kern="1200" dirty="0">
                          <a:solidFill>
                            <a:schemeClr val="tx1"/>
                          </a:solidFill>
                          <a:effectLst/>
                          <a:latin typeface="+mn-lt"/>
                          <a:ea typeface="+mn-ea"/>
                          <a:cs typeface="+mn-cs"/>
                        </a:rPr>
                        <a:t>。</a:t>
                      </a:r>
                      <a:endParaRPr lang="zh-CN" sz="3200" b="1" kern="22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lgn="ctr">
                      <a:solidFill>
                        <a:srgbClr val="000008"/>
                      </a:solidFill>
                      <a:prstDash val="solid"/>
                      <a:round/>
                      <a:headEnd type="none" w="med" len="med"/>
                      <a:tailEnd type="none" w="med" len="med"/>
                    </a:lnT>
                    <a:lnB w="6350" cap="flat" cmpd="sng">
                      <a:solidFill>
                        <a:srgbClr val="000008"/>
                      </a:solidFill>
                      <a:prstDash val="solid"/>
                      <a:headEnd type="none" w="med" len="med"/>
                      <a:tailEnd type="none" w="med" len="med"/>
                    </a:lnB>
                    <a:noFill/>
                  </a:tcPr>
                </a:tc>
                <a:tc hMerge="1">
                  <a:txBody>
                    <a:bodyPr/>
                    <a:lstStyle/>
                    <a:p>
                      <a:endParaRPr lang="zh-CN" altLang="en-US"/>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94477783"/>
      </p:ext>
    </p:extLst>
  </p:cSld>
  <p:clrMapOvr>
    <a:masterClrMapping/>
  </p:clrMapOvr>
  <mc:AlternateContent xmlns:mc="http://schemas.openxmlformats.org/markup-compatibility/2006" xmlns:p14="http://schemas.microsoft.com/office/powerpoint/2010/main">
    <mc:Choice Requires="p14">
      <p:transition spd="slow" p14:dur="2000" advTm="80440"/>
    </mc:Choice>
    <mc:Fallback xmlns="">
      <p:transition spd="slow" advTm="8044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69758"/>
            <a:ext cx="10454100" cy="88650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3200" dirty="0">
                <a:solidFill>
                  <a:srgbClr val="C00000"/>
                </a:solidFill>
                <a:effectLst/>
                <a:latin typeface="微软雅黑" panose="020B0503020204020204" pitchFamily="34" charset="-122"/>
                <a:ea typeface="微软雅黑" panose="020B0503020204020204" pitchFamily="34" charset="-122"/>
              </a:rPr>
              <a:t>题解</a:t>
            </a:r>
          </a:p>
        </p:txBody>
      </p:sp>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53</a:t>
            </a:fld>
            <a:endParaRPr lang="en-US" altLang="zh-CN" b="0" dirty="0">
              <a:solidFill>
                <a:schemeClr val="tx1"/>
              </a:solidFill>
            </a:endParaRPr>
          </a:p>
        </p:txBody>
      </p:sp>
      <p:sp>
        <p:nvSpPr>
          <p:cNvPr id="5" name="内容占位符 4"/>
          <p:cNvSpPr txBox="1">
            <a:spLocks/>
          </p:cNvSpPr>
          <p:nvPr/>
        </p:nvSpPr>
        <p:spPr>
          <a:xfrm>
            <a:off x="598620" y="1004987"/>
            <a:ext cx="10383940" cy="501999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把题目中的采药时间</a:t>
            </a:r>
            <a:r>
              <a:rPr lang="en-US" altLang="zh-CN" sz="2400" dirty="0">
                <a:latin typeface="微软雅黑" panose="020B0503020204020204" pitchFamily="34" charset="-122"/>
                <a:ea typeface="微软雅黑" panose="020B0503020204020204" pitchFamily="34" charset="-122"/>
              </a:rPr>
              <a:t>C</a:t>
            </a:r>
            <a:r>
              <a:rPr lang="zh-CN" altLang="zh-CN" sz="2400" dirty="0">
                <a:latin typeface="微软雅黑" panose="020B0503020204020204" pitchFamily="34" charset="-122"/>
                <a:ea typeface="微软雅黑" panose="020B0503020204020204" pitchFamily="34" charset="-122"/>
              </a:rPr>
              <a:t>看成背包容量，把草药看成物品，建模为背包问题。</a:t>
            </a:r>
          </a:p>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完全背包的解题思路和</a:t>
            </a:r>
            <a:r>
              <a:rPr lang="en-US" altLang="zh-CN" sz="2400" dirty="0">
                <a:latin typeface="微软雅黑" panose="020B0503020204020204" pitchFamily="34" charset="-122"/>
                <a:ea typeface="微软雅黑" panose="020B0503020204020204" pitchFamily="34" charset="-122"/>
              </a:rPr>
              <a:t>0/1</a:t>
            </a:r>
            <a:r>
              <a:rPr lang="zh-CN" altLang="zh-CN" sz="2400" dirty="0">
                <a:latin typeface="微软雅黑" panose="020B0503020204020204" pitchFamily="34" charset="-122"/>
                <a:ea typeface="微软雅黑" panose="020B0503020204020204" pitchFamily="34" charset="-122"/>
              </a:rPr>
              <a:t>背包类似</a:t>
            </a:r>
            <a:r>
              <a:rPr lang="zh-CN" altLang="en-US" sz="2400" dirty="0">
                <a:latin typeface="微软雅黑" panose="020B0503020204020204" pitchFamily="34" charset="-122"/>
                <a:ea typeface="微软雅黑" panose="020B0503020204020204" pitchFamily="34" charset="-122"/>
              </a:rPr>
              <a:t>。</a:t>
            </a:r>
            <a:endParaRPr lang="zh-CN" altLang="zh-CN" sz="2400" dirty="0">
              <a:latin typeface="微软雅黑" panose="020B0503020204020204" pitchFamily="34" charset="-122"/>
              <a:ea typeface="微软雅黑" panose="020B0503020204020204" pitchFamily="34" charset="-122"/>
            </a:endParaRPr>
          </a:p>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定义状态</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a:t>
            </a:r>
            <a:r>
              <a:rPr lang="zh-CN" altLang="zh-CN" sz="2400" dirty="0">
                <a:latin typeface="微软雅黑" panose="020B0503020204020204" pitchFamily="34" charset="-122"/>
                <a:ea typeface="微软雅黑" panose="020B0503020204020204" pitchFamily="34" charset="-122"/>
              </a:rPr>
              <a:t>表示把前</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种物品（从第</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种到第</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种）装入容量为</a:t>
            </a:r>
            <a:r>
              <a:rPr lang="en-US" altLang="zh-CN" sz="2400" dirty="0">
                <a:latin typeface="微软雅黑" panose="020B0503020204020204" pitchFamily="34" charset="-122"/>
                <a:ea typeface="微软雅黑" panose="020B0503020204020204" pitchFamily="34" charset="-122"/>
              </a:rPr>
              <a:t>j</a:t>
            </a:r>
            <a:r>
              <a:rPr lang="zh-CN" altLang="zh-CN" sz="2400" dirty="0">
                <a:latin typeface="微软雅黑" panose="020B0503020204020204" pitchFamily="34" charset="-122"/>
                <a:ea typeface="微软雅黑" panose="020B0503020204020204" pitchFamily="34" charset="-122"/>
              </a:rPr>
              <a:t>的背包中获得的最大价值。</a:t>
            </a:r>
          </a:p>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把每个</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i</a:t>
            </a:r>
            <a:r>
              <a:rPr lang="en-US" altLang="zh-CN" sz="2400" dirty="0">
                <a:latin typeface="微软雅黑" panose="020B0503020204020204" pitchFamily="34" charset="-122"/>
                <a:ea typeface="微软雅黑" panose="020B0503020204020204" pitchFamily="34" charset="-122"/>
              </a:rPr>
              <a:t>][j]</a:t>
            </a:r>
            <a:r>
              <a:rPr lang="zh-CN" altLang="zh-CN" sz="2400" dirty="0">
                <a:latin typeface="微软雅黑" panose="020B0503020204020204" pitchFamily="34" charset="-122"/>
                <a:ea typeface="微软雅黑" panose="020B0503020204020204" pitchFamily="34" charset="-122"/>
              </a:rPr>
              <a:t>都看成一个背包：背包容量为</a:t>
            </a:r>
            <a:r>
              <a:rPr lang="en-US" altLang="zh-CN" sz="2400" dirty="0">
                <a:latin typeface="微软雅黑" panose="020B0503020204020204" pitchFamily="34" charset="-122"/>
                <a:ea typeface="微软雅黑" panose="020B0503020204020204" pitchFamily="34" charset="-122"/>
              </a:rPr>
              <a:t>j</a:t>
            </a:r>
            <a:r>
              <a:rPr lang="zh-CN" altLang="zh-CN" sz="2400" dirty="0">
                <a:latin typeface="微软雅黑" panose="020B0503020204020204" pitchFamily="34" charset="-122"/>
                <a:ea typeface="微软雅黑" panose="020B0503020204020204" pitchFamily="34" charset="-122"/>
              </a:rPr>
              <a:t>，装</a:t>
            </a:r>
            <a:r>
              <a:rPr lang="en-US" altLang="zh-CN" sz="2400" dirty="0">
                <a:latin typeface="微软雅黑" panose="020B0503020204020204" pitchFamily="34" charset="-122"/>
                <a:ea typeface="微软雅黑" panose="020B0503020204020204" pitchFamily="34" charset="-122"/>
              </a:rPr>
              <a:t>1~i</a:t>
            </a:r>
            <a:r>
              <a:rPr lang="zh-CN" altLang="zh-CN" sz="2400" dirty="0">
                <a:latin typeface="微软雅黑" panose="020B0503020204020204" pitchFamily="34" charset="-122"/>
                <a:ea typeface="微软雅黑" panose="020B0503020204020204" pitchFamily="34" charset="-122"/>
              </a:rPr>
              <a:t>这些物品。最后得到的</a:t>
            </a:r>
            <a:r>
              <a:rPr lang="en-US" altLang="zh-CN" sz="2400" dirty="0" err="1">
                <a:latin typeface="微软雅黑" panose="020B0503020204020204" pitchFamily="34" charset="-122"/>
                <a:ea typeface="微软雅黑" panose="020B0503020204020204" pitchFamily="34" charset="-122"/>
              </a:rPr>
              <a:t>dp</a:t>
            </a:r>
            <a:r>
              <a:rPr lang="en-US" altLang="zh-CN" sz="2400" dirty="0">
                <a:latin typeface="微软雅黑" panose="020B0503020204020204" pitchFamily="34" charset="-122"/>
                <a:ea typeface="微软雅黑" panose="020B0503020204020204" pitchFamily="34" charset="-122"/>
              </a:rPr>
              <a:t>[n][C]</a:t>
            </a:r>
            <a:r>
              <a:rPr lang="zh-CN" altLang="zh-CN" sz="2400" dirty="0">
                <a:latin typeface="微软雅黑" panose="020B0503020204020204" pitchFamily="34" charset="-122"/>
                <a:ea typeface="微软雅黑" panose="020B0503020204020204" pitchFamily="34" charset="-122"/>
              </a:rPr>
              <a:t>就是问题的答案：把</a:t>
            </a:r>
            <a:r>
              <a:rPr lang="en-US" altLang="zh-CN" sz="2400" dirty="0">
                <a:latin typeface="微软雅黑" panose="020B0503020204020204" pitchFamily="34" charset="-122"/>
                <a:ea typeface="微软雅黑" panose="020B0503020204020204" pitchFamily="34" charset="-122"/>
              </a:rPr>
              <a:t>n</a:t>
            </a:r>
            <a:r>
              <a:rPr lang="zh-CN" altLang="zh-CN" sz="2400" dirty="0">
                <a:latin typeface="微软雅黑" panose="020B0503020204020204" pitchFamily="34" charset="-122"/>
                <a:ea typeface="微软雅黑" panose="020B0503020204020204" pitchFamily="34" charset="-122"/>
              </a:rPr>
              <a:t>种物品装进容量</a:t>
            </a:r>
            <a:r>
              <a:rPr lang="en-US" altLang="zh-CN" sz="2400" dirty="0">
                <a:latin typeface="微软雅黑" panose="020B0503020204020204" pitchFamily="34" charset="-122"/>
                <a:ea typeface="微软雅黑" panose="020B0503020204020204" pitchFamily="34" charset="-122"/>
              </a:rPr>
              <a:t>T</a:t>
            </a:r>
            <a:r>
              <a:rPr lang="zh-CN" altLang="zh-CN" sz="2400" dirty="0">
                <a:latin typeface="微软雅黑" panose="020B0503020204020204" pitchFamily="34" charset="-122"/>
                <a:ea typeface="微软雅黑" panose="020B0503020204020204" pitchFamily="34" charset="-122"/>
              </a:rPr>
              <a:t>的背包的最大价值。</a:t>
            </a:r>
          </a:p>
          <a:p>
            <a:pPr>
              <a:lnSpc>
                <a:spcPct val="150000"/>
              </a:lnSpc>
              <a:spcBef>
                <a:spcPts val="0"/>
              </a:spcBef>
            </a:pPr>
            <a:r>
              <a:rPr lang="zh-CN" altLang="zh-CN" sz="2400" dirty="0">
                <a:latin typeface="微软雅黑" panose="020B0503020204020204" pitchFamily="34" charset="-122"/>
                <a:ea typeface="微软雅黑" panose="020B0503020204020204" pitchFamily="34" charset="-122"/>
              </a:rPr>
              <a:t>在</a:t>
            </a:r>
            <a:r>
              <a:rPr lang="en-US" altLang="zh-CN" sz="2400" dirty="0">
                <a:latin typeface="微软雅黑" panose="020B0503020204020204" pitchFamily="34" charset="-122"/>
                <a:ea typeface="微软雅黑" panose="020B0503020204020204" pitchFamily="34" charset="-122"/>
              </a:rPr>
              <a:t>0/1</a:t>
            </a:r>
            <a:r>
              <a:rPr lang="zh-CN" altLang="zh-CN" sz="2400" dirty="0">
                <a:latin typeface="微软雅黑" panose="020B0503020204020204" pitchFamily="34" charset="-122"/>
                <a:ea typeface="微软雅黑" panose="020B0503020204020204" pitchFamily="34" charset="-122"/>
              </a:rPr>
              <a:t>背包问题中，每个物品只有拿与不拿两种；而完全背包问题需要考虑拿几个，每种物品有无穷多件，第</a:t>
            </a:r>
            <a:r>
              <a:rPr lang="en-US" altLang="zh-CN" sz="2400" dirty="0" err="1">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种可以装</a:t>
            </a:r>
            <a:r>
              <a:rPr lang="en-US" altLang="zh-CN" sz="2400" dirty="0">
                <a:latin typeface="微软雅黑" panose="020B0503020204020204" pitchFamily="34" charset="-122"/>
                <a:ea typeface="微软雅黑" panose="020B0503020204020204" pitchFamily="34" charset="-122"/>
              </a:rPr>
              <a:t>0</a:t>
            </a:r>
            <a:r>
              <a:rPr lang="zh-CN" altLang="zh-CN" sz="2400" dirty="0">
                <a:latin typeface="微软雅黑" panose="020B0503020204020204" pitchFamily="34" charset="-122"/>
                <a:ea typeface="微软雅黑" panose="020B0503020204020204" pitchFamily="34" charset="-122"/>
              </a:rPr>
              <a:t>件、</a:t>
            </a:r>
            <a:r>
              <a:rPr lang="en-US" altLang="zh-CN" sz="2400" dirty="0">
                <a:latin typeface="微软雅黑" panose="020B0503020204020204" pitchFamily="34" charset="-122"/>
                <a:ea typeface="微软雅黑" panose="020B0503020204020204" pitchFamily="34" charset="-122"/>
              </a:rPr>
              <a:t>1</a:t>
            </a:r>
            <a:r>
              <a:rPr lang="zh-CN" altLang="zh-CN" sz="2400" dirty="0">
                <a:latin typeface="微软雅黑" panose="020B0503020204020204" pitchFamily="34" charset="-122"/>
                <a:ea typeface="微软雅黑" panose="020B0503020204020204" pitchFamily="34" charset="-122"/>
              </a:rPr>
              <a:t>件、</a:t>
            </a: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件、</a:t>
            </a:r>
            <a:r>
              <a:rPr lang="en-US" altLang="zh-CN" sz="2400" dirty="0">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C/c</a:t>
            </a:r>
            <a:r>
              <a:rPr lang="en-US" altLang="zh-CN" sz="2400" baseline="-25000" dirty="0">
                <a:latin typeface="微软雅黑" panose="020B0503020204020204" pitchFamily="34" charset="-122"/>
                <a:ea typeface="微软雅黑" panose="020B0503020204020204" pitchFamily="34" charset="-122"/>
              </a:rPr>
              <a:t>i</a:t>
            </a:r>
            <a:r>
              <a:rPr lang="zh-CN" altLang="zh-CN" sz="2400" dirty="0">
                <a:latin typeface="微软雅黑" panose="020B0503020204020204" pitchFamily="34" charset="-122"/>
                <a:ea typeface="微软雅黑" panose="020B0503020204020204" pitchFamily="34" charset="-122"/>
              </a:rPr>
              <a:t>件。</a:t>
            </a:r>
          </a:p>
        </p:txBody>
      </p:sp>
    </p:spTree>
    <p:extLst>
      <p:ext uri="{BB962C8B-B14F-4D97-AF65-F5344CB8AC3E}">
        <p14:creationId xmlns:p14="http://schemas.microsoft.com/office/powerpoint/2010/main" val="2269178737"/>
      </p:ext>
    </p:extLst>
  </p:cSld>
  <p:clrMapOvr>
    <a:masterClrMapping/>
  </p:clrMapOvr>
  <mc:AlternateContent xmlns:mc="http://schemas.openxmlformats.org/markup-compatibility/2006" xmlns:p14="http://schemas.microsoft.com/office/powerpoint/2010/main">
    <mc:Choice Requires="p14">
      <p:transition spd="slow" p14:dur="2000" advTm="80440"/>
    </mc:Choice>
    <mc:Fallback xmlns="">
      <p:transition spd="slow" advTm="804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54</a:t>
            </a:fld>
            <a:endParaRPr lang="en-US" altLang="zh-CN" b="0" dirty="0">
              <a:solidFill>
                <a:schemeClr val="tx1"/>
              </a:solidFill>
            </a:endParaRPr>
          </a:p>
        </p:txBody>
      </p:sp>
      <p:sp>
        <p:nvSpPr>
          <p:cNvPr id="21" name="内容占位符 2"/>
          <p:cNvSpPr txBox="1"/>
          <p:nvPr/>
        </p:nvSpPr>
        <p:spPr>
          <a:xfrm>
            <a:off x="3500015" y="366375"/>
            <a:ext cx="8704185" cy="63303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C, n;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C &gt;&gt; 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vector&lt;</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&gt; c(n + 1);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vector&lt;</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&gt; w(n + 1);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1;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n;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&gt;&gt; w[</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vector&lt;vector&lt;long long&gt;&gt;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(n+1, vector&lt;long long&gt;(C+1));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1;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n;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j = 1; j &lt;= C; </a:t>
            </a:r>
            <a:r>
              <a:rPr lang="en-US" altLang="zh-CN" sz="2000" b="0" dirty="0" err="1">
                <a:latin typeface="宋体" panose="02010600030101010101" pitchFamily="2" charset="-122"/>
                <a:ea typeface="宋体" panose="02010600030101010101" pitchFamily="2" charset="-122"/>
              </a:rPr>
              <a:t>j++</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[i-1][j];  //</a:t>
            </a:r>
            <a:r>
              <a:rPr lang="zh-CN" altLang="en-US" sz="2000" b="0" dirty="0">
                <a:latin typeface="宋体" panose="02010600030101010101" pitchFamily="2" charset="-122"/>
                <a:ea typeface="宋体" panose="02010600030101010101" pitchFamily="2" charset="-122"/>
              </a:rPr>
              <a:t>先赋值为取</a:t>
            </a:r>
            <a:r>
              <a:rPr lang="en-US" altLang="zh-CN" sz="2000" b="0" dirty="0">
                <a:latin typeface="宋体" panose="02010600030101010101" pitchFamily="2" charset="-122"/>
                <a:ea typeface="宋体" panose="02010600030101010101" pitchFamily="2" charset="-122"/>
              </a:rPr>
              <a:t>0</a:t>
            </a:r>
            <a:r>
              <a:rPr lang="zh-CN" altLang="en-US" sz="2000" b="0" dirty="0">
                <a:latin typeface="宋体" panose="02010600030101010101" pitchFamily="2" charset="-122"/>
                <a:ea typeface="宋体" panose="02010600030101010101" pitchFamily="2" charset="-122"/>
              </a:rPr>
              <a:t>件时的</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[i-1][j]</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a:solidFill>
                  <a:srgbClr val="FF0000"/>
                </a:solidFill>
                <a:latin typeface="宋体" panose="02010600030101010101" pitchFamily="2" charset="-122"/>
                <a:ea typeface="宋体" panose="02010600030101010101" pitchFamily="2" charset="-122"/>
              </a:rPr>
              <a:t>for (</a:t>
            </a:r>
            <a:r>
              <a:rPr lang="en-US" altLang="zh-CN" sz="2000" b="0" dirty="0" err="1">
                <a:solidFill>
                  <a:srgbClr val="FF0000"/>
                </a:solidFill>
                <a:latin typeface="宋体" panose="02010600030101010101" pitchFamily="2" charset="-122"/>
                <a:ea typeface="宋体" panose="02010600030101010101" pitchFamily="2" charset="-122"/>
              </a:rPr>
              <a:t>int</a:t>
            </a:r>
            <a:r>
              <a:rPr lang="en-US" altLang="zh-CN" sz="2000" b="0" dirty="0">
                <a:solidFill>
                  <a:srgbClr val="FF0000"/>
                </a:solidFill>
                <a:latin typeface="宋体" panose="02010600030101010101" pitchFamily="2" charset="-122"/>
                <a:ea typeface="宋体" panose="02010600030101010101" pitchFamily="2" charset="-122"/>
              </a:rPr>
              <a:t> k = 0; k * c[</a:t>
            </a:r>
            <a:r>
              <a:rPr lang="en-US" altLang="zh-CN" sz="2000" b="0" dirty="0" err="1">
                <a:solidFill>
                  <a:srgbClr val="FF0000"/>
                </a:solidFill>
                <a:latin typeface="宋体" panose="02010600030101010101" pitchFamily="2" charset="-122"/>
                <a:ea typeface="宋体" panose="02010600030101010101" pitchFamily="2" charset="-122"/>
              </a:rPr>
              <a:t>i</a:t>
            </a:r>
            <a:r>
              <a:rPr lang="en-US" altLang="zh-CN" sz="2000" b="0" dirty="0">
                <a:solidFill>
                  <a:srgbClr val="FF0000"/>
                </a:solidFill>
                <a:latin typeface="宋体" panose="02010600030101010101" pitchFamily="2" charset="-122"/>
                <a:ea typeface="宋体" panose="02010600030101010101" pitchFamily="2" charset="-122"/>
              </a:rPr>
              <a:t>] &lt;= j; k++)  //</a:t>
            </a:r>
            <a:r>
              <a:rPr lang="zh-CN" altLang="en-US" sz="2000" b="0" dirty="0">
                <a:solidFill>
                  <a:srgbClr val="FF0000"/>
                </a:solidFill>
                <a:latin typeface="宋体" panose="02010600030101010101" pitchFamily="2" charset="-122"/>
                <a:ea typeface="宋体" panose="02010600030101010101" pitchFamily="2" charset="-122"/>
              </a:rPr>
              <a:t>取</a:t>
            </a:r>
            <a:r>
              <a:rPr lang="en-US" altLang="zh-CN" sz="2000" b="0" dirty="0">
                <a:solidFill>
                  <a:srgbClr val="FF0000"/>
                </a:solidFill>
                <a:latin typeface="宋体" panose="02010600030101010101" pitchFamily="2" charset="-122"/>
                <a:ea typeface="宋体" panose="02010600030101010101" pitchFamily="2" charset="-122"/>
              </a:rPr>
              <a:t>k</a:t>
            </a:r>
            <a:r>
              <a:rPr lang="zh-CN" altLang="en-US" sz="2000" b="0" dirty="0">
                <a:solidFill>
                  <a:srgbClr val="FF0000"/>
                </a:solidFill>
                <a:latin typeface="宋体" panose="02010600030101010101" pitchFamily="2" charset="-122"/>
                <a:ea typeface="宋体" panose="02010600030101010101" pitchFamily="2" charset="-122"/>
              </a:rPr>
              <a:t>件</a:t>
            </a:r>
          </a:p>
          <a:p>
            <a:pPr marL="0" indent="0">
              <a:lnSpc>
                <a:spcPct val="100000"/>
              </a:lnSpc>
              <a:spcBef>
                <a:spcPts val="0"/>
              </a:spcBef>
              <a:buNone/>
            </a:pPr>
            <a:r>
              <a:rPr lang="zh-CN" altLang="en-US"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a:t>
            </a:r>
            <a:r>
              <a:rPr lang="en-US" altLang="zh-CN" sz="1800" b="0" dirty="0">
                <a:latin typeface="宋体" panose="02010600030101010101" pitchFamily="2" charset="-122"/>
                <a:ea typeface="宋体" panose="02010600030101010101" pitchFamily="2" charset="-122"/>
              </a:rPr>
              <a:t>max(</a:t>
            </a:r>
            <a:r>
              <a:rPr lang="en-US" altLang="zh-CN" sz="1800" b="0" dirty="0" err="1">
                <a:latin typeface="宋体" panose="02010600030101010101" pitchFamily="2" charset="-122"/>
                <a:ea typeface="宋体" panose="02010600030101010101" pitchFamily="2" charset="-122"/>
              </a:rPr>
              <a:t>dp</a:t>
            </a:r>
            <a:r>
              <a:rPr lang="en-US" altLang="zh-CN" sz="1800" b="0" dirty="0">
                <a:latin typeface="宋体" panose="02010600030101010101" pitchFamily="2" charset="-122"/>
                <a:ea typeface="宋体" panose="02010600030101010101" pitchFamily="2" charset="-122"/>
              </a:rPr>
              <a:t>[</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][j], </a:t>
            </a:r>
            <a:r>
              <a:rPr lang="en-US" altLang="zh-CN" sz="1800" b="0" dirty="0" err="1">
                <a:latin typeface="宋体" panose="02010600030101010101" pitchFamily="2" charset="-122"/>
                <a:ea typeface="宋体" panose="02010600030101010101" pitchFamily="2" charset="-122"/>
              </a:rPr>
              <a:t>dp</a:t>
            </a:r>
            <a:r>
              <a:rPr lang="en-US" altLang="zh-CN" sz="1800" b="0" dirty="0">
                <a:latin typeface="宋体" panose="02010600030101010101" pitchFamily="2" charset="-122"/>
                <a:ea typeface="宋体" panose="02010600030101010101" pitchFamily="2" charset="-122"/>
              </a:rPr>
              <a:t>[i-1][j-k*c[</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 + k*w[</a:t>
            </a:r>
            <a:r>
              <a:rPr lang="en-US" altLang="zh-CN" sz="1800" b="0" dirty="0" err="1">
                <a:latin typeface="宋体" panose="02010600030101010101" pitchFamily="2" charset="-122"/>
                <a:ea typeface="宋体" panose="02010600030101010101" pitchFamily="2" charset="-122"/>
              </a:rPr>
              <a:t>i</a:t>
            </a:r>
            <a:r>
              <a:rPr lang="en-US" altLang="zh-CN" sz="18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445915" y="1138425"/>
            <a:ext cx="2901395"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代码和</a:t>
            </a:r>
            <a:r>
              <a:rPr lang="en-US" altLang="zh-CN" sz="2000" dirty="0">
                <a:latin typeface="微软雅黑" panose="020B0503020204020204" pitchFamily="34" charset="-122"/>
                <a:ea typeface="微软雅黑" panose="020B0503020204020204" pitchFamily="34" charset="-122"/>
              </a:rPr>
              <a:t>0/1</a:t>
            </a:r>
            <a:r>
              <a:rPr lang="zh-CN" altLang="en-US" sz="2000" dirty="0">
                <a:latin typeface="微软雅黑" panose="020B0503020204020204" pitchFamily="34" charset="-122"/>
                <a:ea typeface="微软雅黑" panose="020B0503020204020204" pitchFamily="34" charset="-122"/>
              </a:rPr>
              <a:t>背包的代码极为相似，只是多了一个</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循环，用来遍历每种物品拿几个。</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52671491"/>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t>55</a:t>
            </a:fld>
            <a:endParaRPr lang="en-US" altLang="zh-CN" b="0" dirty="0">
              <a:solidFill>
                <a:schemeClr val="tx1"/>
              </a:solidFill>
            </a:endParaRPr>
          </a:p>
        </p:txBody>
      </p:sp>
      <p:sp>
        <p:nvSpPr>
          <p:cNvPr id="21" name="内容占位符 2"/>
          <p:cNvSpPr txBox="1"/>
          <p:nvPr/>
        </p:nvSpPr>
        <p:spPr>
          <a:xfrm>
            <a:off x="3500015" y="366375"/>
            <a:ext cx="8704185" cy="633031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#include&lt;bits/</a:t>
            </a:r>
            <a:r>
              <a:rPr lang="en-US" altLang="zh-CN" sz="2000" b="0" dirty="0" err="1">
                <a:latin typeface="宋体" panose="02010600030101010101" pitchFamily="2" charset="-122"/>
                <a:ea typeface="宋体" panose="02010600030101010101" pitchFamily="2" charset="-122"/>
              </a:rPr>
              <a:t>stdc</a:t>
            </a:r>
            <a:r>
              <a:rPr lang="en-US" altLang="zh-CN" sz="2000" b="0" dirty="0">
                <a:latin typeface="宋体" panose="02010600030101010101" pitchFamily="2" charset="-122"/>
                <a:ea typeface="宋体" panose="02010600030101010101" pitchFamily="2" charset="-122"/>
              </a:rPr>
              <a:t>++.h&gt;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using namespace </a:t>
            </a:r>
            <a:r>
              <a:rPr lang="en-US" altLang="zh-CN" sz="2000" b="0" dirty="0" err="1">
                <a:latin typeface="宋体" panose="02010600030101010101" pitchFamily="2" charset="-122"/>
                <a:ea typeface="宋体" panose="02010600030101010101" pitchFamily="2" charset="-122"/>
              </a:rPr>
              <a:t>std</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main() {</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C, n;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C &gt;&gt; n;</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vector&lt;</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&gt; c(n + 1);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vector&lt;</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&gt; w(n + 1);</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1;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n;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cin</a:t>
            </a:r>
            <a:r>
              <a:rPr lang="en-US" altLang="zh-CN" sz="2000" b="0" dirty="0">
                <a:latin typeface="宋体" panose="02010600030101010101" pitchFamily="2" charset="-122"/>
                <a:ea typeface="宋体" panose="02010600030101010101" pitchFamily="2" charset="-122"/>
              </a:rPr>
              <a:t> &gt;&gt; 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&gt;&gt; w[</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vector&lt;vector&lt;long long&gt;&gt;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(n+1, vector&lt;long long&gt;(C+1));</a:t>
            </a:r>
          </a:p>
          <a:p>
            <a:pPr marL="0" indent="0">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1;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&lt;= n; </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buNone/>
            </a:pPr>
            <a:r>
              <a:rPr lang="en-US" altLang="zh-CN" sz="2000" b="0" dirty="0">
                <a:latin typeface="宋体" panose="02010600030101010101" pitchFamily="2" charset="-122"/>
                <a:ea typeface="宋体" panose="02010600030101010101" pitchFamily="2" charset="-122"/>
              </a:rPr>
              <a:t>        for (</a:t>
            </a:r>
            <a:r>
              <a:rPr lang="en-US" altLang="zh-CN" sz="2000" b="0" dirty="0" err="1">
                <a:latin typeface="宋体" panose="02010600030101010101" pitchFamily="2" charset="-122"/>
                <a:ea typeface="宋体" panose="02010600030101010101" pitchFamily="2" charset="-122"/>
              </a:rPr>
              <a:t>int</a:t>
            </a:r>
            <a:r>
              <a:rPr lang="en-US" altLang="zh-CN" sz="2000" b="0" dirty="0">
                <a:latin typeface="宋体" panose="02010600030101010101" pitchFamily="2" charset="-122"/>
                <a:ea typeface="宋体" panose="02010600030101010101" pitchFamily="2" charset="-122"/>
              </a:rPr>
              <a:t> j = 1; j &lt;= C; </a:t>
            </a:r>
            <a:r>
              <a:rPr lang="en-US" altLang="zh-CN" sz="2000" b="0" dirty="0" err="1">
                <a:latin typeface="宋体" panose="02010600030101010101" pitchFamily="2" charset="-122"/>
                <a:ea typeface="宋体" panose="02010600030101010101" pitchFamily="2" charset="-122"/>
              </a:rPr>
              <a:t>j++</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[i-1][j];</a:t>
            </a:r>
            <a:endParaRPr lang="zh-CN" altLang="zh-CN" sz="2000" dirty="0">
              <a:latin typeface="宋体" panose="02010600030101010101" pitchFamily="2" charset="-122"/>
              <a:ea typeface="宋体" panose="02010600030101010101" pitchFamily="2" charset="-122"/>
            </a:endParaRPr>
          </a:p>
          <a:p>
            <a:pPr marL="0" indent="0">
              <a:buNone/>
            </a:pPr>
            <a:r>
              <a:rPr lang="en-US" altLang="zh-CN" sz="2000" b="0" dirty="0">
                <a:latin typeface="宋体" panose="02010600030101010101" pitchFamily="2" charset="-122"/>
                <a:ea typeface="宋体" panose="02010600030101010101" pitchFamily="2" charset="-122"/>
              </a:rPr>
              <a:t>            if(j &gt;= 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 max(</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][j-c[</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 + w[</a:t>
            </a:r>
            <a:r>
              <a:rPr lang="en-US" altLang="zh-CN" sz="2000" b="0" dirty="0" err="1">
                <a:latin typeface="宋体" panose="02010600030101010101" pitchFamily="2" charset="-122"/>
                <a:ea typeface="宋体" panose="02010600030101010101" pitchFamily="2" charset="-122"/>
              </a:rPr>
              <a:t>i</a:t>
            </a:r>
            <a:r>
              <a:rPr lang="en-US" altLang="zh-CN" sz="2000" b="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marL="0" indent="0">
              <a:buNone/>
            </a:pPr>
            <a:r>
              <a:rPr lang="en-US" altLang="zh-CN" sz="2000" dirty="0">
                <a:latin typeface="宋体" panose="02010600030101010101" pitchFamily="2" charset="-122"/>
                <a:ea typeface="宋体" panose="02010600030101010101" pitchFamily="2" charset="-122"/>
              </a:rPr>
              <a:t>        }</a:t>
            </a:r>
            <a:endParaRPr lang="en-US" altLang="zh-CN" sz="2000" b="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a:t>
            </a:r>
            <a:r>
              <a:rPr lang="en-US" altLang="zh-CN" sz="2000" b="0" dirty="0" err="1">
                <a:latin typeface="宋体" panose="02010600030101010101" pitchFamily="2" charset="-122"/>
                <a:ea typeface="宋体" panose="02010600030101010101" pitchFamily="2" charset="-122"/>
              </a:rPr>
              <a:t>cout</a:t>
            </a:r>
            <a:r>
              <a:rPr lang="en-US" altLang="zh-CN" sz="2000" b="0" dirty="0">
                <a:latin typeface="宋体" panose="02010600030101010101" pitchFamily="2" charset="-122"/>
                <a:ea typeface="宋体" panose="02010600030101010101" pitchFamily="2" charset="-122"/>
              </a:rPr>
              <a:t> &lt;&lt; </a:t>
            </a:r>
            <a:r>
              <a:rPr lang="en-US" altLang="zh-CN" sz="2000" b="0" dirty="0" err="1">
                <a:latin typeface="宋体" panose="02010600030101010101" pitchFamily="2" charset="-122"/>
                <a:ea typeface="宋体" panose="02010600030101010101" pitchFamily="2" charset="-122"/>
              </a:rPr>
              <a:t>dp</a:t>
            </a:r>
            <a:r>
              <a:rPr lang="en-US" altLang="zh-CN" sz="2000" b="0" dirty="0">
                <a:latin typeface="宋体" panose="02010600030101010101" pitchFamily="2" charset="-122"/>
                <a:ea typeface="宋体" panose="02010600030101010101" pitchFamily="2" charset="-122"/>
              </a:rPr>
              <a:t>[n][C];</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    return 0;</a:t>
            </a:r>
          </a:p>
          <a:p>
            <a:pPr marL="0" indent="0">
              <a:lnSpc>
                <a:spcPct val="100000"/>
              </a:lnSpc>
              <a:spcBef>
                <a:spcPts val="0"/>
              </a:spcBef>
              <a:buNone/>
            </a:pPr>
            <a:r>
              <a:rPr lang="en-US" altLang="zh-CN" sz="2000" b="0" dirty="0">
                <a:latin typeface="宋体" panose="02010600030101010101" pitchFamily="2" charset="-122"/>
                <a:ea typeface="宋体" panose="02010600030101010101" pitchFamily="2" charset="-122"/>
              </a:rPr>
              <a:t>}</a:t>
            </a:r>
          </a:p>
        </p:txBody>
      </p:sp>
      <p:sp>
        <p:nvSpPr>
          <p:cNvPr id="4" name="内容占位符 4"/>
          <p:cNvSpPr txBox="1">
            <a:spLocks/>
          </p:cNvSpPr>
          <p:nvPr/>
        </p:nvSpPr>
        <p:spPr>
          <a:xfrm>
            <a:off x="445915" y="1138425"/>
            <a:ext cx="2901395" cy="436919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auto">
              <a:lnSpc>
                <a:spcPct val="140000"/>
              </a:lnSpc>
              <a:spcBef>
                <a:spcPts val="0"/>
              </a:spcBef>
              <a:spcAft>
                <a:spcPts val="0"/>
              </a:spcAft>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优化：把</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循环去掉</a:t>
            </a:r>
            <a:endParaRPr lang="en-US" altLang="zh-CN" sz="2000" dirty="0">
              <a:latin typeface="微软雅黑" panose="020B0503020204020204" pitchFamily="34" charset="-122"/>
              <a:ea typeface="微软雅黑" panose="020B0503020204020204" pitchFamily="34" charset="-122"/>
            </a:endParaRPr>
          </a:p>
          <a:p>
            <a:pPr algn="just" fontAlgn="auto">
              <a:lnSpc>
                <a:spcPct val="140000"/>
              </a:lnSpc>
              <a:spcBef>
                <a:spcPts val="0"/>
              </a:spcBef>
              <a:spcAft>
                <a:spcPts val="0"/>
              </a:spcAft>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本身也是一个动态规划的递推过程，</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从</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递推到</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，计算</a:t>
            </a:r>
            <a:r>
              <a:rPr lang="en-US" altLang="zh-CN" sz="2000" dirty="0" err="1">
                <a:latin typeface="微软雅黑" panose="020B0503020204020204" pitchFamily="34" charset="-122"/>
                <a:ea typeface="微软雅黑" panose="020B0503020204020204" pitchFamily="34" charset="-122"/>
              </a:rPr>
              <a:t>dp</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][j]</a:t>
            </a:r>
            <a:r>
              <a:rPr lang="zh-CN" altLang="en-US" sz="2000" dirty="0">
                <a:latin typeface="微软雅黑" panose="020B0503020204020204" pitchFamily="34" charset="-122"/>
                <a:ea typeface="微软雅黑" panose="020B0503020204020204" pitchFamily="34" charset="-122"/>
              </a:rPr>
              <a:t>时，它前面的</a:t>
            </a:r>
            <a:r>
              <a:rPr lang="en-US" altLang="zh-CN" sz="2000" dirty="0" err="1">
                <a:latin typeface="微软雅黑" panose="020B0503020204020204" pitchFamily="34" charset="-122"/>
                <a:ea typeface="微软雅黑" panose="020B0503020204020204" pitchFamily="34" charset="-122"/>
              </a:rPr>
              <a:t>dp</a:t>
            </a: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][j-c[</a:t>
            </a:r>
            <a:r>
              <a:rPr lang="en-US" altLang="zh-CN" sz="2000" dirty="0" err="1">
                <a:latin typeface="微软雅黑" panose="020B0503020204020204" pitchFamily="34" charset="-122"/>
                <a:ea typeface="微软雅黑" panose="020B0503020204020204" pitchFamily="34" charset="-122"/>
              </a:rPr>
              <a:t>i</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也包含了取</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件、</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件、</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的计算结果，所以用不着再用</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循环。</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84415854"/>
      </p:ext>
    </p:extLst>
  </p:cSld>
  <p:clrMapOvr>
    <a:masterClrMapping/>
  </p:clrMapOvr>
  <mc:AlternateContent xmlns:mc="http://schemas.openxmlformats.org/markup-compatibility/2006" xmlns:p14="http://schemas.microsoft.com/office/powerpoint/2010/main">
    <mc:Choice Requires="p14">
      <p:transition spd="slow" p14:dur="2000" advTm="116383"/>
    </mc:Choice>
    <mc:Fallback xmlns="">
      <p:transition spd="slow" advTm="1163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8.5</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a:t>
            </a:r>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DP</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例题</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2065331907"/>
      </p:ext>
    </p:extLst>
  </p:cSld>
  <p:clrMapOvr>
    <a:masterClrMapping/>
  </p:clrMapOvr>
  <p:transition spd="med" advTm="3987">
    <p:randomBar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2"/>
          <p:cNvSpPr txBox="1">
            <a:spLocks noChangeArrowheads="1"/>
          </p:cNvSpPr>
          <p:nvPr/>
        </p:nvSpPr>
        <p:spPr>
          <a:xfrm>
            <a:off x="681165" y="401863"/>
            <a:ext cx="10454100" cy="431152"/>
          </a:xfrm>
          <a:prstGeom prst="rect">
            <a:avLst/>
          </a:prstGeom>
          <a:noFill/>
          <a:ln w="9525">
            <a:noFill/>
            <a:miter lim="800000"/>
          </a:ln>
        </p:spPr>
        <p:txBody>
          <a:bodyPr vert="horz" wrap="square" lIns="91440" tIns="45720" rIns="91440" bIns="45720" numCol="1" anchor="b" anchorCtr="0" compatLnSpc="1"/>
          <a:lstStyle>
            <a:defPPr>
              <a:defRPr lang="en-US"/>
            </a:defPPr>
            <a:lvl1pPr algn="ctr" eaLnBrk="0" hangingPunct="0">
              <a:defRPr sz="5000">
                <a:solidFill>
                  <a:srgbClr val="CC0000"/>
                </a:solidFill>
                <a:effectLst>
                  <a:outerShdw blurRad="38100" dist="38100" dir="2700000" algn="tl">
                    <a:srgbClr val="000000">
                      <a:alpha val="43137"/>
                    </a:srgbClr>
                  </a:outerShdw>
                </a:effectLst>
                <a:latin typeface="+mn-lt"/>
                <a:ea typeface="+mj-ea"/>
                <a:cs typeface="+mj-cs"/>
              </a:defRPr>
            </a:lvl1pPr>
            <a:lvl2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2pPr>
            <a:lvl3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3pPr>
            <a:lvl4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4pPr>
            <a:lvl5pPr algn="ctr" eaLnBrk="0" hangingPunct="0">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5pPr>
            <a:lvl6pPr marL="4572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6pPr>
            <a:lvl7pPr marL="9144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7pPr>
            <a:lvl8pPr marL="13716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8pPr>
            <a:lvl9pPr marL="1828800" algn="ctr" fontAlgn="base">
              <a:spcBef>
                <a:spcPct val="0"/>
              </a:spcBef>
              <a:spcAft>
                <a:spcPct val="0"/>
              </a:spcAft>
              <a:defRPr sz="5000">
                <a:solidFill>
                  <a:srgbClr val="CC0000"/>
                </a:solidFill>
                <a:effectLst>
                  <a:outerShdw blurRad="38100" dist="38100" dir="2700000" algn="tl">
                    <a:srgbClr val="C0C0C0"/>
                  </a:outerShdw>
                </a:effectLst>
                <a:latin typeface="Arial" panose="020B0604020202020204" pitchFamily="34" charset="0"/>
                <a:ea typeface="黑体" panose="02010609060101010101" pitchFamily="49" charset="-122"/>
              </a:defRPr>
            </a:lvl9pPr>
          </a:lstStyle>
          <a:p>
            <a:pPr algn="l"/>
            <a:r>
              <a:rPr lang="zh-CN" altLang="en-US" sz="2800" dirty="0">
                <a:solidFill>
                  <a:srgbClr val="C00000"/>
                </a:solidFill>
                <a:effectLst/>
                <a:latin typeface="微软雅黑" panose="020B0503020204020204" pitchFamily="34" charset="-122"/>
                <a:ea typeface="微软雅黑" panose="020B0503020204020204" pitchFamily="34" charset="-122"/>
              </a:rPr>
              <a:t>例题</a:t>
            </a:r>
            <a:r>
              <a:rPr lang="en-US" altLang="zh-CN" sz="2800" dirty="0">
                <a:solidFill>
                  <a:srgbClr val="C00000"/>
                </a:solidFill>
                <a:effectLst/>
                <a:latin typeface="微软雅黑" panose="020B0503020204020204" pitchFamily="34" charset="-122"/>
                <a:ea typeface="微软雅黑" panose="020B0503020204020204" pitchFamily="34" charset="-122"/>
              </a:rPr>
              <a:t>8.7 </a:t>
            </a:r>
            <a:r>
              <a:rPr lang="zh-CN" altLang="en-US" sz="2800" dirty="0">
                <a:solidFill>
                  <a:srgbClr val="C00000"/>
                </a:solidFill>
                <a:effectLst/>
                <a:latin typeface="微软雅黑" panose="020B0503020204020204" pitchFamily="34" charset="-122"/>
                <a:ea typeface="微软雅黑" panose="020B0503020204020204" pitchFamily="34" charset="-122"/>
              </a:rPr>
              <a:t>子串简写 </a:t>
            </a:r>
            <a:r>
              <a:rPr lang="en-US" altLang="zh-CN" sz="2800" dirty="0" err="1">
                <a:solidFill>
                  <a:srgbClr val="C00000"/>
                </a:solidFill>
                <a:effectLst/>
                <a:latin typeface="微软雅黑" panose="020B0503020204020204" pitchFamily="34" charset="-122"/>
                <a:ea typeface="微软雅黑" panose="020B0503020204020204" pitchFamily="34" charset="-122"/>
              </a:rPr>
              <a:t>LangqiaoOJ</a:t>
            </a:r>
            <a:r>
              <a:rPr lang="en-US" altLang="zh-CN" sz="2800" dirty="0">
                <a:solidFill>
                  <a:srgbClr val="C00000"/>
                </a:solidFill>
                <a:effectLst/>
                <a:latin typeface="微软雅黑" panose="020B0503020204020204" pitchFamily="34" charset="-122"/>
                <a:ea typeface="微软雅黑" panose="020B0503020204020204" pitchFamily="34" charset="-122"/>
              </a:rPr>
              <a:t> 3514</a:t>
            </a:r>
            <a:endParaRPr lang="zh-CN" altLang="en-US" sz="2800" dirty="0">
              <a:solidFill>
                <a:srgbClr val="C00000"/>
              </a:solidFill>
              <a:effectLst/>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57</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682031" y="1138425"/>
            <a:ext cx="10453234" cy="5013039"/>
          </a:xfrm>
          <a:prstGeom prst="rect">
            <a:avLst/>
          </a:prstGeom>
          <a:noFill/>
        </p:spPr>
        <p:txBody>
          <a:bodyPr wrap="square">
            <a:spAutoFit/>
          </a:bodyPr>
          <a:lstStyle/>
          <a:p>
            <a:pPr>
              <a:lnSpc>
                <a:spcPct val="150000"/>
              </a:lnSpc>
            </a:pPr>
            <a:r>
              <a:rPr lang="zh-CN" altLang="en-US" sz="2400" dirty="0">
                <a:solidFill>
                  <a:srgbClr val="0070C0"/>
                </a:solidFill>
                <a:latin typeface="微软雅黑" panose="020B0503020204020204" pitchFamily="34" charset="-122"/>
                <a:ea typeface="微软雅黑" panose="020B0503020204020204" pitchFamily="34" charset="-122"/>
              </a:rPr>
              <a:t>问题描述：</a:t>
            </a:r>
            <a:r>
              <a:rPr lang="zh-CN" altLang="en-US" sz="2400" dirty="0">
                <a:solidFill>
                  <a:schemeClr val="tx1"/>
                </a:solidFill>
                <a:latin typeface="微软雅黑" panose="020B0503020204020204" pitchFamily="34" charset="-122"/>
                <a:ea typeface="微软雅黑" panose="020B0503020204020204" pitchFamily="34" charset="-122"/>
              </a:rPr>
              <a:t>一种很新的简写方法：对于一个字符串，只保留首尾字符，将首尾字符之间的所有字符用这部分的长度代替。例如</a:t>
            </a:r>
            <a:r>
              <a:rPr lang="en-US" altLang="zh-CN" sz="2400" dirty="0">
                <a:solidFill>
                  <a:schemeClr val="tx1"/>
                </a:solidFill>
                <a:latin typeface="微软雅黑" panose="020B0503020204020204" pitchFamily="34" charset="-122"/>
                <a:ea typeface="微软雅黑" panose="020B0503020204020204" pitchFamily="34" charset="-122"/>
              </a:rPr>
              <a:t>internationalization</a:t>
            </a:r>
            <a:r>
              <a:rPr lang="zh-CN" altLang="en-US" sz="2400" dirty="0">
                <a:solidFill>
                  <a:schemeClr val="tx1"/>
                </a:solidFill>
                <a:latin typeface="微软雅黑" panose="020B0503020204020204" pitchFamily="34" charset="-122"/>
                <a:ea typeface="微软雅黑" panose="020B0503020204020204" pitchFamily="34" charset="-122"/>
              </a:rPr>
              <a:t>简写成</a:t>
            </a:r>
            <a:r>
              <a:rPr lang="en-US" altLang="zh-CN" sz="2400" dirty="0">
                <a:solidFill>
                  <a:schemeClr val="tx1"/>
                </a:solidFill>
                <a:latin typeface="微软雅黑" panose="020B0503020204020204" pitchFamily="34" charset="-122"/>
                <a:ea typeface="微软雅黑" panose="020B0503020204020204" pitchFamily="34" charset="-122"/>
              </a:rPr>
              <a:t>i18n</a:t>
            </a:r>
            <a:r>
              <a:rPr lang="zh-CN" altLang="en-US" sz="2400" dirty="0">
                <a:solidFill>
                  <a:schemeClr val="tx1"/>
                </a:solidFill>
                <a:latin typeface="微软雅黑" panose="020B0503020204020204" pitchFamily="34" charset="-122"/>
                <a:ea typeface="微软雅黑" panose="020B0503020204020204" pitchFamily="34" charset="-122"/>
              </a:rPr>
              <a:t>，</a:t>
            </a:r>
            <a:r>
              <a:rPr lang="en-US" altLang="zh-CN" sz="2400" dirty="0">
                <a:solidFill>
                  <a:schemeClr val="tx1"/>
                </a:solidFill>
                <a:latin typeface="微软雅黑" panose="020B0503020204020204" pitchFamily="34" charset="-122"/>
                <a:ea typeface="微软雅黑" panose="020B0503020204020204" pitchFamily="34" charset="-122"/>
              </a:rPr>
              <a:t>Kubernetes</a:t>
            </a:r>
            <a:r>
              <a:rPr lang="zh-CN" altLang="en-US" sz="2400" dirty="0">
                <a:solidFill>
                  <a:schemeClr val="tx1"/>
                </a:solidFill>
                <a:latin typeface="微软雅黑" panose="020B0503020204020204" pitchFamily="34" charset="-122"/>
                <a:ea typeface="微软雅黑" panose="020B0503020204020204" pitchFamily="34" charset="-122"/>
              </a:rPr>
              <a:t>简写成</a:t>
            </a:r>
            <a:r>
              <a:rPr lang="en-US" altLang="zh-CN" sz="2400" dirty="0">
                <a:solidFill>
                  <a:schemeClr val="tx1"/>
                </a:solidFill>
                <a:latin typeface="微软雅黑" panose="020B0503020204020204" pitchFamily="34" charset="-122"/>
                <a:ea typeface="微软雅黑" panose="020B0503020204020204" pitchFamily="34" charset="-122"/>
              </a:rPr>
              <a:t>K8s, </a:t>
            </a:r>
            <a:r>
              <a:rPr lang="en-US" altLang="zh-CN" sz="2400" dirty="0" err="1">
                <a:solidFill>
                  <a:schemeClr val="tx1"/>
                </a:solidFill>
                <a:latin typeface="微软雅黑" panose="020B0503020204020204" pitchFamily="34" charset="-122"/>
                <a:ea typeface="微软雅黑" panose="020B0503020204020204" pitchFamily="34" charset="-122"/>
              </a:rPr>
              <a:t>Lanqiao</a:t>
            </a:r>
            <a:r>
              <a:rPr lang="zh-CN" altLang="en-US" sz="2400" dirty="0">
                <a:solidFill>
                  <a:schemeClr val="tx1"/>
                </a:solidFill>
                <a:latin typeface="微软雅黑" panose="020B0503020204020204" pitchFamily="34" charset="-122"/>
                <a:ea typeface="微软雅黑" panose="020B0503020204020204" pitchFamily="34" charset="-122"/>
              </a:rPr>
              <a:t>简写成</a:t>
            </a:r>
            <a:r>
              <a:rPr lang="en-US" altLang="zh-CN" sz="2400" dirty="0">
                <a:solidFill>
                  <a:schemeClr val="tx1"/>
                </a:solidFill>
                <a:latin typeface="微软雅黑" panose="020B0503020204020204" pitchFamily="34" charset="-122"/>
                <a:ea typeface="微软雅黑" panose="020B0503020204020204" pitchFamily="34" charset="-122"/>
              </a:rPr>
              <a:t>L5o</a:t>
            </a:r>
            <a:r>
              <a:rPr lang="zh-CN" altLang="en-US" sz="2400" dirty="0">
                <a:solidFill>
                  <a:schemeClr val="tx1"/>
                </a:solidFill>
                <a:latin typeface="微软雅黑" panose="020B0503020204020204" pitchFamily="34" charset="-122"/>
                <a:ea typeface="微软雅黑" panose="020B0503020204020204" pitchFamily="34" charset="-122"/>
              </a:rPr>
              <a:t>等。</a:t>
            </a:r>
          </a:p>
          <a:p>
            <a:pPr>
              <a:lnSpc>
                <a:spcPct val="150000"/>
              </a:lnSpc>
            </a:pPr>
            <a:r>
              <a:rPr lang="zh-CN" altLang="en-US" sz="2400" dirty="0">
                <a:solidFill>
                  <a:schemeClr val="tx1"/>
                </a:solidFill>
                <a:latin typeface="微软雅黑" panose="020B0503020204020204" pitchFamily="34" charset="-122"/>
                <a:ea typeface="微软雅黑" panose="020B0503020204020204" pitchFamily="34" charset="-122"/>
              </a:rPr>
              <a:t>在本题中，我们规定长度大于等于</a:t>
            </a:r>
            <a:r>
              <a:rPr lang="en-US" altLang="zh-CN" sz="2400" dirty="0">
                <a:solidFill>
                  <a:schemeClr val="tx1"/>
                </a:solidFill>
                <a:latin typeface="微软雅黑" panose="020B0503020204020204" pitchFamily="34" charset="-122"/>
                <a:ea typeface="微软雅黑" panose="020B0503020204020204" pitchFamily="34" charset="-122"/>
              </a:rPr>
              <a:t>K</a:t>
            </a:r>
            <a:r>
              <a:rPr lang="zh-CN" altLang="en-US" sz="2400" dirty="0">
                <a:solidFill>
                  <a:schemeClr val="tx1"/>
                </a:solidFill>
                <a:latin typeface="微软雅黑" panose="020B0503020204020204" pitchFamily="34" charset="-122"/>
                <a:ea typeface="微软雅黑" panose="020B0503020204020204" pitchFamily="34" charset="-122"/>
              </a:rPr>
              <a:t>的字符串都可以采用这种简写方法（长度小于</a:t>
            </a:r>
            <a:r>
              <a:rPr lang="en-US" altLang="zh-CN" sz="2400" dirty="0">
                <a:solidFill>
                  <a:schemeClr val="tx1"/>
                </a:solidFill>
                <a:latin typeface="微软雅黑" panose="020B0503020204020204" pitchFamily="34" charset="-122"/>
                <a:ea typeface="微软雅黑" panose="020B0503020204020204" pitchFamily="34" charset="-122"/>
              </a:rPr>
              <a:t>K </a:t>
            </a:r>
            <a:r>
              <a:rPr lang="zh-CN" altLang="en-US" sz="2400" dirty="0">
                <a:solidFill>
                  <a:schemeClr val="tx1"/>
                </a:solidFill>
                <a:latin typeface="微软雅黑" panose="020B0503020204020204" pitchFamily="34" charset="-122"/>
                <a:ea typeface="微软雅黑" panose="020B0503020204020204" pitchFamily="34" charset="-122"/>
              </a:rPr>
              <a:t>的字符串不配使用这种简写）。</a:t>
            </a:r>
          </a:p>
          <a:p>
            <a:pPr>
              <a:lnSpc>
                <a:spcPct val="150000"/>
              </a:lnSpc>
            </a:pPr>
            <a:r>
              <a:rPr lang="zh-CN" altLang="en-US" sz="2400" dirty="0">
                <a:solidFill>
                  <a:schemeClr val="tx1"/>
                </a:solidFill>
                <a:latin typeface="微软雅黑" panose="020B0503020204020204" pitchFamily="34" charset="-122"/>
                <a:ea typeface="微软雅黑" panose="020B0503020204020204" pitchFamily="34" charset="-122"/>
              </a:rPr>
              <a:t>给定一个字符串</a:t>
            </a:r>
            <a:r>
              <a:rPr lang="en-US" altLang="zh-CN" sz="2400" dirty="0">
                <a:solidFill>
                  <a:schemeClr val="tx1"/>
                </a:solidFill>
                <a:latin typeface="微软雅黑" panose="020B0503020204020204" pitchFamily="34" charset="-122"/>
                <a:ea typeface="微软雅黑" panose="020B0503020204020204" pitchFamily="34" charset="-122"/>
              </a:rPr>
              <a:t>S</a:t>
            </a:r>
            <a:r>
              <a:rPr lang="zh-CN" altLang="en-US" sz="2400" dirty="0">
                <a:solidFill>
                  <a:schemeClr val="tx1"/>
                </a:solidFill>
                <a:latin typeface="微软雅黑" panose="020B0503020204020204" pitchFamily="34" charset="-122"/>
                <a:ea typeface="微软雅黑" panose="020B0503020204020204" pitchFamily="34" charset="-122"/>
              </a:rPr>
              <a:t>和两个字符</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和</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baseline="-250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，请你计算</a:t>
            </a:r>
            <a:r>
              <a:rPr lang="en-US" altLang="zh-CN" sz="2400" dirty="0">
                <a:solidFill>
                  <a:schemeClr val="tx1"/>
                </a:solidFill>
                <a:latin typeface="微软雅黑" panose="020B0503020204020204" pitchFamily="34" charset="-122"/>
                <a:ea typeface="微软雅黑" panose="020B0503020204020204" pitchFamily="34" charset="-122"/>
              </a:rPr>
              <a:t>S</a:t>
            </a:r>
            <a:r>
              <a:rPr lang="zh-CN" altLang="en-US" sz="2400" dirty="0">
                <a:solidFill>
                  <a:schemeClr val="tx1"/>
                </a:solidFill>
                <a:latin typeface="微软雅黑" panose="020B0503020204020204" pitchFamily="34" charset="-122"/>
                <a:ea typeface="微软雅黑" panose="020B0503020204020204" pitchFamily="34" charset="-122"/>
              </a:rPr>
              <a:t>有多少个以</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开头，</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baseline="-250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结尾的子串可以采用这种简写？ </a:t>
            </a:r>
          </a:p>
          <a:p>
            <a:pPr>
              <a:lnSpc>
                <a:spcPct val="150000"/>
              </a:lnSpc>
            </a:pPr>
            <a:r>
              <a:rPr lang="zh-CN" altLang="en-US" sz="2400" dirty="0">
                <a:solidFill>
                  <a:srgbClr val="0070C0"/>
                </a:solidFill>
                <a:latin typeface="微软雅黑" panose="020B0503020204020204" pitchFamily="34" charset="-122"/>
                <a:ea typeface="微软雅黑" panose="020B0503020204020204" pitchFamily="34" charset="-122"/>
              </a:rPr>
              <a:t>输入：</a:t>
            </a:r>
            <a:r>
              <a:rPr lang="zh-CN" altLang="en-US" sz="2400" dirty="0">
                <a:solidFill>
                  <a:schemeClr val="tx1"/>
                </a:solidFill>
                <a:latin typeface="微软雅黑" panose="020B0503020204020204" pitchFamily="34" charset="-122"/>
                <a:ea typeface="微软雅黑" panose="020B0503020204020204" pitchFamily="34" charset="-122"/>
              </a:rPr>
              <a:t>第一行包含一个整数</a:t>
            </a:r>
            <a:r>
              <a:rPr lang="en-US" altLang="zh-CN" sz="2400" dirty="0">
                <a:solidFill>
                  <a:schemeClr val="tx1"/>
                </a:solidFill>
                <a:latin typeface="微软雅黑" panose="020B0503020204020204" pitchFamily="34" charset="-122"/>
                <a:ea typeface="微软雅黑" panose="020B0503020204020204" pitchFamily="34" charset="-122"/>
              </a:rPr>
              <a:t>K</a:t>
            </a:r>
            <a:r>
              <a:rPr lang="zh-CN" altLang="en-US" sz="2400" dirty="0">
                <a:solidFill>
                  <a:schemeClr val="tx1"/>
                </a:solidFill>
                <a:latin typeface="微软雅黑" panose="020B0503020204020204" pitchFamily="34" charset="-122"/>
                <a:ea typeface="微软雅黑" panose="020B0503020204020204" pitchFamily="34" charset="-122"/>
              </a:rPr>
              <a:t>。第二行包含一个字符串</a:t>
            </a:r>
            <a:r>
              <a:rPr lang="en-US" altLang="zh-CN" sz="2400" dirty="0">
                <a:solidFill>
                  <a:schemeClr val="tx1"/>
                </a:solidFill>
                <a:latin typeface="微软雅黑" panose="020B0503020204020204" pitchFamily="34" charset="-122"/>
                <a:ea typeface="微软雅黑" panose="020B0503020204020204" pitchFamily="34" charset="-122"/>
              </a:rPr>
              <a:t>S</a:t>
            </a:r>
            <a:r>
              <a:rPr lang="zh-CN" altLang="en-US" sz="2400" dirty="0">
                <a:solidFill>
                  <a:schemeClr val="tx1"/>
                </a:solidFill>
                <a:latin typeface="微软雅黑" panose="020B0503020204020204" pitchFamily="34" charset="-122"/>
                <a:ea typeface="微软雅黑" panose="020B0503020204020204" pitchFamily="34" charset="-122"/>
              </a:rPr>
              <a:t>和两个字符</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baseline="-25000" dirty="0">
                <a:solidFill>
                  <a:schemeClr val="tx1"/>
                </a:solidFill>
                <a:latin typeface="微软雅黑" panose="020B0503020204020204" pitchFamily="34" charset="-122"/>
                <a:ea typeface="微软雅黑" panose="020B0503020204020204" pitchFamily="34" charset="-122"/>
              </a:rPr>
              <a:t>1</a:t>
            </a:r>
            <a:r>
              <a:rPr lang="zh-CN" altLang="en-US" sz="2400" dirty="0">
                <a:solidFill>
                  <a:schemeClr val="tx1"/>
                </a:solidFill>
                <a:latin typeface="微软雅黑" panose="020B0503020204020204" pitchFamily="34" charset="-122"/>
                <a:ea typeface="微软雅黑" panose="020B0503020204020204" pitchFamily="34" charset="-122"/>
              </a:rPr>
              <a:t>和</a:t>
            </a:r>
            <a:r>
              <a:rPr lang="en-US" altLang="zh-CN" sz="2400" dirty="0">
                <a:solidFill>
                  <a:schemeClr val="tx1"/>
                </a:solidFill>
                <a:latin typeface="微软雅黑" panose="020B0503020204020204" pitchFamily="34" charset="-122"/>
                <a:ea typeface="微软雅黑" panose="020B0503020204020204" pitchFamily="34" charset="-122"/>
              </a:rPr>
              <a:t>c</a:t>
            </a:r>
            <a:r>
              <a:rPr lang="en-US" altLang="zh-CN" sz="2400" baseline="-25000" dirty="0">
                <a:solidFill>
                  <a:schemeClr val="tx1"/>
                </a:solidFill>
                <a:latin typeface="微软雅黑" panose="020B0503020204020204" pitchFamily="34" charset="-122"/>
                <a:ea typeface="微软雅黑" panose="020B0503020204020204" pitchFamily="34" charset="-122"/>
              </a:rPr>
              <a:t>2</a:t>
            </a:r>
            <a:r>
              <a:rPr lang="zh-CN" altLang="en-US" sz="2400" dirty="0">
                <a:solidFill>
                  <a:schemeClr val="tx1"/>
                </a:solidFill>
                <a:latin typeface="微软雅黑" panose="020B0503020204020204" pitchFamily="34" charset="-122"/>
                <a:ea typeface="微软雅黑" panose="020B0503020204020204" pitchFamily="34" charset="-122"/>
              </a:rPr>
              <a:t>。</a:t>
            </a:r>
          </a:p>
          <a:p>
            <a:pPr>
              <a:lnSpc>
                <a:spcPct val="150000"/>
              </a:lnSpc>
            </a:pPr>
            <a:r>
              <a:rPr lang="zh-CN" altLang="en-US" sz="2400" dirty="0">
                <a:solidFill>
                  <a:srgbClr val="0070C0"/>
                </a:solidFill>
                <a:latin typeface="微软雅黑" panose="020B0503020204020204" pitchFamily="34" charset="-122"/>
                <a:ea typeface="微软雅黑" panose="020B0503020204020204" pitchFamily="34" charset="-122"/>
              </a:rPr>
              <a:t>输出：</a:t>
            </a:r>
            <a:r>
              <a:rPr lang="zh-CN" altLang="en-US" sz="2400" dirty="0">
                <a:solidFill>
                  <a:schemeClr val="tx1"/>
                </a:solidFill>
                <a:latin typeface="微软雅黑" panose="020B0503020204020204" pitchFamily="34" charset="-122"/>
                <a:ea typeface="微软雅黑" panose="020B0503020204020204" pitchFamily="34" charset="-122"/>
              </a:rPr>
              <a:t>一个整数代表答案。</a:t>
            </a:r>
          </a:p>
        </p:txBody>
      </p:sp>
    </p:spTree>
    <p:custDataLst>
      <p:tags r:id="rId1"/>
    </p:custDataLst>
    <p:extLst>
      <p:ext uri="{BB962C8B-B14F-4D97-AF65-F5344CB8AC3E}">
        <p14:creationId xmlns:p14="http://schemas.microsoft.com/office/powerpoint/2010/main" val="924915837"/>
      </p:ext>
    </p:extLst>
  </p:cSld>
  <p:clrMapOvr>
    <a:masterClrMapping/>
  </p:clrMapOvr>
  <mc:AlternateContent xmlns:mc="http://schemas.openxmlformats.org/markup-compatibility/2006" xmlns:p14="http://schemas.microsoft.com/office/powerpoint/2010/main">
    <mc:Choice Requires="p14">
      <p:transition spd="slow" p14:dur="2000" advTm="107502"/>
    </mc:Choice>
    <mc:Fallback xmlns="">
      <p:transition spd="slow" advTm="1075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xEl>
                                              <p:pRg st="3" end="3"/>
                                            </p:txEl>
                                          </p:spTgt>
                                        </p:tgtEl>
                                        <p:attrNameLst>
                                          <p:attrName>style.visibility</p:attrName>
                                        </p:attrNameLst>
                                      </p:cBhvr>
                                      <p:to>
                                        <p:strVal val="visible"/>
                                      </p:to>
                                    </p:set>
                                    <p:animEffect transition="in" filter="fade">
                                      <p:cBhvr>
                                        <p:cTn id="7" dur="500"/>
                                        <p:tgtEl>
                                          <p:spTgt spid="58">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8">
                                            <p:txEl>
                                              <p:pRg st="4" end="4"/>
                                            </p:txEl>
                                          </p:spTgt>
                                        </p:tgtEl>
                                        <p:attrNameLst>
                                          <p:attrName>style.visibility</p:attrName>
                                        </p:attrNameLst>
                                      </p:cBhvr>
                                      <p:to>
                                        <p:strVal val="visible"/>
                                      </p:to>
                                    </p:set>
                                    <p:animEffect transition="in" filter="fade">
                                      <p:cBhvr>
                                        <p:cTn id="10" dur="500"/>
                                        <p:tgtEl>
                                          <p:spTgt spid="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58</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50408" y="1749245"/>
            <a:ext cx="9915613" cy="2243050"/>
          </a:xfrm>
          <a:prstGeom prst="rect">
            <a:avLst/>
          </a:prstGeom>
          <a:noFill/>
        </p:spPr>
        <p:txBody>
          <a:bodyPr wrap="square">
            <a:spAutoFit/>
          </a:bodyPr>
          <a:lstStyle/>
          <a:p>
            <a:pPr>
              <a:lnSpc>
                <a:spcPct val="150000"/>
              </a:lnSpc>
              <a:spcBef>
                <a:spcPts val="0"/>
              </a:spcBef>
            </a:pP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定义状态</a:t>
            </a:r>
            <a:r>
              <a:rPr lang="en-US" altLang="zh-CN" sz="2400" dirty="0" err="1">
                <a:solidFill>
                  <a:srgbClr val="0070C0"/>
                </a:solidFill>
                <a:latin typeface="微软雅黑" panose="020B0503020204020204" pitchFamily="34" charset="-122"/>
                <a:ea typeface="微软雅黑" panose="020B0503020204020204" pitchFamily="34" charset="-122"/>
                <a:cs typeface="+mn-ea"/>
                <a:sym typeface="+mn-lt"/>
              </a:rPr>
              <a:t>dp</a:t>
            </a: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表示到</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s[1]~s[</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中首字母</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c</a:t>
            </a:r>
            <a:r>
              <a:rPr lang="en-US" altLang="zh-CN" sz="2400" baseline="-25000" dirty="0">
                <a:solidFill>
                  <a:schemeClr val="tx1"/>
                </a:solidFill>
                <a:latin typeface="微软雅黑" panose="020B0503020204020204" pitchFamily="34" charset="-122"/>
                <a:ea typeface="微软雅黑" panose="020B0503020204020204" pitchFamily="34" charset="-122"/>
                <a:cs typeface="+mn-ea"/>
                <a:sym typeface="+mn-lt"/>
              </a:rPr>
              <a:t>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出现的次数。</a:t>
            </a:r>
          </a:p>
          <a:p>
            <a:pPr>
              <a:lnSpc>
                <a:spcPct val="150000"/>
              </a:lnSpc>
              <a:spcBef>
                <a:spcPts val="0"/>
              </a:spcBef>
            </a:pP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a:lnSpc>
                <a:spcPct val="150000"/>
              </a:lnSpc>
              <a:spcBef>
                <a:spcPts val="0"/>
              </a:spcBef>
            </a:pP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DP</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转移：</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遍历</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s</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时，若出现尾字母</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c</a:t>
            </a:r>
            <a:r>
              <a:rPr lang="en-US" altLang="zh-CN" sz="2400" baseline="-25000" dirty="0">
                <a:solidFill>
                  <a:schemeClr val="tx1"/>
                </a:solidFill>
                <a:latin typeface="微软雅黑" panose="020B0503020204020204" pitchFamily="34" charset="-122"/>
                <a:ea typeface="微软雅黑" panose="020B0503020204020204" pitchFamily="34" charset="-122"/>
                <a:cs typeface="+mn-ea"/>
                <a:sym typeface="+mn-lt"/>
              </a:rPr>
              <a:t>2</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，那么答案累加</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dp</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a:t>
            </a:r>
            <a:r>
              <a:rPr lang="en-US" altLang="zh-CN" sz="2400" dirty="0" err="1">
                <a:solidFill>
                  <a:schemeClr val="tx1"/>
                </a:solidFill>
                <a:latin typeface="微软雅黑" panose="020B0503020204020204" pitchFamily="34" charset="-122"/>
                <a:ea typeface="微软雅黑" panose="020B0503020204020204" pitchFamily="34" charset="-122"/>
                <a:cs typeface="+mn-ea"/>
                <a:sym typeface="+mn-lt"/>
              </a:rPr>
              <a:t>i</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 k + 1]</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。只需遍历一次字符串，计算复杂度为</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O(n)</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326659791"/>
      </p:ext>
    </p:extLst>
  </p:cSld>
  <p:clrMapOvr>
    <a:masterClrMapping/>
  </p:clrMapOvr>
  <mc:AlternateContent xmlns:mc="http://schemas.openxmlformats.org/markup-compatibility/2006" xmlns:p14="http://schemas.microsoft.com/office/powerpoint/2010/main">
    <mc:Choice Requires="p14">
      <p:transition spd="slow" p14:dur="2000" advTm="43734"/>
    </mc:Choice>
    <mc:Fallback xmlns="">
      <p:transition spd="slow" advTm="43734"/>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217794D7-36C4-4E93-AE7A-0CAF6AF174FC}" type="slidenum">
              <a:rPr lang="zh-CN" altLang="en-US" smtClean="0"/>
              <a:pPr/>
              <a:t>59</a:t>
            </a:fld>
            <a:endParaRPr lang="en-US" altLang="zh-CN"/>
          </a:p>
        </p:txBody>
      </p:sp>
      <p:sp>
        <p:nvSpPr>
          <p:cNvPr id="3" name="矩形 2"/>
          <p:cNvSpPr/>
          <p:nvPr/>
        </p:nvSpPr>
        <p:spPr>
          <a:xfrm>
            <a:off x="1667555" y="374900"/>
            <a:ext cx="9162300" cy="5632311"/>
          </a:xfrm>
          <a:prstGeom prst="rect">
            <a:avLst/>
          </a:prstGeom>
        </p:spPr>
        <p:txBody>
          <a:bodyPr wrap="square">
            <a:spAutoFit/>
          </a:bodyPr>
          <a:lstStyle/>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#include&lt;bits/</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stdc</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++.h&gt;</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using namespace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std</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dp</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[500005];</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main(){</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k;   string s;   char c1,c2;</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cin</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&gt;&gt; k &gt;&gt; s &gt;&gt; c1 &gt;&gt; c2;</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len</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s.size</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s = '0' + s;        //s[0]</a:t>
            </a:r>
            <a:r>
              <a:rPr lang="zh-CN" altLang="zh-CN" b="0" kern="2200" dirty="0">
                <a:solidFill>
                  <a:schemeClr val="tx1"/>
                </a:solidFill>
                <a:latin typeface="Calibri" panose="020F0502020204030204" pitchFamily="34" charset="0"/>
                <a:ea typeface="宋体" panose="02010600030101010101" pitchFamily="2" charset="-122"/>
                <a:cs typeface="宋体" panose="02010600030101010101" pitchFamily="2" charset="-122"/>
              </a:rPr>
              <a:t>不用，从</a:t>
            </a:r>
            <a:r>
              <a:rPr lang="en-US" altLang="zh-CN" b="0" kern="2200" dirty="0">
                <a:solidFill>
                  <a:schemeClr val="tx1"/>
                </a:solidFill>
                <a:latin typeface="Calibri" panose="020F0502020204030204" pitchFamily="34" charset="0"/>
                <a:ea typeface="宋体" panose="02010600030101010101" pitchFamily="2" charset="-122"/>
                <a:cs typeface="宋体" panose="02010600030101010101" pitchFamily="2" charset="-122"/>
              </a:rPr>
              <a:t>s[1]</a:t>
            </a:r>
            <a:r>
              <a:rPr lang="zh-CN" altLang="zh-CN" b="0" kern="2200" dirty="0">
                <a:solidFill>
                  <a:schemeClr val="tx1"/>
                </a:solidFill>
                <a:latin typeface="Calibri" panose="020F0502020204030204" pitchFamily="34" charset="0"/>
                <a:ea typeface="宋体" panose="02010600030101010101" pitchFamily="2" charset="-122"/>
                <a:cs typeface="宋体" panose="02010600030101010101" pitchFamily="2" charset="-122"/>
              </a:rPr>
              <a:t>开始存字符串，容易理解</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long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long</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ans</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0;</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for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int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1, t = 0;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&lt;=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len</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if (s[</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c1) t++;           //</a:t>
            </a:r>
            <a:r>
              <a:rPr lang="zh-CN" altLang="zh-CN" b="0" kern="2200" dirty="0">
                <a:solidFill>
                  <a:schemeClr val="tx1"/>
                </a:solidFill>
                <a:latin typeface="Arial" panose="020B0604020202020204" pitchFamily="34" charset="0"/>
                <a:ea typeface="宋体" panose="02010600030101010101" pitchFamily="2" charset="-122"/>
                <a:cs typeface="Arial" panose="020B0604020202020204" pitchFamily="34" charset="0"/>
              </a:rPr>
              <a:t>首字母</a:t>
            </a:r>
            <a:r>
              <a:rPr lang="en-US" altLang="zh-CN" b="0" kern="2200" dirty="0">
                <a:solidFill>
                  <a:schemeClr val="tx1"/>
                </a:solidFill>
                <a:latin typeface="Arial" panose="020B0604020202020204" pitchFamily="34" charset="0"/>
                <a:ea typeface="宋体" panose="02010600030101010101" pitchFamily="2" charset="-122"/>
              </a:rPr>
              <a:t>c1</a:t>
            </a:r>
            <a:r>
              <a:rPr lang="zh-CN" altLang="zh-CN" b="0" kern="2200" dirty="0">
                <a:solidFill>
                  <a:schemeClr val="tx1"/>
                </a:solidFill>
                <a:latin typeface="Arial" panose="020B0604020202020204" pitchFamily="34" charset="0"/>
                <a:ea typeface="宋体" panose="02010600030101010101" pitchFamily="2" charset="-122"/>
                <a:cs typeface="Arial" panose="020B0604020202020204" pitchFamily="34" charset="0"/>
              </a:rPr>
              <a:t>出现的次数</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dp</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t;</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if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&gt;= k &amp;&amp; s[</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c2)</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ans</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dp</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i</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 k + 1];</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cout</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&lt;&lt; </a:t>
            </a:r>
            <a:r>
              <a:rPr lang="en-US" altLang="zh-CN" b="0" kern="2200" dirty="0" err="1">
                <a:solidFill>
                  <a:schemeClr val="tx1"/>
                </a:solidFill>
                <a:latin typeface="宋体" panose="02010600030101010101" pitchFamily="2" charset="-122"/>
                <a:ea typeface="宋体" panose="02010600030101010101" pitchFamily="2" charset="-122"/>
                <a:cs typeface="宋体" panose="02010600030101010101" pitchFamily="2" charset="-122"/>
              </a:rPr>
              <a:t>ans</a:t>
            </a: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zh-CN" altLang="zh-CN" sz="4800" kern="2200" dirty="0">
              <a:solidFill>
                <a:schemeClr val="tx1"/>
              </a:solidFill>
              <a:latin typeface="Calibri" panose="020F0502020204030204" pitchFamily="34" charset="0"/>
              <a:ea typeface="宋体" panose="02010600030101010101" pitchFamily="2" charset="-122"/>
            </a:endParaRPr>
          </a:p>
          <a:p>
            <a:pPr algn="just">
              <a:spcAft>
                <a:spcPts val="0"/>
              </a:spcAft>
            </a:pPr>
            <a:r>
              <a:rPr lang="en-US" altLang="zh-CN" b="0" kern="2200" dirty="0">
                <a:solidFill>
                  <a:schemeClr val="tx1"/>
                </a:solidFill>
                <a:latin typeface="宋体" panose="02010600030101010101" pitchFamily="2" charset="-122"/>
                <a:ea typeface="宋体" panose="02010600030101010101" pitchFamily="2" charset="-122"/>
                <a:cs typeface="宋体" panose="02010600030101010101" pitchFamily="2" charset="-122"/>
              </a:rPr>
              <a:t>    return 0;</a:t>
            </a:r>
            <a:endParaRPr lang="zh-CN" altLang="zh-CN" sz="4800" kern="2200" dirty="0">
              <a:solidFill>
                <a:schemeClr val="tx1"/>
              </a:solidFill>
              <a:latin typeface="Calibri" panose="020F0502020204030204" pitchFamily="34" charset="0"/>
              <a:ea typeface="宋体" panose="02010600030101010101" pitchFamily="2" charset="-122"/>
            </a:endParaRPr>
          </a:p>
          <a:p>
            <a:r>
              <a:rPr lang="en-US" altLang="zh-CN" kern="2200" dirty="0">
                <a:solidFill>
                  <a:schemeClr val="tx1"/>
                </a:solidFill>
                <a:latin typeface="宋体" panose="02010600030101010101" pitchFamily="2" charset="-122"/>
                <a:cs typeface="宋体" panose="02010600030101010101" pitchFamily="2" charset="-122"/>
              </a:rPr>
              <a:t>}</a:t>
            </a:r>
            <a:endParaRPr lang="zh-CN" altLang="en-US" dirty="0">
              <a:solidFill>
                <a:schemeClr val="tx1"/>
              </a:solidFill>
            </a:endParaRPr>
          </a:p>
        </p:txBody>
      </p:sp>
    </p:spTree>
    <p:extLst>
      <p:ext uri="{BB962C8B-B14F-4D97-AF65-F5344CB8AC3E}">
        <p14:creationId xmlns:p14="http://schemas.microsoft.com/office/powerpoint/2010/main" val="41842393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5"/>
          <p:cNvSpPr>
            <a:spLocks noChangeArrowheads="1"/>
          </p:cNvSpPr>
          <p:nvPr/>
        </p:nvSpPr>
        <p:spPr bwMode="white">
          <a:xfrm>
            <a:off x="140505" y="2465030"/>
            <a:ext cx="1191099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3600" b="1">
                <a:solidFill>
                  <a:schemeClr val="tx2"/>
                </a:solidFill>
                <a:latin typeface="Verdana" panose="020B0604030504040204" pitchFamily="34" charset="0"/>
              </a:defRPr>
            </a:lvl1pPr>
            <a:lvl2pPr algn="ctr">
              <a:defRPr sz="3600" b="1">
                <a:solidFill>
                  <a:schemeClr val="tx2"/>
                </a:solidFill>
                <a:latin typeface="Verdana" panose="020B0604030504040204" pitchFamily="34" charset="0"/>
              </a:defRPr>
            </a:lvl2pPr>
            <a:lvl3pPr algn="ctr">
              <a:defRPr sz="3600" b="1">
                <a:solidFill>
                  <a:schemeClr val="tx2"/>
                </a:solidFill>
                <a:latin typeface="Verdana" panose="020B0604030504040204" pitchFamily="34" charset="0"/>
              </a:defRPr>
            </a:lvl3pPr>
            <a:lvl4pPr algn="ctr">
              <a:defRPr sz="3600" b="1">
                <a:solidFill>
                  <a:schemeClr val="tx2"/>
                </a:solidFill>
                <a:latin typeface="Verdana" panose="020B0604030504040204" pitchFamily="34" charset="0"/>
              </a:defRPr>
            </a:lvl4pPr>
            <a:lvl5pPr algn="ctr">
              <a:defRPr sz="3600" b="1">
                <a:solidFill>
                  <a:schemeClr val="tx2"/>
                </a:solidFill>
                <a:latin typeface="Verdana" panose="020B0604030504040204" pitchFamily="34" charset="0"/>
              </a:defRPr>
            </a:lvl5pPr>
            <a:lvl6pPr marL="457200" algn="ctr" fontAlgn="base">
              <a:spcBef>
                <a:spcPct val="0"/>
              </a:spcBef>
              <a:spcAft>
                <a:spcPct val="0"/>
              </a:spcAft>
              <a:defRPr sz="3600" b="1">
                <a:solidFill>
                  <a:schemeClr val="tx2"/>
                </a:solidFill>
                <a:latin typeface="Verdana" panose="020B0604030504040204" pitchFamily="34" charset="0"/>
              </a:defRPr>
            </a:lvl6pPr>
            <a:lvl7pPr marL="914400" algn="ctr" fontAlgn="base">
              <a:spcBef>
                <a:spcPct val="0"/>
              </a:spcBef>
              <a:spcAft>
                <a:spcPct val="0"/>
              </a:spcAft>
              <a:defRPr sz="3600" b="1">
                <a:solidFill>
                  <a:schemeClr val="tx2"/>
                </a:solidFill>
                <a:latin typeface="Verdana" panose="020B0604030504040204" pitchFamily="34" charset="0"/>
              </a:defRPr>
            </a:lvl7pPr>
            <a:lvl8pPr marL="1371600" algn="ctr" fontAlgn="base">
              <a:spcBef>
                <a:spcPct val="0"/>
              </a:spcBef>
              <a:spcAft>
                <a:spcPct val="0"/>
              </a:spcAft>
              <a:defRPr sz="3600" b="1">
                <a:solidFill>
                  <a:schemeClr val="tx2"/>
                </a:solidFill>
                <a:latin typeface="Verdana" panose="020B0604030504040204" pitchFamily="34" charset="0"/>
              </a:defRPr>
            </a:lvl8pPr>
            <a:lvl9pPr marL="1828800" algn="ctr" fontAlgn="base">
              <a:spcBef>
                <a:spcPct val="0"/>
              </a:spcBef>
              <a:spcAft>
                <a:spcPct val="0"/>
              </a:spcAft>
              <a:defRPr sz="3600" b="1">
                <a:solidFill>
                  <a:schemeClr val="tx2"/>
                </a:solidFill>
                <a:latin typeface="Verdana" panose="020B0604030504040204" pitchFamily="34" charset="0"/>
              </a:defRPr>
            </a:lvl9pPr>
          </a:lstStyle>
          <a:p>
            <a:r>
              <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8.6</a:t>
            </a:r>
            <a:r>
              <a:rPr lang="zh-CN" altLang="en-US"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rPr>
              <a:t>   扩展学习</a:t>
            </a:r>
            <a:endParaRPr lang="en-US" altLang="zh-CN" sz="5400" spc="50" dirty="0">
              <a:ln w="9525" cmpd="sng">
                <a:solidFill>
                  <a:schemeClr val="accent1"/>
                </a:solidFill>
                <a:prstDash val="solid"/>
              </a:ln>
              <a:solidFill>
                <a:srgbClr val="FFFF00"/>
              </a:solidFill>
              <a:effectLst>
                <a:glow rad="38100">
                  <a:schemeClr val="accent1">
                    <a:alpha val="40000"/>
                  </a:schemeClr>
                </a:glow>
              </a:effectLst>
              <a:latin typeface="华文新魏" panose="02010800040101010101" pitchFamily="2" charset="-122"/>
              <a:ea typeface="华文新魏" panose="02010800040101010101" pitchFamily="2" charset="-122"/>
            </a:endParaRPr>
          </a:p>
        </p:txBody>
      </p:sp>
      <p:sp>
        <p:nvSpPr>
          <p:cNvPr id="6" name="矩形 5">
            <a:extLst>
              <a:ext uri="{FF2B5EF4-FFF2-40B4-BE49-F238E27FC236}">
                <a16:creationId xmlns:a16="http://schemas.microsoft.com/office/drawing/2014/main" id="{2E071BD5-51FA-4AC1-955F-A23867D9A9AA}"/>
              </a:ext>
            </a:extLst>
          </p:cNvPr>
          <p:cNvSpPr/>
          <p:nvPr/>
        </p:nvSpPr>
        <p:spPr>
          <a:xfrm>
            <a:off x="-1" y="1127630"/>
            <a:ext cx="12191999" cy="769441"/>
          </a:xfrm>
          <a:prstGeom prst="rect">
            <a:avLst/>
          </a:prstGeom>
          <a:noFill/>
        </p:spPr>
        <p:txBody>
          <a:bodyPr wrap="square" lIns="91440" tIns="45720" rIns="91440" bIns="45720">
            <a:spAutoFit/>
          </a:bodyPr>
          <a:lstStyle/>
          <a:p>
            <a:pPr algn="ctr"/>
            <a:r>
              <a:rPr lang="zh-CN" altLang="en-US" sz="4400" dirty="0">
                <a:ln w="6600">
                  <a:solidFill>
                    <a:schemeClr val="accent2"/>
                  </a:solidFill>
                  <a:prstDash val="solid"/>
                </a:ln>
                <a:solidFill>
                  <a:srgbClr val="FFFFFF"/>
                </a:solidFill>
                <a:effectLst>
                  <a:outerShdw dist="38100" dir="2700000" algn="tl" rotWithShape="0">
                    <a:schemeClr val="accent2"/>
                  </a:outerShdw>
                </a:effectLst>
                <a:latin typeface="楷体" panose="02010609060101010101" pitchFamily="49" charset="-122"/>
                <a:ea typeface="楷体" panose="02010609060101010101" pitchFamily="49" charset="-122"/>
              </a:rPr>
              <a:t>蓝桥杯算法入门</a:t>
            </a:r>
          </a:p>
        </p:txBody>
      </p:sp>
    </p:spTree>
    <p:extLst>
      <p:ext uri="{BB962C8B-B14F-4D97-AF65-F5344CB8AC3E}">
        <p14:creationId xmlns:p14="http://schemas.microsoft.com/office/powerpoint/2010/main" val="4123453530"/>
      </p:ext>
    </p:extLst>
  </p:cSld>
  <p:clrMapOvr>
    <a:masterClrMapping/>
  </p:clrMapOvr>
  <p:transition spd="med" advTm="4186">
    <p:randomBar dir="ver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DCBB3D8-AE1A-4351-BDEB-2B350E4B0B05}"/>
              </a:ext>
            </a:extLst>
          </p:cNvPr>
          <p:cNvSpPr>
            <a:spLocks noGrp="1"/>
          </p:cNvSpPr>
          <p:nvPr>
            <p:ph type="sldNum" sz="quarter" idx="12"/>
          </p:nvPr>
        </p:nvSpPr>
        <p:spPr/>
        <p:txBody>
          <a:bodyPr vert="horz" lIns="91440" tIns="45720" rIns="91440" bIns="45720" rtlCol="0" anchor="ctr"/>
          <a:lstStyle/>
          <a:p>
            <a:fld id="{217794D7-36C4-4E93-AE7A-0CAF6AF174FC}" type="slidenum">
              <a:rPr lang="zh-CN" altLang="en-US" b="0" smtClean="0">
                <a:solidFill>
                  <a:schemeClr val="tx1"/>
                </a:solidFill>
              </a:rPr>
              <a:pPr/>
              <a:t>61</a:t>
            </a:fld>
            <a:endParaRPr lang="en-US" altLang="zh-CN" b="0" dirty="0">
              <a:solidFill>
                <a:schemeClr val="tx1"/>
              </a:solidFill>
            </a:endParaRPr>
          </a:p>
        </p:txBody>
      </p:sp>
      <p:sp>
        <p:nvSpPr>
          <p:cNvPr id="58" name="矩形 57">
            <a:extLst>
              <a:ext uri="{FF2B5EF4-FFF2-40B4-BE49-F238E27FC236}">
                <a16:creationId xmlns:a16="http://schemas.microsoft.com/office/drawing/2014/main" id="{BEAF4A88-1FFA-45E9-B118-25E5F215F1C3}"/>
              </a:ext>
            </a:extLst>
          </p:cNvPr>
          <p:cNvSpPr/>
          <p:nvPr/>
        </p:nvSpPr>
        <p:spPr>
          <a:xfrm>
            <a:off x="950408" y="1138425"/>
            <a:ext cx="9915613" cy="3416320"/>
          </a:xfrm>
          <a:prstGeom prst="rect">
            <a:avLst/>
          </a:prstGeom>
          <a:noFill/>
        </p:spPr>
        <p:txBody>
          <a:bodyPr wrap="square">
            <a:spAutoFit/>
          </a:bodyPr>
          <a:lstStyle/>
          <a:p>
            <a:pPr marL="342900"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在算法竞赛中，动态规划是考核计算思维的最好题型。</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marL="342900"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动态规划是计算机科学专有的技术，思维灵活、应用面广。</a:t>
            </a:r>
          </a:p>
          <a:p>
            <a:pPr marL="342900" indent="-342900">
              <a:lnSpc>
                <a:spcPct val="150000"/>
              </a:lnSpc>
              <a:spcBef>
                <a:spcPts val="0"/>
              </a:spcBef>
              <a:buFont typeface="Wingdings" panose="05000000000000000000" pitchFamily="2" charset="2"/>
              <a:buChar char="Ø"/>
            </a:pP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a:p>
            <a:pPr marL="342900" indent="-342900">
              <a:lnSpc>
                <a:spcPct val="150000"/>
              </a:lnSpc>
              <a:spcBef>
                <a:spcPts val="0"/>
              </a:spcBef>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读者可以继续深入学习动态规划，下面列出一些常见常考的知识点。</a:t>
            </a:r>
          </a:p>
          <a:p>
            <a:pPr>
              <a:lnSpc>
                <a:spcPct val="150000"/>
              </a:lnSpc>
              <a:spcBef>
                <a:spcPts val="0"/>
              </a:spcBef>
            </a:pP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       </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中级：</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数位统计</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、状态压缩</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、区间</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、树形</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、概率</a:t>
            </a:r>
            <a:r>
              <a:rPr lang="en-US" altLang="zh-CN" sz="2400" dirty="0">
                <a:solidFill>
                  <a:schemeClr val="tx1"/>
                </a:solidFill>
                <a:latin typeface="微软雅黑" panose="020B0503020204020204" pitchFamily="34" charset="-122"/>
                <a:ea typeface="微软雅黑" panose="020B0503020204020204" pitchFamily="34" charset="-122"/>
                <a:cs typeface="+mn-ea"/>
                <a:sym typeface="+mn-lt"/>
              </a:rPr>
              <a:t>DP</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等。</a:t>
            </a:r>
          </a:p>
          <a:p>
            <a:pPr>
              <a:lnSpc>
                <a:spcPct val="150000"/>
              </a:lnSpc>
              <a:spcBef>
                <a:spcPts val="0"/>
              </a:spcBef>
            </a:pPr>
            <a:r>
              <a:rPr lang="en-US" altLang="zh-CN" sz="2400" dirty="0">
                <a:solidFill>
                  <a:srgbClr val="0070C0"/>
                </a:solidFill>
                <a:latin typeface="微软雅黑" panose="020B0503020204020204" pitchFamily="34" charset="-122"/>
                <a:ea typeface="微软雅黑" panose="020B0503020204020204" pitchFamily="34" charset="-122"/>
                <a:cs typeface="+mn-ea"/>
                <a:sym typeface="+mn-lt"/>
              </a:rPr>
              <a:t>       </a:t>
            </a:r>
            <a:r>
              <a:rPr lang="zh-CN" altLang="en-US" sz="2400" dirty="0">
                <a:solidFill>
                  <a:srgbClr val="0070C0"/>
                </a:solidFill>
                <a:latin typeface="微软雅黑" panose="020B0503020204020204" pitchFamily="34" charset="-122"/>
                <a:ea typeface="微软雅黑" panose="020B0503020204020204" pitchFamily="34" charset="-122"/>
                <a:cs typeface="+mn-ea"/>
                <a:sym typeface="+mn-lt"/>
              </a:rPr>
              <a:t>高级：</a:t>
            </a:r>
            <a:r>
              <a:rPr lang="zh-CN" altLang="en-US" sz="2400" dirty="0">
                <a:solidFill>
                  <a:schemeClr val="tx1"/>
                </a:solidFill>
                <a:latin typeface="微软雅黑" panose="020B0503020204020204" pitchFamily="34" charset="-122"/>
                <a:ea typeface="微软雅黑" panose="020B0503020204020204" pitchFamily="34" charset="-122"/>
                <a:cs typeface="+mn-ea"/>
                <a:sym typeface="+mn-lt"/>
              </a:rPr>
              <a:t>单调队列优化、斜率优化、四边形不等式优化等。</a:t>
            </a:r>
            <a:endParaRPr lang="en-US" altLang="zh-CN" sz="2400" dirty="0">
              <a:solidFill>
                <a:schemeClr val="tx1"/>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4259859305"/>
      </p:ext>
    </p:extLst>
  </p:cSld>
  <p:clrMapOvr>
    <a:masterClrMapping/>
  </p:clrMapOvr>
  <mc:AlternateContent xmlns:mc="http://schemas.openxmlformats.org/markup-compatibility/2006" xmlns:p14="http://schemas.microsoft.com/office/powerpoint/2010/main">
    <mc:Choice Requires="p14">
      <p:transition spd="slow" p14:dur="2000" advTm="159575"/>
    </mc:Choice>
    <mc:Fallback xmlns="">
      <p:transition spd="slow" advTm="15957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5|28.2"/>
</p:tagLst>
</file>

<file path=ppt/tags/tag2.xml><?xml version="1.0" encoding="utf-8"?>
<p:tagLst xmlns:a="http://schemas.openxmlformats.org/drawingml/2006/main" xmlns:r="http://schemas.openxmlformats.org/officeDocument/2006/relationships" xmlns:p="http://schemas.openxmlformats.org/presentationml/2006/main">
  <p:tag name="TIMING" val="|1.7|28.3"/>
</p:tagLst>
</file>

<file path=ppt/tags/tag3.xml><?xml version="1.0" encoding="utf-8"?>
<p:tagLst xmlns:a="http://schemas.openxmlformats.org/drawingml/2006/main" xmlns:r="http://schemas.openxmlformats.org/officeDocument/2006/relationships" xmlns:p="http://schemas.openxmlformats.org/presentationml/2006/main">
  <p:tag name="TIMING" val="|1.7|28.3"/>
</p:tagLst>
</file>

<file path=ppt/tags/tag4.xml><?xml version="1.0" encoding="utf-8"?>
<p:tagLst xmlns:a="http://schemas.openxmlformats.org/drawingml/2006/main" xmlns:r="http://schemas.openxmlformats.org/officeDocument/2006/relationships" xmlns:p="http://schemas.openxmlformats.org/presentationml/2006/main">
  <p:tag name="TIMING" val="|1.7|28.3"/>
</p:tagLst>
</file>

<file path=ppt/tags/tag5.xml><?xml version="1.0" encoding="utf-8"?>
<p:tagLst xmlns:a="http://schemas.openxmlformats.org/drawingml/2006/main" xmlns:r="http://schemas.openxmlformats.org/officeDocument/2006/relationships" xmlns:p="http://schemas.openxmlformats.org/presentationml/2006/main">
  <p:tag name="TIMING" val="|1.7|28.3"/>
</p:tagLst>
</file>

<file path=ppt/tags/tag6.xml><?xml version="1.0" encoding="utf-8"?>
<p:tagLst xmlns:a="http://schemas.openxmlformats.org/drawingml/2006/main" xmlns:r="http://schemas.openxmlformats.org/officeDocument/2006/relationships" xmlns:p="http://schemas.openxmlformats.org/presentationml/2006/main">
  <p:tag name="TIMING" val="|24.7"/>
</p:tagLst>
</file>

<file path=ppt/tags/tag7.xml><?xml version="1.0" encoding="utf-8"?>
<p:tagLst xmlns:a="http://schemas.openxmlformats.org/drawingml/2006/main" xmlns:r="http://schemas.openxmlformats.org/officeDocument/2006/relationships" xmlns:p="http://schemas.openxmlformats.org/presentationml/2006/main">
  <p:tag name="TIMING" val="|86.9"/>
</p:tagLst>
</file>

<file path=ppt/tags/tag8.xml><?xml version="1.0" encoding="utf-8"?>
<p:tagLst xmlns:a="http://schemas.openxmlformats.org/drawingml/2006/main" xmlns:r="http://schemas.openxmlformats.org/officeDocument/2006/relationships" xmlns:p="http://schemas.openxmlformats.org/presentationml/2006/main">
  <p:tag name="TIMING" val="|86.9"/>
</p:tagLst>
</file>

<file path=ppt/tags/tag9.xml><?xml version="1.0" encoding="utf-8"?>
<p:tagLst xmlns:a="http://schemas.openxmlformats.org/drawingml/2006/main" xmlns:r="http://schemas.openxmlformats.org/officeDocument/2006/relationships" xmlns:p="http://schemas.openxmlformats.org/presentationml/2006/main">
  <p:tag name="TIMING" val="|24.2|8.9"/>
</p:tagLst>
</file>

<file path=ppt/tags/tag10.xml><?xml version="1.0" encoding="utf-8"?>
<p:tagLst xmlns:a="http://schemas.openxmlformats.org/drawingml/2006/main" xmlns:r="http://schemas.openxmlformats.org/officeDocument/2006/relationships" xmlns:p="http://schemas.openxmlformats.org/presentationml/2006/main">
  <p:tag name="TIMING" val="|24.2|8.9"/>
</p:tagLst>
</file>

<file path=ppt/tags/tag11.xml><?xml version="1.0" encoding="utf-8"?>
<p:tagLst xmlns:a="http://schemas.openxmlformats.org/drawingml/2006/main" xmlns:r="http://schemas.openxmlformats.org/officeDocument/2006/relationships" xmlns:p="http://schemas.openxmlformats.org/presentationml/2006/main">
  <p:tag name="TIMING" val="|24.2|8.9"/>
</p:tagLst>
</file>

<file path=ppt/tags/tag12.xml><?xml version="1.0" encoding="utf-8"?>
<p:tagLst xmlns:a="http://schemas.openxmlformats.org/drawingml/2006/main" xmlns:r="http://schemas.openxmlformats.org/officeDocument/2006/relationships" xmlns:p="http://schemas.openxmlformats.org/presentationml/2006/main">
  <p:tag name="TIMING" val="|93.5"/>
</p:tagLst>
</file>

<file path=ppt/tags/tag13.xml><?xml version="1.0" encoding="utf-8"?>
<p:tagLst xmlns:a="http://schemas.openxmlformats.org/drawingml/2006/main" xmlns:r="http://schemas.openxmlformats.org/officeDocument/2006/relationships" xmlns:p="http://schemas.openxmlformats.org/presentationml/2006/main">
  <p:tag name="TIMING" val="|16.8|20.6"/>
</p:tagLst>
</file>

<file path=ppt/tags/tag14.xml><?xml version="1.0" encoding="utf-8"?>
<p:tagLst xmlns:a="http://schemas.openxmlformats.org/drawingml/2006/main" xmlns:r="http://schemas.openxmlformats.org/officeDocument/2006/relationships" xmlns:p="http://schemas.openxmlformats.org/presentationml/2006/main">
  <p:tag name="TABLE_ENDDRAG_ORIGIN_RECT" val="839*483"/>
  <p:tag name="TABLE_ENDDRAG_RECT" val="83*113*839*483"/>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839*483"/>
  <p:tag name="TABLE_ENDDRAG_RECT" val="83*113*839*483"/>
</p:tagLst>
</file>

<file path=ppt/tags/tag16.xml><?xml version="1.0" encoding="utf-8"?>
<p:tagLst xmlns:a="http://schemas.openxmlformats.org/drawingml/2006/main" xmlns:r="http://schemas.openxmlformats.org/officeDocument/2006/relationships" xmlns:p="http://schemas.openxmlformats.org/presentationml/2006/main">
  <p:tag name="TIMING" val="|86.9"/>
</p:tagLst>
</file>

<file path=ppt/theme/theme1.xml><?xml version="1.0" encoding="utf-8"?>
<a:theme xmlns:a="http://schemas.openxmlformats.org/drawingml/2006/main" name="SEG组PPT主题">
  <a:themeElements>
    <a:clrScheme name="SEG组PPT主题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SEG组PPT主题">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400" b="0" i="0" u="none" strike="noStrike" cap="none" normalizeH="0" baseline="0" smtClean="0">
            <a:ln>
              <a:noFill/>
            </a:ln>
            <a:solidFill>
              <a:schemeClr val="bg1"/>
            </a:solidFill>
            <a:effectLst/>
            <a:latin typeface="FrutigerNext LT Regular" pitchFamily="34" charset="0"/>
            <a:ea typeface="MS PGothic"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7" dist="17961" dir="2700000">
            <a:schemeClr val="tx1">
              <a:gamma/>
              <a:shade val="60000"/>
              <a:invGamma/>
            </a:schemeClr>
          </a:prst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400" b="0" i="0" u="none" strike="noStrike" cap="none" normalizeH="0" baseline="0" smtClean="0">
            <a:ln>
              <a:noFill/>
            </a:ln>
            <a:solidFill>
              <a:schemeClr val="bg1"/>
            </a:solidFill>
            <a:effectLst/>
            <a:latin typeface="FrutigerNext LT Regular" pitchFamily="34" charset="0"/>
            <a:ea typeface="MS PGothic" panose="020B0600070205080204" pitchFamily="34" charset="-128"/>
          </a:defRPr>
        </a:defPPr>
      </a:lstStyle>
    </a:lnDef>
  </a:objectDefaults>
  <a:extraClrSchemeLst>
    <a:extraClrScheme>
      <a:clrScheme name="SEG组PPT主题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SEG组PPT主题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SEG组PPT主题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SEG组PPT主题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SEG组PPT主题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SEG组PPT主题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SEG组PPT主题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SEG组PPT主题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EG组PPT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10379</TotalTime>
  <Words>7440</Words>
  <Application>Microsoft Office PowerPoint</Application>
  <PresentationFormat>宽屏</PresentationFormat>
  <Paragraphs>531</Paragraphs>
  <Slides>61</Slides>
  <Notes>11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61</vt:i4>
      </vt:variant>
    </vt:vector>
  </HeadingPairs>
  <TitlesOfParts>
    <vt:vector size="75" baseType="lpstr">
      <vt:lpstr>FrutigerNext LT Regular</vt:lpstr>
      <vt:lpstr>华文新魏</vt:lpstr>
      <vt:lpstr>楷体</vt:lpstr>
      <vt:lpstr>楷体_GB2312</vt:lpstr>
      <vt:lpstr>宋体</vt:lpstr>
      <vt:lpstr>微软雅黑</vt:lpstr>
      <vt:lpstr>Arial</vt:lpstr>
      <vt:lpstr>Calibri</vt:lpstr>
      <vt:lpstr>Calibri Light</vt:lpstr>
      <vt:lpstr>Cambria Math</vt:lpstr>
      <vt:lpstr>Times New Roman</vt:lpstr>
      <vt:lpstr>Wingdings</vt:lpstr>
      <vt:lpstr>SEG组PPT主题</vt:lpstr>
      <vt:lpstr>1_SEG组PPT主题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硬币问题</vt:lpstr>
      <vt:lpstr>硬币问题</vt:lpstr>
      <vt:lpstr>硬币问题</vt:lpstr>
      <vt:lpstr>硬币问题</vt:lpstr>
      <vt:lpstr>硬币问题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最经典的DP问题： 0/1背包</vt:lpstr>
      <vt:lpstr>模型</vt:lpstr>
      <vt:lpstr>暴力法</vt:lpstr>
      <vt:lpstr>贪心法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状态转移方程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文汇讲堂</dc:title>
  <dc:creator>Yu Huiqun</dc:creator>
  <cp:lastModifiedBy>explorer xx</cp:lastModifiedBy>
  <cp:revision>1785</cp:revision>
  <dcterms:created xsi:type="dcterms:W3CDTF">2010-12-08T03:59:00Z</dcterms:created>
  <dcterms:modified xsi:type="dcterms:W3CDTF">2024-12-27T11:43:22Z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(3)eeY/EcjdW6+ICzVnm3/r6/xAl5lvhgvoAokwoBfZcPbL/5MtFRy5/qhHgCA4lB96tzj/Eytq
2NHJUUpWB2kMJ1NMlUJXhM5imLm4kyR3hZMBHv5FhT+IILvlUjuubbnZofkHoPU5fqYwynM4
ffEg5Eg4dQmaZorSYJ79TwvCgROY8gA232YiGQhhOoqKytLwLVbftsELLz1taQRfm5DZZji8
fXS+ORyvTVociYWKeX4TI</vt:lpwstr>
  </property>
  <property fmtid="{D5CDD505-2E9C-101B-9397-08002B2CF9AE}" pid="3" name="_ms_pID_7253431">
    <vt:lpwstr>HUv1HtLxkSgu+98Cci+sTM4mwpB4bnywtNgU0ZXCLU5E9az15Zl
yQ+eMRQT6rINdTXZYKuXlBrl3xhjVO/TULD0SzKnhjeDwt9CUpkpZKnkY8Eegftln4wJUDcS
wX1CZLvRfEb0iLB1QGG0ZNeX/u6ClzdlEOpMOHoov8h76URZeNq1mMQHPAv+/lT0BsL9aW0f
3CbqVo3pzNFkiUPIFF+OwWX00US6EDgYi2lm8LbPy4</vt:lpwstr>
  </property>
  <property fmtid="{D5CDD505-2E9C-101B-9397-08002B2CF9AE}" pid="4" name="_ms_pID_7253432">
    <vt:lpwstr>mqJPV5t2H+8EpfGZFx1xT4THFS1pBY
wcCmxD8BzMZr4El3AUiTOWBkAaTGMRJpKRRCImbmfYmYporODfRBVhilSzPe24aL1+wdJY5z</vt:lpwstr>
  </property>
  <property fmtid="{D5CDD505-2E9C-101B-9397-08002B2CF9AE}" pid="5" name="sflag">
    <vt:lpwstr>1309221052</vt:lpwstr>
  </property>
  <property fmtid="{D5CDD505-2E9C-101B-9397-08002B2CF9AE}" pid="6" name="KSORubyTemplateID">
    <vt:lpwstr>8</vt:lpwstr>
  </property>
  <property fmtid="{D5CDD505-2E9C-101B-9397-08002B2CF9AE}" pid="7" name="KSOProductBuildVer">
    <vt:lpwstr>2052-10.1.0.7469</vt:lpwstr>
  </property>
</Properties>
</file>