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822" r:id="rId3"/>
    <p:sldId id="846" r:id="rId4"/>
    <p:sldId id="836" r:id="rId5"/>
    <p:sldId id="837" r:id="rId6"/>
    <p:sldId id="838" r:id="rId7"/>
    <p:sldId id="839" r:id="rId8"/>
    <p:sldId id="840" r:id="rId9"/>
    <p:sldId id="842" r:id="rId10"/>
    <p:sldId id="841" r:id="rId11"/>
    <p:sldId id="845" r:id="rId12"/>
    <p:sldId id="862" r:id="rId13"/>
    <p:sldId id="863" r:id="rId14"/>
    <p:sldId id="843" r:id="rId15"/>
    <p:sldId id="847" r:id="rId16"/>
    <p:sldId id="831" r:id="rId17"/>
    <p:sldId id="834" r:id="rId18"/>
    <p:sldId id="832" r:id="rId19"/>
    <p:sldId id="833" r:id="rId20"/>
    <p:sldId id="849" r:id="rId21"/>
    <p:sldId id="823" r:id="rId22"/>
    <p:sldId id="824" r:id="rId23"/>
    <p:sldId id="825" r:id="rId24"/>
    <p:sldId id="850" r:id="rId26"/>
    <p:sldId id="844" r:id="rId27"/>
    <p:sldId id="851" r:id="rId28"/>
    <p:sldId id="852" r:id="rId29"/>
    <p:sldId id="263" r:id="rId30"/>
    <p:sldId id="276" r:id="rId31"/>
    <p:sldId id="277" r:id="rId32"/>
    <p:sldId id="853" r:id="rId33"/>
    <p:sldId id="854" r:id="rId34"/>
    <p:sldId id="855" r:id="rId35"/>
    <p:sldId id="856" r:id="rId36"/>
    <p:sldId id="857" r:id="rId37"/>
    <p:sldId id="858" r:id="rId38"/>
    <p:sldId id="827" r:id="rId39"/>
    <p:sldId id="829" r:id="rId40"/>
    <p:sldId id="830" r:id="rId41"/>
    <p:sldId id="859" r:id="rId42"/>
    <p:sldId id="860" r:id="rId43"/>
    <p:sldId id="861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C65E7-BEF2-40CE-81A0-2D62597EE5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09EEA-C15C-42AB-B6BF-060E624FE0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8C1D-ED0B-46A0-B654-5C42AE75CA98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C97F9A-45AD-4498-B856-5AF780781397}" type="slidenum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54542" y="755185"/>
            <a:ext cx="12814300" cy="9572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2A0A0-4373-49D9-BA24-389BB7432E15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000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ED250-6496-4FC0-83A4-45E3486A542A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9360B5-64CB-46AB-9803-AA3C34914FFA}" type="slidenum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8" y="1484313"/>
            <a:ext cx="5325533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3165" y="1484313"/>
            <a:ext cx="5327649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5490-7D55-471A-81B5-0774564F5794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472664-DEE8-44BA-AEBC-3D1BBFC236F8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3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1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1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E69C6-574A-4198-BB1C-82EEBF2E1801}" type="datetime1">
              <a:rPr lang="en-US" altLang="zh-CN" smtClean="0"/>
            </a:fld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32095A-B3D4-4519-AA8C-1D2FCF3507E2}" type="slidenum">
              <a:rPr lang="zh-CN" altLang="en-US"/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CB864B-4EF4-4434-BB60-762C23849B52}" type="slidenum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17794D7-36C4-4E93-AE7A-0CAF6AF174FC}" type="slidenum">
              <a:rPr lang="zh-CN" altLang="en-US"/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4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4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E952D-61FE-44C1-96ED-14749303448E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BF02F4-5381-4EAA-94F3-16972E022FEE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FC57A-25E6-407B-AEED-71D456720CA2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47EF18-B5BF-468C-8E72-DE6319A52F22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1219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2"/>
          <p:cNvSpPr>
            <a:spLocks noChangeArrowheads="1"/>
          </p:cNvSpPr>
          <p:nvPr userDrawn="1"/>
        </p:nvSpPr>
        <p:spPr bwMode="gray">
          <a:xfrm>
            <a:off x="0" y="2590800"/>
            <a:ext cx="12192000" cy="1066800"/>
          </a:xfrm>
          <a:prstGeom prst="rect">
            <a:avLst/>
          </a:prstGeom>
          <a:gradFill rotWithShape="1">
            <a:gsLst>
              <a:gs pos="14000">
                <a:srgbClr val="3191D3"/>
              </a:gs>
              <a:gs pos="94000">
                <a:srgbClr val="0099CC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3" name="Line 26"/>
          <p:cNvSpPr>
            <a:spLocks noChangeShapeType="1"/>
          </p:cNvSpPr>
          <p:nvPr userDrawn="1"/>
        </p:nvSpPr>
        <p:spPr bwMode="auto">
          <a:xfrm>
            <a:off x="0" y="36576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4" name="Line 27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5" name="Rectangle 29"/>
          <p:cNvSpPr>
            <a:spLocks noChangeArrowheads="1"/>
          </p:cNvSpPr>
          <p:nvPr userDrawn="1"/>
        </p:nvSpPr>
        <p:spPr bwMode="gray">
          <a:xfrm>
            <a:off x="1" y="0"/>
            <a:ext cx="12189884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9000"/>
                </a:srgb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12192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8" name="Line 34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noFill/>
          <a:ln>
            <a:miter lim="800000"/>
          </a:ln>
        </p:spPr>
        <p:txBody>
          <a:bodyPr/>
          <a:lstStyle>
            <a:lvl1pPr>
              <a:defRPr/>
            </a:lvl1pPr>
          </a:lstStyle>
          <a:p>
            <a:fld id="{A824FA6D-2D6D-4047-9193-6333380C8E92}" type="datetime1">
              <a:rPr lang="en-US" altLang="zh-CN" smtClean="0"/>
            </a:fld>
            <a:endParaRPr lang="en-US" altLang="zh-CN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B3C7F7FE-F591-4024-B354-EAC5CFD677D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1600" y="6553201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fld id="{2332288E-54C1-4959-8B17-BE5786665258}" type="datetime1">
              <a:rPr lang="en-US" altLang="zh-CN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D19B6394-FEB0-405D-BB54-3675ABA416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" y="47626"/>
            <a:ext cx="12814300" cy="957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484313"/>
            <a:ext cx="10856383" cy="439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4917" y="6284913"/>
            <a:ext cx="172508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1596D3C0-2AFD-48F1-A71C-B351F7B1D7FD}" type="datetime1">
              <a:rPr lang="en-US" altLang="zh-CN" smtClean="0"/>
            </a:fld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6215063"/>
            <a:ext cx="1244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fld id="{8AF99495-4C70-4DA1-B4FD-AE3C2F6741A9}" type="slidenum">
              <a:rPr lang="zh-CN" altLang="en-US"/>
            </a:fld>
            <a:endParaRPr lang="en-US" altLang="zh-CN"/>
          </a:p>
        </p:txBody>
      </p:sp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0" y="985838"/>
            <a:ext cx="2844800" cy="101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930400" y="985838"/>
            <a:ext cx="9652000" cy="101600"/>
          </a:xfrm>
          <a:prstGeom prst="rect">
            <a:avLst/>
          </a:prstGeom>
          <a:gradFill rotWithShape="1">
            <a:gsLst>
              <a:gs pos="0">
                <a:srgbClr val="006699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02200" y="4803775"/>
            <a:ext cx="701040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62" name="Rectangle 18"/>
          <p:cNvSpPr>
            <a:spLocks noChangeArrowheads="1"/>
          </p:cNvSpPr>
          <p:nvPr userDrawn="1"/>
        </p:nvSpPr>
        <p:spPr bwMode="auto">
          <a:xfrm>
            <a:off x="190501" y="6437313"/>
            <a:ext cx="12001500" cy="3048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40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1400">
                <a:solidFill>
                  <a:srgbClr val="FFCC66"/>
                </a:solidFill>
                <a:latin typeface="宋体" pitchFamily="2" charset="-122"/>
                <a:ea typeface="宋体" pitchFamily="2" charset="-122"/>
              </a:rPr>
              <a:t>                                                                                            </a:t>
            </a:r>
            <a:fld id="{B50DA601-DC5A-4609-98FF-92E0F4CCEA4B}" type="slidenum">
              <a:rPr lang="zh-CN" altLang="en-US" sz="1400">
                <a:solidFill>
                  <a:srgbClr val="FFCC66"/>
                </a:solidFill>
                <a:latin typeface="宋体" pitchFamily="2" charset="-122"/>
                <a:ea typeface="宋体" pitchFamily="2" charset="-122"/>
              </a:rPr>
            </a:fld>
            <a:endParaRPr lang="en-US" altLang="zh-CN" sz="1400">
              <a:solidFill>
                <a:srgbClr val="FFCC66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>
          <a:solidFill>
            <a:srgbClr val="0066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89000" indent="-440055" algn="l" rtl="0" eaLnBrk="0" fontAlgn="base" hangingPunct="0">
        <a:spcBef>
          <a:spcPct val="20000"/>
        </a:spcBef>
        <a:spcAft>
          <a:spcPct val="0"/>
        </a:spcAft>
        <a:buClr>
          <a:srgbClr val="669900"/>
        </a:buClr>
        <a:buFont typeface="楷体_GB2312" panose="02010609030101010101" pitchFamily="49" charset="-122"/>
        <a:buChar char="o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华文细黑" panose="02010600040101010101" pitchFamily="2" charset="-122"/>
        </a:defRPr>
      </a:lvl2pPr>
      <a:lvl3pPr marL="1294130" indent="-403225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3pPr>
      <a:lvl4pPr marL="1681480" indent="-3860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itchFamily="2" charset="-122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itchFamily="2" charset="-122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itchFamily="2" charset="-122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itchFamily="2" charset="-122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ww.lanqiao.cn/problems/2098/learning/?page=1&amp;first_category_id=1&amp;problem_id=2098" TargetMode="Externa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-584386" y="2484068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9pPr>
          </a:lstStyle>
          <a:p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第七章 数学（数论基础）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4728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9pPr>
          </a:lstStyle>
          <a:p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7.1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模运算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4338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401863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数学概述</a:t>
            </a:r>
            <a:endParaRPr lang="zh-CN" altLang="en-US" sz="3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38199" y="1612142"/>
          <a:ext cx="10602475" cy="282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266"/>
                <a:gridCol w="8808209"/>
              </a:tblGrid>
              <a:tr h="1918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大学</a:t>
                      </a:r>
                      <a:r>
                        <a:rPr 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2400" b="1" u="none" kern="2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  <a:defRPr/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数学：</a:t>
                      </a: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素数、</a:t>
                      </a:r>
                      <a:r>
                        <a:rPr lang="en-US" altLang="zh-CN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GCD</a:t>
                      </a: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LCM</a:t>
                      </a: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、快速幂</a:t>
                      </a:r>
                      <a:r>
                        <a:rPr lang="zh-CN" altLang="en-US" sz="2400" b="1" u="none" kern="2200" spc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en-US" altLang="zh-CN" sz="2400" b="1" u="none" kern="2200" spc="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[2-5]</a:t>
                      </a:r>
                      <a:endParaRPr lang="en-US" altLang="zh-CN" sz="2400" b="1" u="none" kern="2200" spc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482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大学</a:t>
                      </a:r>
                      <a:r>
                        <a:rPr 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2400" b="1" u="none" kern="2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342900" marR="0" indent="-34290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数学：</a:t>
                      </a: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排列组合、二项式定理、容斥原理、模意义下的逆元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、矩阵运算、高斯消元；</a:t>
                      </a:r>
                      <a:endParaRPr lang="zh-CN" altLang="en-US" sz="2400" b="1" u="none" kern="2200" spc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342900" marR="0" indent="-34290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计算几何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（基础计算和基本位置关系判定）、</a:t>
                      </a:r>
                      <a:r>
                        <a:rPr lang="zh-CN" altLang="en-US" sz="2400" b="1" u="none" kern="2200" spc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概率论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、博弈论</a:t>
                      </a:r>
                      <a:endParaRPr lang="zh-CN" altLang="en-US" sz="2400" b="1" u="none" kern="2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918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大学</a:t>
                      </a:r>
                      <a:r>
                        <a:rPr 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2400" b="1" u="none" kern="2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  <a:defRPr/>
                      </a:pPr>
                      <a:r>
                        <a:rPr lang="zh-CN" altLang="en-US" sz="2400" b="1" u="none" kern="2200" spc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数学：生成函数、莫比乌斯反演、快速傅里叶变换</a:t>
                      </a:r>
                      <a:endParaRPr lang="zh-CN" altLang="en-US" sz="2400" b="1" u="none" kern="2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圆角矩形标注 4"/>
          <p:cNvSpPr/>
          <p:nvPr/>
        </p:nvSpPr>
        <p:spPr>
          <a:xfrm>
            <a:off x="8691985" y="5261460"/>
            <a:ext cx="2290575" cy="873665"/>
          </a:xfrm>
          <a:prstGeom prst="wedgeRoundRectCallout">
            <a:avLst>
              <a:gd name="adj1" fmla="val -46661"/>
              <a:gd name="adj2" fmla="val -11884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rgbClr val="C00000"/>
                </a:solidFill>
              </a:rPr>
              <a:t>红色：常考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黑色：少见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949340" y="499051"/>
            <a:ext cx="5116990" cy="887534"/>
          </a:xfrm>
          <a:prstGeom prst="wedgeRoundRectCallout">
            <a:avLst>
              <a:gd name="adj1" fmla="val -66431"/>
              <a:gd name="adj2" fmla="val 2249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</a:rPr>
              <a:t>数学题是出题最多的题型之一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</a:rPr>
              <a:t>和杂题（模拟）的题量差不多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930"/>
    </mc:Choice>
    <mc:Fallback>
      <p:transition spd="slow" advTm="66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marL="571500" indent="-571500" eaLnBrk="0" fontAlgn="base" hangingPunct="0"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模运算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一个数太大，无法直接输出，或者不需要直接输出，那么可以把它取模，缩小数值再输出。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模运算：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的余数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mod m = a % m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0 ≤ a mod m ≤ m-1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模运算的简单应用：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= 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，就是取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的个位数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= 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，若余数为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为偶数，否则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为奇数。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624"/>
    </mc:Choice>
    <mc:Fallback>
      <p:transition spd="slow" advTm="113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模运算的性质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281183"/>
            <a:ext cx="10373418" cy="5354621"/>
          </a:xfrm>
        </p:spPr>
        <p:txBody>
          <a:bodyPr>
            <a:noAutofit/>
          </a:bodyPr>
          <a:lstStyle/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mod m = ((a mod m) + (b mod m)) mod m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- b) mod m = ((a mod m) -  (b mod m)) mod m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* b) mod m = ((a mod m) * (b mod m)) mod m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但是，除法这样做是错的：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/ b) mod m = ((a mod m) / (b mod m)) mod m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	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(100/50) mod 20 = 2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(100 mod 20) / (50 mod 20) mod 20 = 0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两者不相等。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除法的取模，需要用到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逆元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921"/>
    </mc:Choice>
    <mc:Fallback>
      <p:transition spd="slow" advTm="108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模运算的结果是否正确？如何检验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如需要验证乘法取模的结果是否正确，可以用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	  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print(a*b % m)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不用担心溢出问题。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338"/>
    </mc:Choice>
    <mc:Fallback>
      <p:transition spd="slow" advTm="84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  <a:r>
              <a:rPr lang="zh-CN" altLang="en-US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：刷题统计</a:t>
            </a:r>
            <a:r>
              <a:rPr lang="zh-CN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en-US" altLang="zh-CN" sz="4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lanqiaoOJ</a:t>
            </a:r>
            <a:r>
              <a:rPr lang="en-US" altLang="zh-CN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2098</a:t>
            </a:r>
            <a:r>
              <a:rPr lang="zh-CN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4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52091" y="1139190"/>
          <a:ext cx="10684234" cy="5645785"/>
        </p:xfrm>
        <a:graphic>
          <a:graphicData uri="http://schemas.openxmlformats.org/drawingml/2006/table">
            <a:tbl>
              <a:tblPr/>
              <a:tblGrid>
                <a:gridCol w="5437229"/>
                <a:gridCol w="5247005"/>
              </a:tblGrid>
              <a:tr h="3507105">
                <a:tc gridSpan="2"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hlinkClick r:id="rId2"/>
                        </a:rPr>
                        <a:t>1.</a:t>
                      </a:r>
                      <a:r>
                        <a:rPr lang="zh-CN" altLang="en-US" sz="2400" dirty="0">
                          <a:hlinkClick r:id="rId2"/>
                        </a:rPr>
                        <a:t>刷题统计 </a:t>
                      </a:r>
                      <a:r>
                        <a:rPr lang="en-US" altLang="zh-CN" sz="2400" dirty="0">
                          <a:hlinkClick r:id="rId2"/>
                        </a:rPr>
                        <a:t>- </a:t>
                      </a:r>
                      <a:r>
                        <a:rPr lang="zh-CN" altLang="en-US" sz="2400" dirty="0">
                          <a:hlinkClick r:id="rId2"/>
                        </a:rPr>
                        <a:t>蓝桥云课</a:t>
                      </a:r>
                      <a:endParaRPr lang="en-US" altLang="zh-CN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问题描述：小明决定从下周一开始努力刷题准备蓝桥杯竞赛。他计划周一至周五每天做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道题目，周六和周日每天做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道题目。请你帮小明计算，按照计划他将在第几天实现做题数大于等于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题？ 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输入：输入一行包含三个整数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 b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n. </a:t>
                      </a:r>
                      <a:endParaRPr lang="en-US" altLang="zh-CN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输出：输出一个整数代表天数。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输入样例：</a:t>
                      </a:r>
                      <a:r>
                        <a:rPr lang="zh-CN" sz="2400" b="0" kern="2200" dirty="0">
                          <a:effectLst/>
                          <a:latin typeface="Calibri" panose="020F0502020204030204" pitchFamily="34" charset="0"/>
                          <a:ea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10 20 99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输出样例：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8   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123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对于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50%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的评测用例，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 ≤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b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n 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≤ 10</a:t>
                      </a:r>
                      <a:r>
                        <a:rPr lang="en-US" sz="2400" b="0" kern="2200" baseline="300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6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；对于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100%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的评测用例，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 ≤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b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2400" b="0" i="1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n 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≤ 10</a:t>
                      </a:r>
                      <a:r>
                        <a:rPr lang="en-US" sz="2400" b="0" kern="2200" baseline="300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18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思路一：模拟（</a:t>
            </a:r>
            <a:r>
              <a:rPr lang="en-US" altLang="zh-CN" dirty="0"/>
              <a:t>50</a:t>
            </a:r>
            <a:r>
              <a:rPr lang="zh-CN" altLang="en-US" dirty="0"/>
              <a:t>分）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思路二：模运算（</a:t>
            </a:r>
            <a:r>
              <a:rPr lang="en-US" altLang="zh-CN" dirty="0"/>
              <a:t>100</a:t>
            </a:r>
            <a:r>
              <a:rPr lang="zh-CN" altLang="en-US" dirty="0"/>
              <a:t>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7794D7-36C4-4E93-AE7A-0CAF6AF174FC}" type="slidenum">
              <a:rPr lang="zh-CN" altLang="en-US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45" y="163027"/>
            <a:ext cx="9575708" cy="6509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r>
              <a:rPr lang="zh-CN" altLang="en-US" sz="4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：倍数问题</a:t>
            </a:r>
            <a:r>
              <a:rPr lang="zh-CN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en-US" altLang="zh-CN" sz="4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lanqiaoOJ</a:t>
            </a:r>
            <a:r>
              <a:rPr lang="en-US" altLang="zh-CN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168</a:t>
            </a:r>
            <a:r>
              <a:rPr lang="zh-CN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4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98620" y="1139190"/>
          <a:ext cx="10637705" cy="5645785"/>
        </p:xfrm>
        <a:graphic>
          <a:graphicData uri="http://schemas.openxmlformats.org/drawingml/2006/table">
            <a:tbl>
              <a:tblPr/>
              <a:tblGrid>
                <a:gridCol w="5390700"/>
                <a:gridCol w="5247005"/>
              </a:tblGrid>
              <a:tr h="3507105">
                <a:tc gridSpan="2"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问题描述：众所周知，小葱同学擅长计算，尤其擅长计算一个数是否是另外一个数的倍数。但小葱只擅长两个数的情况，当有很多个数之后就会比较苦恼。现在小葱给了你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个数，希望你从这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个数中找到三个数，使得这三个数的和是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的倍数，且这个和最大。数据保证一定有解。  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输入：第一行包括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个正整数表示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。第二行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个正整数，代表给定的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个数。</a:t>
                      </a:r>
                      <a:endParaRPr lang="en-US" altLang="zh-CN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输出：输出一行一个整数代表所求的和。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输入样例：</a:t>
                      </a:r>
                      <a:r>
                        <a:rPr lang="zh-CN" sz="2400" b="0" kern="2200">
                          <a:effectLst/>
                          <a:latin typeface="Calibri" panose="020F0502020204030204" pitchFamily="34" charset="0"/>
                          <a:ea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endParaRPr lang="zh-CN" sz="2400" b="1" kern="22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4 3</a:t>
                      </a:r>
                      <a:endParaRPr lang="zh-CN" sz="2400" b="1" kern="22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1 2 3 4</a:t>
                      </a:r>
                      <a:endParaRPr lang="zh-CN" sz="2400" b="1" kern="22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输出样例：</a:t>
                      </a:r>
                      <a:endParaRPr lang="zh-CN" sz="2400" b="1" kern="22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9</a:t>
                      </a:r>
                      <a:endParaRPr lang="zh-CN" sz="2400" b="1" kern="22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123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对于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30%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的数据，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n≤ 100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；对于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60%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的数据，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n≤ 1000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；对于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100%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的数据，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1≤ n≤ 10</a:t>
                      </a:r>
                      <a:r>
                        <a:rPr lang="en-US" sz="2400" b="0" kern="2200" baseline="300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5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1≤ k≤ 10</a:t>
                      </a:r>
                      <a:r>
                        <a:rPr lang="en-US" sz="2400" b="0" kern="2200" baseline="300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3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n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个数都不超过</a:t>
                      </a: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10</a:t>
                      </a:r>
                      <a:r>
                        <a:rPr lang="en-US" sz="2400" b="0" kern="2200" baseline="300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8</a:t>
                      </a: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思路一：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US" altLang="zh-CN" b="1" dirty="0"/>
                  <a:t> </a:t>
                </a:r>
                <a:r>
                  <a:rPr lang="zh-CN" altLang="en-US" dirty="0"/>
                  <a:t>枚举（</a:t>
                </a:r>
                <a:r>
                  <a:rPr lang="en-US" altLang="zh-CN" dirty="0"/>
                  <a:t>30</a:t>
                </a:r>
                <a:r>
                  <a:rPr lang="zh-CN" altLang="en-US" dirty="0"/>
                  <a:t>分）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b="1" dirty="0"/>
                  <a:t>思路三：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/>
                  <a:t> </a:t>
                </a:r>
                <a:r>
                  <a:rPr lang="zh-CN" altLang="en-US" dirty="0"/>
                  <a:t>枚举余数相同的 </a:t>
                </a:r>
                <a:r>
                  <a:rPr lang="en-US" altLang="zh-CN" dirty="0"/>
                  <a:t>/ DP</a:t>
                </a:r>
                <a:r>
                  <a:rPr lang="en-US" altLang="zh-CN" b="1" dirty="0"/>
                  <a:t>   </a:t>
                </a:r>
                <a:r>
                  <a:rPr lang="zh-CN" altLang="en-US" b="1" dirty="0"/>
                  <a:t>（</a:t>
                </a:r>
                <a:r>
                  <a:rPr lang="en-US" altLang="zh-CN" b="1" dirty="0"/>
                  <a:t>100</a:t>
                </a:r>
                <a:r>
                  <a:rPr lang="zh-CN" altLang="en-US" b="1" dirty="0"/>
                  <a:t>分）</a:t>
                </a:r>
                <a:endParaRPr lang="en-US" altLang="zh-CN" b="1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2"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" y="117475"/>
            <a:ext cx="12779113" cy="6554804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" name="内容占位符 4"/>
          <p:cNvSpPr txBox="1"/>
          <p:nvPr/>
        </p:nvSpPr>
        <p:spPr>
          <a:xfrm>
            <a:off x="618524" y="1291129"/>
            <a:ext cx="10974855" cy="50404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枚举，每次选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个数求和，计算复杂度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取三个数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，要求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a+b+c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能整除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，也就是说：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(a + b + c) % k = 0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分开求余，得：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a % k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b%k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c%k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其中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=0, k, 2k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不可能等于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% 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b%k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c%k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把题目转化为：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% 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种取值，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b%k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种取值，而选定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之后，可以通过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、计算出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，所以只需要枚举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% 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b%k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即可，计算复杂度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O(k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的测试。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1165" y="222194"/>
            <a:ext cx="1444505" cy="734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题解</a:t>
            </a:r>
            <a:endParaRPr lang="zh-CN" altLang="en-US" sz="3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383"/>
    </mc:Choice>
    <mc:Fallback>
      <p:transition spd="slow" advTm="116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9pPr>
          </a:lstStyle>
          <a:p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7.2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快速幂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65" y="2360065"/>
            <a:ext cx="4650640" cy="4650640"/>
          </a:xfrm>
          <a:prstGeom prst="rect">
            <a:avLst/>
          </a:prstGeom>
        </p:spPr>
      </p:pic>
    </p:spTree>
  </p:cSld>
  <p:clrMapOvr>
    <a:masterClrMapping/>
  </p:clrMapOvr>
  <p:transition spd="med" advTm="4338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marL="571500" indent="-571500" eaLnBrk="0" fontAlgn="base" hangingPunct="0"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快速幂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10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的最后一个数字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即使能直接算，也会超时。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）数字太大：取模操作。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）计算量太大：用分治法计算、用快速幂加速。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655"/>
    </mc:Choice>
    <mc:Fallback>
      <p:transition spd="slow" advTm="896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737457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98620" y="1596540"/>
            <a:ext cx="3686078" cy="45811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容易想到一种很快的办法：先算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，然后再算平方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，再继续平方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总共只需要算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O(log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次，就得到了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n=10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≈ 50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，计算量极小。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21655" y="985720"/>
            <a:ext cx="688720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#include&lt;bits/stdc++.h&gt;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typedef long long ll; //用long long，比int的范围大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ll fastPow(ll a, ll n,ll m){           //a^n % m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if(n == 0)   return 1;             //特判 a^0 = 1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if(n == 1)   return a % m;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ll t = fastPow(a, n/2, m);         //分治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if(n%2 == 1)                        //奇数个a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</a:t>
            </a:r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return (t % m * t % m) * a % m; </a:t>
            </a:r>
            <a:endParaRPr lang="en-US" altLang="zh-CN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else    return t % m * t % m ;     //偶数个a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}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int main(){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ll a,n,m;   cin&gt;&gt;a&gt;&gt;n&gt;&gt;m;   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printf("%lld^%lld mod %lld=%lld",a,n,m,fastPow(a,n,m));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return 0;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}</a:t>
            </a:r>
            <a:endParaRPr lang="zh-CN" altLang="en-US" sz="18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3489"/>
    </mc:Choice>
    <mc:Fallback>
      <p:transition spd="slow" advTm="23348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737457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：二进制倍增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0167" y="985719"/>
            <a:ext cx="10373418" cy="5735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8+2+1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×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是倍乘关系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</a:t>
            </a:r>
            <a:r>
              <a:rPr lang="en-US" altLang="zh-CN" sz="2400" b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log(n)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个幂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如何把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分解为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11=8+2+1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？利用二进制。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11</a:t>
            </a:r>
            <a:r>
              <a:rPr lang="pt-BR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1011</a:t>
            </a:r>
            <a:r>
              <a:rPr lang="pt-BR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2</a:t>
            </a:r>
            <a:r>
              <a:rPr lang="pt-BR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+2</a:t>
            </a:r>
            <a:r>
              <a:rPr lang="pt-BR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+2</a:t>
            </a:r>
            <a:r>
              <a:rPr lang="pt-BR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pt-B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8+2+1</a:t>
            </a:r>
            <a:endParaRPr lang="pt-BR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的幂</a:t>
            </a:r>
            <a:endParaRPr lang="pt-BR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从低位往高位处理</a:t>
            </a:r>
            <a:r>
              <a:rPr lang="pt-B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（右移一次，就把刚处理的低位移走了）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pt-BR" altLang="zh-CN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处理末尾的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 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res=a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，处理第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  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res=res*a</a:t>
            </a:r>
            <a:r>
              <a:rPr lang="en-US" altLang="zh-CN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=a</a:t>
            </a:r>
            <a:r>
              <a:rPr lang="en-US" altLang="zh-CN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1+2</a:t>
            </a:r>
            <a:endParaRPr lang="en-US" altLang="zh-CN" b="1" baseline="30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，处理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：跳过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en-US" altLang="zh-CN" b="1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pt-B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，处理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           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res=res*a</a:t>
            </a:r>
            <a:r>
              <a:rPr lang="en-US" altLang="zh-CN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=a</a:t>
            </a:r>
            <a:r>
              <a:rPr lang="en-US" altLang="zh-CN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1+2+8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3489"/>
    </mc:Choice>
    <mc:Fallback>
      <p:transition spd="slow" advTm="2334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6734" y="1561583"/>
            <a:ext cx="105366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int fastPow(int a, int n){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int base = a;        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int res = 1; 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while(n) {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 if(n &amp; 1)     //如果n的最后一位是1，表示这个地方需要乘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    res *= base;  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 base *= base; //推算乘积，a</a:t>
            </a:r>
            <a:r>
              <a:rPr lang="zh-CN" altLang="en-US" sz="2400" baseline="30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--&gt;a</a:t>
            </a:r>
            <a:r>
              <a:rPr lang="zh-CN" altLang="en-US" sz="2400" baseline="30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--&gt;a</a:t>
            </a:r>
            <a:r>
              <a:rPr lang="zh-CN" altLang="en-US" sz="2400" baseline="30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--&gt;a</a:t>
            </a:r>
            <a:r>
              <a:rPr lang="zh-CN" altLang="en-US" sz="2400" baseline="30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 n &gt;&gt;= 1;      //n右移一位，把刚处理过的n的最后一位去掉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}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return res;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}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932"/>
    </mc:Choice>
    <mc:Fallback>
      <p:transition spd="slow" advTm="7693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9pPr>
          </a:lstStyle>
          <a:p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7.3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素数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65" y="2360065"/>
            <a:ext cx="4650640" cy="4650640"/>
          </a:xfrm>
          <a:prstGeom prst="rect">
            <a:avLst/>
          </a:prstGeom>
        </p:spPr>
      </p:pic>
    </p:spTree>
  </p:cSld>
  <p:clrMapOvr>
    <a:masterClrMapping/>
  </p:clrMapOvr>
  <p:transition spd="med" advTm="4210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marL="571500" indent="-571500" eaLnBrk="0" fontAlgn="base" hangingPunct="0"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209440" y="1901950"/>
            <a:ext cx="7940660" cy="2290575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素数的判定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素数筛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质因数分解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82"/>
    </mc:Choice>
    <mc:Fallback>
      <p:transition spd="slow" advTm="1428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小素数的判定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729307" y="1545803"/>
                <a:ext cx="10373418" cy="436919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试除法：用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内的所有数去试着除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，如果都不能整除，就是素数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307" y="1545803"/>
                <a:ext cx="10373418" cy="4369190"/>
              </a:xfrm>
              <a:blipFill rotWithShape="1">
                <a:blip r:embed="rId1"/>
                <a:stretch>
                  <a:fillRect l="-3" t="-5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6735" y="2512770"/>
            <a:ext cx="10994760" cy="2037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def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is_prime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(n):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if n &lt;= 1:   return False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for 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in range(2, 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math.sqrt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(n)) + 1):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  if n % 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== 0:  return False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return True</a:t>
            </a:r>
            <a:endParaRPr lang="zh-CN" altLang="en-US" sz="24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591"/>
    </mc:Choice>
    <mc:Fallback>
      <p:transition spd="slow" advTm="8659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98620" y="659485"/>
            <a:ext cx="7659924" cy="523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试除法：继续优化</a:t>
            </a:r>
            <a:endParaRPr lang="zh-CN" altLang="en-US" sz="28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内容占位符 2"/>
              <p:cNvSpPr txBox="1"/>
              <p:nvPr/>
            </p:nvSpPr>
            <p:spPr>
              <a:xfrm>
                <a:off x="924939" y="1822700"/>
                <a:ext cx="10342123" cy="4356517"/>
              </a:xfrm>
              <a:prstGeom prst="rect">
                <a:avLst/>
              </a:prstGeom>
            </p:spPr>
            <p:txBody>
              <a:bodyPr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457200" indent="-457200" algn="l" defTabSz="1828800" eaLnBrk="1" hangingPunct="1">
                  <a:lnSpc>
                    <a:spcPct val="90000"/>
                  </a:lnSpc>
                  <a:spcBef>
                    <a:spcPct val="401000"/>
                  </a:spcBef>
                  <a:buFont typeface="Arial" panose="020B060402020209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400050" lvl="1" indent="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defRPr sz="4800" kern="1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2286000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4000" kern="1200">
                    <a:solidFill>
                      <a:schemeClr val="tx1"/>
                    </a:solidFill>
                  </a:defRPr>
                </a:lvl3pPr>
                <a:lvl4pPr marL="3200400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4pPr>
                <a:lvl5pPr marL="4114800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5pPr>
                <a:lvl6pPr marL="5029200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6pPr>
                <a:lvl7pPr marL="5943600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7pPr>
                <a:lvl8pPr marL="6857365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8pPr>
                <a:lvl9pPr marL="7771765" indent="-457200" algn="l" defTabSz="1828800" eaLnBrk="1" hangingPunct="1">
                  <a:lnSpc>
                    <a:spcPct val="90000"/>
                  </a:lnSpc>
                  <a:spcBef>
                    <a:spcPct val="201000"/>
                  </a:spcBef>
                  <a:buFont typeface="Arial" panose="020B0604020202090204" pitchFamily="34" charset="0"/>
                  <a:buChar char="•"/>
                  <a:defRPr sz="36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范围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可以继续缩小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提前算出范围内的所有素数，用这些素数来除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就行了。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埃氏筛用到这一原理。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范围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内有多少个素数？在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百万以内，约有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7.8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万个素数；在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亿以内，约有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576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万个素数。 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39" y="1822700"/>
                <a:ext cx="10342123" cy="4356517"/>
              </a:xfrm>
              <a:prstGeom prst="rect">
                <a:avLst/>
              </a:prstGeom>
              <a:blipFill rotWithShape="1">
                <a:blip r:embed="rId1"/>
                <a:stretch>
                  <a:fillRect l="-4" t="-6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p:transition spd="slow" advClick="0" advTm="69856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素数筛：埃氏筛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6960" y="1443835"/>
            <a:ext cx="11366693" cy="43691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素数的筛选：给定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2~n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内所有的素数。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埃氏筛直接利用了素数的定义。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对初始队列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n}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，操作步骤：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）输出最小素数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，筛掉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的倍数，得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）输出最小素数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，筛掉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的倍数，得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）输出最小素数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，筛掉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的倍数，得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strike="dblStrike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继续以上步骤，直到队列为空。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613"/>
    </mc:Choice>
    <mc:Fallback>
      <p:transition spd="slow" advTm="1186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751325" y="680310"/>
            <a:ext cx="10536645" cy="30541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E_sieve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n) {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= 0;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&lt;= n;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++)  visit[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]= false;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= 2;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&lt;=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sqrt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(n);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++) 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筛掉非素数 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if(!visit[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])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      for(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j=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*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j&lt;=n; j+=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)  visit[j] = true;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标记为非素数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下面记录素数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k=0;                     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统计素数个数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for(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= 2;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&lt;= n;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++)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  if(!visit[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]) prime[++k] =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存素数，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prime[1]=2, prime[2]=3...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return k;                     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返回素数个数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内容占位符 4"/>
          <p:cNvSpPr txBox="1"/>
          <p:nvPr/>
        </p:nvSpPr>
        <p:spPr>
          <a:xfrm>
            <a:off x="445915" y="4192525"/>
            <a:ext cx="10380364" cy="54973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埃氏筛的计算复杂度：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的倍数被筛掉，计算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次；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的倍数被筛掉，计算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次；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的倍数被筛掉，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；总计算量等于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n/2+n/3+n/5+n/7+n/11+…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，约为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O(nlog</a:t>
            </a:r>
            <a:r>
              <a:rPr lang="en-US" altLang="zh-CN" sz="1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1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。计算量很接近线性的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，相当好。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空间复杂度：代码用到了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bool visit[N+1]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数组，当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10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。由于埃氏筛只能用于处理约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n=10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空间是够用的。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383"/>
    </mc:Choice>
    <mc:Fallback>
      <p:transition spd="slow" advTm="116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98620" y="588485"/>
            <a:ext cx="108515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区间素数</a:t>
            </a:r>
            <a:endParaRPr lang="zh-CN" altLang="en-US" sz="18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 descr="7b0a202020202262756c6c6574223a20227b5c2263617465676f727949645c223a31303030352c5c2274656d706c61746549645c223a32303233313332387d220a7d0a"/>
              <p:cNvSpPr txBox="1"/>
              <p:nvPr/>
            </p:nvSpPr>
            <p:spPr>
              <a:xfrm>
                <a:off x="324468" y="1486954"/>
                <a:ext cx="11652019" cy="3980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埃氏筛法求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[2, n]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内的素数，只能解决规模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n≤10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的问题。如果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更大，在某些情况下，也可以用埃氏筛法来处理，这就是大区间素数的计算。</a:t>
                </a:r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把埃氏筛法扩展到求区间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[a, b]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的素数，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a&lt;b≤10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b-a≤10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方法：先用埃氏筛法求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]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内的素数，然后用这些素数来筛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[a, b]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区间的素数</a:t>
                </a:r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文本框 8" descr="7b0a202020202262756c6c6574223a20227b5c2263617465676f727949645c223a31303030352c5c2274656d706c61746549645c223a32303233313332387d220a7d0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8" y="1486954"/>
                <a:ext cx="11652019" cy="3980513"/>
              </a:xfrm>
              <a:prstGeom prst="rect">
                <a:avLst/>
              </a:prstGeom>
              <a:blipFill rotWithShape="1">
                <a:blip r:embed="rId1"/>
                <a:stretch>
                  <a:fillRect l="-5" t="-760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p:transition spd="slow" advClick="0" advTm="9614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marL="571500" indent="-571500" eaLnBrk="0" fontAlgn="base" hangingPunct="0"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素数筛：欧拉筛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443835"/>
            <a:ext cx="10373418" cy="4369190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欧拉筛（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Sieve Of Euler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）是线性筛，能在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的线性时间里求得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内所有的质数。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欧拉筛的原理：一个合数肯定有一个最小质因子；让每个合数只被它的最小质因子筛选一次，以达到不重复筛的目的。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操作步骤：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）逐一检查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的所有数。第一个检查的是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，它是第一个质数。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）当检查到第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个数时，利用已经求得的质数去筛掉对应的合数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，而且是用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的最小质因子去筛。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960"/>
    </mc:Choice>
    <mc:Fallback>
      <p:transition spd="slow" advTm="130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69" y="-1"/>
            <a:ext cx="8995385" cy="7218219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同样是筛法，但是我们每次用一个数最小的质因数筛它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时间复杂度 </a:t>
            </a:r>
            <a:r>
              <a:rPr lang="en-US" altLang="zh-CN" dirty="0"/>
              <a:t>O(n)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上述方法即欧拉筛</a:t>
            </a:r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1150" y="100668"/>
            <a:ext cx="12814300" cy="957263"/>
          </a:xfrm>
        </p:spPr>
        <p:txBody>
          <a:bodyPr/>
          <a:lstStyle/>
          <a:p>
            <a:r>
              <a:rPr lang="zh-CN" altLang="en-US" dirty="0"/>
              <a:t>欧拉筛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18" y="1292765"/>
            <a:ext cx="7479038" cy="5586309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质因数分解：试除法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729306" y="1545803"/>
                <a:ext cx="11169483" cy="436919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任何一个正整数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都可以唯一地分解为有限个素数的乘积：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       </a:t>
                </a:r>
                <a:r>
                  <a:rPr lang="en-US" altLang="zh-CN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n = p</a:t>
                </a:r>
                <a:r>
                  <a:rPr lang="en-US" altLang="zh-CN" sz="2400" b="1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1</a:t>
                </a:r>
                <a:r>
                  <a:rPr lang="en-US" altLang="zh-CN" sz="2400" b="1" baseline="30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c1</a:t>
                </a:r>
                <a:r>
                  <a:rPr lang="en-US" altLang="zh-CN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p</a:t>
                </a:r>
                <a:r>
                  <a:rPr lang="en-US" altLang="zh-CN" sz="2400" b="1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2</a:t>
                </a:r>
                <a:r>
                  <a:rPr lang="en-US" altLang="zh-CN" sz="2400" b="1" baseline="30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c2</a:t>
                </a:r>
                <a:r>
                  <a:rPr lang="en-US" altLang="zh-CN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...</a:t>
                </a:r>
                <a:r>
                  <a:rPr lang="en-US" altLang="zh-CN" sz="2400" b="1" dirty="0" err="1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p</a:t>
                </a:r>
                <a:r>
                  <a:rPr lang="en-US" altLang="zh-CN" sz="2400" b="1" baseline="-25000" dirty="0" err="1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m</a:t>
                </a:r>
                <a:r>
                  <a:rPr lang="en-US" altLang="zh-CN" sz="2400" b="1" baseline="30000" dirty="0" err="1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cm</a:t>
                </a:r>
                <a:r>
                  <a:rPr lang="zh-CN" altLang="en-US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，其中</a:t>
                </a:r>
                <a:r>
                  <a:rPr lang="en-US" altLang="zh-CN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i</a:t>
                </a:r>
                <a:r>
                  <a:rPr lang="zh-CN" altLang="en-US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都是正整数，</a:t>
                </a:r>
                <a:r>
                  <a:rPr lang="en-US" altLang="zh-CN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p</a:t>
                </a:r>
                <a:r>
                  <a:rPr lang="en-US" altLang="zh-CN" sz="2400" b="1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i</a:t>
                </a:r>
                <a:r>
                  <a:rPr lang="zh-CN" altLang="en-US" sz="2400" b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都是素数且从小到大。</a:t>
                </a:r>
                <a:endParaRPr lang="zh-CN" altLang="en-US" sz="2400" b="1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分解质因子也用试除法。求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的质因子：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第一步，求最小质因子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。逐个检查从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e>
                    </m:rad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的所有素数，如果它能整除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，就是最小质因子。然后连续用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除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，目的是去掉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第二步，再找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的最小质因子。逐个检查从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𝒏</m:t>
                        </m:r>
                      </m:e>
                    </m:rad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的所有素数。从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开始试除，是因为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没有比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小的素因子，而且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的因子也是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的因子。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继续以上步骤，直到找到所有质因子。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306" y="1545803"/>
                <a:ext cx="11169483" cy="4369190"/>
              </a:xfrm>
              <a:blipFill rotWithShape="1">
                <a:blip r:embed="rId1"/>
                <a:stretch>
                  <a:fillRect l="-3" t="-5" r="1" b="-73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710"/>
    </mc:Choice>
    <mc:Fallback>
      <p:transition spd="slow" advTm="987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751325" y="680309"/>
            <a:ext cx="10536645" cy="59554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#include &lt;bits/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stdc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++.h&gt;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using namespace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std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typedef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long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long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main(){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n;	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cin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&gt;&gt;n;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for 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=2;i&lt;=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sqrt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(n);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++) {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注意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是变化的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=0;                   //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记录质因数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的个数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if 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n%i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==0) {               //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是质因数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while(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n%i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==0) {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把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中的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除尽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	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n/=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     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更新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		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++;               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	    }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	    if (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==1)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&lt;&lt;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如果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只有一个，不输出指数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else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&lt;&lt;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&lt;&lt;'^'&lt;&lt;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输出指数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if (n&gt;1)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&lt;&lt;" * ";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如果不是最后一个质因数，输出乘号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	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}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if (n&gt;1)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&lt;&lt;n;              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没分解干净，输出剩下的质因数</a:t>
            </a:r>
            <a:endParaRPr lang="zh-CN" altLang="en-US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return 0;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383"/>
    </mc:Choice>
    <mc:Fallback>
      <p:transition spd="slow" advTm="11638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804030504040204" pitchFamily="34" charset="0"/>
              </a:defRPr>
            </a:lvl9pPr>
          </a:lstStyle>
          <a:p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7.4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GCD</a:t>
            </a:r>
            <a:r>
              <a:rPr lang="zh-CN" altLang="en-US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54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LCM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65" y="2360065"/>
            <a:ext cx="4650640" cy="4650640"/>
          </a:xfrm>
          <a:prstGeom prst="rect">
            <a:avLst/>
          </a:prstGeom>
        </p:spPr>
      </p:pic>
    </p:spTree>
  </p:cSld>
  <p:clrMapOvr>
    <a:masterClrMapping/>
  </p:clrMapOvr>
  <p:transition spd="med" advTm="5294"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marL="571500" indent="-571500" eaLnBrk="0" fontAlgn="base" hangingPunct="0"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LCM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：最大公约数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性质：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k·a+b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kb)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k·gcd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定义多个整数的最大公约数：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b, c)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b), c)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 = 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(a/d, b/d) = 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a+cb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b)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7317640" y="769697"/>
            <a:ext cx="4733856" cy="1106787"/>
          </a:xfrm>
          <a:prstGeom prst="wedgeRoundRectCallout">
            <a:avLst>
              <a:gd name="adj1" fmla="val -55766"/>
              <a:gd name="adj2" fmla="val -127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b="0" dirty="0">
                <a:solidFill>
                  <a:srgbClr val="FFFF00"/>
                </a:solidFill>
              </a:rPr>
              <a:t>GCD</a:t>
            </a:r>
            <a:r>
              <a:rPr lang="zh-CN" altLang="en-US" sz="2400" b="0" dirty="0">
                <a:solidFill>
                  <a:srgbClr val="FFFF00"/>
                </a:solidFill>
              </a:rPr>
              <a:t>跟闹矛盾的一对整数说，多找找共同点，你们会幸福的。</a:t>
            </a:r>
            <a:endParaRPr lang="zh-CN" altLang="en-US" sz="2400" b="0" dirty="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464"/>
    </mc:Choice>
    <mc:Fallback>
      <p:transition spd="slow" advTm="129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307" y="374900"/>
            <a:ext cx="10515600" cy="916230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3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 b) </a:t>
            </a:r>
            <a:endParaRPr lang="en-US" altLang="zh-CN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7" name="内容占位符 4"/>
          <p:cNvSpPr>
            <a:spLocks noGrp="1"/>
          </p:cNvSpPr>
          <p:nvPr>
            <p:ph idx="1"/>
          </p:nvPr>
        </p:nvSpPr>
        <p:spPr>
          <a:xfrm>
            <a:off x="1856330" y="1320189"/>
            <a:ext cx="9905236" cy="5315615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#include&lt;bits/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stdc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++.h&gt;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using namespace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std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;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int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main(){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(45,9)   &lt;&lt;"\n";   // 9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(0,42)   &lt;&lt;"\n";   // 42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(42,0)   &lt;&lt;"\n";   // 42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(0,0)    &lt;&lt;"\n";   // 0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(20,15)  &lt;&lt;"\n";   // 5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(-20,15) &lt;&lt;"\n";   // -5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(20,-15) &lt;&lt;"\n";   // 5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(-20,-15)&lt;&lt;"\n";   // -5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cout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&lt;&lt; __</a:t>
            </a:r>
            <a:r>
              <a:rPr lang="en-US" altLang="zh-CN" sz="2000" b="1" dirty="0" err="1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gcd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((long long)98938441343232,(long long)33422)&lt;&lt;"\n"; //2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}</a:t>
            </a: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879"/>
    </mc:Choice>
    <mc:Fallback>
      <p:transition spd="slow" advTm="36879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手写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：辗转相除法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(a, b)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(b, a mod b)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拉梅定理：用欧几里得算法计算两个正整数的最大公约数，需要的除法次数不会超过两个整数中较小的那个十进制数的位数的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倍。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推论：用欧几里得算法求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,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b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&gt; 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，需要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O((log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次位运算。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863"/>
    </mc:Choice>
    <mc:Fallback>
      <p:transition spd="slow" advTm="98863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LCM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77717" y="1291130"/>
            <a:ext cx="10373418" cy="51919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的最小公倍数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lcm(a, b)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，从算术基本定理推理得到。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算术基本定理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：任何大于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的正整数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都可以唯一分解为有限个素数的乘积：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n = 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c1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cm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设：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 = 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c1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b = 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f1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f2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fm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(a, b) = 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min{c1,f1}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min{c2,f2}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min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cm,fm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}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lcm(a, b) = 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max{c1,f1}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max{c2,f2}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...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p</a:t>
            </a:r>
            <a:r>
              <a:rPr lang="en-US" altLang="zh-CN" sz="24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max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{</a:t>
            </a:r>
            <a:r>
              <a:rPr lang="en-US" altLang="zh-CN" sz="2400" b="1" baseline="30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cm,fm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}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推出：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(a, b)*lcm(a, b) = a*b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，即：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           lcm(a, b) = a*b/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(a, b) = a/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(a, b)*b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8081164" y="2807074"/>
            <a:ext cx="3970331" cy="1385451"/>
          </a:xfrm>
          <a:prstGeom prst="wedgeRoundRectCallout">
            <a:avLst>
              <a:gd name="adj1" fmla="val -67761"/>
              <a:gd name="adj2" fmla="val -26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b="0" dirty="0">
                <a:solidFill>
                  <a:srgbClr val="FFFF00"/>
                </a:solidFill>
              </a:rPr>
              <a:t>LCM</a:t>
            </a:r>
            <a:r>
              <a:rPr lang="zh-CN" altLang="en-US" sz="2400" b="0" dirty="0">
                <a:solidFill>
                  <a:srgbClr val="FFFF00"/>
                </a:solidFill>
              </a:rPr>
              <a:t>跟一对恩爱整数说，你们的结合必定会诞生一个更强大的后代</a:t>
            </a:r>
            <a:r>
              <a:rPr lang="en-US" altLang="zh-CN" sz="2400" b="0" dirty="0">
                <a:solidFill>
                  <a:srgbClr val="FFFF00"/>
                </a:solidFill>
              </a:rPr>
              <a:t>!</a:t>
            </a:r>
            <a:endParaRPr lang="zh-CN" altLang="en-US" sz="2400" b="0" dirty="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2507"/>
    </mc:Choice>
    <mc:Fallback>
      <p:transition spd="slow" advTm="172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960" y="248263"/>
            <a:ext cx="10515600" cy="104286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裴蜀定理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9307" y="1545803"/>
            <a:ext cx="10373418" cy="4369190"/>
          </a:xfrm>
        </p:spPr>
        <p:txBody>
          <a:bodyPr>
            <a:noAutofit/>
          </a:bodyPr>
          <a:lstStyle/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裴蜀定理（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Bézout's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lemma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）：如果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均为整数，则有整数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ax + by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推论：整数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互素当且仅当存在整数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 + by = 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171"/>
    </mc:Choice>
    <mc:Fallback>
      <p:transition spd="slow" advTm="10117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7.10</a:t>
            </a:r>
            <a:r>
              <a:rPr lang="zh-CN" altLang="en-US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：互质数的个数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en-US" altLang="zh-CN" sz="3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lanqiaoOJ</a:t>
            </a:r>
            <a:r>
              <a:rPr lang="en-US" altLang="zh-CN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3522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3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79755" y="1139190"/>
          <a:ext cx="10656570" cy="4733900"/>
        </p:xfrm>
        <a:graphic>
          <a:graphicData uri="http://schemas.openxmlformats.org/drawingml/2006/table">
            <a:tbl>
              <a:tblPr/>
              <a:tblGrid>
                <a:gridCol w="5409565"/>
                <a:gridCol w="5247005"/>
              </a:tblGrid>
              <a:tr h="2595220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问题描述：给定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a, b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，求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≤ x &lt; a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中有多少个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与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互质。由于答案可能很大，你只需要输出答案对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998244353 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取模的结果。 </a:t>
                      </a:r>
                      <a:endParaRPr lang="zh-CN" altLang="zh-CN" sz="2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输入：输入一行包含两个整数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a, b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，用空格分隔。 </a:t>
                      </a:r>
                      <a:endParaRPr lang="zh-CN" altLang="zh-CN" sz="2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输出：输出一个整数表示答案。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2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输入样例： </a:t>
                      </a:r>
                      <a:endParaRPr lang="zh-CN" sz="24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2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2 5</a:t>
                      </a:r>
                      <a:endParaRPr lang="zh-CN" sz="24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输出样例：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 dirty="0"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16   </a:t>
                      </a:r>
                      <a:endParaRPr lang="zh-CN" sz="2400" b="1" kern="22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123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对于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30%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的评测用例，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≤ 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 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；对于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70%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的评测用例，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≤ 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 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 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；对于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的评测用例，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≤ 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 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en-US" altLang="zh-CN" sz="2400" b="1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 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zh-CN" sz="24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4190054" y="-83215"/>
            <a:ext cx="7940660" cy="68717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0" dirty="0">
                <a:latin typeface="宋体" pitchFamily="2" charset="-122"/>
                <a:ea typeface="宋体" pitchFamily="2" charset="-122"/>
              </a:rPr>
              <a:t>#include &lt;bits/</a:t>
            </a:r>
            <a:r>
              <a:rPr lang="en-US" altLang="zh-CN" sz="1600" b="0" dirty="0" err="1">
                <a:latin typeface="宋体" pitchFamily="2" charset="-122"/>
                <a:ea typeface="宋体" pitchFamily="2" charset="-122"/>
              </a:rPr>
              <a:t>stdc</a:t>
            </a:r>
            <a:r>
              <a:rPr lang="en-US" altLang="zh-CN" sz="1600" b="0" dirty="0">
                <a:latin typeface="宋体" pitchFamily="2" charset="-122"/>
                <a:ea typeface="宋体" pitchFamily="2" charset="-122"/>
              </a:rPr>
              <a:t>++.h&gt;</a:t>
            </a:r>
            <a:endParaRPr lang="en-US" altLang="zh-CN" sz="16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0" dirty="0">
                <a:latin typeface="宋体" pitchFamily="2" charset="-122"/>
                <a:ea typeface="宋体" pitchFamily="2" charset="-122"/>
              </a:rPr>
              <a:t>using namespace </a:t>
            </a:r>
            <a:r>
              <a:rPr lang="en-US" altLang="zh-CN" sz="1600" b="0" dirty="0" err="1">
                <a:latin typeface="宋体" pitchFamily="2" charset="-122"/>
                <a:ea typeface="宋体" pitchFamily="2" charset="-122"/>
              </a:rPr>
              <a:t>std</a:t>
            </a:r>
            <a:r>
              <a:rPr lang="en-US" altLang="zh-CN" sz="16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16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typedef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long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long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mod = 998244353;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gcd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a,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b){  return b?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gcd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(b,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a%b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):a; }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fastPow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a,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n){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= 1;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a %= mod;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while(n) {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    if(n &amp; 1)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= 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*a) % mod;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    a = (a*a) % mod;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    n &gt;&gt;= 1;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}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return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main(){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a, b;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cin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&gt;&gt;a&gt;&gt;b;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mi=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fastPow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(a, b);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= 0;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= 1;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&lt; mi;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++)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gcd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, mi) == 1)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++;    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&lt;&lt; </a:t>
            </a:r>
            <a:r>
              <a:rPr lang="en-US" altLang="zh-CN" sz="2000" b="0" dirty="0" err="1">
                <a:latin typeface="宋体" pitchFamily="2" charset="-122"/>
                <a:ea typeface="宋体" pitchFamily="2" charset="-122"/>
              </a:rPr>
              <a:t>ans</a:t>
            </a: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    return 0;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2000" b="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内容占位符 4"/>
          <p:cNvSpPr txBox="1"/>
          <p:nvPr/>
        </p:nvSpPr>
        <p:spPr>
          <a:xfrm>
            <a:off x="729307" y="985720"/>
            <a:ext cx="2923414" cy="436919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得分：模拟题目要求，用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和快速幂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1165" y="222194"/>
            <a:ext cx="1444505" cy="734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题解</a:t>
            </a:r>
            <a:endParaRPr lang="zh-CN" altLang="en-US" sz="3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383"/>
    </mc:Choice>
    <mc:Fallback>
      <p:transition spd="slow" advTm="116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7.11</a:t>
            </a:r>
            <a:r>
              <a:rPr lang="zh-CN" altLang="en-US" sz="3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：等差数列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en-US" altLang="zh-CN" sz="3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lanqiaoOJ</a:t>
            </a:r>
            <a:r>
              <a:rPr lang="en-US" altLang="zh-CN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192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3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79755" y="1139190"/>
          <a:ext cx="10656570" cy="5689824"/>
        </p:xfrm>
        <a:graphic>
          <a:graphicData uri="http://schemas.openxmlformats.org/drawingml/2006/table">
            <a:tbl>
              <a:tblPr/>
              <a:tblGrid>
                <a:gridCol w="5409565"/>
                <a:gridCol w="5247005"/>
              </a:tblGrid>
              <a:tr h="3429922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问题描述：数学老师给小明出了一道等差数列求和的题目。但是粗心的小明忘记了一部分的数列，只记得其中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个整数。现在给出这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个整数，小明想知道包含这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个整数的最短的等差数列有几项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?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 </a:t>
                      </a:r>
                      <a:endParaRPr lang="zh-CN" altLang="zh-CN" sz="2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输入：输入的第一行包含一个整数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 第二行包含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个整数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···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注意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∼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并不一定是按等差数列中的顺序给出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 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。对于所有评测用例，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100000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  <a:r>
                        <a:rPr lang="en-US" altLang="zh-CN" sz="2400" b="1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zh-CN" altLang="zh-CN" sz="2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输出：输出一个整数表示答案。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469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输入样例：</a:t>
                      </a:r>
                      <a:endParaRPr lang="zh-CN" sz="2400" b="1" kern="2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5</a:t>
                      </a:r>
                      <a:endParaRPr lang="zh-CN" sz="2400" b="1" kern="2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2 6 4 10 20 </a:t>
                      </a:r>
                      <a:endParaRPr lang="zh-CN" sz="2400" b="1" kern="2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0" kern="2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输出样例：</a:t>
                      </a:r>
                      <a:endParaRPr lang="zh-CN" sz="24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0" kern="2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10</a:t>
                      </a:r>
                      <a:endParaRPr lang="zh-CN" sz="24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7000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100" b="1" kern="2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3958130" y="629382"/>
            <a:ext cx="8172584" cy="5438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#include&lt;bits/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stdc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++.h&gt;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using namespace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std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a[100000];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main(){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n;  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cin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&gt;&gt;n;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=0;i&lt;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n;i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++)  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cin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&gt;&gt;a[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];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sort(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a,a+n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);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d=0;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=1;i&lt;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n;i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++)   d = __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gcd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d,a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]-a[i-1]);     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if(d==0)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cout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&lt;&lt;n&lt;&lt;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endl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else     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   </a:t>
            </a:r>
            <a:r>
              <a:rPr lang="en-US" altLang="zh-CN" sz="2400" b="0" dirty="0" err="1">
                <a:latin typeface="宋体" pitchFamily="2" charset="-122"/>
                <a:ea typeface="宋体" pitchFamily="2" charset="-122"/>
              </a:rPr>
              <a:t>printf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("%d\n",(a[n - 1] - a[0]) / d + 1);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    return 0;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2400" b="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内容占位符 4"/>
          <p:cNvSpPr txBox="1"/>
          <p:nvPr/>
        </p:nvSpPr>
        <p:spPr>
          <a:xfrm>
            <a:off x="729307" y="985720"/>
            <a:ext cx="2923414" cy="436919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个数据排序，计算它们的间隔，对所有间隔做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，结果为公差。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最少数量等于：（最大值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最小值）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1165" y="222194"/>
            <a:ext cx="1444505" cy="734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题解</a:t>
            </a:r>
            <a:endParaRPr lang="zh-CN" altLang="en-US" sz="3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383"/>
    </mc:Choice>
    <mc:Fallback>
      <p:transition spd="slow" advTm="116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p="http://schemas.openxmlformats.org/presentationml/2006/main">
  <p:tag name="TIMING" val="|44.7|10.7"/>
</p:tagLst>
</file>

<file path=ppt/tags/tag2.xml><?xml version="1.0" encoding="utf-8"?>
<p:tagLst xmlns:p="http://schemas.openxmlformats.org/presentationml/2006/main">
  <p:tag name="TIMING" val="|87.1"/>
</p:tagLst>
</file>

<file path=ppt/tags/tag3.xml><?xml version="1.0" encoding="utf-8"?>
<p:tagLst xmlns:p="http://schemas.openxmlformats.org/presentationml/2006/main">
  <p:tag name="TIMING" val="|42.2"/>
</p:tagLst>
</file>

<file path=ppt/tags/tag4.xml><?xml version="1.0" encoding="utf-8"?>
<p:tagLst xmlns:p="http://schemas.openxmlformats.org/presentationml/2006/main">
  <p:tag name="TIMING" val="|5.6|16.5|8.8"/>
</p:tagLst>
</file>

<file path=ppt/tags/tag5.xml><?xml version="1.0" encoding="utf-8"?>
<p:tagLst xmlns:p="http://schemas.openxmlformats.org/presentationml/2006/main">
  <p:tag name="TABLE_ENDDRAG_ORIGIN_RECT" val="839*483"/>
  <p:tag name="TABLE_ENDDRAG_RECT" val="83*113*839*483"/>
</p:tagLst>
</file>

<file path=ppt/tags/tag6.xml><?xml version="1.0" encoding="utf-8"?>
<p:tagLst xmlns:p="http://schemas.openxmlformats.org/presentationml/2006/main">
  <p:tag name="TABLE_ENDDRAG_ORIGIN_RECT" val="839*483"/>
  <p:tag name="TABLE_ENDDRAG_RECT" val="83*113*839*483"/>
</p:tagLst>
</file>

<file path=ppt/tags/tag7.xml><?xml version="1.0" encoding="utf-8"?>
<p:tagLst xmlns:p="http://schemas.openxmlformats.org/presentationml/2006/main">
  <p:tag name="TIMING" val="|38"/>
</p:tagLst>
</file>

<file path=ppt/tags/tag8.xml><?xml version="1.0" encoding="utf-8"?>
<p:tagLst xmlns:p="http://schemas.openxmlformats.org/presentationml/2006/main">
  <p:tag name="TIMING" val="|99.6|29.6|2.2|10.5"/>
</p:tagLst>
</file>

<file path=ppt/tags/tag9.xml><?xml version="1.0" encoding="utf-8"?>
<p:tagLst xmlns:p="http://schemas.openxmlformats.org/presentationml/2006/main">
  <p:tag name="TIMING" val="|99.6|29.6|2.2|10.5"/>
</p:tagLst>
</file>

<file path=ppt/tags/tag10.xml><?xml version="1.0" encoding="utf-8"?>
<p:tagLst xmlns:p="http://schemas.openxmlformats.org/presentationml/2006/main">
  <p:tag name="KSO_WM_SLIDE_ITEM_CNT" val="4"/>
  <p:tag name="TIMING" val="|50.4"/>
</p:tagLst>
</file>

<file path=ppt/tags/tag11.xml><?xml version="1.0" encoding="utf-8"?>
<p:tagLst xmlns:p="http://schemas.openxmlformats.org/presentationml/2006/main">
  <p:tag name="TIMING" val="|30.4"/>
</p:tagLst>
</file>

<file path=ppt/tags/tag12.xml><?xml version="1.0" encoding="utf-8"?>
<p:tagLst xmlns:p="http://schemas.openxmlformats.org/presentationml/2006/main">
  <p:tag name="KSO_WM_SLIDE_ITEM_CNT" val="4"/>
  <p:tag name="TIMING" val="|33.2|28.3"/>
</p:tagLst>
</file>

<file path=ppt/tags/tag13.xml><?xml version="1.0" encoding="utf-8"?>
<p:tagLst xmlns:p="http://schemas.openxmlformats.org/presentationml/2006/main">
  <p:tag name="TIMING" val="|98.2"/>
</p:tagLst>
</file>

<file path=ppt/tags/tag14.xml><?xml version="1.0" encoding="utf-8"?>
<p:tagLst xmlns:p="http://schemas.openxmlformats.org/presentationml/2006/main">
  <p:tag name="TIMING" val="|71.5"/>
</p:tagLst>
</file>

<file path=ppt/tags/tag15.xml><?xml version="1.0" encoding="utf-8"?>
<p:tagLst xmlns:p="http://schemas.openxmlformats.org/presentationml/2006/main">
  <p:tag name="TIMING" val="|47.3|63.7"/>
</p:tagLst>
</file>

<file path=ppt/tags/tag16.xml><?xml version="1.0" encoding="utf-8"?>
<p:tagLst xmlns:p="http://schemas.openxmlformats.org/presentationml/2006/main">
  <p:tag name="TIMING" val="|157.4"/>
</p:tagLst>
</file>

<file path=ppt/tags/tag17.xml><?xml version="1.0" encoding="utf-8"?>
<p:tagLst xmlns:p="http://schemas.openxmlformats.org/presentationml/2006/main">
  <p:tag name="TABLE_ENDDRAG_ORIGIN_RECT" val="839*483"/>
  <p:tag name="TABLE_ENDDRAG_RECT" val="83*113*839*483"/>
</p:tagLst>
</file>

<file path=ppt/tags/tag18.xml><?xml version="1.0" encoding="utf-8"?>
<p:tagLst xmlns:p="http://schemas.openxmlformats.org/presentationml/2006/main">
  <p:tag name="TABLE_ENDDRAG_ORIGIN_RECT" val="839*483"/>
  <p:tag name="TABLE_ENDDRAG_RECT" val="83*113*839*483"/>
</p:tagLst>
</file>

<file path=ppt/theme/theme1.xml><?xml version="1.0" encoding="utf-8"?>
<a:theme xmlns:a="http://schemas.openxmlformats.org/drawingml/2006/main" name="SEG组PPT主题">
  <a:themeElements>
    <a:clrScheme name="SEG组PPT主题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SEG组PPT主题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SEG组PPT主题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8846</Words>
  <Application>WPS 表格</Application>
  <PresentationFormat>宽屏</PresentationFormat>
  <Paragraphs>514</Paragraphs>
  <Slides>41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77" baseType="lpstr">
      <vt:lpstr>Arial</vt:lpstr>
      <vt:lpstr>宋体</vt:lpstr>
      <vt:lpstr>Wingdings</vt:lpstr>
      <vt:lpstr>FrutigerNext LT Regular</vt:lpstr>
      <vt:lpstr>苹方-简</vt:lpstr>
      <vt:lpstr>MS PGothic</vt:lpstr>
      <vt:lpstr>冬青黑体简体中文</vt:lpstr>
      <vt:lpstr>汉仪书宋二KW</vt:lpstr>
      <vt:lpstr>Times New Roman</vt:lpstr>
      <vt:lpstr>FrutigerNext LT Regular</vt:lpstr>
      <vt:lpstr>Thonburi</vt:lpstr>
      <vt:lpstr>幼圆</vt:lpstr>
      <vt:lpstr>华文宋体</vt:lpstr>
      <vt:lpstr>黑体</vt:lpstr>
      <vt:lpstr>楷体_GB2312</vt:lpstr>
      <vt:lpstr>华文细黑</vt:lpstr>
      <vt:lpstr>Verdana</vt:lpstr>
      <vt:lpstr>华文新魏</vt:lpstr>
      <vt:lpstr>宋体-简</vt:lpstr>
      <vt:lpstr>楷体</vt:lpstr>
      <vt:lpstr>汉仪中黑KW</vt:lpstr>
      <vt:lpstr>微软雅黑</vt:lpstr>
      <vt:lpstr>汉仪旗黑</vt:lpstr>
      <vt:lpstr>Calibri</vt:lpstr>
      <vt:lpstr>汉仪楷体KW</vt:lpstr>
      <vt:lpstr>宋体</vt:lpstr>
      <vt:lpstr>Arial Unicode MS</vt:lpstr>
      <vt:lpstr>汉仪楷体简</vt:lpstr>
      <vt:lpstr>黑体-简</vt:lpstr>
      <vt:lpstr>等线</vt:lpstr>
      <vt:lpstr>汉仪中等线KW</vt:lpstr>
      <vt:lpstr>Cambria Math</vt:lpstr>
      <vt:lpstr>Kingsoft Math</vt:lpstr>
      <vt:lpstr>DejaVu Math TeX Gyre</vt:lpstr>
      <vt:lpstr>Helvetica Neue</vt:lpstr>
      <vt:lpstr>SEG组PPT主题</vt:lpstr>
      <vt:lpstr>PowerPoint 演示文稿</vt:lpstr>
      <vt:lpstr>PowerPoint 演示文稿</vt:lpstr>
      <vt:lpstr>PowerPoint 演示文稿</vt:lpstr>
      <vt:lpstr>模运算</vt:lpstr>
      <vt:lpstr>模运算的性质</vt:lpstr>
      <vt:lpstr>模运算的结果是否正确？如何检验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快速幂</vt:lpstr>
      <vt:lpstr>方法1：分治</vt:lpstr>
      <vt:lpstr>方法2：二进制倍增</vt:lpstr>
      <vt:lpstr>代码</vt:lpstr>
      <vt:lpstr>PowerPoint 演示文稿</vt:lpstr>
      <vt:lpstr>素数</vt:lpstr>
      <vt:lpstr>小素数的判定</vt:lpstr>
      <vt:lpstr>PowerPoint 演示文稿</vt:lpstr>
      <vt:lpstr>素数筛：埃氏筛</vt:lpstr>
      <vt:lpstr>PowerPoint 演示文稿</vt:lpstr>
      <vt:lpstr>PowerPoint 演示文稿</vt:lpstr>
      <vt:lpstr>素数筛：欧拉筛</vt:lpstr>
      <vt:lpstr>PowerPoint 演示文稿</vt:lpstr>
      <vt:lpstr>方法三</vt:lpstr>
      <vt:lpstr>欧拉筛</vt:lpstr>
      <vt:lpstr>质因数分解：试除法</vt:lpstr>
      <vt:lpstr>PowerPoint 演示文稿</vt:lpstr>
      <vt:lpstr>PowerPoint 演示文稿</vt:lpstr>
      <vt:lpstr>GCD、LCM</vt:lpstr>
      <vt:lpstr>库函数__gcd(a, b) </vt:lpstr>
      <vt:lpstr> 手写GCD：辗转相除法</vt:lpstr>
      <vt:lpstr>LCM</vt:lpstr>
      <vt:lpstr> 裴蜀定理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学鹏 张</dc:creator>
  <cp:lastModifiedBy>WPS_1692176029</cp:lastModifiedBy>
  <cp:revision>7</cp:revision>
  <dcterms:created xsi:type="dcterms:W3CDTF">2024-12-24T05:40:06Z</dcterms:created>
  <dcterms:modified xsi:type="dcterms:W3CDTF">2024-12-24T05:40:06Z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54D0D2BBA2DCFC94A1AA6767749AB6B8_42</vt:lpwstr>
  </property>
  <property fmtid="{D5CDD505-2E9C-101B-9397-08002B2CF9AE}" pid="3" name="KSOProductBuildVer">
    <vt:lpwstr>2052-6.5.2.8766</vt:lpwstr>
  </property>
</Properties>
</file>