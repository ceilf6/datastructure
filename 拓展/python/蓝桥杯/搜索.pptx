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tiff" ContentType="image/tiff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1" r:id="rId3"/>
  </p:sldMasterIdLst>
  <p:notesMasterIdLst>
    <p:notesMasterId r:id="rId45"/>
  </p:notesMasterIdLst>
  <p:handoutMasterIdLst>
    <p:handoutMasterId r:id="rId46"/>
  </p:handoutMasterIdLst>
  <p:sldIdLst>
    <p:sldId id="836" r:id="rId4"/>
    <p:sldId id="826" r:id="rId5"/>
    <p:sldId id="828" r:id="rId6"/>
    <p:sldId id="831" r:id="rId7"/>
    <p:sldId id="832" r:id="rId8"/>
    <p:sldId id="825" r:id="rId9"/>
    <p:sldId id="829" r:id="rId10"/>
    <p:sldId id="830" r:id="rId11"/>
    <p:sldId id="837" r:id="rId12"/>
    <p:sldId id="835" r:id="rId13"/>
    <p:sldId id="834" r:id="rId14"/>
    <p:sldId id="838" r:id="rId15"/>
    <p:sldId id="839" r:id="rId16"/>
    <p:sldId id="841" r:id="rId17"/>
    <p:sldId id="842" r:id="rId18"/>
    <p:sldId id="843" r:id="rId19"/>
    <p:sldId id="860" r:id="rId20"/>
    <p:sldId id="861" r:id="rId21"/>
    <p:sldId id="844" r:id="rId22"/>
    <p:sldId id="845" r:id="rId23"/>
    <p:sldId id="846" r:id="rId24"/>
    <p:sldId id="847" r:id="rId25"/>
    <p:sldId id="851" r:id="rId26"/>
    <p:sldId id="852" r:id="rId27"/>
    <p:sldId id="853" r:id="rId28"/>
    <p:sldId id="854" r:id="rId29"/>
    <p:sldId id="855" r:id="rId30"/>
    <p:sldId id="856" r:id="rId31"/>
    <p:sldId id="857" r:id="rId32"/>
    <p:sldId id="858" r:id="rId33"/>
    <p:sldId id="859" r:id="rId34"/>
    <p:sldId id="862" r:id="rId35"/>
    <p:sldId id="863" r:id="rId36"/>
    <p:sldId id="864" r:id="rId37"/>
    <p:sldId id="848" r:id="rId38"/>
    <p:sldId id="849" r:id="rId39"/>
    <p:sldId id="865" r:id="rId40"/>
    <p:sldId id="866" r:id="rId41"/>
    <p:sldId id="867" r:id="rId42"/>
    <p:sldId id="868" r:id="rId43"/>
    <p:sldId id="869" r:id="rId44"/>
  </p:sldIdLst>
  <p:sldSz cx="12192000" cy="6858000"/>
  <p:notesSz cx="9928225" cy="6797675"/>
  <p:custDataLst>
    <p:tags r:id="rId5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5pPr>
    <a:lvl6pPr marL="22860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6pPr>
    <a:lvl7pPr marL="27432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7pPr>
    <a:lvl8pPr marL="32004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8pPr>
    <a:lvl9pPr marL="3657600" algn="l" defTabSz="914400" rtl="0" eaLnBrk="1" latinLnBrk="0" hangingPunct="1">
      <a:defRPr sz="2000" b="1" kern="1200">
        <a:solidFill>
          <a:schemeClr val="bg1"/>
        </a:solidFill>
        <a:latin typeface="FrutigerNext LT Regular"/>
        <a:ea typeface="幼圆" panose="02010509060101010101" pitchFamily="49" charset="-122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7" userDrawn="1">
          <p15:clr>
            <a:srgbClr val="A4A3A4"/>
          </p15:clr>
        </p15:guide>
        <p15:guide id="2" pos="6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3333FF"/>
    <a:srgbClr val="FFFF00"/>
    <a:srgbClr val="CC00CC"/>
    <a:srgbClr val="FF00FF"/>
    <a:srgbClr val="FF99CC"/>
    <a:srgbClr val="993366"/>
    <a:srgbClr val="FF0000"/>
    <a:srgbClr val="CC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4" autoAdjust="0"/>
    <p:restoredTop sz="93850" autoAdjust="0"/>
  </p:normalViewPr>
  <p:slideViewPr>
    <p:cSldViewPr snapToObjects="1" showGuides="1">
      <p:cViewPr varScale="1">
        <p:scale>
          <a:sx n="114" d="100"/>
          <a:sy n="114" d="100"/>
        </p:scale>
        <p:origin x="504" y="-66"/>
      </p:cViewPr>
      <p:guideLst>
        <p:guide orient="horz" pos="717"/>
        <p:guide pos="633"/>
      </p:guideLst>
    </p:cSldViewPr>
  </p:slideViewPr>
  <p:outlineViewPr>
    <p:cViewPr>
      <p:scale>
        <a:sx n="33" d="100"/>
        <a:sy n="33" d="100"/>
      </p:scale>
      <p:origin x="0" y="10445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2" d="100"/>
          <a:sy n="72" d="100"/>
        </p:scale>
        <p:origin x="1464" y="60"/>
      </p:cViewPr>
      <p:guideLst>
        <p:guide orient="horz" pos="2126"/>
        <p:guide pos="3127"/>
      </p:guideLst>
    </p:cSldViewPr>
  </p:notesViewPr>
  <p:gridSpacing cx="152705" cy="1527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15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EE6993DC-483A-45AC-9156-0752343CED43}" type="datetimeFigureOut">
              <a:rPr lang="zh-CN" altLang="en-US"/>
            </a:fld>
            <a:endParaRPr lang="en-US" altLang="zh-CN"/>
          </a:p>
        </p:txBody>
      </p:sp>
      <p:sp>
        <p:nvSpPr>
          <p:cNvPr id="265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63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5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456363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ea typeface="宋体" panose="02010600030101010101" pitchFamily="2" charset="-122"/>
              </a:defRPr>
            </a:lvl1pPr>
          </a:lstStyle>
          <a:p>
            <a:fld id="{D75B2E05-0253-43DA-BFE4-F260377C232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6100" y="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2313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975" y="3228975"/>
            <a:ext cx="7280275" cy="305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95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6100" y="6457950"/>
            <a:ext cx="4302125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fld id="{D7BAAFD8-8AF5-4807-BA38-874513E93B2C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4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8C1D-ED0B-46A0-B654-5C42AE75CA98}" type="datetime1">
              <a:rPr lang="en-US" altLang="zh-CN" smtClean="0"/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C97F9A-45AD-4498-B856-5AF780781397}" type="slidenum">
              <a:rPr lang="zh-CN" altLang="en-US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54542" y="755185"/>
            <a:ext cx="12814300" cy="9572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2A0A0-4373-49D9-BA24-389BB7432E15}" type="datetime1">
              <a:rPr lang="en-US" altLang="zh-CN" smtClean="0"/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B7C6F6D-FFA8-468C-AF6A-CB4C27E2EEF8}" type="slidenum">
              <a:rPr lang="zh-CN" altLang="en-US" smtClean="0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ED250-6496-4FC0-83A4-45E3486A542A}" type="datetime1">
              <a:rPr lang="en-US" altLang="zh-CN" smtClean="0"/>
            </a:fld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9360B5-64CB-46AB-9803-AA3C34914FFA}" type="slidenum">
              <a:rPr lang="zh-CN" altLang="en-US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4418" y="1484313"/>
            <a:ext cx="5325533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3165" y="1484313"/>
            <a:ext cx="5327649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D5490-7D55-471A-81B5-0774564F5794}" type="datetime1">
              <a:rPr lang="en-US" altLang="zh-CN" smtClean="0"/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472664-DEE8-44BA-AEBC-3D1BBFC236F8}" type="slidenum">
              <a:rPr lang="zh-CN" altLang="en-US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3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1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1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E69C6-574A-4198-BB1C-82EEBF2E1801}" type="datetime1">
              <a:rPr lang="en-US" altLang="zh-CN" smtClean="0"/>
            </a:fld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32095A-B3D4-4519-AA8C-1D2FCF3507E2}" type="slidenum">
              <a:rPr lang="zh-CN" altLang="en-US"/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CB864B-4EF4-4434-BB60-762C23849B52}" type="slidenum">
              <a:rPr lang="zh-CN" altLang="en-US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17794D7-36C4-4E93-AE7A-0CAF6AF174FC}" type="slidenum">
              <a:rPr lang="zh-CN" altLang="en-US"/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4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14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E952D-61FE-44C1-96ED-14749303448E}" type="datetime1">
              <a:rPr lang="en-US" altLang="zh-CN" smtClean="0"/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BF02F4-5381-4EAA-94F3-16972E022FEE}" type="slidenum">
              <a:rPr lang="zh-CN" altLang="en-US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FC57A-25E6-407B-AEED-71D456720CA2}" type="datetime1">
              <a:rPr lang="en-US" altLang="zh-CN" smtClean="0"/>
            </a:fld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47EF18-B5BF-468C-8E72-DE6319A52F22}" type="slidenum">
              <a:rPr lang="zh-CN" altLang="en-US"/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8" y="18896"/>
            <a:ext cx="1289099" cy="966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12192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2"/>
          <p:cNvSpPr>
            <a:spLocks noChangeArrowheads="1"/>
          </p:cNvSpPr>
          <p:nvPr userDrawn="1"/>
        </p:nvSpPr>
        <p:spPr bwMode="gray">
          <a:xfrm>
            <a:off x="0" y="2590800"/>
            <a:ext cx="12192000" cy="1066800"/>
          </a:xfrm>
          <a:prstGeom prst="rect">
            <a:avLst/>
          </a:prstGeom>
          <a:gradFill rotWithShape="1">
            <a:gsLst>
              <a:gs pos="14000">
                <a:srgbClr val="3191D3"/>
              </a:gs>
              <a:gs pos="94000">
                <a:srgbClr val="0099CC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Line 26"/>
          <p:cNvSpPr>
            <a:spLocks noChangeShapeType="1"/>
          </p:cNvSpPr>
          <p:nvPr userDrawn="1"/>
        </p:nvSpPr>
        <p:spPr bwMode="auto">
          <a:xfrm>
            <a:off x="0" y="36576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27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Rectangle 29"/>
          <p:cNvSpPr>
            <a:spLocks noChangeArrowheads="1"/>
          </p:cNvSpPr>
          <p:nvPr userDrawn="1"/>
        </p:nvSpPr>
        <p:spPr bwMode="gray">
          <a:xfrm>
            <a:off x="1" y="0"/>
            <a:ext cx="12189884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9000"/>
                </a:srgbClr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12192000" cy="1143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Line 34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noFill/>
          <a:ln>
            <a:miter lim="800000"/>
          </a:ln>
        </p:spPr>
        <p:txBody>
          <a:bodyPr/>
          <a:lstStyle>
            <a:lvl1pPr>
              <a:defRPr/>
            </a:lvl1pPr>
          </a:lstStyle>
          <a:p>
            <a:fld id="{A824FA6D-2D6D-4047-9193-6333380C8E92}" type="datetime1">
              <a:rPr lang="en-US" altLang="zh-CN" smtClean="0"/>
            </a:fld>
            <a:endParaRPr lang="en-US" altLang="zh-CN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81001"/>
            <a:ext cx="89408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508000" y="1066801"/>
            <a:ext cx="10972800" cy="5400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1480800" y="65532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B3C7F7FE-F591-4024-B354-EAC5CFD677D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81001"/>
            <a:ext cx="8940800" cy="563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08000" y="1066801"/>
            <a:ext cx="10972800" cy="5400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01600" y="6553201"/>
            <a:ext cx="2844800" cy="244475"/>
          </a:xfrm>
        </p:spPr>
        <p:txBody>
          <a:bodyPr/>
          <a:lstStyle>
            <a:lvl1pPr>
              <a:defRPr/>
            </a:lvl1pPr>
          </a:lstStyle>
          <a:p>
            <a:fld id="{2332288E-54C1-4959-8B17-BE5786665258}" type="datetime1">
              <a:rPr lang="en-US" altLang="zh-CN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11480800" y="65532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D19B6394-FEB0-405D-BB54-3675ABA4161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97E5A3-57E4-43F7-946A-5C66CF70BF06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7F9A-45AD-4498-B856-5AF78078139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1B025C-90F1-4033-8D58-9A7D30B87B80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6F6D-FFA8-468C-AF6A-CB4C27E2EEF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CFEE73-20F7-474A-B173-6307B936A446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360B5-64CB-46AB-9803-AA3C34914FF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44B93E-9018-43F3-8F45-02E6CCE6BD59}" type="datetime1">
              <a:rPr lang="en-US" altLang="zh-CN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72664-DEE8-44BA-AEBC-3D1BBFC236F8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030875-4EDC-49FE-8485-0A8E7292A3BE}" type="datetime1">
              <a:rPr lang="en-US" altLang="zh-CN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095A-B3D4-4519-AA8C-1D2FCF3507E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ECC3-19A3-4181-A332-9AEEBE1C7265}" type="datetime1">
              <a:rPr lang="en-US" altLang="zh-CN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864B-4EF4-4434-BB60-762C23849B5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073A-8F40-4D0C-A35F-C94788AEE746}" type="datetime1">
              <a:rPr lang="en-US" altLang="zh-CN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7395" y="6331565"/>
            <a:ext cx="2743200" cy="365125"/>
          </a:xfrm>
        </p:spPr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17794D7-36C4-4E93-AE7A-0CAF6AF174F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2A4D5A-E928-4439-A3EE-2D2F07FF6B2B}" type="datetime1">
              <a:rPr lang="en-US" altLang="zh-CN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F02F4-5381-4EAA-94F3-16972E022FE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C22A9A-31D9-4B6A-AF9C-57334A67958E}" type="datetime1">
              <a:rPr lang="en-US" altLang="zh-CN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EF18-B5BF-468C-8E72-DE6319A52F2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B1ED25-F041-4272-ACD5-16F44E2DA613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9495-4C70-4DA1-B4FD-AE3C2F6741A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3FB983-6C20-4E69-A150-2562B2F4CD5F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9495-4C70-4DA1-B4FD-AE3C2F6741A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12192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2"/>
          <p:cNvSpPr>
            <a:spLocks noChangeArrowheads="1"/>
          </p:cNvSpPr>
          <p:nvPr userDrawn="1"/>
        </p:nvSpPr>
        <p:spPr bwMode="gray">
          <a:xfrm>
            <a:off x="0" y="2590800"/>
            <a:ext cx="12192000" cy="1066800"/>
          </a:xfrm>
          <a:prstGeom prst="rect">
            <a:avLst/>
          </a:prstGeom>
          <a:gradFill rotWithShape="1">
            <a:gsLst>
              <a:gs pos="14000">
                <a:srgbClr val="3191D3"/>
              </a:gs>
              <a:gs pos="94000">
                <a:srgbClr val="0099CC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Line 26"/>
          <p:cNvSpPr>
            <a:spLocks noChangeShapeType="1"/>
          </p:cNvSpPr>
          <p:nvPr userDrawn="1"/>
        </p:nvSpPr>
        <p:spPr bwMode="auto">
          <a:xfrm>
            <a:off x="0" y="36576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27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Rectangle 29"/>
          <p:cNvSpPr>
            <a:spLocks noChangeArrowheads="1"/>
          </p:cNvSpPr>
          <p:nvPr userDrawn="1"/>
        </p:nvSpPr>
        <p:spPr bwMode="gray">
          <a:xfrm>
            <a:off x="1" y="0"/>
            <a:ext cx="12189884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9000"/>
                </a:srgbClr>
              </a:gs>
              <a:gs pos="100000">
                <a:srgbClr val="81CFEB">
                  <a:gamma/>
                  <a:tint val="0"/>
                  <a:invGamma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12192000" cy="1143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Line 34"/>
          <p:cNvSpPr>
            <a:spLocks noChangeShapeType="1"/>
          </p:cNvSpPr>
          <p:nvPr userDrawn="1"/>
        </p:nvSpPr>
        <p:spPr bwMode="auto">
          <a:xfrm>
            <a:off x="0" y="2590800"/>
            <a:ext cx="12192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noFill/>
          <a:ln>
            <a:miter lim="800000"/>
          </a:ln>
        </p:spPr>
        <p:txBody>
          <a:bodyPr/>
          <a:lstStyle>
            <a:lvl1pPr>
              <a:defRPr/>
            </a:lvl1pPr>
          </a:lstStyle>
          <a:p>
            <a:fld id="{8F830E65-EA6A-4199-9A29-CF6CA8B1E26B}" type="datetime1">
              <a:rPr lang="en-US" altLang="zh-CN" smtClean="0"/>
            </a:fld>
            <a:endParaRPr lang="en-US" altLang="zh-CN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920000" y="179883"/>
            <a:ext cx="9484597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72000" bIns="72000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 algn="l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 bwMode="auto">
          <a:xfrm>
            <a:off x="1920000" y="792126"/>
            <a:ext cx="9288000" cy="0"/>
          </a:xfrm>
          <a:prstGeom prst="line">
            <a:avLst/>
          </a:prstGeom>
          <a:solidFill>
            <a:srgbClr val="EAEAEA"/>
          </a:solidFill>
          <a:ln w="31750" cap="flat" cmpd="sng" algn="ctr">
            <a:solidFill>
              <a:srgbClr val="3078B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cxnSp>
      <p:sp>
        <p:nvSpPr>
          <p:cNvPr id="4" name="矩形 3"/>
          <p:cNvSpPr/>
          <p:nvPr userDrawn="1"/>
        </p:nvSpPr>
        <p:spPr>
          <a:xfrm>
            <a:off x="1200" y="743215"/>
            <a:ext cx="1908000" cy="108000"/>
          </a:xfrm>
          <a:prstGeom prst="rect">
            <a:avLst/>
          </a:prstGeom>
          <a:solidFill>
            <a:srgbClr val="3078B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4.jpeg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" y="47626"/>
            <a:ext cx="12814300" cy="957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484313"/>
            <a:ext cx="10856383" cy="4392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4917" y="6284913"/>
            <a:ext cx="172508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1596D3C0-2AFD-48F1-A71C-B351F7B1D7FD}" type="datetime1">
              <a:rPr lang="en-US" altLang="zh-CN" smtClean="0"/>
            </a:fld>
            <a:endParaRPr lang="zh-CN" altLang="en-US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68000" y="6215063"/>
            <a:ext cx="1244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8AF99495-4C70-4DA1-B4FD-AE3C2F6741A9}" type="slidenum">
              <a:rPr lang="zh-CN" altLang="en-US"/>
            </a:fld>
            <a:endParaRPr lang="en-US" altLang="zh-CN"/>
          </a:p>
        </p:txBody>
      </p:sp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0" y="985838"/>
            <a:ext cx="2844800" cy="1016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1930400" y="985838"/>
            <a:ext cx="9652000" cy="101600"/>
          </a:xfrm>
          <a:prstGeom prst="rect">
            <a:avLst/>
          </a:prstGeom>
          <a:gradFill rotWithShape="1">
            <a:gsLst>
              <a:gs pos="0">
                <a:srgbClr val="006699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02200" y="4803775"/>
            <a:ext cx="701040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8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62" name="Rectangle 18"/>
          <p:cNvSpPr>
            <a:spLocks noChangeArrowheads="1"/>
          </p:cNvSpPr>
          <p:nvPr userDrawn="1"/>
        </p:nvSpPr>
        <p:spPr bwMode="auto">
          <a:xfrm>
            <a:off x="190501" y="6437313"/>
            <a:ext cx="12001500" cy="3048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FrutigerNext LT Regular"/>
                <a:ea typeface="幼圆" panose="02010509060101010101" pitchFamily="49" charset="-122"/>
              </a:defRPr>
            </a:lvl9pPr>
          </a:lstStyle>
          <a:p>
            <a:pPr eaLnBrk="1" hangingPunct="1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40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                                     </a:t>
            </a:r>
            <a:fld id="{B50DA601-DC5A-4609-98FF-92E0F4CCEA4B}" type="slidenum">
              <a:rPr lang="zh-CN" altLang="en-US" sz="140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lang="en-US" altLang="zh-CN" sz="1400">
              <a:solidFill>
                <a:srgbClr val="FFCC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50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>
          <a:solidFill>
            <a:srgbClr val="0066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889000" indent="-440055" algn="l" rtl="0" eaLnBrk="0" fontAlgn="base" hangingPunct="0">
        <a:spcBef>
          <a:spcPct val="20000"/>
        </a:spcBef>
        <a:spcAft>
          <a:spcPct val="0"/>
        </a:spcAft>
        <a:buClr>
          <a:srgbClr val="669900"/>
        </a:buClr>
        <a:buFont typeface="楷体_GB2312" panose="02010609030101010101" pitchFamily="49" charset="-122"/>
        <a:buChar char="o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华文细黑" panose="02010600040101010101" pitchFamily="2" charset="-122"/>
        </a:defRPr>
      </a:lvl2pPr>
      <a:lvl3pPr marL="1294130" indent="-403225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81480" indent="-3860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rgbClr val="0099CC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FFB242F-4ABF-4555-8697-315988818C94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99495-4C70-4DA1-B4FD-AE3C2F6741A9}" type="slidenum">
              <a:rPr lang="zh-CN" altLang="en-US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4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5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661053" y="4442666"/>
            <a:ext cx="6869894" cy="478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endParaRPr lang="en-US" altLang="zh-CN" sz="3600" b="0" dirty="0" smtClean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6.1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搜索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</a:t>
            </a:r>
            <a:r>
              <a:rPr lang="zh-CN" altLang="en-US" sz="44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10041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771611" y="830139"/>
            <a:ext cx="847076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4400" dirty="0" smtClean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搜索算法简介</a:t>
            </a:r>
            <a:endParaRPr lang="zh-CN" altLang="en-US" sz="4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9" name="内容占位符 4"/>
          <p:cNvSpPr txBox="1"/>
          <p:nvPr/>
        </p:nvSpPr>
        <p:spPr>
          <a:xfrm>
            <a:off x="1362145" y="1942003"/>
            <a:ext cx="9773120" cy="34721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搜索：“暴力法”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算法思想的具体实现。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搜索：“通用”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的方法。一个问题，如果比较难，那么先尝试一下搜索，或许能启发出更好的算法。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遇到不会的难题，用搜索提交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，也许能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得到一些分数。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695"/>
    </mc:Choice>
    <mc:Fallback>
      <p:transition spd="slow" advTm="4869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搜索的基本思路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776736"/>
            <a:ext cx="9925825" cy="436919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Breadth-First Search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，宽度优先搜索，或称为广度优先搜索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Depth-First Search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，深度优先搜索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4389951"/>
            <a:ext cx="3804840" cy="177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663"/>
    </mc:Choice>
    <mc:Fallback>
      <p:transition spd="slow" advTm="18663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：一只老鼠走迷宫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32170" y="1738630"/>
            <a:ext cx="10383940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只有一只老鼠；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在每个路口，都选择先走右边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（先走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左边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也行），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能走多远就走多远；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碰壁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无法再继续往前走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，往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回退一步，这一次走左边，然后继续往下走；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用这个办法，能走遍所有的路，而且不会重复（回退不算重复走）。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一路到底、逐层回退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921"/>
    </mc:Choice>
    <mc:Fallback>
      <p:transition spd="slow" advTm="5992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访问示例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564776"/>
            <a:ext cx="9925825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设先访问左节点，后访问右节点；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访问顺序是：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{E B A D C G F I H}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3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适合用于求解</a:t>
            </a:r>
            <a:r>
              <a:rPr lang="zh-CN" altLang="en-US" sz="3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“先后问题”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2" descr="https://img-blog.csdnimg.cn/20200302120105623.jpg?x-oss-process=image/watermark,type_ZmFuZ3poZW5naGVpdGk,shadow_10,text_aHR0cHM6Ly9ibG9nLmNzZG4ubmV0L3dlaXhpbl80MzkxNDU5Mw==,size_16,color_FFFFFF,t_7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033" y="2883841"/>
            <a:ext cx="3506106" cy="241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5332320" y="2765564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39816" y="322722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07736" y="385928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81034" y="3880506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28467" y="460327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83627" y="3227228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6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31593" y="4359104"/>
            <a:ext cx="281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7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76279" y="4141607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8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5924" y="478386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9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888"/>
    </mc:Choice>
    <mc:Fallback>
      <p:transition spd="slow" advTm="588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210" y="-87426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3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3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代码框架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259863"/>
            <a:ext cx="10689350" cy="45811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答案，用全局变量表示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层数，其他参数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){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if 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出局判断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){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到达最底层，或者满足条件退出 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更新答案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答案一般用全局变量表示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return;  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返回到上一层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剪枝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      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在进一步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之前剪枝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for 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枚举下一层可能的情况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对每一个情况继续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DFS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 (used[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 == 0) {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如果状态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没有用过，就可以进入下一层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used[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= 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 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标记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表示已经用过，在更底层不能再使用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，其他参数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下一层 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used[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= 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恢复状态，回溯时不影响上一层对这个状态的使用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return;     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返回到上一层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2431080" y="5841013"/>
            <a:ext cx="4428445" cy="853357"/>
          </a:xfrm>
          <a:prstGeom prst="wedgeRectCallout">
            <a:avLst>
              <a:gd name="adj1" fmla="val -18798"/>
              <a:gd name="adj2" fmla="val -1472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0" dirty="0" smtClean="0">
                <a:solidFill>
                  <a:srgbClr val="FFFF00"/>
                </a:solidFill>
              </a:rPr>
              <a:t>used[</a:t>
            </a:r>
            <a:r>
              <a:rPr lang="en-US" altLang="zh-CN" b="0" dirty="0" err="1" smtClean="0">
                <a:solidFill>
                  <a:srgbClr val="FFFF00"/>
                </a:solidFill>
              </a:rPr>
              <a:t>i</a:t>
            </a:r>
            <a:r>
              <a:rPr lang="en-US" altLang="zh-CN" b="0" dirty="0">
                <a:solidFill>
                  <a:srgbClr val="FFFF00"/>
                </a:solidFill>
              </a:rPr>
              <a:t>] = </a:t>
            </a:r>
            <a:r>
              <a:rPr lang="en-US" altLang="zh-CN" b="0" dirty="0" smtClean="0">
                <a:solidFill>
                  <a:srgbClr val="FFFF00"/>
                </a:solidFill>
              </a:rPr>
              <a:t>1</a:t>
            </a:r>
            <a:r>
              <a:rPr lang="zh-CN" altLang="en-US" b="0" dirty="0">
                <a:solidFill>
                  <a:srgbClr val="FFFF00"/>
                </a:solidFill>
              </a:rPr>
              <a:t> </a:t>
            </a:r>
            <a:r>
              <a:rPr lang="zh-CN" altLang="en-US" b="0" dirty="0" smtClean="0">
                <a:solidFill>
                  <a:srgbClr val="FFFF00"/>
                </a:solidFill>
              </a:rPr>
              <a:t> “保存现场”</a:t>
            </a:r>
            <a:r>
              <a:rPr lang="zh-CN" altLang="en-US" b="0" dirty="0">
                <a:solidFill>
                  <a:srgbClr val="FFFF00"/>
                </a:solidFill>
              </a:rPr>
              <a:t>，或</a:t>
            </a:r>
            <a:r>
              <a:rPr lang="zh-CN" altLang="en-US" b="0" dirty="0" smtClean="0">
                <a:solidFill>
                  <a:srgbClr val="FFFF00"/>
                </a:solidFill>
              </a:rPr>
              <a:t>“占有现场”</a:t>
            </a:r>
            <a:endParaRPr lang="zh-CN" altLang="en-US" b="0" dirty="0">
              <a:solidFill>
                <a:srgbClr val="FFFF00"/>
              </a:solidFill>
            </a:endParaRPr>
          </a:p>
          <a:p>
            <a:r>
              <a:rPr lang="en-US" altLang="zh-CN" b="0" dirty="0" smtClean="0">
                <a:solidFill>
                  <a:srgbClr val="FFFF00"/>
                </a:solidFill>
              </a:rPr>
              <a:t>used[</a:t>
            </a:r>
            <a:r>
              <a:rPr lang="en-US" altLang="zh-CN" b="0" dirty="0" err="1" smtClean="0">
                <a:solidFill>
                  <a:srgbClr val="FFFF00"/>
                </a:solidFill>
              </a:rPr>
              <a:t>i</a:t>
            </a:r>
            <a:r>
              <a:rPr lang="en-US" altLang="zh-CN" b="0" dirty="0">
                <a:solidFill>
                  <a:srgbClr val="FFFF00"/>
                </a:solidFill>
              </a:rPr>
              <a:t>] = </a:t>
            </a:r>
            <a:r>
              <a:rPr lang="en-US" altLang="zh-CN" b="0" dirty="0" smtClean="0">
                <a:solidFill>
                  <a:srgbClr val="FFFF00"/>
                </a:solidFill>
              </a:rPr>
              <a:t>0  </a:t>
            </a:r>
            <a:r>
              <a:rPr lang="zh-CN" altLang="en-US" b="0" dirty="0" smtClean="0">
                <a:solidFill>
                  <a:srgbClr val="FFFF00"/>
                </a:solidFill>
              </a:rPr>
              <a:t>“恢复现场”</a:t>
            </a:r>
            <a:r>
              <a:rPr lang="zh-CN" altLang="en-US" b="0" dirty="0">
                <a:solidFill>
                  <a:srgbClr val="FFFF00"/>
                </a:solidFill>
              </a:rPr>
              <a:t>，或</a:t>
            </a:r>
            <a:r>
              <a:rPr lang="zh-CN" altLang="en-US" b="0" dirty="0" smtClean="0">
                <a:solidFill>
                  <a:srgbClr val="FFFF00"/>
                </a:solidFill>
              </a:rPr>
              <a:t>“释放现场”</a:t>
            </a:r>
            <a:endParaRPr lang="zh-CN" altLang="en-US" b="0" dirty="0">
              <a:solidFill>
                <a:srgbClr val="FFFF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114"/>
    </mc:Choice>
    <mc:Fallback>
      <p:transition spd="slow" advTm="1181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：一群老鼠走迷宫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564776"/>
            <a:ext cx="9925825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假设老鼠无限多；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在每个路口，都派出部分老鼠探索所有没走过的路；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走某条路的老鼠，如果碰壁无法前行，就停下；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如果到达的路口已经有别的老鼠探索过了，也停下；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所有的道路都会走到，而且不会重复。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全面扩散、逐层递进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805" y="3734410"/>
            <a:ext cx="2686227" cy="22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960"/>
    </mc:Choice>
    <mc:Fallback>
      <p:transition spd="slow" advTm="5496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访问示例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56735" y="1561102"/>
            <a:ext cx="10689350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访问顺序：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{E B G A D F I C H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即“第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BG–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ADFI–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适合用于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求解“最短路问题”：先扩散到的节点，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离起点更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近。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https://img-blog.csdnimg.cn/20200302120105623.jpg?x-oss-process=image/watermark,type_ZmFuZ3poZW5naGVpdGk,shadow_10,text_aHR0cHM6Ly9ibG9nLmNzZG4ubmV0L3dlaXhpbl80MzkxNDU5Mw==,size_16,color_FFFFFF,t_7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540" y="2890339"/>
            <a:ext cx="3317634" cy="228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771"/>
    </mc:Choice>
    <mc:Fallback>
      <p:transition spd="slow" advTm="4577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210" y="-87426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3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3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代码框架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160905" y="985520"/>
            <a:ext cx="9745345" cy="571944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             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答案，用全局变量表示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queue&lt;node&gt; q;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q.push(node1);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while(!q.empty()){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取出队列中的第一个元素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node x=q.front();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将第一个元素出队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q.pop();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扩展当前节点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枚举下一层的所有情况）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将下一层的节点入队，以便进行后续扩展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q.push(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一种情况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若当前节点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没有下一层，说明到达叶子节点，判断该节点是否满足题目要求，若满足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ans++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293105" y="1291037"/>
            <a:ext cx="2344349" cy="458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40000"/>
              </a:lnSpc>
              <a:buNone/>
            </a:pPr>
            <a:r>
              <a:rPr lang="zh-CN" altLang="en-US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endParaRPr lang="en-US" altLang="zh-CN" sz="24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队列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114"/>
    </mc:Choice>
    <mc:Fallback>
      <p:transition spd="slow" advTm="118114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661053" y="4442666"/>
            <a:ext cx="6869894" cy="478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endParaRPr lang="en-US" altLang="zh-CN" sz="3600" b="0" dirty="0" smtClean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6.2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DFS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常见应用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</a:t>
            </a:r>
            <a:r>
              <a:rPr lang="zh-CN" altLang="en-US" sz="44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10041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382668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4000" dirty="0" smtClean="0"/>
              <a:t>DFS</a:t>
            </a:r>
            <a:r>
              <a:rPr lang="zh-CN" altLang="en-US" sz="4000" dirty="0" smtClean="0"/>
              <a:t>与排列组合</a:t>
            </a:r>
            <a:endParaRPr lang="zh-CN" altLang="en-US" sz="40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904030" y="2093257"/>
            <a:ext cx="10378450" cy="13357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排列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组合用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实现，不仅代码易写，而且应用灵活。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3"/>
    </mc:Choice>
    <mc:Fallback>
      <p:transition spd="slow" advTm="35113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3958130" y="0"/>
            <a:ext cx="8233869" cy="68580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#include&lt;bits/stdc++.h&gt;</a:t>
            </a:r>
            <a:endParaRPr lang="pt-BR" altLang="zh-CN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600" b="0" dirty="0"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lang="pt-BR" altLang="zh-CN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a[20]={1,2,3,4,5,6,7,8,9,10,11,12,13};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bool vis[20];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记录第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个数是否用过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b[20];   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生成的一个全排列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void dfs(int s,int t){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if(s==t) </a:t>
            </a:r>
            <a:r>
              <a:rPr lang="pt-BR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{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递归结束，产生一个全排列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for(int i=0; i&lt;t; ++i)  </a:t>
            </a:r>
            <a:r>
              <a:rPr lang="pt-BR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&lt;&lt;b[i]&lt;&lt;" </a:t>
            </a:r>
            <a:r>
              <a:rPr lang="pt-BR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";//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输出一个排列            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pt-BR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b="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pt-BR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return;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for(int i=0;i&lt;t;i++)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if(!vis[i]){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pt-BR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vis[i]=true;</a:t>
            </a:r>
            <a:endParaRPr lang="pt-BR" altLang="zh-CN" sz="20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b[s]=a[i];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dfs(s+1,t);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pt-BR" altLang="zh-CN" sz="20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vis[i]=false;</a:t>
            </a:r>
            <a:endParaRPr lang="pt-BR" altLang="zh-CN" sz="20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pt-BR" altLang="zh-CN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int main(){</a:t>
            </a:r>
            <a:endParaRPr lang="pt-BR" altLang="zh-CN" sz="1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int n=3</a:t>
            </a:r>
            <a:r>
              <a:rPr lang="pt-BR" altLang="zh-CN" sz="20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  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dfs(0,n);     //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前</a:t>
            </a:r>
            <a:r>
              <a:rPr lang="pt-BR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个数的全排列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lang="pt-BR" altLang="zh-CN" sz="1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pt-BR" altLang="zh-CN" sz="1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4"/>
          <p:cNvSpPr txBox="1"/>
          <p:nvPr/>
        </p:nvSpPr>
        <p:spPr>
          <a:xfrm>
            <a:off x="561634" y="1291130"/>
            <a:ext cx="2748689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从小到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大打印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个数的全排列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个数的全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440" y="3581705"/>
            <a:ext cx="1361097" cy="2866993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98620" y="374900"/>
            <a:ext cx="2290575" cy="7337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 smtClean="0"/>
              <a:t>打印排列</a:t>
            </a:r>
            <a:endParaRPr lang="zh-CN" altLang="en-US" sz="360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0564"/>
    </mc:Choice>
    <mc:Fallback>
      <p:transition spd="slow" advTm="2105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6" name="内容占位符 4"/>
          <p:cNvSpPr txBox="1"/>
          <p:nvPr/>
        </p:nvSpPr>
        <p:spPr>
          <a:xfrm>
            <a:off x="140505" y="374899"/>
            <a:ext cx="4618136" cy="59554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，第一次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中标注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，赋值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b[1]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b[1]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b[1]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。对应图中最左边三条线上标注的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vis[1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a[1]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已经放在排列中，后续不能再用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，第二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中标注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循环。当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，判断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vis[1]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已经被使用，所以不再继续，用图中最上面的虚线表示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不再继续。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可以继续往后执行，例如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时，先赋值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b[2] =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；然后进入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，并赋值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b[3] = 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，判断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已经得到全排列，输出第一个全排列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{1, 2, 3}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。图中相关的是标注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027065" y="8330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4568950" y="222195"/>
          <a:ext cx="6871725" cy="565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1" imgW="3606800" imgH="3192145" progId="Visio.Drawing.15">
                  <p:embed/>
                </p:oleObj>
              </mc:Choice>
              <mc:Fallback>
                <p:oleObj name="Visio" r:id="rId1" imgW="3606800" imgH="3192145" progId="Visio.Drawing.15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950" y="222195"/>
                        <a:ext cx="6871725" cy="56500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0564"/>
    </mc:Choice>
    <mc:Fallback>
      <p:transition spd="slow" advTm="210564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4000" dirty="0" smtClean="0"/>
              <a:t>DFS</a:t>
            </a:r>
            <a:r>
              <a:rPr lang="zh-CN" altLang="en-US" sz="4000" dirty="0" smtClean="0"/>
              <a:t>与连通性</a:t>
            </a:r>
            <a:endParaRPr lang="zh-CN" altLang="en-US" sz="40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1362145" y="1564776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连通性问题，计算步骤：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遍历一个连通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块；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再遍历下一个连通块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遍历完所有连通块，统计有多少个连通块。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261"/>
    </mc:Choice>
    <mc:Fallback>
      <p:transition spd="slow" advTm="3126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401182"/>
            <a:ext cx="1024558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例题：全球变暖  </a:t>
            </a:r>
            <a:r>
              <a:rPr lang="en-US" altLang="zh-CN" sz="2000" dirty="0"/>
              <a:t>https://www.lanqiao.cn/problems/178/learning/</a:t>
            </a:r>
            <a:endParaRPr lang="zh-CN" altLang="en-US" sz="20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 useBgFill="1">
        <p:nvSpPr>
          <p:cNvPr id="5" name="内容占位符 4"/>
          <p:cNvSpPr txBox="1"/>
          <p:nvPr/>
        </p:nvSpPr>
        <p:spPr>
          <a:xfrm>
            <a:off x="751325" y="1564776"/>
            <a:ext cx="870418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有一张某海域 </a:t>
            </a:r>
            <a:r>
              <a:rPr lang="en-US" altLang="zh-CN" sz="20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NxN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像素的照片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“.”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海洋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“#”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陆地，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如图所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上下左右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四个方向上连在一起的一片陆地组成一座岛屿。例如上图有 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座岛屿。由于全球变暖导致了海面上升</a:t>
            </a:r>
            <a:r>
              <a:rPr lang="zh-CN" altLang="en-US" sz="20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，未来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几十年，岛屿边缘一个像素的范围会被海水淹没。具体来说如果一块陆地像素与海洋相邻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上下左右四个相邻像素中有海洋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，它就会被淹没。例如上图中的海域未来会变成如下样子：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请你计算：照片中有多少岛屿会被完全淹没。照片保证第 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行、第 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列、第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行、第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列的像素都是海洋。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第一行包含一个整数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N(1≤N≤1000)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。以下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列代表一张海域照片。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输出描述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输出一个整数表示答案。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 descr="7b0a202020202262756c6c6574223a20227b5c2263617465676f727949645c223a31303030352c5c2274656d706c61746549645c223a32303233313332387d220a7d0a"/>
          <p:cNvSpPr txBox="1"/>
          <p:nvPr/>
        </p:nvSpPr>
        <p:spPr>
          <a:xfrm>
            <a:off x="9768660" y="1299076"/>
            <a:ext cx="13743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....##.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..####.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...###.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US" altLang="zh-CN" b="0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465"/>
    </mc:Choice>
    <mc:Fallback>
      <p:transition spd="slow" advTm="884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669635" y="1596540"/>
            <a:ext cx="802235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什么岛屿不会被完全淹没？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若岛中有个陆地（称为高地），它周围都是陆地，那么这个岛不会被完全淹没。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搜出有多少个岛（连通块），检查这个岛有没有高地，统计那些没有高地的岛（连通块）的数量，就是答案。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计算复杂度：每个像素点只用搜一次且必须至少搜一次，共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的复杂度是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，不可能更好了。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 descr="7b0a202020202262756c6c6574223a20227b5c2263617465676f727949645c223a31303030352c5c2274656d706c61746549645c223a32303233313332387d220a7d0a"/>
          <p:cNvSpPr txBox="1"/>
          <p:nvPr/>
        </p:nvSpPr>
        <p:spPr>
          <a:xfrm>
            <a:off x="9608215" y="1889482"/>
            <a:ext cx="23479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....##.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..####.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...###.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9862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 smtClean="0"/>
              <a:t>连通性判断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191"/>
    </mc:Choice>
    <mc:Fallback>
      <p:transition spd="slow" advTm="66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59862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3600" dirty="0"/>
              <a:t>DFS</a:t>
            </a:r>
            <a:r>
              <a:rPr lang="zh-CN" altLang="en-US" sz="3600" dirty="0"/>
              <a:t>判断连通性的步骤</a:t>
            </a:r>
            <a:endParaRPr lang="zh-CN" altLang="en-US" sz="36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669635" y="1750415"/>
            <a:ext cx="786964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从图上任意一个点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开始遍历，标记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已经搜过。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的所有符合连通条件的邻居点。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递归结束，找到了与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连通的所有点，这是一个连通块。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连通的、其他没有访问到的点，继续用上述步骤处理，找到所有的连通块。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 descr="7b0a202020202262756c6c6574223a20227b5c2263617465676f727949645c223a31303030352c5c2274656d706c61746549645c223a32303233313332387d220a7d0a"/>
          <p:cNvSpPr txBox="1"/>
          <p:nvPr/>
        </p:nvSpPr>
        <p:spPr>
          <a:xfrm>
            <a:off x="9608215" y="1889482"/>
            <a:ext cx="23479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.##....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....##.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..####.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...###.</a:t>
            </a:r>
            <a:endParaRPr lang="en-US" altLang="zh-CN"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3200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.......</a:t>
            </a:r>
            <a:endParaRPr sz="3200" b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935"/>
    </mc:Choice>
    <mc:Fallback>
      <p:transition spd="slow" advTm="569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代码</a:t>
            </a:r>
            <a:endParaRPr lang="zh-CN" altLang="en-US" sz="32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0355" y="-129540"/>
            <a:ext cx="6614160" cy="7117080"/>
          </a:xfrm>
          <a:prstGeom prst="rect">
            <a:avLst/>
          </a:prstGeom>
        </p:spPr>
      </p:pic>
      <p:sp>
        <p:nvSpPr>
          <p:cNvPr id="21" name="内容占位符 2"/>
          <p:cNvSpPr txBox="1"/>
          <p:nvPr/>
        </p:nvSpPr>
        <p:spPr>
          <a:xfrm>
            <a:off x="445790" y="1331310"/>
            <a:ext cx="2751075" cy="41464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表示有几个联通块。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flag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用来判断联通块是否会消失</a:t>
            </a:r>
            <a:endPara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dx[]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定义下一步的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个方向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vis[][]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记录当前点是否被访问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567"/>
    </mc:Choice>
    <mc:Fallback>
      <p:transition spd="slow" advTm="136567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6.3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DFS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剪枝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</a:t>
            </a:r>
            <a:r>
              <a:rPr lang="zh-CN" altLang="en-US" sz="44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4955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100199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3600" dirty="0" smtClean="0"/>
              <a:t>DFS</a:t>
            </a:r>
            <a:r>
              <a:rPr lang="zh-CN" altLang="en-US" sz="3600" dirty="0" smtClean="0"/>
              <a:t>剪枝</a:t>
            </a:r>
            <a:endParaRPr lang="zh-CN" altLang="en-US" sz="36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461396" y="1414752"/>
            <a:ext cx="1130017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可行性剪枝：对当前状态进行检查，如果当前条件不合法就不再继续，直接返回。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搜索顺序剪枝：搜索树有多个层次和分支，不同的搜索顺序产生不同的搜索树形态。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最优性剪枝：在最优化问题的搜索过程中，如果当前花费的代价已超过前面搜索到的最优解，那么本次搜索已经没有继续进行下去的意义。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排除等效冗余：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搜索的不同分支，最后的结果一样，那么只需搜一个分支。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记忆化搜索：在递归的过程中，有许多分支被反复计算，会大大降低算法的执行效率。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172"/>
    </mc:Choice>
    <mc:Fallback>
      <p:transition spd="slow" advTm="1771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809336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数的划分 </a:t>
            </a:r>
            <a:r>
              <a:rPr lang="en-US" altLang="zh-CN" sz="2000" dirty="0"/>
              <a:t>https://www.luogu.com.cn/problem/P1025</a:t>
            </a:r>
            <a:endParaRPr lang="zh-CN" altLang="en-US" sz="12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904031" y="1750906"/>
            <a:ext cx="1038394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问题描述：将整数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份，且每份不能为空，任意两个方案不相同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不考虑顺序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 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，下面三种分法被认为是相同的。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{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 1, 5}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{1, 5, 1}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{5, 1, 1}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问有多少种不同的分法。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669"/>
    </mc:Choice>
    <mc:Fallback>
      <p:transition spd="slow" advTm="82669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 smtClean="0"/>
              <a:t>题解</a:t>
            </a:r>
            <a:endParaRPr lang="zh-CN" altLang="en-US" sz="32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735700" y="985719"/>
            <a:ext cx="10552270" cy="53446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求解整数划分的思路，就是模拟划分的过程。由于题目不用考虑划分数的大小顺序，为了简化划分过程，让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份数从小到大进行。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第一个数肯定是最小的数字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第二个数大于等于第一个数，可选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，最大不能超过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(n-1)/(k-1)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。设第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第三个数大于等于第二个数，可选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，最大不能超过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(n-1-x)/(k-2)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。这个最大值的限制就是可行性剪枝。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继续以上划分过程，当划分了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个数，且它们的和为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时，就是一个合法的划分。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741"/>
    </mc:Choice>
    <mc:Fallback>
      <p:transition spd="slow" advTm="1617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240" y="476250"/>
            <a:ext cx="10375900" cy="886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/>
              <a:t>练习题：选数</a:t>
            </a:r>
            <a:r>
              <a:rPr lang="en-US" altLang="zh-CN" sz="3600" dirty="0"/>
              <a:t>   </a:t>
            </a:r>
            <a:r>
              <a:rPr lang="en-US" altLang="zh-CN" sz="2400" dirty="0"/>
              <a:t>https://www.luogu.com.cn/problem/P1036</a:t>
            </a:r>
            <a:endParaRPr lang="en-US" altLang="zh-CN" sz="24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0235"/>
          <a:stretch>
            <a:fillRect/>
          </a:stretch>
        </p:blipFill>
        <p:spPr>
          <a:xfrm>
            <a:off x="1972945" y="1597025"/>
            <a:ext cx="7551420" cy="4911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313"/>
    </mc:Choice>
    <mc:Fallback>
      <p:transition spd="slow" advTm="108313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/>
              <a:t>代码</a:t>
            </a:r>
            <a:endParaRPr lang="zh-CN" altLang="en-US" sz="32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685" y="375285"/>
            <a:ext cx="6141720" cy="6004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567"/>
    </mc:Choice>
    <mc:Fallback>
      <p:transition spd="slow" advTm="136567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6.4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BFS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与最短路径</a:t>
            </a:r>
            <a:endParaRPr lang="zh-CN" altLang="en-US" sz="5400" spc="50" dirty="0" smtClean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</a:t>
            </a:r>
            <a:r>
              <a:rPr lang="zh-CN" altLang="en-US" sz="44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5188"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210" y="-87426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4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与最短路径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98620" y="1138425"/>
            <a:ext cx="10689350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到*的最短路径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260" y="2000478"/>
            <a:ext cx="8854973" cy="4490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706"/>
    </mc:Choice>
    <mc:Fallback>
      <p:transition spd="slow" advTm="150706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210" y="-87426"/>
            <a:ext cx="10515600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4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4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与最短路径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98620" y="1138425"/>
            <a:ext cx="10689350" cy="4581150"/>
          </a:xfrm>
        </p:spPr>
        <p:txBody>
          <a:bodyPr>
            <a:noAutofit/>
          </a:bodyPr>
          <a:lstStyle/>
          <a:p>
            <a:pPr marL="447675" indent="-447675" algn="just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到*的最短路径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260" y="2000478"/>
            <a:ext cx="8854973" cy="4490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706"/>
    </mc:Choice>
    <mc:Fallback>
      <p:transition spd="slow" advTm="150706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374900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4000" dirty="0" smtClean="0"/>
              <a:t>最短路径与</a:t>
            </a:r>
            <a:r>
              <a:rPr lang="en-US" altLang="zh-CN" sz="4000" dirty="0" smtClean="0"/>
              <a:t>BFS</a:t>
            </a:r>
            <a:endParaRPr lang="zh-CN" altLang="en-US" sz="40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1171019" y="1443835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：逐层扩散。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的队列中加入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邻居节点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时，按距离起点远近的顺序加入：先加入距离起点为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的邻居节点，加完之后，再加入距离为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的邻居节点，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等等。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搜完一层，才会继续搜下一层。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短路径：从起点开始，沿着每一层逐步往外走，每多一层，路径长度就增加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所有长度相同的最短路径都是从相同的层次扩散出去的。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搜到第一个到达终点的路径，就是最短路径。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671"/>
    </mc:Choice>
    <mc:Fallback>
      <p:transition spd="slow" advTm="62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620" y="413067"/>
            <a:ext cx="10515600" cy="1325563"/>
          </a:xfrm>
        </p:spPr>
        <p:txBody>
          <a:bodyPr>
            <a:normAutofit/>
          </a:bodyPr>
          <a:lstStyle/>
          <a:p>
            <a:pPr marL="742950" indent="-742950" eaLnBrk="0" fontAlgn="base" hangingPunct="0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最短路径问题：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的应用场合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62145" y="1564776"/>
            <a:ext cx="9925825" cy="4581150"/>
          </a:xfrm>
        </p:spPr>
        <p:txBody>
          <a:bodyPr>
            <a:noAutofit/>
          </a:bodyPr>
          <a:lstStyle/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应用场合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：点和点直连的距离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，即边长是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短路径长度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跳数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18366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B7C6F6D-FFA8-468C-AF6A-CB4C27E2EEF8}" type="slidenum">
              <a:rPr lang="zh-CN" altLang="en-US" sz="2000" b="0" smtClean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6" name="Picture 2" descr="https://img-blog.csdnimg.cn/20190331160006157.png?x-oss-process=image/watermark,type_ZmFuZ3poZW5naGVpdGk,shadow_10,text_aHR0cHM6Ly9ibG9nLmNzZG4ubmV0L3FxXzQxODk2Njgz,size_16,color_FFFFFF,t_7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610" y="3429000"/>
            <a:ext cx="4255140" cy="237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031"/>
    </mc:Choice>
    <mc:Fallback>
      <p:transition spd="slow" advTm="54031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1056735" y="1596540"/>
            <a:ext cx="10275334" cy="41464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问题描述：有一个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n×m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的棋盘，在某个点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上有一个马，要求你计算出马到达棋盘上任意一个点最少要走几步。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输入：输入只有一行四个整数，分别为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n,m,x,y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1≤x≤n≤400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1≤y≤m≤400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输出：一个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n×m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的矩阵，代表马到达某个点最少要走几步。不能到达则输出−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81165" y="69758"/>
            <a:ext cx="10454100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6.14 </a:t>
            </a:r>
            <a:r>
              <a:rPr lang="zh-CN" altLang="en-US" sz="3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马的遍历  </a:t>
            </a:r>
            <a:r>
              <a:rPr lang="en-US" altLang="zh-CN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https://www.luogu.com.cn/problem/P1443</a:t>
            </a:r>
            <a:endParaRPr lang="zh-CN" altLang="en-US" sz="2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440"/>
    </mc:Choice>
    <mc:Fallback>
      <p:transition spd="slow" advTm="8044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-14585" y="1331310"/>
            <a:ext cx="2751075" cy="41464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马走日，从一个坐标点出发，下一步有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种走法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dx[]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定义下一步的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个方向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代码的主体部分是标准的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，让每个点进出队列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队列，队列元素是坐标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struct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point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a[][]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记录最短路径长度，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a[x][y]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是从起点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的最短路径长度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扩散一层，路径长度就加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51116" y="38008"/>
            <a:ext cx="113909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题解</a:t>
            </a:r>
            <a:endParaRPr lang="zh-CN" alt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4920" y="-106680"/>
            <a:ext cx="7749540" cy="6964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440"/>
    </mc:Choice>
    <mc:Fallback>
      <p:transition spd="slow" advTm="8044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white">
          <a:xfrm>
            <a:off x="140505" y="2465030"/>
            <a:ext cx="1191099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algn="ctr"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zh-CN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6.5</a:t>
            </a:r>
            <a:r>
              <a:rPr lang="zh-CN" altLang="en-US" sz="540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例题</a:t>
            </a:r>
            <a:endParaRPr lang="en-US" altLang="zh-CN" sz="54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1127630"/>
            <a:ext cx="121919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蓝桥</a:t>
            </a:r>
            <a:r>
              <a:rPr lang="zh-CN" altLang="en-US" sz="44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杯算法入门</a:t>
            </a:r>
            <a:endParaRPr lang="zh-CN" altLang="en-US" sz="440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4922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809336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 smtClean="0"/>
              <a:t>例题</a:t>
            </a:r>
            <a:r>
              <a:rPr lang="zh-CN" altLang="en-US" sz="3600" dirty="0"/>
              <a:t>：</a:t>
            </a:r>
            <a:r>
              <a:rPr lang="zh-CN" altLang="en-US" sz="3600" dirty="0" smtClean="0"/>
              <a:t>有奖</a:t>
            </a:r>
            <a:r>
              <a:rPr lang="zh-CN" altLang="en-US" sz="3600" dirty="0"/>
              <a:t>问答 </a:t>
            </a:r>
            <a:r>
              <a:rPr lang="en-US" altLang="zh-CN" sz="2400" dirty="0" err="1"/>
              <a:t>lanqiaoOJ</a:t>
            </a:r>
            <a:r>
              <a:rPr lang="en-US" altLang="zh-CN" sz="2400" dirty="0"/>
              <a:t> 3497</a:t>
            </a:r>
            <a:endParaRPr lang="zh-CN" altLang="en-US" sz="10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904031" y="1750906"/>
            <a:ext cx="1038394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问题描述：小蓝正在参与一个现场问答的节目。活动中一共有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道题目，每题只有答对和答错两种情况，每答对一题得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分，答错一题分数归零。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小蓝可以在任意时刻结束答题并获得目前分数对应的奖项，之后不能再答任何题目。最高奖项需要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分，所以到达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分时小蓝会直接停止答题。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已知小蓝最终实际获得了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分对应的奖项，请问小蓝所有可能的答题情况有多少种。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313"/>
    </mc:Choice>
    <mc:Fallback>
      <p:transition spd="slow" advTm="108313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 smtClean="0"/>
              <a:t>题解</a:t>
            </a:r>
            <a:endParaRPr lang="zh-CN" altLang="en-US" sz="32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735700" y="985720"/>
            <a:ext cx="2458905" cy="106893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填空题。用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编码直接搜索所有情况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52720" y="207180"/>
            <a:ext cx="8093365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#include&lt;bits/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stdc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++.h&gt;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x,int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score,int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</a:t>
            </a:r>
            <a:r>
              <a:rPr lang="en-US" altLang="zh-CN" b="0" kern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){//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x: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score: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得分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k: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对错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if(k==0) score=0;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答错了，归零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else{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score+=10;  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答对了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if(score==100)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剪枝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return; </a:t>
            </a:r>
            <a:r>
              <a:rPr lang="en-US" altLang="zh-CN" b="0" kern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分不是符合要求的答题情况</a:t>
            </a:r>
            <a:r>
              <a:rPr lang="zh-CN" altLang="en-US" b="0" kern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0" kern="2200" dirty="0" err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不用加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if(score==70)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      //70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分，答案加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if(x==30) return;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题，剪枝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(x+1,score,0);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继续做题。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0: 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答错了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(x+1,score,1);         //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继续做题。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：答对了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main(){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(0,0,0);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b="0" kern="22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b="0" kern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4800" kern="2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567"/>
    </mc:Choice>
    <mc:Fallback>
      <p:transition spd="slow" advTm="136567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870418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 smtClean="0"/>
              <a:t>小木棍    </a:t>
            </a:r>
            <a:r>
              <a:rPr lang="en-US" altLang="zh-CN" sz="2000" dirty="0" smtClean="0"/>
              <a:t>https</a:t>
            </a:r>
            <a:r>
              <a:rPr lang="en-US" altLang="zh-CN" sz="2000" dirty="0"/>
              <a:t>://www.luogu.com.cn/problem/P1120</a:t>
            </a:r>
            <a:endParaRPr lang="zh-CN" altLang="en-US" sz="20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1209440" y="1556554"/>
            <a:ext cx="9925825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乔治有一些同样长的小木棍，他把这些木棍随意砍成几段，直到每段的长都不超过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现在，他想把小木棍拼接成原来的样子，但是却忘记了自己开始时有多少根木棍和它们的长度。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给出每段小木棍的长度，编程帮他找出原始木棍的最小可能长度。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表示砍过以后的小木棍的总数，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≤ 65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589"/>
    </mc:Choice>
    <mc:Fallback>
      <p:transition spd="slow" advTm="615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904030" y="476191"/>
            <a:ext cx="7482545" cy="886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dirty="0" smtClean="0"/>
              <a:t>题解：剪枝</a:t>
            </a:r>
            <a:endParaRPr lang="zh-CN" altLang="en-US" sz="36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598620" y="1596540"/>
            <a:ext cx="1099476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搜索顺序。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把小木棍按长度从大到小排序，然后按从大到小的顺序做拼接的尝试。过程是：对于给定的可能长度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，从最长的小木棍开始拼接，在拼接时，继续从下一个较长的小木棍开始；持续这个操作，直到所有木棍都拼接成功或某一个没有拼接成功为止。一旦不能拼接，这个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就不用再尝试。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等效冗余。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上面优化搜索顺序中，是用贪心的策略进行搜索，为什么这里可以用贪心？因为是不同顺序的拼接是等效的，例如先拼长的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，再拼短的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，和先拼短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，再拼长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是一样的。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447675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的优化。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其实并不用检查大范围的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是小木棍总长度的一个约数，例如总长度是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只可能是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。计算小木棍的总长度，找到它的大于最长小木棍长度的所有约数，这就是原始木棍的可能长度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。然后按从小到大排序，尝试拼接，如果成功，则输出结果，后面不再尝试。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2985"/>
    </mc:Choice>
    <mc:Fallback>
      <p:transition spd="slow" advTm="172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100199"/>
            <a:ext cx="10994760" cy="7328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 smtClean="0"/>
              <a:t>例题</a:t>
            </a:r>
            <a:r>
              <a:rPr lang="en-US" altLang="zh-CN" sz="3200" dirty="0" smtClean="0"/>
              <a:t> </a:t>
            </a:r>
            <a:r>
              <a:rPr lang="zh-CN" altLang="en-US" sz="3200" dirty="0" smtClean="0"/>
              <a:t>质数</a:t>
            </a:r>
            <a:r>
              <a:rPr lang="zh-CN" altLang="en-US" sz="3200" dirty="0"/>
              <a:t>拼图游戏 </a:t>
            </a:r>
            <a:r>
              <a:rPr lang="en-US" altLang="zh-CN" sz="1800" dirty="0"/>
              <a:t>http://oj.ecustacm.cn/problem.php?id=1818 </a:t>
            </a:r>
            <a:endParaRPr lang="zh-CN" altLang="en-US" sz="18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751325" y="985719"/>
            <a:ext cx="11300170" cy="533693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拼图游戏由一个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3×3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的棋盘和数字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组成。目标是达到以下最终状态：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4 5 6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7 8 9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每次如果相邻两个数字之和为质数，则可以进行交换。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相邻：上下左右四联通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给定一个棋盘初始状态，求到达最终状态的最短步数 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第一行为正整数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，表示存在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组测试数据，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1≤T≤50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对于每组测试数据，输入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个数字表示棋盘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。输入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保证合法，棋盘中的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个数字仅为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1-9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fontAlgn="auto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对于每组测试数据输出一个整数表示答案。如果无法到达最终状态，输出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708"/>
    </mc:Choice>
    <mc:Fallback>
      <p:transition spd="slow" advTm="89708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 txBox="1">
            <a:spLocks noChangeArrowheads="1"/>
          </p:cNvSpPr>
          <p:nvPr/>
        </p:nvSpPr>
        <p:spPr>
          <a:xfrm>
            <a:off x="751325" y="222195"/>
            <a:ext cx="7482545" cy="5095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eaLnBrk="0" hangingPunct="0">
              <a:defRPr sz="44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eaLnBrk="0" hangingPunct="0"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200" dirty="0" smtClean="0"/>
              <a:t>题解</a:t>
            </a:r>
            <a:endParaRPr lang="zh-CN" altLang="en-US" sz="320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735700" y="985719"/>
            <a:ext cx="10552270" cy="53446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本题是典型的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最短路。把棋盘上的每种数字组合看成一个状态，求从初始态到最终态的最短路径的步数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对一次单独的“初始态到终止态”计算，做一次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的复杂度等于棋盘状态的数量，一共有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9! = 362880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状态，总数量并不多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但题目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个测试，总计算量约为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50×362880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，超时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种优化是用双向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，本题的起点和终点都是确定的，正适合使用双向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064"/>
    </mc:Choice>
    <mc:Fallback>
      <p:transition spd="slow" advTm="122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735700" y="985720"/>
            <a:ext cx="10552270" cy="45811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更简单的做法。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本题需要做一个简单的转换。由于从任何初始态出发终止态都是固定的“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 4 5 6 7 8 9”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，可以反过来，把终止态看成起点，把初始态看成终点，那么就是求一个固定起点到任意终点的最短路。只需做一次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，就能得到从起点到所有终点的最短路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次测试，每个测试直接返回已经算出的结果即可。总计算量只是做一次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9!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303"/>
    </mc:Choice>
    <mc:Fallback>
      <p:transition spd="slow" advTm="1013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217794D7-36C4-4E93-AE7A-0CAF6AF174FC}" type="slidenum">
              <a:rPr lang="zh-CN" altLang="en-US" b="0" smtClean="0">
                <a:solidFill>
                  <a:schemeClr val="tx1"/>
                </a:solidFill>
              </a:rPr>
            </a:fld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 txBox="1"/>
          <p:nvPr/>
        </p:nvSpPr>
        <p:spPr>
          <a:xfrm>
            <a:off x="606384" y="1364960"/>
            <a:ext cx="10552270" cy="31329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题目需要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判断相邻数的和是否为质数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写一个函数判断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质数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刚简单的做法：本题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的两数和范围是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~ 17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，非常少，只需用一个数组预存这些数字是否为质数即可。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化方为线”的技巧：把二维的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3×3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棋盘化为一维的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个点，编程更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简单。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256"/>
    </mc:Choice>
    <mc:Fallback>
      <p:transition spd="slow" advTm="982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94D7-36C4-4E93-AE7A-0CAF6AF174FC}" type="slidenum">
              <a:rPr lang="zh-CN" altLang="en-US" smtClean="0"/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820260" y="-56775"/>
            <a:ext cx="8856890" cy="9694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#include&lt;bits/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stdc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++.h&gt;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bool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isprime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[21] = 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{0,0,1,1,0,1,0,1,0,0,0,1,0,1,0,0,0,1,0,1,0};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和为质数的情况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unordered_map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&lt;string,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;//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unordered_map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查询单个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key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时效率比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[][2] = {1,0, 0,1};         //1,0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是向右，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0,1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是向下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(string s){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queue&lt;string&gt;q;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(s);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[s] = 0;                                    //s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到自己的步数为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q.empty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string Now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q.front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q.pop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&lt;= 2;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方向的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j = 0; j &lt;= 2;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 {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方向的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one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* 3 + j;    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把二维坐标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i,j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转化为一维，例如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one=3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，就是第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排第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k = 0; k &lt;= 1; k++){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与右边交换，与下面交换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+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[k][0];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j +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[k][1];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if(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== 3 ||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== 3)  continue;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越界了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two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* 3 +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ny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if(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isprime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[Now[one]-'0' + Now[two]-'0']) { 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相邻数之和是质数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 Next = Now;          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swap(Next[one], Next[two]);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交换相邻数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if(!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ans.count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(Next)) { //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，用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map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判重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[Next] =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[Now] + 1;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q.push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(Next);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main(){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string s = "123456789";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bfs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(s);                      //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到其它所有状态的最短路长度</a:t>
            </a:r>
            <a:endParaRPr lang="zh-CN" altLang="en-US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0;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T;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T;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while(T--) {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string now = "";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1;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&lt;= 3;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j = 1; j &lt;= 3;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{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char c;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c;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now += c;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if(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ans.count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(now))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[now]&lt;&lt;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else                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&lt;&lt;-1&lt;&lt;</a:t>
            </a:r>
            <a:r>
              <a:rPr lang="en-US" altLang="zh-CN" sz="1200" b="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16.6|3.8|5.9|7.8|2.2|5.5|1.1|0.3|0.4"/>
</p:tagLst>
</file>

<file path=ppt/tags/tag2.xml><?xml version="1.0" encoding="utf-8"?>
<p:tagLst xmlns:p="http://schemas.openxmlformats.org/presentationml/2006/main">
  <p:tag name="TIMING" val="|85.3"/>
</p:tagLst>
</file>

<file path=ppt/tags/tag3.xml><?xml version="1.0" encoding="utf-8"?>
<p:tagLst xmlns:p="http://schemas.openxmlformats.org/presentationml/2006/main">
  <p:tag name="TIMING" val="|85.3"/>
</p:tagLst>
</file>

<file path=ppt/tags/tag4.xml><?xml version="1.0" encoding="utf-8"?>
<p:tagLst xmlns:p="http://schemas.openxmlformats.org/presentationml/2006/main">
  <p:tag name="TIMING" val="|19.1"/>
</p:tagLst>
</file>

<file path=ppt/tags/tag5.xml><?xml version="1.0" encoding="utf-8"?>
<p:tagLst xmlns:p="http://schemas.openxmlformats.org/presentationml/2006/main">
  <p:tag name="TIMING" val="|19.1"/>
</p:tagLst>
</file>

<file path=ppt/tags/tag6.xml><?xml version="1.0" encoding="utf-8"?>
<p:tagLst xmlns:p="http://schemas.openxmlformats.org/presentationml/2006/main">
  <p:tag name="TIMING" val="|74.7|33.8|32.6|10.6"/>
</p:tagLst>
</file>

<file path=ppt/tags/tag7.xml><?xml version="1.0" encoding="utf-8"?>
<p:tagLst xmlns:p="http://schemas.openxmlformats.org/presentationml/2006/main">
  <p:tag name="TIMING" val="|40.3|12|26.2|32.6"/>
</p:tagLst>
</file>

<file path=ppt/tags/tag8.xml><?xml version="1.0" encoding="utf-8"?>
<p:tagLst xmlns:p="http://schemas.openxmlformats.org/presentationml/2006/main">
  <p:tag name="TIMING" val="|33.5"/>
</p:tagLst>
</file>

<file path=ppt/tags/tag9.xml><?xml version="1.0" encoding="utf-8"?>
<p:tagLst xmlns:p="http://schemas.openxmlformats.org/presentationml/2006/main">
  <p:tag name="TIMING" val="|45.5"/>
</p:tagLst>
</file>

<file path=ppt/tags/tag10.xml><?xml version="1.0" encoding="utf-8"?>
<p:tagLst xmlns:p="http://schemas.openxmlformats.org/presentationml/2006/main">
  <p:tag name="TIMING" val="|56.7|52.8"/>
</p:tagLst>
</file>

<file path=ppt/tags/tag11.xml><?xml version="1.0" encoding="utf-8"?>
<p:tagLst xmlns:p="http://schemas.openxmlformats.org/presentationml/2006/main">
  <p:tag name="TIMING" val="|74.7|33.8|32.6|10.6"/>
</p:tagLst>
</file>

<file path=ppt/tags/tag12.xml><?xml version="1.0" encoding="utf-8"?>
<p:tagLst xmlns:p="http://schemas.openxmlformats.org/presentationml/2006/main">
  <p:tag name="TIMING" val="|24|65.1"/>
</p:tagLst>
</file>

<file path=ppt/tags/tag13.xml><?xml version="1.0" encoding="utf-8"?>
<p:tagLst xmlns:p="http://schemas.openxmlformats.org/presentationml/2006/main">
  <p:tag name="TIMING" val="|53.1"/>
</p:tagLst>
</file>

<file path=ppt/tags/tag14.xml><?xml version="1.0" encoding="utf-8"?>
<p:tagLst xmlns:p="http://schemas.openxmlformats.org/presentationml/2006/main">
  <p:tag name="TIMING" val="|16.3|54.5"/>
</p:tagLst>
</file>

<file path=ppt/tags/tag15.xml><?xml version="1.0" encoding="utf-8"?>
<p:tagLst xmlns:p="http://schemas.openxmlformats.org/presentationml/2006/main">
  <p:tag name="commondata" val="eyJoZGlkIjoiYjgyOGQyODI3NTAyMDJjYmRjZmFkZWE1NDI5Y2Q4NDIifQ=="/>
</p:tagLst>
</file>

<file path=ppt/theme/theme1.xml><?xml version="1.0" encoding="utf-8"?>
<a:theme xmlns:a="http://schemas.openxmlformats.org/drawingml/2006/main" name="SEG组PPT主题">
  <a:themeElements>
    <a:clrScheme name="SEG组PPT主题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SEG组PPT主题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SEG组PPT主题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G组PPT主题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G组PPT主题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G组PPT主题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EG组PPT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8349</Words>
  <Application>WPS 演示</Application>
  <PresentationFormat>宽屏</PresentationFormat>
  <Paragraphs>512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5" baseType="lpstr">
      <vt:lpstr>Arial</vt:lpstr>
      <vt:lpstr>宋体</vt:lpstr>
      <vt:lpstr>Wingdings</vt:lpstr>
      <vt:lpstr>FrutigerNext LT Regular</vt:lpstr>
      <vt:lpstr>Calibri</vt:lpstr>
      <vt:lpstr>幼圆</vt:lpstr>
      <vt:lpstr>Times New Roman</vt:lpstr>
      <vt:lpstr>FrutigerNext LT Regular</vt:lpstr>
      <vt:lpstr>MS PGothic</vt:lpstr>
      <vt:lpstr>黑体</vt:lpstr>
      <vt:lpstr>楷体_GB2312</vt:lpstr>
      <vt:lpstr>新宋体</vt:lpstr>
      <vt:lpstr>华文细黑</vt:lpstr>
      <vt:lpstr>微软雅黑</vt:lpstr>
      <vt:lpstr>华文新魏</vt:lpstr>
      <vt:lpstr>Verdana</vt:lpstr>
      <vt:lpstr>楷体</vt:lpstr>
      <vt:lpstr>Arial Unicode MS</vt:lpstr>
      <vt:lpstr>等线 Light</vt:lpstr>
      <vt:lpstr>Calibri Light</vt:lpstr>
      <vt:lpstr>等线</vt:lpstr>
      <vt:lpstr>SEG组PPT主题</vt:lpstr>
      <vt:lpstr>1_SEG组PPT主题</vt:lpstr>
      <vt:lpstr>Visio.Drawing.15</vt:lpstr>
      <vt:lpstr>PowerPoint 演示文稿</vt:lpstr>
      <vt:lpstr>PowerPoint 演示文稿</vt:lpstr>
      <vt:lpstr>搜索的基本思路</vt:lpstr>
      <vt:lpstr>DFS：一只老鼠走迷宫</vt:lpstr>
      <vt:lpstr>DFS访问示例</vt:lpstr>
      <vt:lpstr>DFS代码框架</vt:lpstr>
      <vt:lpstr>BFS：一群老鼠走迷宫</vt:lpstr>
      <vt:lpstr>BFS访问示例</vt:lpstr>
      <vt:lpstr>BFS代码框架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BFS与最短路径</vt:lpstr>
      <vt:lpstr>BFS与最短路径</vt:lpstr>
      <vt:lpstr>PowerPoint 演示文稿</vt:lpstr>
      <vt:lpstr>最短路径问题：BFS的应用场合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文汇讲堂</dc:title>
  <dc:creator>Yu Huiqun</dc:creator>
  <cp:lastModifiedBy>鸿飞</cp:lastModifiedBy>
  <cp:revision>1679</cp:revision>
  <dcterms:created xsi:type="dcterms:W3CDTF">2010-12-08T03:59:00Z</dcterms:created>
  <dcterms:modified xsi:type="dcterms:W3CDTF">2024-12-11T06:24:43Z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(3)eeY/EcjdW6+ICzVnm3/r6/xAl5lvhgvoAokwoBfZcPbL/5MtFRy5/qhHgCA4lB96tzj/Eytq
2NHJUUpWB2kMJ1NMlUJXhM5imLm4kyR3hZMBHv5FhT+IILvlUjuubbnZofkHoPU5fqYwynM4
ffEg5Eg4dQmaZorSYJ79TwvCgROY8gA232YiGQhhOoqKytLwLVbftsELLz1taQRfm5DZZji8
fXS+ORyvTVociYWKeX4TI</vt:lpwstr>
  </property>
  <property fmtid="{D5CDD505-2E9C-101B-9397-08002B2CF9AE}" pid="3" name="_ms_pID_7253431">
    <vt:lpwstr>HUv1HtLxkSgu+98Cci+sTM4mwpB4bnywtNgU0ZXCLU5E9az15Zl
yQ+eMRQT6rINdTXZYKuXlBrl3xhjVO/TULD0SzKnhjeDwt9CUpkpZKnkY8Eegftln4wJUDcS
wX1CZLvRfEb0iLB1QGG0ZNeX/u6ClzdlEOpMOHoov8h76URZeNq1mMQHPAv+/lT0BsL9aW0f
3CbqVo3pzNFkiUPIFF+OwWX00US6EDgYi2lm8LbPy4</vt:lpwstr>
  </property>
  <property fmtid="{D5CDD505-2E9C-101B-9397-08002B2CF9AE}" pid="4" name="_ms_pID_7253432">
    <vt:lpwstr>mqJPV5t2H+8EpfGZFx1xT4THFS1pBY
wcCmxD8BzMZr4El3AUiTOWBkAaTGMRJpKRRCImbmfYmYporODfRBVhilSzPe24aL1+wdJY5z</vt:lpwstr>
  </property>
  <property fmtid="{D5CDD505-2E9C-101B-9397-08002B2CF9AE}" pid="5" name="sflag">
    <vt:lpwstr>1309221052</vt:lpwstr>
  </property>
  <property fmtid="{D5CDD505-2E9C-101B-9397-08002B2CF9AE}" pid="6" name="KSORubyTemplateID">
    <vt:lpwstr>8</vt:lpwstr>
  </property>
  <property fmtid="{D5CDD505-2E9C-101B-9397-08002B2CF9AE}" pid="7" name="KSOProductBuildVer">
    <vt:lpwstr>2052-12.1.0.18608</vt:lpwstr>
  </property>
  <property fmtid="{D5CDD505-2E9C-101B-9397-08002B2CF9AE}" pid="8" name="ICV">
    <vt:lpwstr>C1536CBA20F5446D91C2FA45FB1D0422_12</vt:lpwstr>
  </property>
</Properties>
</file>