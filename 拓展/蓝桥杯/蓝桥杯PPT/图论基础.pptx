
<file path=[Content_Types].xml><?xml version="1.0" encoding="utf-8"?>
<Types xmlns="http://schemas.openxmlformats.org/package/2006/content-types">
  <Default Extension="tiff" ContentType="image/tiff"/>
  <Default Extension="png" ContentType="image/png"/>
  <Default Extension="gif" ContentType="image/gi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 id="2147483661" r:id="rId3"/>
  </p:sldMasterIdLst>
  <p:notesMasterIdLst>
    <p:notesMasterId r:id="rId8"/>
  </p:notesMasterIdLst>
  <p:handoutMasterIdLst>
    <p:handoutMasterId r:id="rId63"/>
  </p:handoutMasterIdLst>
  <p:sldIdLst>
    <p:sldId id="858" r:id="rId4"/>
    <p:sldId id="859" r:id="rId5"/>
    <p:sldId id="860" r:id="rId6"/>
    <p:sldId id="861" r:id="rId7"/>
    <p:sldId id="862" r:id="rId9"/>
    <p:sldId id="863" r:id="rId10"/>
    <p:sldId id="864" r:id="rId11"/>
    <p:sldId id="865" r:id="rId12"/>
    <p:sldId id="866" r:id="rId13"/>
    <p:sldId id="867" r:id="rId14"/>
    <p:sldId id="847" r:id="rId15"/>
    <p:sldId id="868" r:id="rId16"/>
    <p:sldId id="869" r:id="rId17"/>
    <p:sldId id="870" r:id="rId18"/>
    <p:sldId id="871" r:id="rId19"/>
    <p:sldId id="873" r:id="rId20"/>
    <p:sldId id="874" r:id="rId21"/>
    <p:sldId id="875" r:id="rId22"/>
    <p:sldId id="876" r:id="rId23"/>
    <p:sldId id="877" r:id="rId24"/>
    <p:sldId id="878" r:id="rId25"/>
    <p:sldId id="879" r:id="rId26"/>
    <p:sldId id="880" r:id="rId27"/>
    <p:sldId id="881" r:id="rId28"/>
    <p:sldId id="882" r:id="rId29"/>
    <p:sldId id="883" r:id="rId30"/>
    <p:sldId id="884" r:id="rId31"/>
    <p:sldId id="885" r:id="rId32"/>
    <p:sldId id="886" r:id="rId33"/>
    <p:sldId id="887" r:id="rId34"/>
    <p:sldId id="888" r:id="rId35"/>
    <p:sldId id="889" r:id="rId36"/>
    <p:sldId id="890" r:id="rId37"/>
    <p:sldId id="891" r:id="rId38"/>
    <p:sldId id="892" r:id="rId39"/>
    <p:sldId id="893" r:id="rId40"/>
    <p:sldId id="894" r:id="rId41"/>
    <p:sldId id="895" r:id="rId42"/>
    <p:sldId id="896" r:id="rId43"/>
    <p:sldId id="897" r:id="rId44"/>
    <p:sldId id="898" r:id="rId45"/>
    <p:sldId id="822" r:id="rId46"/>
    <p:sldId id="837" r:id="rId47"/>
    <p:sldId id="823" r:id="rId48"/>
    <p:sldId id="842" r:id="rId49"/>
    <p:sldId id="838" r:id="rId50"/>
    <p:sldId id="839" r:id="rId51"/>
    <p:sldId id="840" r:id="rId52"/>
    <p:sldId id="841" r:id="rId53"/>
    <p:sldId id="843" r:id="rId54"/>
    <p:sldId id="844" r:id="rId55"/>
    <p:sldId id="824" r:id="rId56"/>
    <p:sldId id="826" r:id="rId57"/>
    <p:sldId id="846" r:id="rId58"/>
    <p:sldId id="825" r:id="rId59"/>
    <p:sldId id="829" r:id="rId60"/>
    <p:sldId id="830" r:id="rId61"/>
    <p:sldId id="845" r:id="rId62"/>
  </p:sldIdLst>
  <p:sldSz cx="12192000" cy="6858000"/>
  <p:notesSz cx="9928225" cy="6797675"/>
  <p:custDataLst>
    <p:tags r:id="rId67"/>
  </p:custDataLst>
  <p:defaultTextStyle>
    <a:defPPr>
      <a:defRPr lang="en-US"/>
    </a:defPPr>
    <a:lvl1pPr algn="l" rtl="0" fontAlgn="base">
      <a:spcBef>
        <a:spcPct val="0"/>
      </a:spcBef>
      <a:spcAft>
        <a:spcPct val="0"/>
      </a:spcAft>
      <a:defRPr sz="2000" b="1" kern="1200">
        <a:solidFill>
          <a:schemeClr val="bg1"/>
        </a:solidFill>
        <a:latin typeface="FrutigerNext LT Regular"/>
        <a:ea typeface="幼圆" panose="02010509060101010101" pitchFamily="49" charset="-122"/>
        <a:cs typeface="Times New Roman" panose="02020603050405020304" pitchFamily="18" charset="0"/>
      </a:defRPr>
    </a:lvl1pPr>
    <a:lvl2pPr marL="457200" algn="l" rtl="0" fontAlgn="base">
      <a:spcBef>
        <a:spcPct val="0"/>
      </a:spcBef>
      <a:spcAft>
        <a:spcPct val="0"/>
      </a:spcAft>
      <a:defRPr sz="2000" b="1" kern="1200">
        <a:solidFill>
          <a:schemeClr val="bg1"/>
        </a:solidFill>
        <a:latin typeface="FrutigerNext LT Regular"/>
        <a:ea typeface="幼圆" panose="02010509060101010101" pitchFamily="49" charset="-122"/>
        <a:cs typeface="Times New Roman" panose="02020603050405020304" pitchFamily="18" charset="0"/>
      </a:defRPr>
    </a:lvl2pPr>
    <a:lvl3pPr marL="914400" algn="l" rtl="0" fontAlgn="base">
      <a:spcBef>
        <a:spcPct val="0"/>
      </a:spcBef>
      <a:spcAft>
        <a:spcPct val="0"/>
      </a:spcAft>
      <a:defRPr sz="2000" b="1" kern="1200">
        <a:solidFill>
          <a:schemeClr val="bg1"/>
        </a:solidFill>
        <a:latin typeface="FrutigerNext LT Regular"/>
        <a:ea typeface="幼圆" panose="02010509060101010101" pitchFamily="49" charset="-122"/>
        <a:cs typeface="Times New Roman" panose="02020603050405020304" pitchFamily="18" charset="0"/>
      </a:defRPr>
    </a:lvl3pPr>
    <a:lvl4pPr marL="1371600" algn="l" rtl="0" fontAlgn="base">
      <a:spcBef>
        <a:spcPct val="0"/>
      </a:spcBef>
      <a:spcAft>
        <a:spcPct val="0"/>
      </a:spcAft>
      <a:defRPr sz="2000" b="1" kern="1200">
        <a:solidFill>
          <a:schemeClr val="bg1"/>
        </a:solidFill>
        <a:latin typeface="FrutigerNext LT Regular"/>
        <a:ea typeface="幼圆" panose="02010509060101010101" pitchFamily="49" charset="-122"/>
        <a:cs typeface="Times New Roman" panose="02020603050405020304" pitchFamily="18" charset="0"/>
      </a:defRPr>
    </a:lvl4pPr>
    <a:lvl5pPr marL="1828800" algn="l" rtl="0" fontAlgn="base">
      <a:spcBef>
        <a:spcPct val="0"/>
      </a:spcBef>
      <a:spcAft>
        <a:spcPct val="0"/>
      </a:spcAft>
      <a:defRPr sz="2000" b="1" kern="1200">
        <a:solidFill>
          <a:schemeClr val="bg1"/>
        </a:solidFill>
        <a:latin typeface="FrutigerNext LT Regular"/>
        <a:ea typeface="幼圆" panose="02010509060101010101" pitchFamily="49" charset="-122"/>
        <a:cs typeface="Times New Roman" panose="02020603050405020304" pitchFamily="18" charset="0"/>
      </a:defRPr>
    </a:lvl5pPr>
    <a:lvl6pPr marL="2286000" algn="l" defTabSz="914400" rtl="0" eaLnBrk="1" latinLnBrk="0" hangingPunct="1">
      <a:defRPr sz="2000" b="1" kern="1200">
        <a:solidFill>
          <a:schemeClr val="bg1"/>
        </a:solidFill>
        <a:latin typeface="FrutigerNext LT Regular"/>
        <a:ea typeface="幼圆" panose="02010509060101010101" pitchFamily="49" charset="-122"/>
        <a:cs typeface="Times New Roman" panose="02020603050405020304" pitchFamily="18" charset="0"/>
      </a:defRPr>
    </a:lvl6pPr>
    <a:lvl7pPr marL="2743200" algn="l" defTabSz="914400" rtl="0" eaLnBrk="1" latinLnBrk="0" hangingPunct="1">
      <a:defRPr sz="2000" b="1" kern="1200">
        <a:solidFill>
          <a:schemeClr val="bg1"/>
        </a:solidFill>
        <a:latin typeface="FrutigerNext LT Regular"/>
        <a:ea typeface="幼圆" panose="02010509060101010101" pitchFamily="49" charset="-122"/>
        <a:cs typeface="Times New Roman" panose="02020603050405020304" pitchFamily="18" charset="0"/>
      </a:defRPr>
    </a:lvl7pPr>
    <a:lvl8pPr marL="3200400" algn="l" defTabSz="914400" rtl="0" eaLnBrk="1" latinLnBrk="0" hangingPunct="1">
      <a:defRPr sz="2000" b="1" kern="1200">
        <a:solidFill>
          <a:schemeClr val="bg1"/>
        </a:solidFill>
        <a:latin typeface="FrutigerNext LT Regular"/>
        <a:ea typeface="幼圆" panose="02010509060101010101" pitchFamily="49" charset="-122"/>
        <a:cs typeface="Times New Roman" panose="02020603050405020304" pitchFamily="18" charset="0"/>
      </a:defRPr>
    </a:lvl8pPr>
    <a:lvl9pPr marL="3657600" algn="l" defTabSz="914400" rtl="0" eaLnBrk="1" latinLnBrk="0" hangingPunct="1">
      <a:defRPr sz="2000" b="1" kern="1200">
        <a:solidFill>
          <a:schemeClr val="bg1"/>
        </a:solidFill>
        <a:latin typeface="FrutigerNext LT Regular"/>
        <a:ea typeface="幼圆" panose="02010509060101010101" pitchFamily="49" charset="-122"/>
        <a:cs typeface="Times New Roman" panose="02020603050405020304" pitchFamily="18" charset="0"/>
      </a:defRPr>
    </a:lvl9pPr>
  </p:defaultTextStyle>
  <p:extLst>
    <p:ext uri="{EFAFB233-063F-42B5-8137-9DF3F51BA10A}">
      <p15:sldGuideLst xmlns:p15="http://schemas.microsoft.com/office/powerpoint/2012/main">
        <p15:guide id="1" orient="horz" pos="718" userDrawn="1">
          <p15:clr>
            <a:srgbClr val="A4A3A4"/>
          </p15:clr>
        </p15:guide>
        <p15:guide id="2" pos="63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00"/>
    <a:srgbClr val="33CCCC"/>
    <a:srgbClr val="3333FF"/>
    <a:srgbClr val="FFFF00"/>
    <a:srgbClr val="CC00CC"/>
    <a:srgbClr val="FF00FF"/>
    <a:srgbClr val="FF99CC"/>
    <a:srgbClr val="993366"/>
    <a:srgbClr val="CC00FF"/>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524" autoAdjust="0"/>
    <p:restoredTop sz="93850" autoAdjust="0"/>
  </p:normalViewPr>
  <p:slideViewPr>
    <p:cSldViewPr snapToObjects="1" showGuides="1">
      <p:cViewPr>
        <p:scale>
          <a:sx n="100" d="100"/>
          <a:sy n="100" d="100"/>
        </p:scale>
        <p:origin x="1026" y="354"/>
      </p:cViewPr>
      <p:guideLst>
        <p:guide orient="horz" pos="718"/>
        <p:guide pos="633"/>
      </p:guideLst>
    </p:cSldViewPr>
  </p:slideViewPr>
  <p:outlineViewPr>
    <p:cViewPr>
      <p:scale>
        <a:sx n="33" d="100"/>
        <a:sy n="33" d="100"/>
      </p:scale>
      <p:origin x="0" y="10445"/>
    </p:cViewPr>
  </p:outlineViewPr>
  <p:notesTextViewPr>
    <p:cViewPr>
      <p:scale>
        <a:sx n="3" d="2"/>
        <a:sy n="3" d="2"/>
      </p:scale>
      <p:origin x="0" y="0"/>
    </p:cViewPr>
  </p:notesTextViewPr>
  <p:sorterViewPr>
    <p:cViewPr>
      <p:scale>
        <a:sx n="66" d="100"/>
        <a:sy n="66" d="100"/>
      </p:scale>
      <p:origin x="0" y="0"/>
    </p:cViewPr>
  </p:sorterViewPr>
  <p:notesViewPr>
    <p:cSldViewPr snapToObjects="1">
      <p:cViewPr varScale="1">
        <p:scale>
          <a:sx n="72" d="100"/>
          <a:sy n="72" d="100"/>
        </p:scale>
        <p:origin x="1464" y="60"/>
      </p:cViewPr>
      <p:guideLst>
        <p:guide orient="horz" pos="2186"/>
        <p:guide pos="3122"/>
      </p:guideLst>
    </p:cSldViewPr>
  </p:notesViewPr>
  <p:gridSpacing cx="152705" cy="152705"/>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notesMaster" Target="notesMasters/notesMaster1.xml"/><Relationship Id="rId7" Type="http://schemas.openxmlformats.org/officeDocument/2006/relationships/slide" Target="slides/slide4.xml"/><Relationship Id="rId67" Type="http://schemas.openxmlformats.org/officeDocument/2006/relationships/tags" Target="tags/tag41.xml"/><Relationship Id="rId66" Type="http://schemas.openxmlformats.org/officeDocument/2006/relationships/tableStyles" Target="tableStyles.xml"/><Relationship Id="rId65" Type="http://schemas.openxmlformats.org/officeDocument/2006/relationships/viewProps" Target="viewProps.xml"/><Relationship Id="rId64" Type="http://schemas.openxmlformats.org/officeDocument/2006/relationships/presProps" Target="presProps.xml"/><Relationship Id="rId63" Type="http://schemas.openxmlformats.org/officeDocument/2006/relationships/handoutMaster" Target="handoutMasters/handoutMaster1.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5218" name="Rectangle 2"/>
          <p:cNvSpPr>
            <a:spLocks noGrp="1" noChangeArrowheads="1"/>
          </p:cNvSpPr>
          <p:nvPr>
            <p:ph type="hdr" sz="quarter"/>
          </p:nvPr>
        </p:nvSpPr>
        <p:spPr bwMode="auto">
          <a:xfrm>
            <a:off x="0" y="0"/>
            <a:ext cx="4302125" cy="339725"/>
          </a:xfrm>
          <a:prstGeom prst="rect">
            <a:avLst/>
          </a:prstGeom>
          <a:noFill/>
          <a:ln w="9525">
            <a:noFill/>
            <a:miter lim="800000"/>
          </a:ln>
          <a:effectLst/>
        </p:spPr>
        <p:txBody>
          <a:bodyPr vert="horz" wrap="square" lIns="91440" tIns="45720" rIns="91440" bIns="45720" numCol="1" anchor="t" anchorCtr="0" compatLnSpc="1"/>
          <a:lstStyle>
            <a:lvl1pPr eaLnBrk="0" hangingPunct="0">
              <a:defRPr sz="1200" b="0">
                <a:ea typeface="宋体" panose="02010600030101010101" pitchFamily="2" charset="-122"/>
                <a:cs typeface="+mn-cs"/>
              </a:defRPr>
            </a:lvl1pPr>
          </a:lstStyle>
          <a:p>
            <a:pPr>
              <a:defRPr/>
            </a:pPr>
            <a:endParaRPr lang="zh-CN" altLang="en-US"/>
          </a:p>
        </p:txBody>
      </p:sp>
      <p:sp>
        <p:nvSpPr>
          <p:cNvPr id="265219" name="Rectangle 3"/>
          <p:cNvSpPr>
            <a:spLocks noGrp="1" noChangeArrowheads="1"/>
          </p:cNvSpPr>
          <p:nvPr>
            <p:ph type="dt" sz="quarter" idx="1"/>
          </p:nvPr>
        </p:nvSpPr>
        <p:spPr bwMode="auto">
          <a:xfrm>
            <a:off x="5624513" y="0"/>
            <a:ext cx="4302125" cy="339725"/>
          </a:xfrm>
          <a:prstGeom prst="rect">
            <a:avLst/>
          </a:prstGeom>
          <a:noFill/>
          <a:ln w="9525">
            <a:noFill/>
            <a:miter lim="800000"/>
          </a:ln>
          <a:effectLst/>
        </p:spPr>
        <p:txBody>
          <a:bodyPr vert="horz" wrap="square" lIns="91440" tIns="45720" rIns="91440" bIns="45720" numCol="1" anchor="t" anchorCtr="0" compatLnSpc="1"/>
          <a:lstStyle>
            <a:lvl1pPr algn="r" eaLnBrk="0" hangingPunct="0">
              <a:defRPr sz="1200" b="0">
                <a:ea typeface="宋体" panose="02010600030101010101" pitchFamily="2" charset="-122"/>
                <a:cs typeface="+mn-cs"/>
              </a:defRPr>
            </a:lvl1pPr>
          </a:lstStyle>
          <a:p>
            <a:pPr>
              <a:defRPr/>
            </a:pPr>
            <a:fld id="{EE6993DC-483A-45AC-9156-0752343CED43}" type="datetimeFigureOut">
              <a:rPr lang="zh-CN" altLang="en-US"/>
            </a:fld>
            <a:endParaRPr lang="en-US" altLang="zh-CN"/>
          </a:p>
        </p:txBody>
      </p:sp>
      <p:sp>
        <p:nvSpPr>
          <p:cNvPr id="265220" name="Rectangle 4"/>
          <p:cNvSpPr>
            <a:spLocks noGrp="1" noChangeArrowheads="1"/>
          </p:cNvSpPr>
          <p:nvPr>
            <p:ph type="ftr" sz="quarter" idx="2"/>
          </p:nvPr>
        </p:nvSpPr>
        <p:spPr bwMode="auto">
          <a:xfrm>
            <a:off x="0" y="6456363"/>
            <a:ext cx="4302125" cy="339725"/>
          </a:xfrm>
          <a:prstGeom prst="rect">
            <a:avLst/>
          </a:prstGeom>
          <a:noFill/>
          <a:ln w="9525">
            <a:noFill/>
            <a:miter lim="800000"/>
          </a:ln>
          <a:effectLst/>
        </p:spPr>
        <p:txBody>
          <a:bodyPr vert="horz" wrap="square" lIns="91440" tIns="45720" rIns="91440" bIns="45720" numCol="1" anchor="b" anchorCtr="0" compatLnSpc="1"/>
          <a:lstStyle>
            <a:lvl1pPr eaLnBrk="0" hangingPunct="0">
              <a:defRPr sz="1200" b="0">
                <a:ea typeface="宋体" panose="02010600030101010101" pitchFamily="2" charset="-122"/>
                <a:cs typeface="+mn-cs"/>
              </a:defRPr>
            </a:lvl1pPr>
          </a:lstStyle>
          <a:p>
            <a:pPr>
              <a:defRPr/>
            </a:pPr>
            <a:endParaRPr lang="en-US" altLang="zh-CN"/>
          </a:p>
        </p:txBody>
      </p:sp>
      <p:sp>
        <p:nvSpPr>
          <p:cNvPr id="265221" name="Rectangle 5"/>
          <p:cNvSpPr>
            <a:spLocks noGrp="1" noChangeArrowheads="1"/>
          </p:cNvSpPr>
          <p:nvPr>
            <p:ph type="sldNum" sz="quarter" idx="3"/>
          </p:nvPr>
        </p:nvSpPr>
        <p:spPr bwMode="auto">
          <a:xfrm>
            <a:off x="5624513" y="6456363"/>
            <a:ext cx="4302125" cy="339725"/>
          </a:xfrm>
          <a:prstGeom prst="rect">
            <a:avLst/>
          </a:prstGeom>
          <a:noFill/>
          <a:ln w="9525">
            <a:noFill/>
            <a:miter lim="800000"/>
          </a:ln>
          <a:effectLst/>
        </p:spPr>
        <p:txBody>
          <a:bodyPr vert="horz" wrap="square" lIns="91440" tIns="45720" rIns="91440" bIns="45720" numCol="1" anchor="b" anchorCtr="0" compatLnSpc="1"/>
          <a:lstStyle>
            <a:lvl1pPr algn="r" eaLnBrk="0" hangingPunct="0">
              <a:defRPr sz="1200" b="0">
                <a:ea typeface="宋体" panose="02010600030101010101" pitchFamily="2" charset="-122"/>
              </a:defRPr>
            </a:lvl1pPr>
          </a:lstStyle>
          <a:p>
            <a:fld id="{D75B2E05-0253-43DA-BFE4-F260377C2325}"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4302125" cy="339725"/>
          </a:xfrm>
          <a:prstGeom prst="rect">
            <a:avLst/>
          </a:prstGeom>
          <a:noFill/>
          <a:ln w="9525">
            <a:noFill/>
            <a:miter lim="800000"/>
          </a:ln>
        </p:spPr>
        <p:txBody>
          <a:bodyPr vert="horz" wrap="square" lIns="91440" tIns="45720" rIns="91440" bIns="45720" numCol="1" anchor="t" anchorCtr="0" compatLnSpc="1"/>
          <a:lstStyle>
            <a:lvl1pPr eaLnBrk="0" hangingPunct="0">
              <a:defRPr sz="1200" b="0">
                <a:solidFill>
                  <a:schemeClr val="tx1"/>
                </a:solidFill>
                <a:latin typeface="Arial" panose="020B0604020202020204" pitchFamily="34" charset="0"/>
                <a:ea typeface="MS PGothic" panose="020B0600070205080204" pitchFamily="34" charset="-128"/>
                <a:cs typeface="+mn-cs"/>
              </a:defRPr>
            </a:lvl1pPr>
          </a:lstStyle>
          <a:p>
            <a:pPr>
              <a:defRPr/>
            </a:pPr>
            <a:endParaRPr lang="en-US" altLang="zh-CN"/>
          </a:p>
        </p:txBody>
      </p:sp>
      <p:sp>
        <p:nvSpPr>
          <p:cNvPr id="3075" name="Rectangle 3"/>
          <p:cNvSpPr>
            <a:spLocks noGrp="1" noChangeArrowheads="1"/>
          </p:cNvSpPr>
          <p:nvPr>
            <p:ph type="dt" idx="1"/>
          </p:nvPr>
        </p:nvSpPr>
        <p:spPr bwMode="auto">
          <a:xfrm>
            <a:off x="5626100" y="0"/>
            <a:ext cx="4302125" cy="339725"/>
          </a:xfrm>
          <a:prstGeom prst="rect">
            <a:avLst/>
          </a:prstGeom>
          <a:noFill/>
          <a:ln w="9525">
            <a:noFill/>
            <a:miter lim="800000"/>
          </a:ln>
        </p:spPr>
        <p:txBody>
          <a:bodyPr vert="horz" wrap="square" lIns="91440" tIns="45720" rIns="91440" bIns="45720" numCol="1" anchor="t" anchorCtr="0" compatLnSpc="1"/>
          <a:lstStyle>
            <a:lvl1pPr algn="r" eaLnBrk="0" hangingPunct="0">
              <a:defRPr sz="1200" b="0">
                <a:solidFill>
                  <a:schemeClr val="tx1"/>
                </a:solidFill>
                <a:latin typeface="Arial" panose="020B0604020202020204" pitchFamily="34" charset="0"/>
                <a:ea typeface="MS PGothic" panose="020B0600070205080204" pitchFamily="34" charset="-128"/>
                <a:cs typeface="+mn-cs"/>
              </a:defRPr>
            </a:lvl1pPr>
          </a:lstStyle>
          <a:p>
            <a:pPr>
              <a:defRPr/>
            </a:pPr>
            <a:endParaRPr lang="en-US" altLang="zh-CN"/>
          </a:p>
        </p:txBody>
      </p:sp>
      <p:sp>
        <p:nvSpPr>
          <p:cNvPr id="49156" name="Rectangle 4"/>
          <p:cNvSpPr>
            <a:spLocks noGrp="1" noRot="1" noChangeAspect="1" noChangeArrowheads="1" noTextEdit="1"/>
          </p:cNvSpPr>
          <p:nvPr>
            <p:ph type="sldImg" idx="2"/>
          </p:nvPr>
        </p:nvSpPr>
        <p:spPr bwMode="auto">
          <a:xfrm>
            <a:off x="2698750" y="509588"/>
            <a:ext cx="4532313" cy="254952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1323975" y="3228975"/>
            <a:ext cx="7280275" cy="3059113"/>
          </a:xfrm>
          <a:prstGeom prst="rect">
            <a:avLst/>
          </a:prstGeom>
          <a:noFill/>
          <a:ln w="9525">
            <a:noFill/>
            <a:miter lim="800000"/>
          </a:ln>
        </p:spPr>
        <p:txBody>
          <a:bodyPr vert="horz" wrap="square" lIns="91440" tIns="45720" rIns="91440" bIns="45720" numCol="1" anchor="t" anchorCtr="0" compatLnSpc="1"/>
          <a:lstStyle/>
          <a:p>
            <a:pPr lvl="0"/>
            <a:r>
              <a:rPr lang="en-US" altLang="zh-CN" noProof="0"/>
              <a:t>Click to edit Master text styles</a:t>
            </a:r>
            <a:endParaRPr lang="en-US" altLang="zh-CN" noProof="0"/>
          </a:p>
          <a:p>
            <a:pPr lvl="1"/>
            <a:r>
              <a:rPr lang="en-US" altLang="zh-CN" noProof="0"/>
              <a:t>Second level</a:t>
            </a:r>
            <a:endParaRPr lang="en-US" altLang="zh-CN" noProof="0"/>
          </a:p>
          <a:p>
            <a:pPr lvl="2"/>
            <a:r>
              <a:rPr lang="en-US" altLang="zh-CN" noProof="0"/>
              <a:t>Third level</a:t>
            </a:r>
            <a:endParaRPr lang="en-US" altLang="zh-CN" noProof="0"/>
          </a:p>
          <a:p>
            <a:pPr lvl="3"/>
            <a:r>
              <a:rPr lang="en-US" altLang="zh-CN" noProof="0"/>
              <a:t>Fourth level</a:t>
            </a:r>
            <a:endParaRPr lang="en-US" altLang="zh-CN" noProof="0"/>
          </a:p>
          <a:p>
            <a:pPr lvl="4"/>
            <a:r>
              <a:rPr lang="en-US" altLang="zh-CN" noProof="0"/>
              <a:t>Fifth level</a:t>
            </a:r>
            <a:endParaRPr lang="en-US" altLang="zh-CN" noProof="0"/>
          </a:p>
        </p:txBody>
      </p:sp>
      <p:sp>
        <p:nvSpPr>
          <p:cNvPr id="3078" name="Rectangle 6"/>
          <p:cNvSpPr>
            <a:spLocks noGrp="1" noChangeArrowheads="1"/>
          </p:cNvSpPr>
          <p:nvPr>
            <p:ph type="ftr" sz="quarter" idx="4"/>
          </p:nvPr>
        </p:nvSpPr>
        <p:spPr bwMode="auto">
          <a:xfrm>
            <a:off x="0" y="6457950"/>
            <a:ext cx="4302125" cy="339725"/>
          </a:xfrm>
          <a:prstGeom prst="rect">
            <a:avLst/>
          </a:prstGeom>
          <a:noFill/>
          <a:ln w="9525">
            <a:noFill/>
            <a:miter lim="800000"/>
          </a:ln>
        </p:spPr>
        <p:txBody>
          <a:bodyPr vert="horz" wrap="square" lIns="91440" tIns="45720" rIns="91440" bIns="45720" numCol="1" anchor="b" anchorCtr="0" compatLnSpc="1"/>
          <a:lstStyle>
            <a:lvl1pPr eaLnBrk="0" hangingPunct="0">
              <a:defRPr sz="1200" b="0">
                <a:solidFill>
                  <a:schemeClr val="tx1"/>
                </a:solidFill>
                <a:latin typeface="Arial" panose="020B0604020202020204" pitchFamily="34" charset="0"/>
                <a:ea typeface="MS PGothic" panose="020B0600070205080204" pitchFamily="34" charset="-128"/>
                <a:cs typeface="+mn-cs"/>
              </a:defRPr>
            </a:lvl1pPr>
          </a:lstStyle>
          <a:p>
            <a:pPr>
              <a:defRPr/>
            </a:pPr>
            <a:endParaRPr lang="en-US" altLang="zh-CN"/>
          </a:p>
        </p:txBody>
      </p:sp>
      <p:sp>
        <p:nvSpPr>
          <p:cNvPr id="3079" name="Rectangle 7"/>
          <p:cNvSpPr>
            <a:spLocks noGrp="1" noChangeArrowheads="1"/>
          </p:cNvSpPr>
          <p:nvPr>
            <p:ph type="sldNum" sz="quarter" idx="5"/>
          </p:nvPr>
        </p:nvSpPr>
        <p:spPr bwMode="auto">
          <a:xfrm>
            <a:off x="5626100" y="6457950"/>
            <a:ext cx="4302125" cy="339725"/>
          </a:xfrm>
          <a:prstGeom prst="rect">
            <a:avLst/>
          </a:prstGeom>
          <a:noFill/>
          <a:ln w="9525">
            <a:noFill/>
            <a:miter lim="800000"/>
          </a:ln>
        </p:spPr>
        <p:txBody>
          <a:bodyPr vert="horz" wrap="square" lIns="91440" tIns="45720" rIns="91440" bIns="45720" numCol="1" anchor="b" anchorCtr="0" compatLnSpc="1"/>
          <a:lstStyle>
            <a:lvl1pPr algn="r" eaLnBrk="0" hangingPunct="0">
              <a:defRPr sz="1200" b="0">
                <a:solidFill>
                  <a:schemeClr val="tx1"/>
                </a:solidFill>
                <a:latin typeface="Arial" panose="020B0604020202020204" pitchFamily="34" charset="0"/>
                <a:ea typeface="MS PGothic" panose="020B0600070205080204" pitchFamily="34" charset="-128"/>
              </a:defRPr>
            </a:lvl1pPr>
          </a:lstStyle>
          <a:p>
            <a:fld id="{D7BAAFD8-8AF5-4807-BA38-874513E93B2C}"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46"/>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A9128C1D-ED0B-46A0-B654-5C42AE75CA98}" type="datetime1">
              <a:rPr lang="en-US" altLang="zh-CN" smtClean="0"/>
            </a:fld>
            <a:endParaRPr lang="zh-CN" altLang="en-US"/>
          </a:p>
        </p:txBody>
      </p:sp>
      <p:sp>
        <p:nvSpPr>
          <p:cNvPr id="5" name="Rectangle 9"/>
          <p:cNvSpPr>
            <a:spLocks noGrp="1" noChangeArrowheads="1"/>
          </p:cNvSpPr>
          <p:nvPr>
            <p:ph type="sldNum" sz="quarter" idx="11"/>
          </p:nvPr>
        </p:nvSpPr>
        <p:spPr/>
        <p:txBody>
          <a:bodyPr/>
          <a:lstStyle>
            <a:lvl1pPr>
              <a:defRPr/>
            </a:lvl1pPr>
          </a:lstStyle>
          <a:p>
            <a:fld id="{F5C97F9A-45AD-4498-B856-5AF780781397}" type="slidenum">
              <a:rPr lang="zh-CN" altLang="en-US"/>
            </a:fld>
            <a:endParaRPr lang="en-US" altLang="zh-CN"/>
          </a:p>
        </p:txBody>
      </p:sp>
      <p:sp>
        <p:nvSpPr>
          <p:cNvPr id="6" name="Rectangle 8"/>
          <p:cNvSpPr>
            <a:spLocks noGrp="1" noChangeArrowheads="1"/>
          </p:cNvSpPr>
          <p:nvPr>
            <p:ph type="ftr" sz="quarter" idx="12"/>
          </p:nvPr>
        </p:nvSpPr>
        <p:spPr/>
        <p:txBody>
          <a:bodyPr/>
          <a:lstStyle>
            <a:lvl1pPr>
              <a:defRPr/>
            </a:lvl1pPr>
          </a:lstStyle>
          <a:p>
            <a:pPr>
              <a:defRPr/>
            </a:pP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54542" y="755185"/>
            <a:ext cx="12814300" cy="957263"/>
          </a:xfrm>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1672A0A0-4373-49D9-BA24-389BB7432E15}" type="datetime1">
              <a:rPr lang="en-US" altLang="zh-CN" smtClean="0"/>
            </a:fld>
            <a:endParaRPr lang="zh-CN" altLang="en-US"/>
          </a:p>
        </p:txBody>
      </p:sp>
      <p:sp>
        <p:nvSpPr>
          <p:cNvPr id="5" name="Rectangle 9"/>
          <p:cNvSpPr>
            <a:spLocks noGrp="1" noChangeArrowheads="1"/>
          </p:cNvSpPr>
          <p:nvPr>
            <p:ph type="sldNum" sz="quarter" idx="11"/>
          </p:nvPr>
        </p:nvSpPr>
        <p:spPr/>
        <p:txBody>
          <a:bodyPr/>
          <a:lstStyle>
            <a:lvl1pPr>
              <a:defRPr sz="2000">
                <a:latin typeface="Times New Roman" panose="02020603050405020304" pitchFamily="18" charset="0"/>
                <a:cs typeface="Times New Roman" panose="02020603050405020304" pitchFamily="18" charset="0"/>
              </a:defRPr>
            </a:lvl1pPr>
          </a:lstStyle>
          <a:p>
            <a:fld id="{EB7C6F6D-FFA8-468C-AF6A-CB4C27E2EEF8}" type="slidenum">
              <a:rPr lang="zh-CN" altLang="en-US" smtClean="0"/>
            </a:fld>
            <a:endParaRPr lang="en-US" altLang="zh-CN"/>
          </a:p>
        </p:txBody>
      </p:sp>
      <p:sp>
        <p:nvSpPr>
          <p:cNvPr id="6" name="Rectangle 8"/>
          <p:cNvSpPr>
            <a:spLocks noGrp="1" noChangeArrowheads="1"/>
          </p:cNvSpPr>
          <p:nvPr>
            <p:ph type="ftr" sz="quarter" idx="12"/>
          </p:nvPr>
        </p:nvSpPr>
        <p:spPr/>
        <p:txBody>
          <a:bodyPr/>
          <a:lstStyle>
            <a:lvl1pPr>
              <a:defRPr/>
            </a:lvl1pPr>
          </a:lstStyle>
          <a:p>
            <a:pPr>
              <a:defRPr/>
            </a:pPr>
            <a:endParaRPr lang="zh-CN" altLang="en-US"/>
          </a:p>
        </p:txBody>
      </p:sp>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23948" y="18896"/>
            <a:ext cx="1289099" cy="966824"/>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21"/>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FBCED250-6496-4FC0-83A4-45E3486A542A}" type="datetime1">
              <a:rPr lang="en-US" altLang="zh-CN" smtClean="0"/>
            </a:fld>
            <a:endParaRPr lang="zh-CN" altLang="en-US"/>
          </a:p>
        </p:txBody>
      </p:sp>
      <p:sp>
        <p:nvSpPr>
          <p:cNvPr id="5" name="Rectangle 9"/>
          <p:cNvSpPr>
            <a:spLocks noGrp="1" noChangeArrowheads="1"/>
          </p:cNvSpPr>
          <p:nvPr>
            <p:ph type="sldNum" sz="quarter" idx="11"/>
          </p:nvPr>
        </p:nvSpPr>
        <p:spPr/>
        <p:txBody>
          <a:bodyPr/>
          <a:lstStyle>
            <a:lvl1pPr>
              <a:defRPr/>
            </a:lvl1pPr>
          </a:lstStyle>
          <a:p>
            <a:fld id="{EC9360B5-64CB-46AB-9803-AA3C34914FFA}" type="slidenum">
              <a:rPr lang="zh-CN" altLang="en-US"/>
            </a:fld>
            <a:endParaRPr lang="en-US" altLang="zh-CN"/>
          </a:p>
        </p:txBody>
      </p:sp>
      <p:sp>
        <p:nvSpPr>
          <p:cNvPr id="6" name="Rectangle 8"/>
          <p:cNvSpPr>
            <a:spLocks noGrp="1" noChangeArrowheads="1"/>
          </p:cNvSpPr>
          <p:nvPr>
            <p:ph type="ftr" sz="quarter" idx="12"/>
          </p:nvPr>
        </p:nvSpPr>
        <p:spPr/>
        <p:txBody>
          <a:bodyPr/>
          <a:lstStyle>
            <a:lvl1pPr>
              <a:defRPr/>
            </a:lvl1pPr>
          </a:lstStyle>
          <a:p>
            <a:pPr>
              <a:defRPr/>
            </a:pPr>
            <a:endParaRPr lang="zh-CN" altLang="en-US"/>
          </a:p>
        </p:txBody>
      </p:sp>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23948" y="18896"/>
            <a:ext cx="1289099" cy="966824"/>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4418" y="1484313"/>
            <a:ext cx="5325533"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53165" y="1484313"/>
            <a:ext cx="5327649"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7"/>
          <p:cNvSpPr>
            <a:spLocks noGrp="1" noChangeArrowheads="1"/>
          </p:cNvSpPr>
          <p:nvPr>
            <p:ph type="dt" sz="half" idx="10"/>
          </p:nvPr>
        </p:nvSpPr>
        <p:spPr/>
        <p:txBody>
          <a:bodyPr/>
          <a:lstStyle>
            <a:lvl1pPr>
              <a:defRPr/>
            </a:lvl1pPr>
          </a:lstStyle>
          <a:p>
            <a:pPr>
              <a:defRPr/>
            </a:pPr>
            <a:fld id="{B0AD5490-7D55-471A-81B5-0774564F5794}" type="datetime1">
              <a:rPr lang="en-US" altLang="zh-CN" smtClean="0"/>
            </a:fld>
            <a:endParaRPr lang="zh-CN" altLang="en-US"/>
          </a:p>
        </p:txBody>
      </p:sp>
      <p:sp>
        <p:nvSpPr>
          <p:cNvPr id="6" name="Rectangle 9"/>
          <p:cNvSpPr>
            <a:spLocks noGrp="1" noChangeArrowheads="1"/>
          </p:cNvSpPr>
          <p:nvPr>
            <p:ph type="sldNum" sz="quarter" idx="11"/>
          </p:nvPr>
        </p:nvSpPr>
        <p:spPr/>
        <p:txBody>
          <a:bodyPr/>
          <a:lstStyle>
            <a:lvl1pPr>
              <a:defRPr/>
            </a:lvl1pPr>
          </a:lstStyle>
          <a:p>
            <a:fld id="{DD472664-DEE8-44BA-AEBC-3D1BBFC236F8}" type="slidenum">
              <a:rPr lang="zh-CN" altLang="en-US"/>
            </a:fld>
            <a:endParaRPr lang="en-US" altLang="zh-CN"/>
          </a:p>
        </p:txBody>
      </p:sp>
      <p:sp>
        <p:nvSpPr>
          <p:cNvPr id="7" name="Rectangle 8"/>
          <p:cNvSpPr>
            <a:spLocks noGrp="1" noChangeArrowheads="1"/>
          </p:cNvSpPr>
          <p:nvPr>
            <p:ph type="ftr" sz="quarter" idx="12"/>
          </p:nvPr>
        </p:nvSpPr>
        <p:spPr/>
        <p:txBody>
          <a:bodyPr/>
          <a:lstStyle>
            <a:lvl1pPr>
              <a:defRPr/>
            </a:lvl1pPr>
          </a:lstStyle>
          <a:p>
            <a:pPr>
              <a:defRPr/>
            </a:pP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13"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81"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81"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7"/>
          <p:cNvSpPr>
            <a:spLocks noGrp="1" noChangeArrowheads="1"/>
          </p:cNvSpPr>
          <p:nvPr>
            <p:ph type="dt" sz="half" idx="10"/>
          </p:nvPr>
        </p:nvSpPr>
        <p:spPr/>
        <p:txBody>
          <a:bodyPr/>
          <a:lstStyle>
            <a:lvl1pPr>
              <a:defRPr/>
            </a:lvl1pPr>
          </a:lstStyle>
          <a:p>
            <a:pPr>
              <a:defRPr/>
            </a:pPr>
            <a:fld id="{1F5E69C6-574A-4198-BB1C-82EEBF2E1801}" type="datetime1">
              <a:rPr lang="en-US" altLang="zh-CN" smtClean="0"/>
            </a:fld>
            <a:endParaRPr lang="zh-CN" altLang="en-US"/>
          </a:p>
        </p:txBody>
      </p:sp>
      <p:sp>
        <p:nvSpPr>
          <p:cNvPr id="8" name="Rectangle 9"/>
          <p:cNvSpPr>
            <a:spLocks noGrp="1" noChangeArrowheads="1"/>
          </p:cNvSpPr>
          <p:nvPr>
            <p:ph type="sldNum" sz="quarter" idx="11"/>
          </p:nvPr>
        </p:nvSpPr>
        <p:spPr/>
        <p:txBody>
          <a:bodyPr/>
          <a:lstStyle>
            <a:lvl1pPr>
              <a:defRPr/>
            </a:lvl1pPr>
          </a:lstStyle>
          <a:p>
            <a:fld id="{AF32095A-B3D4-4519-AA8C-1D2FCF3507E2}" type="slidenum">
              <a:rPr lang="zh-CN" altLang="en-US"/>
            </a:fld>
            <a:endParaRPr lang="en-US" altLang="zh-CN"/>
          </a:p>
        </p:txBody>
      </p:sp>
      <p:sp>
        <p:nvSpPr>
          <p:cNvPr id="9" name="Rectangle 8"/>
          <p:cNvSpPr>
            <a:spLocks noGrp="1" noChangeArrowheads="1"/>
          </p:cNvSpPr>
          <p:nvPr>
            <p:ph type="ftr" sz="quarter" idx="12"/>
          </p:nvPr>
        </p:nvSpPr>
        <p:spPr/>
        <p:txBody>
          <a:bodyPr/>
          <a:lstStyle>
            <a:lvl1pPr>
              <a:defRPr/>
            </a:lvl1pPr>
          </a:lstStyle>
          <a:p>
            <a:pPr>
              <a:defRPr/>
            </a:pP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4" name="Rectangle 9"/>
          <p:cNvSpPr>
            <a:spLocks noGrp="1" noChangeArrowheads="1"/>
          </p:cNvSpPr>
          <p:nvPr>
            <p:ph type="sldNum" sz="quarter" idx="11"/>
          </p:nvPr>
        </p:nvSpPr>
        <p:spPr/>
        <p:txBody>
          <a:bodyPr/>
          <a:lstStyle>
            <a:lvl1pPr>
              <a:defRPr/>
            </a:lvl1pPr>
          </a:lstStyle>
          <a:p>
            <a:fld id="{64CB864B-4EF4-4434-BB60-762C23849B52}" type="slidenum">
              <a:rPr lang="zh-CN" altLang="en-US"/>
            </a:fld>
            <a:endParaRPr lang="en-US" altLang="zh-CN"/>
          </a:p>
        </p:txBody>
      </p:sp>
      <p:sp>
        <p:nvSpPr>
          <p:cNvPr id="5" name="Rectangle 8"/>
          <p:cNvSpPr>
            <a:spLocks noGrp="1" noChangeArrowheads="1"/>
          </p:cNvSpPr>
          <p:nvPr>
            <p:ph type="ftr" sz="quarter" idx="12"/>
          </p:nvPr>
        </p:nvSpPr>
        <p:spPr/>
        <p:txBody>
          <a:bodyPr/>
          <a:lstStyle>
            <a:lvl1pPr>
              <a:defRPr/>
            </a:lvl1pPr>
          </a:lstStyle>
          <a:p>
            <a:pPr>
              <a:defRPr/>
            </a:pPr>
            <a:endParaRPr lang="zh-CN" altLang="en-US"/>
          </a:p>
        </p:txBody>
      </p:sp>
      <p:pic>
        <p:nvPicPr>
          <p:cNvPr id="6" name="图片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23948" y="18896"/>
            <a:ext cx="1289099" cy="966824"/>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Rectangle 9"/>
          <p:cNvSpPr>
            <a:spLocks noGrp="1" noChangeArrowheads="1"/>
          </p:cNvSpPr>
          <p:nvPr>
            <p:ph type="sldNum" sz="quarter" idx="11"/>
          </p:nvPr>
        </p:nvSpPr>
        <p:spPr/>
        <p:txBody>
          <a:bodyPr/>
          <a:lstStyle>
            <a:lvl1pPr>
              <a:defRPr/>
            </a:lvl1pPr>
          </a:lstStyle>
          <a:p>
            <a:fld id="{217794D7-36C4-4E93-AE7A-0CAF6AF174FC}" type="slidenum">
              <a:rPr lang="zh-CN" altLang="en-US"/>
            </a:fld>
            <a:endParaRPr lang="en-US" altLang="zh-CN"/>
          </a:p>
        </p:txBody>
      </p:sp>
      <p:sp>
        <p:nvSpPr>
          <p:cNvPr id="4" name="Rectangle 8"/>
          <p:cNvSpPr>
            <a:spLocks noGrp="1" noChangeArrowheads="1"/>
          </p:cNvSpPr>
          <p:nvPr>
            <p:ph type="ftr" sz="quarter" idx="12"/>
          </p:nvPr>
        </p:nvSpPr>
        <p:spPr/>
        <p:txBody>
          <a:bodyPr/>
          <a:lstStyle>
            <a:lvl1pPr>
              <a:defRPr/>
            </a:lvl1pPr>
          </a:lstStyle>
          <a:p>
            <a:pPr>
              <a:defRPr/>
            </a:pPr>
            <a:endParaRPr lang="zh-CN" altLang="en-US"/>
          </a:p>
        </p:txBody>
      </p:sp>
      <p:pic>
        <p:nvPicPr>
          <p:cNvPr id="5" name="图片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23948" y="18896"/>
            <a:ext cx="1289099" cy="966824"/>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14" y="273050"/>
            <a:ext cx="4011084"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6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14"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7"/>
          <p:cNvSpPr>
            <a:spLocks noGrp="1" noChangeArrowheads="1"/>
          </p:cNvSpPr>
          <p:nvPr>
            <p:ph type="dt" sz="half" idx="10"/>
          </p:nvPr>
        </p:nvSpPr>
        <p:spPr/>
        <p:txBody>
          <a:bodyPr/>
          <a:lstStyle>
            <a:lvl1pPr>
              <a:defRPr/>
            </a:lvl1pPr>
          </a:lstStyle>
          <a:p>
            <a:pPr>
              <a:defRPr/>
            </a:pPr>
            <a:fld id="{49EE952D-61FE-44C1-96ED-14749303448E}" type="datetime1">
              <a:rPr lang="en-US" altLang="zh-CN" smtClean="0"/>
            </a:fld>
            <a:endParaRPr lang="zh-CN" altLang="en-US"/>
          </a:p>
        </p:txBody>
      </p:sp>
      <p:sp>
        <p:nvSpPr>
          <p:cNvPr id="6" name="Rectangle 9"/>
          <p:cNvSpPr>
            <a:spLocks noGrp="1" noChangeArrowheads="1"/>
          </p:cNvSpPr>
          <p:nvPr>
            <p:ph type="sldNum" sz="quarter" idx="11"/>
          </p:nvPr>
        </p:nvSpPr>
        <p:spPr/>
        <p:txBody>
          <a:bodyPr/>
          <a:lstStyle>
            <a:lvl1pPr>
              <a:defRPr/>
            </a:lvl1pPr>
          </a:lstStyle>
          <a:p>
            <a:fld id="{58BF02F4-5381-4EAA-94F3-16972E022FEE}" type="slidenum">
              <a:rPr lang="zh-CN" altLang="en-US"/>
            </a:fld>
            <a:endParaRPr lang="en-US" altLang="zh-CN"/>
          </a:p>
        </p:txBody>
      </p:sp>
      <p:sp>
        <p:nvSpPr>
          <p:cNvPr id="7" name="Rectangle 8"/>
          <p:cNvSpPr>
            <a:spLocks noGrp="1" noChangeArrowheads="1"/>
          </p:cNvSpPr>
          <p:nvPr>
            <p:ph type="ftr" sz="quarter" idx="12"/>
          </p:nvPr>
        </p:nvSpPr>
        <p:spPr/>
        <p:txBody>
          <a:bodyPr/>
          <a:lstStyle>
            <a:lvl1pPr>
              <a:defRPr/>
            </a:lvl1pPr>
          </a:lstStyle>
          <a:p>
            <a:pPr>
              <a:defRPr/>
            </a:pPr>
            <a:endParaRPr lang="zh-CN" altLang="en-US"/>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23948" y="18896"/>
            <a:ext cx="1289099" cy="966824"/>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7"/>
          <p:cNvSpPr>
            <a:spLocks noGrp="1" noChangeArrowheads="1"/>
          </p:cNvSpPr>
          <p:nvPr>
            <p:ph type="dt" sz="half" idx="10"/>
          </p:nvPr>
        </p:nvSpPr>
        <p:spPr/>
        <p:txBody>
          <a:bodyPr/>
          <a:lstStyle>
            <a:lvl1pPr>
              <a:defRPr/>
            </a:lvl1pPr>
          </a:lstStyle>
          <a:p>
            <a:pPr>
              <a:defRPr/>
            </a:pPr>
            <a:fld id="{5C1FC57A-25E6-407B-AEED-71D456720CA2}" type="datetime1">
              <a:rPr lang="en-US" altLang="zh-CN" smtClean="0"/>
            </a:fld>
            <a:endParaRPr lang="zh-CN" altLang="en-US"/>
          </a:p>
        </p:txBody>
      </p:sp>
      <p:sp>
        <p:nvSpPr>
          <p:cNvPr id="6" name="Rectangle 9"/>
          <p:cNvSpPr>
            <a:spLocks noGrp="1" noChangeArrowheads="1"/>
          </p:cNvSpPr>
          <p:nvPr>
            <p:ph type="sldNum" sz="quarter" idx="11"/>
          </p:nvPr>
        </p:nvSpPr>
        <p:spPr/>
        <p:txBody>
          <a:bodyPr/>
          <a:lstStyle>
            <a:lvl1pPr>
              <a:defRPr/>
            </a:lvl1pPr>
          </a:lstStyle>
          <a:p>
            <a:fld id="{FC47EF18-B5BF-468C-8E72-DE6319A52F22}" type="slidenum">
              <a:rPr lang="zh-CN" altLang="en-US"/>
            </a:fld>
            <a:endParaRPr lang="en-US" altLang="zh-CN"/>
          </a:p>
        </p:txBody>
      </p:sp>
      <p:sp>
        <p:nvSpPr>
          <p:cNvPr id="7" name="Rectangle 8"/>
          <p:cNvSpPr>
            <a:spLocks noGrp="1" noChangeArrowheads="1"/>
          </p:cNvSpPr>
          <p:nvPr>
            <p:ph type="ftr" sz="quarter" idx="12"/>
          </p:nvPr>
        </p:nvSpPr>
        <p:spPr/>
        <p:txBody>
          <a:bodyPr/>
          <a:lstStyle>
            <a:lvl1pPr>
              <a:defRPr/>
            </a:lvl1pPr>
          </a:lstStyle>
          <a:p>
            <a:pPr>
              <a:defRPr/>
            </a:pPr>
            <a:endParaRPr lang="zh-CN" altLang="en-US"/>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23948" y="18896"/>
            <a:ext cx="1289099" cy="966824"/>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pic>
        <p:nvPicPr>
          <p:cNvPr id="3196"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12" descr="a_1"/>
          <p:cNvPicPr>
            <a:picLocks noChangeAspect="1" noChangeArrowheads="1"/>
          </p:cNvPicPr>
          <p:nvPr userDrawn="1"/>
        </p:nvPicPr>
        <p:blipFill>
          <a:blip r:embed="rId3">
            <a:extLst>
              <a:ext uri="{28A0092B-C50C-407E-A947-70E740481C1C}">
                <a14:useLocalDpi xmlns:a14="http://schemas.microsoft.com/office/drawing/2010/main" val="0"/>
              </a:ext>
            </a:extLst>
          </a:blip>
          <a:srcRect l="2174"/>
          <a:stretch>
            <a:fillRect/>
          </a:stretch>
        </p:blipFill>
        <p:spPr bwMode="auto">
          <a:xfrm>
            <a:off x="0" y="0"/>
            <a:ext cx="12192000" cy="530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Rectangle 22"/>
          <p:cNvSpPr>
            <a:spLocks noChangeArrowheads="1"/>
          </p:cNvSpPr>
          <p:nvPr userDrawn="1"/>
        </p:nvSpPr>
        <p:spPr bwMode="gray">
          <a:xfrm>
            <a:off x="0" y="2590800"/>
            <a:ext cx="12192000" cy="1066800"/>
          </a:xfrm>
          <a:prstGeom prst="rect">
            <a:avLst/>
          </a:prstGeom>
          <a:gradFill rotWithShape="1">
            <a:gsLst>
              <a:gs pos="14000">
                <a:srgbClr val="3191D3"/>
              </a:gs>
              <a:gs pos="94000">
                <a:srgbClr val="0099CC"/>
              </a:gs>
            </a:gsLst>
            <a:lin ang="5400000" scaled="1"/>
          </a:gradFill>
          <a:ln w="9525">
            <a:noFill/>
            <a:miter lim="800000"/>
          </a:ln>
          <a:effectLst/>
        </p:spPr>
        <p:txBody>
          <a:bodyPr wrap="none" anchor="ctr"/>
          <a:lstStyle/>
          <a:p>
            <a:pPr>
              <a:defRPr/>
            </a:pPr>
            <a:endParaRPr lang="zh-CN" altLang="en-US" sz="1800" b="0">
              <a:latin typeface="Arial" panose="020B0604020202020204" pitchFamily="34" charset="0"/>
              <a:ea typeface="宋体" panose="02010600030101010101" pitchFamily="2" charset="-122"/>
            </a:endParaRPr>
          </a:p>
        </p:txBody>
      </p:sp>
      <p:sp>
        <p:nvSpPr>
          <p:cNvPr id="33" name="Line 26"/>
          <p:cNvSpPr>
            <a:spLocks noChangeShapeType="1"/>
          </p:cNvSpPr>
          <p:nvPr userDrawn="1"/>
        </p:nvSpPr>
        <p:spPr bwMode="auto">
          <a:xfrm>
            <a:off x="0" y="3657600"/>
            <a:ext cx="12192000" cy="0"/>
          </a:xfrm>
          <a:prstGeom prst="line">
            <a:avLst/>
          </a:prstGeom>
          <a:noFill/>
          <a:ln w="38100">
            <a:solidFill>
              <a:srgbClr val="FFFFFF"/>
            </a:solidFill>
            <a:round/>
          </a:ln>
          <a:effectLst/>
        </p:spPr>
        <p:txBody>
          <a:bodyPr/>
          <a:lstStyle/>
          <a:p>
            <a:pPr>
              <a:defRPr/>
            </a:pPr>
            <a:endParaRPr lang="zh-CN" altLang="en-US" sz="1800" b="0">
              <a:latin typeface="Arial" panose="020B0604020202020204" pitchFamily="34" charset="0"/>
              <a:ea typeface="宋体" panose="02010600030101010101" pitchFamily="2" charset="-122"/>
            </a:endParaRPr>
          </a:p>
        </p:txBody>
      </p:sp>
      <p:sp>
        <p:nvSpPr>
          <p:cNvPr id="34" name="Line 27"/>
          <p:cNvSpPr>
            <a:spLocks noChangeShapeType="1"/>
          </p:cNvSpPr>
          <p:nvPr userDrawn="1"/>
        </p:nvSpPr>
        <p:spPr bwMode="auto">
          <a:xfrm>
            <a:off x="0" y="2590800"/>
            <a:ext cx="12192000" cy="0"/>
          </a:xfrm>
          <a:prstGeom prst="line">
            <a:avLst/>
          </a:prstGeom>
          <a:noFill/>
          <a:ln w="38100">
            <a:solidFill>
              <a:srgbClr val="FFFFFF"/>
            </a:solidFill>
            <a:round/>
          </a:ln>
          <a:effectLst/>
        </p:spPr>
        <p:txBody>
          <a:bodyPr/>
          <a:lstStyle/>
          <a:p>
            <a:pPr>
              <a:defRPr/>
            </a:pPr>
            <a:endParaRPr lang="zh-CN" altLang="en-US" sz="1800" b="0">
              <a:latin typeface="Arial" panose="020B0604020202020204" pitchFamily="34" charset="0"/>
              <a:ea typeface="宋体" panose="02010600030101010101" pitchFamily="2" charset="-122"/>
            </a:endParaRPr>
          </a:p>
        </p:txBody>
      </p:sp>
      <p:sp>
        <p:nvSpPr>
          <p:cNvPr id="35" name="Rectangle 29"/>
          <p:cNvSpPr>
            <a:spLocks noChangeArrowheads="1"/>
          </p:cNvSpPr>
          <p:nvPr userDrawn="1"/>
        </p:nvSpPr>
        <p:spPr bwMode="gray">
          <a:xfrm>
            <a:off x="1" y="0"/>
            <a:ext cx="12189884" cy="1447800"/>
          </a:xfrm>
          <a:prstGeom prst="rect">
            <a:avLst/>
          </a:prstGeom>
          <a:gradFill rotWithShape="1">
            <a:gsLst>
              <a:gs pos="0">
                <a:srgbClr val="81CFEB">
                  <a:alpha val="19000"/>
                </a:srgbClr>
              </a:gs>
              <a:gs pos="100000">
                <a:srgbClr val="81CFEB">
                  <a:gamma/>
                  <a:tint val="0"/>
                  <a:invGamma/>
                </a:srgbClr>
              </a:gs>
            </a:gsLst>
            <a:lin ang="5400000" scaled="1"/>
          </a:gradFill>
          <a:ln w="0" algn="ctr">
            <a:noFill/>
            <a:miter lim="800000"/>
          </a:ln>
          <a:effectLst/>
        </p:spPr>
        <p:txBody>
          <a:bodyPr wrap="none" anchor="ctr"/>
          <a:lstStyle/>
          <a:p>
            <a:pPr>
              <a:defRPr/>
            </a:pPr>
            <a:endParaRPr lang="zh-CN" altLang="en-US" sz="1800" b="0">
              <a:latin typeface="Arial" panose="020B0604020202020204" pitchFamily="34" charset="0"/>
              <a:ea typeface="宋体" panose="02010600030101010101" pitchFamily="2" charset="-122"/>
            </a:endParaRPr>
          </a:p>
        </p:txBody>
      </p:sp>
      <p:sp>
        <p:nvSpPr>
          <p:cNvPr id="36" name="Rectangle 33"/>
          <p:cNvSpPr>
            <a:spLocks noChangeArrowheads="1"/>
          </p:cNvSpPr>
          <p:nvPr userDrawn="1"/>
        </p:nvSpPr>
        <p:spPr bwMode="auto">
          <a:xfrm>
            <a:off x="0" y="1447800"/>
            <a:ext cx="12192000" cy="1143000"/>
          </a:xfrm>
          <a:prstGeom prst="rect">
            <a:avLst/>
          </a:prstGeom>
          <a:solidFill>
            <a:srgbClr val="FFFFFF"/>
          </a:solidFill>
          <a:ln w="9525">
            <a:noFill/>
            <a:miter lim="800000"/>
          </a:ln>
          <a:effectLst/>
        </p:spPr>
        <p:txBody>
          <a:bodyPr wrap="none" anchor="ctr"/>
          <a:lstStyle/>
          <a:p>
            <a:pPr>
              <a:defRPr/>
            </a:pPr>
            <a:endParaRPr lang="zh-CN" altLang="en-US" sz="1800" b="0">
              <a:latin typeface="Arial" panose="020B0604020202020204" pitchFamily="34" charset="0"/>
              <a:ea typeface="宋体" panose="02010600030101010101" pitchFamily="2" charset="-122"/>
            </a:endParaRPr>
          </a:p>
        </p:txBody>
      </p:sp>
      <p:sp>
        <p:nvSpPr>
          <p:cNvPr id="38" name="Line 34"/>
          <p:cNvSpPr>
            <a:spLocks noChangeShapeType="1"/>
          </p:cNvSpPr>
          <p:nvPr userDrawn="1"/>
        </p:nvSpPr>
        <p:spPr bwMode="auto">
          <a:xfrm>
            <a:off x="0" y="2590800"/>
            <a:ext cx="12192000" cy="0"/>
          </a:xfrm>
          <a:prstGeom prst="line">
            <a:avLst/>
          </a:prstGeom>
          <a:noFill/>
          <a:ln w="38100">
            <a:solidFill>
              <a:srgbClr val="FFFFFF"/>
            </a:solidFill>
            <a:round/>
          </a:ln>
          <a:effectLst/>
        </p:spPr>
        <p:txBody>
          <a:bodyPr/>
          <a:lstStyle/>
          <a:p>
            <a:pPr>
              <a:defRPr/>
            </a:pPr>
            <a:endParaRPr lang="zh-CN" altLang="en-US" sz="1800" b="0">
              <a:latin typeface="Arial" panose="020B0604020202020204" pitchFamily="34" charset="0"/>
              <a:ea typeface="宋体" panose="02010600030101010101" pitchFamily="2" charset="-122"/>
            </a:endParaRPr>
          </a:p>
        </p:txBody>
      </p:sp>
      <p:sp>
        <p:nvSpPr>
          <p:cNvPr id="39" name="Rectangle 4"/>
          <p:cNvSpPr>
            <a:spLocks noGrp="1" noChangeArrowheads="1"/>
          </p:cNvSpPr>
          <p:nvPr>
            <p:ph type="dt" sz="half" idx="2"/>
          </p:nvPr>
        </p:nvSpPr>
        <p:spPr>
          <a:xfrm>
            <a:off x="609600" y="6245225"/>
            <a:ext cx="2844800" cy="476250"/>
          </a:xfrm>
          <a:noFill/>
          <a:ln>
            <a:miter lim="800000"/>
          </a:ln>
        </p:spPr>
        <p:txBody>
          <a:bodyPr/>
          <a:lstStyle>
            <a:lvl1pPr>
              <a:defRPr/>
            </a:lvl1pPr>
          </a:lstStyle>
          <a:p>
            <a:fld id="{A824FA6D-2D6D-4047-9193-6333380C8E92}" type="datetime1">
              <a:rPr lang="en-US" altLang="zh-CN" smtClean="0"/>
            </a:fld>
            <a:endParaRPr lang="en-US" altLang="zh-CN"/>
          </a:p>
        </p:txBody>
      </p:sp>
      <p:sp>
        <p:nvSpPr>
          <p:cNvPr id="40" name="Rectangle 5"/>
          <p:cNvSpPr>
            <a:spLocks noGrp="1" noChangeArrowheads="1"/>
          </p:cNvSpPr>
          <p:nvPr>
            <p:ph type="ftr" sz="quarter" idx="3"/>
          </p:nvPr>
        </p:nvSpPr>
        <p:spPr bwMode="auto">
          <a:xfrm>
            <a:off x="4165600" y="6245225"/>
            <a:ext cx="3860800" cy="476250"/>
          </a:xfrm>
          <a:prstGeom prst="rect">
            <a:avLst/>
          </a:prstGeom>
          <a:ln>
            <a:miter lim="800000"/>
          </a:ln>
        </p:spPr>
        <p:txBody>
          <a:bodyPr vert="horz" wrap="square" lIns="91440" tIns="45720" rIns="91440" bIns="45720" numCol="1" anchor="t" anchorCtr="0" compatLnSpc="1"/>
          <a:lstStyle>
            <a:lvl1pPr algn="ctr">
              <a:defRPr sz="1400" b="0">
                <a:ea typeface="宋体" panose="02010600030101010101" pitchFamily="2" charset="-122"/>
              </a:defRPr>
            </a:lvl1pPr>
          </a:lstStyle>
          <a:p>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dgm">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1219200" y="381001"/>
            <a:ext cx="8940800" cy="563563"/>
          </a:xfrm>
        </p:spPr>
        <p:txBody>
          <a:bodyPr/>
          <a:lstStyle/>
          <a:p>
            <a:r>
              <a:rPr lang="zh-CN" altLang="en-US"/>
              <a:t>单击此处编辑母版标题样式</a:t>
            </a:r>
            <a:endParaRPr lang="zh-CN" altLang="en-US"/>
          </a:p>
        </p:txBody>
      </p:sp>
      <p:sp>
        <p:nvSpPr>
          <p:cNvPr id="3" name="SmartArt 占位符 2"/>
          <p:cNvSpPr>
            <a:spLocks noGrp="1"/>
          </p:cNvSpPr>
          <p:nvPr>
            <p:ph type="pic" idx="1"/>
          </p:nvPr>
        </p:nvSpPr>
        <p:spPr>
          <a:xfrm>
            <a:off x="508000" y="1066801"/>
            <a:ext cx="10972800" cy="5400675"/>
          </a:xfrm>
        </p:spPr>
        <p:txBody>
          <a:bodyPr/>
          <a:lstStyle/>
          <a:p>
            <a:endParaRPr lang="zh-CN" altLang="en-US"/>
          </a:p>
        </p:txBody>
      </p:sp>
      <p:sp>
        <p:nvSpPr>
          <p:cNvPr id="5" name="灯片编号占位符 4"/>
          <p:cNvSpPr>
            <a:spLocks noGrp="1"/>
          </p:cNvSpPr>
          <p:nvPr>
            <p:ph type="sldNum" sz="quarter" idx="11"/>
          </p:nvPr>
        </p:nvSpPr>
        <p:spPr>
          <a:xfrm>
            <a:off x="11480800" y="6553200"/>
            <a:ext cx="609600" cy="228600"/>
          </a:xfrm>
        </p:spPr>
        <p:txBody>
          <a:bodyPr/>
          <a:lstStyle>
            <a:lvl1pPr>
              <a:defRPr/>
            </a:lvl1pPr>
          </a:lstStyle>
          <a:p>
            <a:fld id="{B3C7F7FE-F591-4024-B354-EAC5CFD677D1}" type="slidenum">
              <a:rPr lang="zh-CN" altLang="en-US"/>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219200" y="381001"/>
            <a:ext cx="8940800" cy="563563"/>
          </a:xfrm>
        </p:spPr>
        <p:txBody>
          <a:bodyPr/>
          <a:lstStyle/>
          <a:p>
            <a:r>
              <a:rPr lang="zh-CN" altLang="en-US" dirty="0"/>
              <a:t>单击此处编辑母版标题样式</a:t>
            </a:r>
            <a:endParaRPr lang="zh-CN" altLang="en-US" dirty="0"/>
          </a:p>
        </p:txBody>
      </p:sp>
      <p:sp>
        <p:nvSpPr>
          <p:cNvPr id="3" name="表格占位符 2"/>
          <p:cNvSpPr>
            <a:spLocks noGrp="1"/>
          </p:cNvSpPr>
          <p:nvPr>
            <p:ph type="tbl" idx="1"/>
          </p:nvPr>
        </p:nvSpPr>
        <p:spPr>
          <a:xfrm>
            <a:off x="508000" y="1066801"/>
            <a:ext cx="10972800" cy="5400675"/>
          </a:xfrm>
        </p:spPr>
        <p:txBody>
          <a:bodyPr/>
          <a:lstStyle/>
          <a:p>
            <a:endParaRPr lang="zh-CN" altLang="en-US"/>
          </a:p>
        </p:txBody>
      </p:sp>
      <p:sp>
        <p:nvSpPr>
          <p:cNvPr id="4" name="日期占位符 3"/>
          <p:cNvSpPr>
            <a:spLocks noGrp="1"/>
          </p:cNvSpPr>
          <p:nvPr>
            <p:ph type="dt" sz="half" idx="10"/>
          </p:nvPr>
        </p:nvSpPr>
        <p:spPr>
          <a:xfrm>
            <a:off x="101600" y="6553201"/>
            <a:ext cx="2844800" cy="244475"/>
          </a:xfrm>
        </p:spPr>
        <p:txBody>
          <a:bodyPr/>
          <a:lstStyle>
            <a:lvl1pPr>
              <a:defRPr/>
            </a:lvl1pPr>
          </a:lstStyle>
          <a:p>
            <a:fld id="{2332288E-54C1-4959-8B17-BE5786665258}" type="datetime1">
              <a:rPr lang="en-US" altLang="zh-CN" smtClean="0"/>
            </a:fld>
            <a:endParaRPr lang="en-US" altLang="zh-CN"/>
          </a:p>
        </p:txBody>
      </p:sp>
      <p:sp>
        <p:nvSpPr>
          <p:cNvPr id="5" name="灯片编号占位符 4"/>
          <p:cNvSpPr>
            <a:spLocks noGrp="1"/>
          </p:cNvSpPr>
          <p:nvPr>
            <p:ph type="sldNum" sz="quarter" idx="11"/>
          </p:nvPr>
        </p:nvSpPr>
        <p:spPr>
          <a:xfrm>
            <a:off x="11480800" y="6553200"/>
            <a:ext cx="609600" cy="228600"/>
          </a:xfrm>
        </p:spPr>
        <p:txBody>
          <a:bodyPr/>
          <a:lstStyle>
            <a:lvl1pPr>
              <a:defRPr/>
            </a:lvl1pPr>
          </a:lstStyle>
          <a:p>
            <a:fld id="{D19B6394-FEB0-405D-BB54-3675ABA41618}" type="slidenum">
              <a:rPr lang="zh-CN" altLang="en-US"/>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pPr>
              <a:defRPr/>
            </a:pPr>
            <a:fld id="{9297E5A3-57E4-43F7-946A-5C66CF70BF06}" type="datetime1">
              <a:rPr lang="en-US" altLang="zh-CN"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F5C97F9A-45AD-4498-B856-5AF780781397}" type="slidenum">
              <a:rPr lang="zh-CN" altLang="en-US" smtClean="0"/>
            </a:fld>
            <a:endParaRPr lang="en-US" altLang="zh-CN"/>
          </a:p>
        </p:txBody>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a:defRPr/>
            </a:pPr>
            <a:fld id="{331B025C-90F1-4033-8D58-9A7D30B87B80}" type="datetime1">
              <a:rPr lang="en-US" altLang="zh-CN"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EB7C6F6D-FFA8-468C-AF6A-CB4C27E2EEF8}" type="slidenum">
              <a:rPr lang="zh-CN" altLang="en-US" smtClean="0"/>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pPr>
              <a:defRPr/>
            </a:pPr>
            <a:fld id="{B1CFEE73-20F7-474A-B173-6307B936A446}" type="datetime1">
              <a:rPr lang="en-US" altLang="zh-CN"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EC9360B5-64CB-46AB-9803-AA3C34914FFA}" type="slidenum">
              <a:rPr lang="zh-CN" altLang="en-US" smtClean="0"/>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pPr>
              <a:defRPr/>
            </a:pPr>
            <a:fld id="{1E44B93E-9018-43F3-8F45-02E6CCE6BD59}" type="datetime1">
              <a:rPr lang="en-US" altLang="zh-CN" smtClean="0"/>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fld id="{DD472664-DEE8-44BA-AEBC-3D1BBFC236F8}" type="slidenum">
              <a:rPr lang="zh-CN" altLang="en-US" smtClean="0"/>
            </a:fld>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pPr>
              <a:defRPr/>
            </a:pPr>
            <a:fld id="{F8030875-4EDC-49FE-8485-0A8E7292A3BE}" type="datetime1">
              <a:rPr lang="en-US" altLang="zh-CN" smtClean="0"/>
            </a:fld>
            <a:endParaRPr lang="zh-CN" altLang="en-US"/>
          </a:p>
        </p:txBody>
      </p:sp>
      <p:sp>
        <p:nvSpPr>
          <p:cNvPr id="8" name="Footer Placeholder 7"/>
          <p:cNvSpPr>
            <a:spLocks noGrp="1"/>
          </p:cNvSpPr>
          <p:nvPr>
            <p:ph type="ftr" sz="quarter" idx="11"/>
          </p:nvPr>
        </p:nvSpPr>
        <p:spPr/>
        <p:txBody>
          <a:bodyPr/>
          <a:lstStyle/>
          <a:p>
            <a:pPr>
              <a:defRPr/>
            </a:pPr>
            <a:endParaRPr lang="zh-CN" altLang="en-US"/>
          </a:p>
        </p:txBody>
      </p:sp>
      <p:sp>
        <p:nvSpPr>
          <p:cNvPr id="9" name="Slide Number Placeholder 8"/>
          <p:cNvSpPr>
            <a:spLocks noGrp="1"/>
          </p:cNvSpPr>
          <p:nvPr>
            <p:ph type="sldNum" sz="quarter" idx="12"/>
          </p:nvPr>
        </p:nvSpPr>
        <p:spPr/>
        <p:txBody>
          <a:bodyPr/>
          <a:lstStyle/>
          <a:p>
            <a:fld id="{AF32095A-B3D4-4519-AA8C-1D2FCF3507E2}" type="slidenum">
              <a:rPr lang="zh-CN" altLang="en-US" smtClean="0"/>
            </a:fld>
            <a:endParaRPr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4F7ECC3-19A3-4181-A332-9AEEBE1C7265}" type="datetime1">
              <a:rPr lang="en-US" altLang="zh-CN" smtClean="0"/>
            </a:fld>
            <a:endParaRPr lang="en-US" dirty="0"/>
          </a:p>
        </p:txBody>
      </p:sp>
      <p:sp>
        <p:nvSpPr>
          <p:cNvPr id="4" name="Footer Placeholder 3"/>
          <p:cNvSpPr>
            <a:spLocks noGrp="1"/>
          </p:cNvSpPr>
          <p:nvPr>
            <p:ph type="ftr" sz="quarter" idx="11"/>
          </p:nvPr>
        </p:nvSpPr>
        <p:spPr/>
        <p:txBody>
          <a:bodyPr/>
          <a:lstStyle/>
          <a:p>
            <a:pPr>
              <a:defRPr/>
            </a:pPr>
            <a:endParaRPr lang="zh-CN" altLang="en-US"/>
          </a:p>
        </p:txBody>
      </p:sp>
      <p:sp>
        <p:nvSpPr>
          <p:cNvPr id="5" name="Slide Number Placeholder 4"/>
          <p:cNvSpPr>
            <a:spLocks noGrp="1"/>
          </p:cNvSpPr>
          <p:nvPr>
            <p:ph type="sldNum" sz="quarter" idx="12"/>
          </p:nvPr>
        </p:nvSpPr>
        <p:spPr/>
        <p:txBody>
          <a:bodyPr/>
          <a:lstStyle/>
          <a:p>
            <a:fld id="{64CB864B-4EF4-4434-BB60-762C23849B52}" type="slidenum">
              <a:rPr lang="zh-CN" altLang="en-US" smtClean="0"/>
            </a:fld>
            <a:endParaRPr lang="en-US" alt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55073A-8F40-4D0C-A35F-C94788AEE746}" type="datetime1">
              <a:rPr lang="en-US" altLang="zh-CN" smtClean="0"/>
            </a:fld>
            <a:endParaRPr lang="en-US" dirty="0"/>
          </a:p>
        </p:txBody>
      </p:sp>
      <p:sp>
        <p:nvSpPr>
          <p:cNvPr id="3" name="Footer Placeholder 2"/>
          <p:cNvSpPr>
            <a:spLocks noGrp="1"/>
          </p:cNvSpPr>
          <p:nvPr>
            <p:ph type="ftr" sz="quarter" idx="11"/>
          </p:nvPr>
        </p:nvSpPr>
        <p:spPr/>
        <p:txBody>
          <a:bodyPr/>
          <a:lstStyle/>
          <a:p>
            <a:pPr>
              <a:defRPr/>
            </a:pPr>
            <a:endParaRPr lang="zh-CN" altLang="en-US"/>
          </a:p>
        </p:txBody>
      </p:sp>
      <p:sp>
        <p:nvSpPr>
          <p:cNvPr id="4" name="Slide Number Placeholder 3"/>
          <p:cNvSpPr>
            <a:spLocks noGrp="1"/>
          </p:cNvSpPr>
          <p:nvPr>
            <p:ph type="sldNum" sz="quarter" idx="12"/>
          </p:nvPr>
        </p:nvSpPr>
        <p:spPr>
          <a:xfrm>
            <a:off x="8997395" y="6331565"/>
            <a:ext cx="2743200" cy="365125"/>
          </a:xfrm>
        </p:spPr>
        <p:txBody>
          <a:bodyPr/>
          <a:lstStyle>
            <a:lvl1pPr>
              <a:defRPr sz="2000">
                <a:latin typeface="Times New Roman" panose="02020603050405020304" pitchFamily="18" charset="0"/>
                <a:cs typeface="Times New Roman" panose="02020603050405020304" pitchFamily="18" charset="0"/>
              </a:defRPr>
            </a:lvl1pPr>
          </a:lstStyle>
          <a:p>
            <a:fld id="{217794D7-36C4-4E93-AE7A-0CAF6AF174FC}" type="slidenum">
              <a:rPr lang="zh-CN" altLang="en-US" smtClean="0"/>
            </a:fld>
            <a:endParaRPr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pPr>
              <a:defRPr/>
            </a:pPr>
            <a:fld id="{952A4D5A-E928-4439-A3EE-2D2F07FF6B2B}" type="datetime1">
              <a:rPr lang="en-US" altLang="zh-CN" smtClean="0"/>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fld id="{58BF02F4-5381-4EAA-94F3-16972E022FEE}" type="slidenum">
              <a:rPr lang="zh-CN" altLang="en-US" smtClean="0"/>
            </a:fld>
            <a:endParaRPr lang="en-US" alt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pPr>
              <a:defRPr/>
            </a:pPr>
            <a:fld id="{D6C22A9A-31D9-4B6A-AF9C-57334A67958E}" type="datetime1">
              <a:rPr lang="en-US" altLang="zh-CN" smtClean="0"/>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fld id="{FC47EF18-B5BF-468C-8E72-DE6319A52F22}" type="slidenum">
              <a:rPr lang="zh-CN" altLang="en-US" smtClean="0"/>
            </a:fld>
            <a:endParaRPr lang="en-US"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a:defRPr/>
            </a:pPr>
            <a:fld id="{89B1ED25-F041-4272-ACD5-16F44E2DA613}" type="datetime1">
              <a:rPr lang="en-US" altLang="zh-CN"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8AF99495-4C70-4DA1-B4FD-AE3C2F6741A9}" type="slidenum">
              <a:rPr lang="zh-CN" altLang="en-US" smtClean="0"/>
            </a:fld>
            <a:endParaRPr lang="en-US" alt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a:defRPr/>
            </a:pPr>
            <a:fld id="{DB3FB983-6C20-4E69-A150-2562B2F4CD5F}" type="datetime1">
              <a:rPr lang="en-US" altLang="zh-CN"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8AF99495-4C70-4DA1-B4FD-AE3C2F6741A9}" type="slidenum">
              <a:rPr lang="zh-CN" altLang="en-US" smtClean="0"/>
            </a:fld>
            <a:endParaRPr lang="en-US" altLang="zh-C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pic>
        <p:nvPicPr>
          <p:cNvPr id="3196"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12" descr="a_1"/>
          <p:cNvPicPr>
            <a:picLocks noChangeAspect="1" noChangeArrowheads="1"/>
          </p:cNvPicPr>
          <p:nvPr userDrawn="1"/>
        </p:nvPicPr>
        <p:blipFill>
          <a:blip r:embed="rId3">
            <a:extLst>
              <a:ext uri="{28A0092B-C50C-407E-A947-70E740481C1C}">
                <a14:useLocalDpi xmlns:a14="http://schemas.microsoft.com/office/drawing/2010/main" val="0"/>
              </a:ext>
            </a:extLst>
          </a:blip>
          <a:srcRect l="2174"/>
          <a:stretch>
            <a:fillRect/>
          </a:stretch>
        </p:blipFill>
        <p:spPr bwMode="auto">
          <a:xfrm>
            <a:off x="0" y="0"/>
            <a:ext cx="12192000" cy="530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Rectangle 22"/>
          <p:cNvSpPr>
            <a:spLocks noChangeArrowheads="1"/>
          </p:cNvSpPr>
          <p:nvPr userDrawn="1"/>
        </p:nvSpPr>
        <p:spPr bwMode="gray">
          <a:xfrm>
            <a:off x="0" y="2590800"/>
            <a:ext cx="12192000" cy="1066800"/>
          </a:xfrm>
          <a:prstGeom prst="rect">
            <a:avLst/>
          </a:prstGeom>
          <a:gradFill rotWithShape="1">
            <a:gsLst>
              <a:gs pos="14000">
                <a:srgbClr val="3191D3"/>
              </a:gs>
              <a:gs pos="94000">
                <a:srgbClr val="0099CC"/>
              </a:gs>
            </a:gsLst>
            <a:lin ang="5400000" scaled="1"/>
          </a:gradFill>
          <a:ln w="9525">
            <a:noFill/>
            <a:miter lim="800000"/>
          </a:ln>
          <a:effectLst/>
        </p:spPr>
        <p:txBody>
          <a:bodyPr wrap="none" anchor="ctr"/>
          <a:lstStyle/>
          <a:p>
            <a:pPr>
              <a:defRPr/>
            </a:pPr>
            <a:endParaRPr lang="zh-CN" altLang="en-US" sz="1800" b="0">
              <a:latin typeface="Arial" panose="020B0604020202020204" pitchFamily="34" charset="0"/>
              <a:ea typeface="宋体" panose="02010600030101010101" pitchFamily="2" charset="-122"/>
            </a:endParaRPr>
          </a:p>
        </p:txBody>
      </p:sp>
      <p:sp>
        <p:nvSpPr>
          <p:cNvPr id="33" name="Line 26"/>
          <p:cNvSpPr>
            <a:spLocks noChangeShapeType="1"/>
          </p:cNvSpPr>
          <p:nvPr userDrawn="1"/>
        </p:nvSpPr>
        <p:spPr bwMode="auto">
          <a:xfrm>
            <a:off x="0" y="3657600"/>
            <a:ext cx="12192000" cy="0"/>
          </a:xfrm>
          <a:prstGeom prst="line">
            <a:avLst/>
          </a:prstGeom>
          <a:noFill/>
          <a:ln w="38100">
            <a:solidFill>
              <a:srgbClr val="FFFFFF"/>
            </a:solidFill>
            <a:round/>
          </a:ln>
          <a:effectLst/>
        </p:spPr>
        <p:txBody>
          <a:bodyPr/>
          <a:lstStyle/>
          <a:p>
            <a:pPr>
              <a:defRPr/>
            </a:pPr>
            <a:endParaRPr lang="zh-CN" altLang="en-US" sz="1800" b="0">
              <a:latin typeface="Arial" panose="020B0604020202020204" pitchFamily="34" charset="0"/>
              <a:ea typeface="宋体" panose="02010600030101010101" pitchFamily="2" charset="-122"/>
            </a:endParaRPr>
          </a:p>
        </p:txBody>
      </p:sp>
      <p:sp>
        <p:nvSpPr>
          <p:cNvPr id="34" name="Line 27"/>
          <p:cNvSpPr>
            <a:spLocks noChangeShapeType="1"/>
          </p:cNvSpPr>
          <p:nvPr userDrawn="1"/>
        </p:nvSpPr>
        <p:spPr bwMode="auto">
          <a:xfrm>
            <a:off x="0" y="2590800"/>
            <a:ext cx="12192000" cy="0"/>
          </a:xfrm>
          <a:prstGeom prst="line">
            <a:avLst/>
          </a:prstGeom>
          <a:noFill/>
          <a:ln w="38100">
            <a:solidFill>
              <a:srgbClr val="FFFFFF"/>
            </a:solidFill>
            <a:round/>
          </a:ln>
          <a:effectLst/>
        </p:spPr>
        <p:txBody>
          <a:bodyPr/>
          <a:lstStyle/>
          <a:p>
            <a:pPr>
              <a:defRPr/>
            </a:pPr>
            <a:endParaRPr lang="zh-CN" altLang="en-US" sz="1800" b="0">
              <a:latin typeface="Arial" panose="020B0604020202020204" pitchFamily="34" charset="0"/>
              <a:ea typeface="宋体" panose="02010600030101010101" pitchFamily="2" charset="-122"/>
            </a:endParaRPr>
          </a:p>
        </p:txBody>
      </p:sp>
      <p:sp>
        <p:nvSpPr>
          <p:cNvPr id="35" name="Rectangle 29"/>
          <p:cNvSpPr>
            <a:spLocks noChangeArrowheads="1"/>
          </p:cNvSpPr>
          <p:nvPr userDrawn="1"/>
        </p:nvSpPr>
        <p:spPr bwMode="gray">
          <a:xfrm>
            <a:off x="1" y="0"/>
            <a:ext cx="12189884" cy="1447800"/>
          </a:xfrm>
          <a:prstGeom prst="rect">
            <a:avLst/>
          </a:prstGeom>
          <a:gradFill rotWithShape="1">
            <a:gsLst>
              <a:gs pos="0">
                <a:srgbClr val="81CFEB">
                  <a:alpha val="19000"/>
                </a:srgbClr>
              </a:gs>
              <a:gs pos="100000">
                <a:srgbClr val="81CFEB">
                  <a:gamma/>
                  <a:tint val="0"/>
                  <a:invGamma/>
                </a:srgbClr>
              </a:gs>
            </a:gsLst>
            <a:lin ang="5400000" scaled="1"/>
          </a:gradFill>
          <a:ln w="0" algn="ctr">
            <a:noFill/>
            <a:miter lim="800000"/>
          </a:ln>
          <a:effectLst/>
        </p:spPr>
        <p:txBody>
          <a:bodyPr wrap="none" anchor="ctr"/>
          <a:lstStyle/>
          <a:p>
            <a:pPr>
              <a:defRPr/>
            </a:pPr>
            <a:endParaRPr lang="zh-CN" altLang="en-US" sz="1800" b="0">
              <a:latin typeface="Arial" panose="020B0604020202020204" pitchFamily="34" charset="0"/>
              <a:ea typeface="宋体" panose="02010600030101010101" pitchFamily="2" charset="-122"/>
            </a:endParaRPr>
          </a:p>
        </p:txBody>
      </p:sp>
      <p:sp>
        <p:nvSpPr>
          <p:cNvPr id="36" name="Rectangle 33"/>
          <p:cNvSpPr>
            <a:spLocks noChangeArrowheads="1"/>
          </p:cNvSpPr>
          <p:nvPr userDrawn="1"/>
        </p:nvSpPr>
        <p:spPr bwMode="auto">
          <a:xfrm>
            <a:off x="0" y="1447800"/>
            <a:ext cx="12192000" cy="1143000"/>
          </a:xfrm>
          <a:prstGeom prst="rect">
            <a:avLst/>
          </a:prstGeom>
          <a:solidFill>
            <a:srgbClr val="FFFFFF"/>
          </a:solidFill>
          <a:ln w="9525">
            <a:noFill/>
            <a:miter lim="800000"/>
          </a:ln>
          <a:effectLst/>
        </p:spPr>
        <p:txBody>
          <a:bodyPr wrap="none" anchor="ctr"/>
          <a:lstStyle/>
          <a:p>
            <a:pPr>
              <a:defRPr/>
            </a:pPr>
            <a:endParaRPr lang="zh-CN" altLang="en-US" sz="1800" b="0">
              <a:latin typeface="Arial" panose="020B0604020202020204" pitchFamily="34" charset="0"/>
              <a:ea typeface="宋体" panose="02010600030101010101" pitchFamily="2" charset="-122"/>
            </a:endParaRPr>
          </a:p>
        </p:txBody>
      </p:sp>
      <p:sp>
        <p:nvSpPr>
          <p:cNvPr id="38" name="Line 34"/>
          <p:cNvSpPr>
            <a:spLocks noChangeShapeType="1"/>
          </p:cNvSpPr>
          <p:nvPr userDrawn="1"/>
        </p:nvSpPr>
        <p:spPr bwMode="auto">
          <a:xfrm>
            <a:off x="0" y="2590800"/>
            <a:ext cx="12192000" cy="0"/>
          </a:xfrm>
          <a:prstGeom prst="line">
            <a:avLst/>
          </a:prstGeom>
          <a:noFill/>
          <a:ln w="38100">
            <a:solidFill>
              <a:srgbClr val="FFFFFF"/>
            </a:solidFill>
            <a:round/>
          </a:ln>
          <a:effectLst/>
        </p:spPr>
        <p:txBody>
          <a:bodyPr/>
          <a:lstStyle/>
          <a:p>
            <a:pPr>
              <a:defRPr/>
            </a:pPr>
            <a:endParaRPr lang="zh-CN" altLang="en-US" sz="1800" b="0">
              <a:latin typeface="Arial" panose="020B0604020202020204" pitchFamily="34" charset="0"/>
              <a:ea typeface="宋体" panose="02010600030101010101" pitchFamily="2" charset="-122"/>
            </a:endParaRPr>
          </a:p>
        </p:txBody>
      </p:sp>
      <p:sp>
        <p:nvSpPr>
          <p:cNvPr id="39" name="Rectangle 4"/>
          <p:cNvSpPr>
            <a:spLocks noGrp="1" noChangeArrowheads="1"/>
          </p:cNvSpPr>
          <p:nvPr>
            <p:ph type="dt" sz="half" idx="2"/>
          </p:nvPr>
        </p:nvSpPr>
        <p:spPr>
          <a:xfrm>
            <a:off x="609600" y="6245225"/>
            <a:ext cx="2844800" cy="476250"/>
          </a:xfrm>
          <a:noFill/>
          <a:ln>
            <a:miter lim="800000"/>
          </a:ln>
        </p:spPr>
        <p:txBody>
          <a:bodyPr/>
          <a:lstStyle>
            <a:lvl1pPr>
              <a:defRPr/>
            </a:lvl1pPr>
          </a:lstStyle>
          <a:p>
            <a:fld id="{8F830E65-EA6A-4199-9A29-CF6CA8B1E26B}" type="datetime1">
              <a:rPr lang="en-US" altLang="zh-CN" smtClean="0"/>
            </a:fld>
            <a:endParaRPr lang="en-US" altLang="zh-CN"/>
          </a:p>
        </p:txBody>
      </p:sp>
      <p:sp>
        <p:nvSpPr>
          <p:cNvPr id="40" name="Rectangle 5"/>
          <p:cNvSpPr>
            <a:spLocks noGrp="1" noChangeArrowheads="1"/>
          </p:cNvSpPr>
          <p:nvPr>
            <p:ph type="ftr" sz="quarter" idx="3"/>
          </p:nvPr>
        </p:nvSpPr>
        <p:spPr bwMode="auto">
          <a:xfrm>
            <a:off x="4165600" y="6245225"/>
            <a:ext cx="3860800" cy="476250"/>
          </a:xfrm>
          <a:prstGeom prst="rect">
            <a:avLst/>
          </a:prstGeom>
          <a:ln>
            <a:miter lim="800000"/>
          </a:ln>
        </p:spPr>
        <p:txBody>
          <a:bodyPr vert="horz" wrap="square" lIns="91440" tIns="45720" rIns="91440" bIns="45720" numCol="1" anchor="t" anchorCtr="0" compatLnSpc="1"/>
          <a:lstStyle>
            <a:lvl1pPr algn="ctr">
              <a:defRPr sz="1400" b="0">
                <a:ea typeface="宋体" panose="02010600030101010101" pitchFamily="2" charset="-122"/>
              </a:defRPr>
            </a:lvl1pPr>
          </a:lstStyle>
          <a:p>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4.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4" Type="http://schemas.openxmlformats.org/officeDocument/2006/relationships/theme" Target="../theme/theme2.xml"/><Relationship Id="rId13" Type="http://schemas.openxmlformats.org/officeDocument/2006/relationships/image" Target="../media/image4.jpeg"/><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95236" name="Rectangle 4"/>
          <p:cNvSpPr>
            <a:spLocks noGrp="1" noChangeArrowheads="1"/>
          </p:cNvSpPr>
          <p:nvPr>
            <p:ph type="title"/>
          </p:nvPr>
        </p:nvSpPr>
        <p:spPr bwMode="auto">
          <a:xfrm>
            <a:off x="1" y="47626"/>
            <a:ext cx="12814300" cy="957263"/>
          </a:xfrm>
          <a:prstGeom prst="rect">
            <a:avLst/>
          </a:prstGeom>
          <a:noFill/>
          <a:ln w="9525">
            <a:noFill/>
            <a:miter lim="800000"/>
          </a:ln>
        </p:spPr>
        <p:txBody>
          <a:bodyPr vert="horz" wrap="square" lIns="91440" tIns="45720" rIns="91440" bIns="45720" numCol="1" anchor="b" anchorCtr="0" compatLnSpc="1"/>
          <a:lstStyle/>
          <a:p>
            <a:pPr lvl="0"/>
            <a:r>
              <a:rPr lang="zh-CN" altLang="en-US"/>
              <a:t>单击此处编辑母版标题样式</a:t>
            </a:r>
            <a:endParaRPr lang="zh-CN" altLang="en-US"/>
          </a:p>
        </p:txBody>
      </p:sp>
      <p:sp>
        <p:nvSpPr>
          <p:cNvPr id="95237" name="Rectangle 5"/>
          <p:cNvSpPr>
            <a:spLocks noGrp="1" noChangeArrowheads="1"/>
          </p:cNvSpPr>
          <p:nvPr>
            <p:ph type="body" idx="1"/>
          </p:nvPr>
        </p:nvSpPr>
        <p:spPr bwMode="auto">
          <a:xfrm>
            <a:off x="624418" y="1484313"/>
            <a:ext cx="10856383" cy="4392612"/>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88423" name="Rectangle 7"/>
          <p:cNvSpPr>
            <a:spLocks noGrp="1" noChangeArrowheads="1"/>
          </p:cNvSpPr>
          <p:nvPr>
            <p:ph type="dt" sz="half" idx="2"/>
          </p:nvPr>
        </p:nvSpPr>
        <p:spPr bwMode="auto">
          <a:xfrm>
            <a:off x="814917" y="6284913"/>
            <a:ext cx="1725083" cy="457200"/>
          </a:xfrm>
          <a:prstGeom prst="rect">
            <a:avLst/>
          </a:prstGeom>
          <a:noFill/>
          <a:ln w="9525">
            <a:noFill/>
            <a:miter lim="800000"/>
          </a:ln>
          <a:effectLst/>
        </p:spPr>
        <p:txBody>
          <a:bodyPr vert="horz" wrap="square" lIns="91440" tIns="45720" rIns="91440" bIns="45720" numCol="1" anchor="t" anchorCtr="0" compatLnSpc="1"/>
          <a:lstStyle>
            <a:lvl1pPr algn="l" fontAlgn="auto">
              <a:spcBef>
                <a:spcPts val="0"/>
              </a:spcBef>
              <a:spcAft>
                <a:spcPts val="0"/>
              </a:spcAft>
              <a:defRPr sz="1600" b="0">
                <a:solidFill>
                  <a:schemeClr val="tx1"/>
                </a:solidFill>
                <a:latin typeface="+mn-lt"/>
                <a:ea typeface="宋体" panose="02010600030101010101" pitchFamily="2" charset="-122"/>
                <a:cs typeface="+mn-cs"/>
              </a:defRPr>
            </a:lvl1pPr>
          </a:lstStyle>
          <a:p>
            <a:pPr>
              <a:defRPr/>
            </a:pPr>
            <a:fld id="{1596D3C0-2AFD-48F1-A71C-B351F7B1D7FD}" type="datetime1">
              <a:rPr lang="en-US" altLang="zh-CN" smtClean="0"/>
            </a:fld>
            <a:endParaRPr lang="zh-CN" altLang="en-US"/>
          </a:p>
        </p:txBody>
      </p:sp>
      <p:sp>
        <p:nvSpPr>
          <p:cNvPr id="188425" name="Rectangle 9"/>
          <p:cNvSpPr>
            <a:spLocks noGrp="1" noChangeArrowheads="1"/>
          </p:cNvSpPr>
          <p:nvPr>
            <p:ph type="sldNum" sz="quarter" idx="4"/>
          </p:nvPr>
        </p:nvSpPr>
        <p:spPr bwMode="auto">
          <a:xfrm>
            <a:off x="10668000" y="6215063"/>
            <a:ext cx="1244600" cy="457200"/>
          </a:xfrm>
          <a:prstGeom prst="rect">
            <a:avLst/>
          </a:prstGeom>
          <a:noFill/>
          <a:ln w="9525">
            <a:noFill/>
            <a:miter lim="800000"/>
          </a:ln>
          <a:effectLst/>
        </p:spPr>
        <p:txBody>
          <a:bodyPr vert="horz" wrap="square" lIns="91440" tIns="45720" rIns="91440" bIns="45720" numCol="1" anchor="t" anchorCtr="0" compatLnSpc="1"/>
          <a:lstStyle>
            <a:lvl1pPr algn="r">
              <a:defRPr sz="1600" b="0">
                <a:solidFill>
                  <a:schemeClr val="tx1"/>
                </a:solidFill>
                <a:latin typeface="Arial" panose="020B0604020202020204" pitchFamily="34" charset="0"/>
                <a:ea typeface="宋体" panose="02010600030101010101" pitchFamily="2" charset="-122"/>
              </a:defRPr>
            </a:lvl1pPr>
          </a:lstStyle>
          <a:p>
            <a:fld id="{8AF99495-4C70-4DA1-B4FD-AE3C2F6741A9}" type="slidenum">
              <a:rPr lang="zh-CN" altLang="en-US"/>
            </a:fld>
            <a:endParaRPr lang="en-US" altLang="zh-CN"/>
          </a:p>
        </p:txBody>
      </p:sp>
      <p:sp>
        <p:nvSpPr>
          <p:cNvPr id="188418" name="Rectangle 2"/>
          <p:cNvSpPr>
            <a:spLocks noChangeArrowheads="1"/>
          </p:cNvSpPr>
          <p:nvPr/>
        </p:nvSpPr>
        <p:spPr bwMode="auto">
          <a:xfrm>
            <a:off x="0" y="985838"/>
            <a:ext cx="2844800" cy="101600"/>
          </a:xfrm>
          <a:prstGeom prst="rect">
            <a:avLst/>
          </a:prstGeom>
          <a:solidFill>
            <a:srgbClr val="006699"/>
          </a:solidFill>
          <a:ln w="9525">
            <a:noFill/>
            <a:miter lim="800000"/>
          </a:ln>
        </p:spPr>
        <p:txBody>
          <a:bodyPr wrap="none" anchor="ctr"/>
          <a:lstStyle/>
          <a:p>
            <a:pPr fontAlgn="auto">
              <a:spcBef>
                <a:spcPts val="0"/>
              </a:spcBef>
              <a:spcAft>
                <a:spcPts val="0"/>
              </a:spcAft>
              <a:defRPr/>
            </a:pPr>
            <a:endParaRPr lang="zh-CN" altLang="zh-CN" sz="1800" b="0">
              <a:solidFill>
                <a:schemeClr val="tx1"/>
              </a:solidFill>
              <a:latin typeface="Times New Roman" panose="02020603050405020304" pitchFamily="18" charset="0"/>
              <a:ea typeface="宋体" panose="02010600030101010101" pitchFamily="2" charset="-122"/>
              <a:cs typeface="+mn-cs"/>
            </a:endParaRPr>
          </a:p>
        </p:txBody>
      </p:sp>
      <p:sp>
        <p:nvSpPr>
          <p:cNvPr id="188419" name="Rectangle 3"/>
          <p:cNvSpPr>
            <a:spLocks noChangeArrowheads="1"/>
          </p:cNvSpPr>
          <p:nvPr/>
        </p:nvSpPr>
        <p:spPr bwMode="auto">
          <a:xfrm>
            <a:off x="1930400" y="985838"/>
            <a:ext cx="9652000" cy="101600"/>
          </a:xfrm>
          <a:prstGeom prst="rect">
            <a:avLst/>
          </a:prstGeom>
          <a:gradFill rotWithShape="1">
            <a:gsLst>
              <a:gs pos="0">
                <a:srgbClr val="006699"/>
              </a:gs>
              <a:gs pos="100000">
                <a:schemeClr val="bg1"/>
              </a:gs>
            </a:gsLst>
            <a:lin ang="0" scaled="1"/>
          </a:gradFill>
          <a:ln w="9525">
            <a:noFill/>
            <a:miter lim="800000"/>
          </a:ln>
        </p:spPr>
        <p:txBody>
          <a:bodyPr wrap="none" anchor="ctr"/>
          <a:lstStyle/>
          <a:p>
            <a:pPr fontAlgn="auto">
              <a:spcBef>
                <a:spcPts val="0"/>
              </a:spcBef>
              <a:spcAft>
                <a:spcPts val="0"/>
              </a:spcAft>
              <a:defRPr/>
            </a:pPr>
            <a:endParaRPr lang="zh-CN" altLang="zh-CN" sz="1800" b="0">
              <a:solidFill>
                <a:schemeClr val="tx1"/>
              </a:solidFill>
              <a:latin typeface="Times New Roman" panose="02020603050405020304" pitchFamily="18" charset="0"/>
              <a:ea typeface="宋体" panose="02010600030101010101" pitchFamily="2" charset="-122"/>
              <a:cs typeface="+mn-cs"/>
            </a:endParaRPr>
          </a:p>
        </p:txBody>
      </p:sp>
      <p:sp>
        <p:nvSpPr>
          <p:cNvPr id="188424" name="Rectangle 8"/>
          <p:cNvSpPr>
            <a:spLocks noGrp="1" noChangeArrowheads="1"/>
          </p:cNvSpPr>
          <p:nvPr>
            <p:ph type="ftr" sz="quarter" idx="3"/>
          </p:nvPr>
        </p:nvSpPr>
        <p:spPr bwMode="auto">
          <a:xfrm>
            <a:off x="4902200" y="4803775"/>
            <a:ext cx="7010400" cy="539750"/>
          </a:xfrm>
          <a:prstGeom prst="rect">
            <a:avLst/>
          </a:prstGeom>
          <a:noFill/>
          <a:ln w="9525">
            <a:noFill/>
            <a:miter lim="800000"/>
          </a:ln>
          <a:effectLst/>
        </p:spPr>
        <p:txBody>
          <a:bodyPr vert="horz" wrap="square" lIns="91440" tIns="45720" rIns="91440" bIns="45720" numCol="1" anchor="t" anchorCtr="0" compatLnSpc="1"/>
          <a:lstStyle>
            <a:lvl1pPr>
              <a:defRPr sz="1800">
                <a:latin typeface="Arial" panose="020B0604020202020204" pitchFamily="34" charset="0"/>
                <a:ea typeface="宋体" panose="02010600030101010101" pitchFamily="2" charset="-122"/>
                <a:cs typeface="+mn-cs"/>
              </a:defRPr>
            </a:lvl1pPr>
          </a:lstStyle>
          <a:p>
            <a:pPr>
              <a:defRPr/>
            </a:pPr>
            <a:endParaRPr lang="zh-CN" altLang="en-US"/>
          </a:p>
        </p:txBody>
      </p:sp>
      <p:sp>
        <p:nvSpPr>
          <p:cNvPr id="6162" name="Rectangle 18"/>
          <p:cNvSpPr>
            <a:spLocks noChangeArrowheads="1"/>
          </p:cNvSpPr>
          <p:nvPr userDrawn="1"/>
        </p:nvSpPr>
        <p:spPr bwMode="auto">
          <a:xfrm>
            <a:off x="190501" y="6437313"/>
            <a:ext cx="12001500" cy="304800"/>
          </a:xfrm>
          <a:prstGeom prst="rect">
            <a:avLst/>
          </a:prstGeom>
          <a:noFill/>
          <a:ln w="9525">
            <a:noFill/>
            <a:miter lim="800000"/>
          </a:ln>
          <a:effectLst>
            <a:prstShdw prst="shdw17" dist="17961" dir="2700000">
              <a:schemeClr val="accent1">
                <a:gamma/>
                <a:shade val="60000"/>
                <a:invGamma/>
                <a:alpha val="50000"/>
              </a:schemeClr>
            </a:prstShdw>
          </a:effectLst>
        </p:spPr>
        <p:txBody>
          <a:bodyPr>
            <a:spAutoFit/>
          </a:bodyPr>
          <a:lstStyle>
            <a:lvl1pPr eaLnBrk="0" hangingPunct="0">
              <a:defRPr sz="2000" b="1">
                <a:solidFill>
                  <a:schemeClr val="bg1"/>
                </a:solidFill>
                <a:latin typeface="FrutigerNext LT Regular"/>
                <a:ea typeface="幼圆" panose="02010509060101010101" pitchFamily="49" charset="-122"/>
              </a:defRPr>
            </a:lvl1pPr>
            <a:lvl2pPr marL="742950" indent="-285750" eaLnBrk="0" hangingPunct="0">
              <a:defRPr sz="2000" b="1">
                <a:solidFill>
                  <a:schemeClr val="bg1"/>
                </a:solidFill>
                <a:latin typeface="FrutigerNext LT Regular"/>
                <a:ea typeface="幼圆" panose="02010509060101010101" pitchFamily="49" charset="-122"/>
              </a:defRPr>
            </a:lvl2pPr>
            <a:lvl3pPr marL="1143000" indent="-228600" eaLnBrk="0" hangingPunct="0">
              <a:defRPr sz="2000" b="1">
                <a:solidFill>
                  <a:schemeClr val="bg1"/>
                </a:solidFill>
                <a:latin typeface="FrutigerNext LT Regular"/>
                <a:ea typeface="幼圆" panose="02010509060101010101" pitchFamily="49" charset="-122"/>
              </a:defRPr>
            </a:lvl3pPr>
            <a:lvl4pPr marL="1600200" indent="-228600" eaLnBrk="0" hangingPunct="0">
              <a:defRPr sz="2000" b="1">
                <a:solidFill>
                  <a:schemeClr val="bg1"/>
                </a:solidFill>
                <a:latin typeface="FrutigerNext LT Regular"/>
                <a:ea typeface="幼圆" panose="02010509060101010101" pitchFamily="49" charset="-122"/>
              </a:defRPr>
            </a:lvl4pPr>
            <a:lvl5pPr marL="2057400" indent="-228600" eaLnBrk="0" hangingPunct="0">
              <a:defRPr sz="2000" b="1">
                <a:solidFill>
                  <a:schemeClr val="bg1"/>
                </a:solidFill>
                <a:latin typeface="FrutigerNext LT Regular"/>
                <a:ea typeface="幼圆" panose="02010509060101010101" pitchFamily="49" charset="-122"/>
              </a:defRPr>
            </a:lvl5pPr>
            <a:lvl6pPr marL="2514600" indent="-228600" eaLnBrk="0" fontAlgn="base" hangingPunct="0">
              <a:spcBef>
                <a:spcPct val="0"/>
              </a:spcBef>
              <a:spcAft>
                <a:spcPct val="0"/>
              </a:spcAft>
              <a:defRPr sz="2000" b="1">
                <a:solidFill>
                  <a:schemeClr val="bg1"/>
                </a:solidFill>
                <a:latin typeface="FrutigerNext LT Regular"/>
                <a:ea typeface="幼圆" panose="02010509060101010101" pitchFamily="49" charset="-122"/>
              </a:defRPr>
            </a:lvl6pPr>
            <a:lvl7pPr marL="2971800" indent="-228600" eaLnBrk="0" fontAlgn="base" hangingPunct="0">
              <a:spcBef>
                <a:spcPct val="0"/>
              </a:spcBef>
              <a:spcAft>
                <a:spcPct val="0"/>
              </a:spcAft>
              <a:defRPr sz="2000" b="1">
                <a:solidFill>
                  <a:schemeClr val="bg1"/>
                </a:solidFill>
                <a:latin typeface="FrutigerNext LT Regular"/>
                <a:ea typeface="幼圆" panose="02010509060101010101" pitchFamily="49" charset="-122"/>
              </a:defRPr>
            </a:lvl7pPr>
            <a:lvl8pPr marL="3429000" indent="-228600" eaLnBrk="0" fontAlgn="base" hangingPunct="0">
              <a:spcBef>
                <a:spcPct val="0"/>
              </a:spcBef>
              <a:spcAft>
                <a:spcPct val="0"/>
              </a:spcAft>
              <a:defRPr sz="2000" b="1">
                <a:solidFill>
                  <a:schemeClr val="bg1"/>
                </a:solidFill>
                <a:latin typeface="FrutigerNext LT Regular"/>
                <a:ea typeface="幼圆" panose="02010509060101010101" pitchFamily="49" charset="-122"/>
              </a:defRPr>
            </a:lvl8pPr>
            <a:lvl9pPr marL="3886200" indent="-228600" eaLnBrk="0" fontAlgn="base" hangingPunct="0">
              <a:spcBef>
                <a:spcPct val="0"/>
              </a:spcBef>
              <a:spcAft>
                <a:spcPct val="0"/>
              </a:spcAft>
              <a:defRPr sz="2000" b="1">
                <a:solidFill>
                  <a:schemeClr val="bg1"/>
                </a:solidFill>
                <a:latin typeface="FrutigerNext LT Regular"/>
                <a:ea typeface="幼圆" panose="02010509060101010101" pitchFamily="49" charset="-122"/>
              </a:defRPr>
            </a:lvl9pPr>
          </a:lstStyle>
          <a:p>
            <a:pPr eaLnBrk="1" hangingPunct="1"/>
            <a:r>
              <a:rPr lang="zh-CN" altLang="en-US" sz="1400">
                <a:latin typeface="宋体" panose="02010600030101010101" pitchFamily="2" charset="-122"/>
                <a:ea typeface="宋体" panose="02010600030101010101" pitchFamily="2" charset="-122"/>
              </a:rPr>
              <a:t> </a:t>
            </a:r>
            <a:r>
              <a:rPr lang="zh-CN" altLang="en-US" sz="1400">
                <a:solidFill>
                  <a:srgbClr val="FFCC66"/>
                </a:solidFill>
                <a:latin typeface="宋体" panose="02010600030101010101" pitchFamily="2" charset="-122"/>
                <a:ea typeface="宋体" panose="02010600030101010101" pitchFamily="2" charset="-122"/>
              </a:rPr>
              <a:t>                                                                                            </a:t>
            </a:r>
            <a:fld id="{B50DA601-DC5A-4609-98FF-92E0F4CCEA4B}" type="slidenum">
              <a:rPr lang="zh-CN" altLang="en-US" sz="1400">
                <a:solidFill>
                  <a:srgbClr val="FFCC66"/>
                </a:solidFill>
                <a:latin typeface="宋体" panose="02010600030101010101" pitchFamily="2" charset="-122"/>
                <a:ea typeface="宋体" panose="02010600030101010101" pitchFamily="2" charset="-122"/>
              </a:rPr>
            </a:fld>
            <a:endParaRPr lang="en-US" altLang="zh-CN" sz="1400">
              <a:solidFill>
                <a:srgbClr val="FFCC66"/>
              </a:solidFill>
              <a:latin typeface="宋体" panose="02010600030101010101" pitchFamily="2" charset="-122"/>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rtl="0" eaLnBrk="0" fontAlgn="base" hangingPunct="0">
        <a:spcBef>
          <a:spcPct val="0"/>
        </a:spcBef>
        <a:spcAft>
          <a:spcPct val="0"/>
        </a:spcAft>
        <a:defRPr sz="5000" b="1">
          <a:solidFill>
            <a:srgbClr val="CC0000"/>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sz="5000" b="1">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rtl="0" eaLnBrk="0" fontAlgn="base" hangingPunct="0">
        <a:spcBef>
          <a:spcPct val="0"/>
        </a:spcBef>
        <a:spcAft>
          <a:spcPct val="0"/>
        </a:spcAft>
        <a:defRPr sz="5000" b="1">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rtl="0" eaLnBrk="0" fontAlgn="base" hangingPunct="0">
        <a:spcBef>
          <a:spcPct val="0"/>
        </a:spcBef>
        <a:spcAft>
          <a:spcPct val="0"/>
        </a:spcAft>
        <a:defRPr sz="5000" b="1">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rtl="0" eaLnBrk="0" fontAlgn="base" hangingPunct="0">
        <a:spcBef>
          <a:spcPct val="0"/>
        </a:spcBef>
        <a:spcAft>
          <a:spcPct val="0"/>
        </a:spcAft>
        <a:defRPr sz="5000" b="1">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rtl="0" fontAlgn="base">
        <a:spcBef>
          <a:spcPct val="0"/>
        </a:spcBef>
        <a:spcAft>
          <a:spcPct val="0"/>
        </a:spcAft>
        <a:defRPr sz="5000" b="1">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rtl="0" fontAlgn="base">
        <a:spcBef>
          <a:spcPct val="0"/>
        </a:spcBef>
        <a:spcAft>
          <a:spcPct val="0"/>
        </a:spcAft>
        <a:defRPr sz="5000" b="1">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rtl="0" fontAlgn="base">
        <a:spcBef>
          <a:spcPct val="0"/>
        </a:spcBef>
        <a:spcAft>
          <a:spcPct val="0"/>
        </a:spcAft>
        <a:defRPr sz="5000" b="1">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rtl="0" fontAlgn="base">
        <a:spcBef>
          <a:spcPct val="0"/>
        </a:spcBef>
        <a:spcAft>
          <a:spcPct val="0"/>
        </a:spcAft>
        <a:defRPr sz="5000" b="1">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p:titleStyle>
    <p:bodyStyle>
      <a:lvl1pPr marL="447675" indent="-447675" algn="l" rtl="0" eaLnBrk="0" fontAlgn="base" hangingPunct="0">
        <a:spcBef>
          <a:spcPct val="20000"/>
        </a:spcBef>
        <a:spcAft>
          <a:spcPct val="0"/>
        </a:spcAft>
        <a:buFont typeface="Wingdings" panose="05000000000000000000" pitchFamily="2" charset="2"/>
        <a:buChar char="n"/>
        <a:defRPr sz="3200" b="1">
          <a:solidFill>
            <a:srgbClr val="006699"/>
          </a:solidFill>
          <a:effectLst>
            <a:outerShdw blurRad="38100" dist="38100" dir="2700000" algn="tl">
              <a:srgbClr val="C0C0C0"/>
            </a:outerShdw>
          </a:effectLst>
          <a:latin typeface="+mn-lt"/>
          <a:ea typeface="+mn-ea"/>
          <a:cs typeface="+mn-cs"/>
        </a:defRPr>
      </a:lvl1pPr>
      <a:lvl2pPr marL="889000" indent="-440055" algn="l" rtl="0" eaLnBrk="0" fontAlgn="base" hangingPunct="0">
        <a:spcBef>
          <a:spcPct val="20000"/>
        </a:spcBef>
        <a:spcAft>
          <a:spcPct val="0"/>
        </a:spcAft>
        <a:buClr>
          <a:srgbClr val="669900"/>
        </a:buClr>
        <a:buFont typeface="楷体_GB2312" panose="02010609030101010101" pitchFamily="49" charset="-122"/>
        <a:buChar char="o"/>
        <a:defRPr sz="2800" b="1">
          <a:solidFill>
            <a:schemeClr val="tx1"/>
          </a:solidFill>
          <a:effectLst>
            <a:outerShdw blurRad="38100" dist="38100" dir="2700000" algn="tl">
              <a:srgbClr val="C0C0C0"/>
            </a:outerShdw>
          </a:effectLst>
          <a:latin typeface="+mn-lt"/>
          <a:ea typeface="华文细黑" panose="02010600040101010101" pitchFamily="2" charset="-122"/>
        </a:defRPr>
      </a:lvl2pPr>
      <a:lvl3pPr marL="1294130" indent="-403225" algn="l" rtl="0" eaLnBrk="0" fontAlgn="base" hangingPunct="0">
        <a:spcBef>
          <a:spcPct val="20000"/>
        </a:spcBef>
        <a:spcAft>
          <a:spcPct val="0"/>
        </a:spcAft>
        <a:buClr>
          <a:srgbClr val="0099CC"/>
        </a:buClr>
        <a:buSzPct val="70000"/>
        <a:buFont typeface="Wingdings" panose="05000000000000000000" pitchFamily="2" charset="2"/>
        <a:buChar char="n"/>
        <a:defRPr sz="2000">
          <a:solidFill>
            <a:schemeClr val="tx1"/>
          </a:solidFill>
          <a:latin typeface="+mn-lt"/>
          <a:ea typeface="宋体" panose="02010600030101010101" pitchFamily="2" charset="-122"/>
        </a:defRPr>
      </a:lvl3pPr>
      <a:lvl4pPr marL="1681480" indent="-386080" algn="l" rtl="0" eaLnBrk="0" fontAlgn="base" hangingPunct="0">
        <a:spcBef>
          <a:spcPct val="20000"/>
        </a:spcBef>
        <a:spcAft>
          <a:spcPct val="0"/>
        </a:spcAft>
        <a:buClr>
          <a:schemeClr val="hlink"/>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2070100" indent="-387350" algn="l" rtl="0" eaLnBrk="0" fontAlgn="base" hangingPunct="0">
        <a:spcBef>
          <a:spcPct val="20000"/>
        </a:spcBef>
        <a:spcAft>
          <a:spcPct val="0"/>
        </a:spcAft>
        <a:buClr>
          <a:srgbClr val="0099CC"/>
        </a:buClr>
        <a:buSzPct val="70000"/>
        <a:buFont typeface="Wingdings" panose="05000000000000000000" pitchFamily="2" charset="2"/>
        <a:buChar char="n"/>
        <a:defRPr sz="1600">
          <a:solidFill>
            <a:schemeClr val="tx1"/>
          </a:solidFill>
          <a:latin typeface="+mn-lt"/>
          <a:ea typeface="宋体" panose="02010600030101010101" pitchFamily="2" charset="-122"/>
        </a:defRPr>
      </a:lvl5pPr>
      <a:lvl6pPr marL="2527300" indent="-387350" algn="l" rtl="0" fontAlgn="base">
        <a:spcBef>
          <a:spcPct val="20000"/>
        </a:spcBef>
        <a:spcAft>
          <a:spcPct val="0"/>
        </a:spcAft>
        <a:buClr>
          <a:srgbClr val="0099CC"/>
        </a:buClr>
        <a:buSzPct val="70000"/>
        <a:buFont typeface="Wingdings" panose="05000000000000000000" pitchFamily="2" charset="2"/>
        <a:buChar char="n"/>
        <a:defRPr sz="1600">
          <a:solidFill>
            <a:schemeClr val="tx1"/>
          </a:solidFill>
          <a:latin typeface="+mn-lt"/>
          <a:ea typeface="宋体" panose="02010600030101010101" pitchFamily="2" charset="-122"/>
        </a:defRPr>
      </a:lvl6pPr>
      <a:lvl7pPr marL="2984500" indent="-387350" algn="l" rtl="0" fontAlgn="base">
        <a:spcBef>
          <a:spcPct val="20000"/>
        </a:spcBef>
        <a:spcAft>
          <a:spcPct val="0"/>
        </a:spcAft>
        <a:buClr>
          <a:srgbClr val="0099CC"/>
        </a:buClr>
        <a:buSzPct val="70000"/>
        <a:buFont typeface="Wingdings" panose="05000000000000000000" pitchFamily="2" charset="2"/>
        <a:buChar char="n"/>
        <a:defRPr sz="1600">
          <a:solidFill>
            <a:schemeClr val="tx1"/>
          </a:solidFill>
          <a:latin typeface="+mn-lt"/>
          <a:ea typeface="宋体" panose="02010600030101010101" pitchFamily="2" charset="-122"/>
        </a:defRPr>
      </a:lvl7pPr>
      <a:lvl8pPr marL="3441700" indent="-387350" algn="l" rtl="0" fontAlgn="base">
        <a:spcBef>
          <a:spcPct val="20000"/>
        </a:spcBef>
        <a:spcAft>
          <a:spcPct val="0"/>
        </a:spcAft>
        <a:buClr>
          <a:srgbClr val="0099CC"/>
        </a:buClr>
        <a:buSzPct val="70000"/>
        <a:buFont typeface="Wingdings" panose="05000000000000000000" pitchFamily="2" charset="2"/>
        <a:buChar char="n"/>
        <a:defRPr sz="1600">
          <a:solidFill>
            <a:schemeClr val="tx1"/>
          </a:solidFill>
          <a:latin typeface="+mn-lt"/>
          <a:ea typeface="宋体" panose="02010600030101010101" pitchFamily="2" charset="-122"/>
        </a:defRPr>
      </a:lvl8pPr>
      <a:lvl9pPr marL="3898900" indent="-387350" algn="l" rtl="0" fontAlgn="base">
        <a:spcBef>
          <a:spcPct val="20000"/>
        </a:spcBef>
        <a:spcAft>
          <a:spcPct val="0"/>
        </a:spcAft>
        <a:buClr>
          <a:srgbClr val="0099CC"/>
        </a:buClr>
        <a:buSzPct val="70000"/>
        <a:buFont typeface="Wingdings" panose="05000000000000000000" pitchFamily="2" charset="2"/>
        <a:buChar char="n"/>
        <a:defRPr sz="16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FFFB242F-4ABF-4555-8697-315988818C94}" type="datetime1">
              <a:rPr lang="en-US" altLang="zh-CN" smtClean="0"/>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F99495-4C70-4DA1-B4FD-AE3C2F6741A9}" type="slidenum">
              <a:rPr lang="zh-CN" altLang="en-US" smtClean="0"/>
            </a:fld>
            <a:endParaRPr lang="en-US" altLang="zh-CN"/>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6.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9.xml"/><Relationship Id="rId2" Type="http://schemas.openxmlformats.org/officeDocument/2006/relationships/tags" Target="../tags/tag2.xml"/><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9.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9.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9.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9.xml"/><Relationship Id="rId1" Type="http://schemas.openxmlformats.org/officeDocument/2006/relationships/tags" Target="../tags/tag6.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9.xml"/><Relationship Id="rId2" Type="http://schemas.openxmlformats.org/officeDocument/2006/relationships/tags" Target="../tags/tag7.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9.xml"/><Relationship Id="rId1" Type="http://schemas.openxmlformats.org/officeDocument/2006/relationships/tags" Target="../tags/tag8.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9.xml"/><Relationship Id="rId1" Type="http://schemas.openxmlformats.org/officeDocument/2006/relationships/tags" Target="../tags/tag9.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9.xml"/><Relationship Id="rId1" Type="http://schemas.openxmlformats.org/officeDocument/2006/relationships/tags" Target="../tags/tag10.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9.xml"/><Relationship Id="rId1" Type="http://schemas.openxmlformats.org/officeDocument/2006/relationships/tags" Target="../tags/tag11.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9.xml"/><Relationship Id="rId2" Type="http://schemas.openxmlformats.org/officeDocument/2006/relationships/tags" Target="../tags/tag12.xml"/><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9.xml"/><Relationship Id="rId2" Type="http://schemas.openxmlformats.org/officeDocument/2006/relationships/tags" Target="../tags/tag13.xml"/><Relationship Id="rId1"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9.xml"/><Relationship Id="rId1" Type="http://schemas.openxmlformats.org/officeDocument/2006/relationships/tags" Target="../tags/tag14.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9.xml"/><Relationship Id="rId1" Type="http://schemas.openxmlformats.org/officeDocument/2006/relationships/tags" Target="../tags/tag15.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9.xml"/><Relationship Id="rId1" Type="http://schemas.openxmlformats.org/officeDocument/2006/relationships/tags" Target="../tags/tag16.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ags" Target="../tags/tag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9.xml"/><Relationship Id="rId1" Type="http://schemas.openxmlformats.org/officeDocument/2006/relationships/tags" Target="../tags/tag18.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9.xml"/><Relationship Id="rId1" Type="http://schemas.openxmlformats.org/officeDocument/2006/relationships/tags" Target="../tags/tag19.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9.xml"/><Relationship Id="rId1" Type="http://schemas.openxmlformats.org/officeDocument/2006/relationships/tags" Target="../tags/tag20.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9.xml"/><Relationship Id="rId1" Type="http://schemas.openxmlformats.org/officeDocument/2006/relationships/tags" Target="../tags/tag21.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9.xml"/><Relationship Id="rId1" Type="http://schemas.openxmlformats.org/officeDocument/2006/relationships/tags" Target="../tags/tag2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ags" Target="../tags/tag23.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9.xml"/><Relationship Id="rId1" Type="http://schemas.openxmlformats.org/officeDocument/2006/relationships/tags" Target="../tags/tag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9.xml"/><Relationship Id="rId1" Type="http://schemas.openxmlformats.org/officeDocument/2006/relationships/tags" Target="../tags/tag25.xml"/></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9.xml"/><Relationship Id="rId2" Type="http://schemas.openxmlformats.org/officeDocument/2006/relationships/tags" Target="../tags/tag26.xml"/><Relationship Id="rId1" Type="http://schemas.openxmlformats.org/officeDocument/2006/relationships/image" Target="../media/image11.GIF"/></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9.xml"/><Relationship Id="rId1" Type="http://schemas.openxmlformats.org/officeDocument/2006/relationships/tags" Target="../tags/tag27.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9.xml"/><Relationship Id="rId1" Type="http://schemas.openxmlformats.org/officeDocument/2006/relationships/tags" Target="../tags/tag28.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9.xml"/><Relationship Id="rId1" Type="http://schemas.openxmlformats.org/officeDocument/2006/relationships/tags" Target="../tags/tag29.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9.xml"/><Relationship Id="rId1" Type="http://schemas.openxmlformats.org/officeDocument/2006/relationships/tags" Target="../tags/tag30.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9.xml"/><Relationship Id="rId1" Type="http://schemas.openxmlformats.org/officeDocument/2006/relationships/tags" Target="../tags/tag31.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9.xml"/><Relationship Id="rId1" Type="http://schemas.openxmlformats.org/officeDocument/2006/relationships/tags" Target="../tags/tag32.xml"/></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9.xml"/><Relationship Id="rId2" Type="http://schemas.openxmlformats.org/officeDocument/2006/relationships/tags" Target="../tags/tag33.xml"/><Relationship Id="rId1" Type="http://schemas.openxmlformats.org/officeDocument/2006/relationships/image" Target="../media/image12.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9.xml"/><Relationship Id="rId1" Type="http://schemas.openxmlformats.org/officeDocument/2006/relationships/tags" Target="../tags/tag34.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13.jpe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14.png"/></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9.xml"/><Relationship Id="rId2" Type="http://schemas.openxmlformats.org/officeDocument/2006/relationships/tags" Target="../tags/tag35.xml"/><Relationship Id="rId1" Type="http://schemas.openxmlformats.org/officeDocument/2006/relationships/image" Target="../media/image15.jpe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17.png"/><Relationship Id="rId1" Type="http://schemas.openxmlformats.org/officeDocument/2006/relationships/image" Target="../media/image16.pn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19.png"/><Relationship Id="rId1" Type="http://schemas.openxmlformats.org/officeDocument/2006/relationships/image" Target="../media/image18.png"/></Relationships>
</file>

<file path=ppt/slides/_rels/slide47.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27.png"/><Relationship Id="rId1" Type="http://schemas.openxmlformats.org/officeDocument/2006/relationships/image" Target="../media/image26.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2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9.xml"/><Relationship Id="rId1" Type="http://schemas.openxmlformats.org/officeDocument/2006/relationships/tags" Target="../tags/tag36.xml"/></Relationships>
</file>

<file path=ppt/slides/_rels/slide53.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19.xml"/><Relationship Id="rId2" Type="http://schemas.openxmlformats.org/officeDocument/2006/relationships/tags" Target="../tags/tag37.xml"/><Relationship Id="rId1" Type="http://schemas.openxmlformats.org/officeDocument/2006/relationships/image" Target="../media/image29.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30.jpe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9.xml"/><Relationship Id="rId1" Type="http://schemas.openxmlformats.org/officeDocument/2006/relationships/tags" Target="../tags/tag38.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9.xml"/><Relationship Id="rId1" Type="http://schemas.openxmlformats.org/officeDocument/2006/relationships/tags" Target="../tags/tag39.xml"/></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19.xml"/><Relationship Id="rId2" Type="http://schemas.openxmlformats.org/officeDocument/2006/relationships/tags" Target="../tags/tag40.xml"/><Relationship Id="rId1" Type="http://schemas.openxmlformats.org/officeDocument/2006/relationships/image" Target="../media/image31.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3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5"/>
          <p:cNvSpPr>
            <a:spLocks noChangeArrowheads="1"/>
          </p:cNvSpPr>
          <p:nvPr/>
        </p:nvSpPr>
        <p:spPr bwMode="white">
          <a:xfrm>
            <a:off x="140505" y="2465030"/>
            <a:ext cx="1191099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3600" b="1">
                <a:solidFill>
                  <a:schemeClr val="tx2"/>
                </a:solidFill>
                <a:latin typeface="Verdana" panose="020B0604030504040204" pitchFamily="34" charset="0"/>
              </a:defRPr>
            </a:lvl1pPr>
            <a:lvl2pPr algn="ctr">
              <a:defRPr sz="3600" b="1">
                <a:solidFill>
                  <a:schemeClr val="tx2"/>
                </a:solidFill>
                <a:latin typeface="Verdana" panose="020B0604030504040204" pitchFamily="34" charset="0"/>
              </a:defRPr>
            </a:lvl2pPr>
            <a:lvl3pPr algn="ctr">
              <a:defRPr sz="3600" b="1">
                <a:solidFill>
                  <a:schemeClr val="tx2"/>
                </a:solidFill>
                <a:latin typeface="Verdana" panose="020B0604030504040204" pitchFamily="34" charset="0"/>
              </a:defRPr>
            </a:lvl3pPr>
            <a:lvl4pPr algn="ctr">
              <a:defRPr sz="3600" b="1">
                <a:solidFill>
                  <a:schemeClr val="tx2"/>
                </a:solidFill>
                <a:latin typeface="Verdana" panose="020B0604030504040204" pitchFamily="34" charset="0"/>
              </a:defRPr>
            </a:lvl4pPr>
            <a:lvl5pPr algn="ctr">
              <a:defRPr sz="3600" b="1">
                <a:solidFill>
                  <a:schemeClr val="tx2"/>
                </a:solidFill>
                <a:latin typeface="Verdana" panose="020B0604030504040204" pitchFamily="34" charset="0"/>
              </a:defRPr>
            </a:lvl5pPr>
            <a:lvl6pPr marL="457200" algn="ctr" fontAlgn="base">
              <a:spcBef>
                <a:spcPct val="0"/>
              </a:spcBef>
              <a:spcAft>
                <a:spcPct val="0"/>
              </a:spcAft>
              <a:defRPr sz="3600" b="1">
                <a:solidFill>
                  <a:schemeClr val="tx2"/>
                </a:solidFill>
                <a:latin typeface="Verdana" panose="020B0604030504040204" pitchFamily="34" charset="0"/>
              </a:defRPr>
            </a:lvl6pPr>
            <a:lvl7pPr marL="914400" algn="ctr" fontAlgn="base">
              <a:spcBef>
                <a:spcPct val="0"/>
              </a:spcBef>
              <a:spcAft>
                <a:spcPct val="0"/>
              </a:spcAft>
              <a:defRPr sz="3600" b="1">
                <a:solidFill>
                  <a:schemeClr val="tx2"/>
                </a:solidFill>
                <a:latin typeface="Verdana" panose="020B0604030504040204" pitchFamily="34" charset="0"/>
              </a:defRPr>
            </a:lvl7pPr>
            <a:lvl8pPr marL="1371600" algn="ctr" fontAlgn="base">
              <a:spcBef>
                <a:spcPct val="0"/>
              </a:spcBef>
              <a:spcAft>
                <a:spcPct val="0"/>
              </a:spcAft>
              <a:defRPr sz="3600" b="1">
                <a:solidFill>
                  <a:schemeClr val="tx2"/>
                </a:solidFill>
                <a:latin typeface="Verdana" panose="020B0604030504040204" pitchFamily="34" charset="0"/>
              </a:defRPr>
            </a:lvl8pPr>
            <a:lvl9pPr marL="1828800" algn="ctr" fontAlgn="base">
              <a:spcBef>
                <a:spcPct val="0"/>
              </a:spcBef>
              <a:spcAft>
                <a:spcPct val="0"/>
              </a:spcAft>
              <a:defRPr sz="3600" b="1">
                <a:solidFill>
                  <a:schemeClr val="tx2"/>
                </a:solidFill>
                <a:latin typeface="Verdana" panose="020B0604030504040204" pitchFamily="34" charset="0"/>
              </a:defRPr>
            </a:lvl9pPr>
          </a:lstStyle>
          <a:p>
            <a:r>
              <a:rPr lang="en-US" altLang="zh-CN" sz="5400" spc="50" dirty="0" smtClean="0">
                <a:ln w="9525" cmpd="sng">
                  <a:solidFill>
                    <a:schemeClr val="accent1"/>
                  </a:solidFill>
                  <a:prstDash val="solid"/>
                </a:ln>
                <a:solidFill>
                  <a:srgbClr val="FFFF00"/>
                </a:solidFill>
                <a:effectLst>
                  <a:glow rad="38100">
                    <a:schemeClr val="accent1">
                      <a:alpha val="40000"/>
                    </a:schemeClr>
                  </a:glow>
                </a:effectLst>
                <a:latin typeface="华文新魏" panose="02010800040101010101" pitchFamily="2" charset="-122"/>
                <a:ea typeface="华文新魏" panose="02010800040101010101" pitchFamily="2" charset="-122"/>
              </a:rPr>
              <a:t>9.1</a:t>
            </a:r>
            <a:r>
              <a:rPr lang="zh-CN" altLang="en-US" sz="5400" spc="50" dirty="0" smtClean="0">
                <a:ln w="9525" cmpd="sng">
                  <a:solidFill>
                    <a:schemeClr val="accent1"/>
                  </a:solidFill>
                  <a:prstDash val="solid"/>
                </a:ln>
                <a:solidFill>
                  <a:srgbClr val="FFFF00"/>
                </a:solidFill>
                <a:effectLst>
                  <a:glow rad="38100">
                    <a:schemeClr val="accent1">
                      <a:alpha val="40000"/>
                    </a:schemeClr>
                  </a:glow>
                </a:effectLst>
                <a:latin typeface="华文新魏" panose="02010800040101010101" pitchFamily="2" charset="-122"/>
                <a:ea typeface="华文新魏" panose="02010800040101010101" pitchFamily="2" charset="-122"/>
              </a:rPr>
              <a:t>   图的存储</a:t>
            </a:r>
            <a:endParaRPr lang="en-US" altLang="zh-CN" sz="5400" spc="50" dirty="0">
              <a:ln w="9525" cmpd="sng">
                <a:solidFill>
                  <a:schemeClr val="accent1"/>
                </a:solidFill>
                <a:prstDash val="solid"/>
              </a:ln>
              <a:solidFill>
                <a:srgbClr val="FFFF00"/>
              </a:solidFill>
              <a:effectLst>
                <a:glow rad="38100">
                  <a:schemeClr val="accent1">
                    <a:alpha val="40000"/>
                  </a:schemeClr>
                </a:glow>
              </a:effectLst>
              <a:latin typeface="华文新魏" panose="02010800040101010101" pitchFamily="2" charset="-122"/>
              <a:ea typeface="华文新魏" panose="02010800040101010101" pitchFamily="2" charset="-122"/>
            </a:endParaRPr>
          </a:p>
        </p:txBody>
      </p:sp>
      <p:sp>
        <p:nvSpPr>
          <p:cNvPr id="6" name="矩形 5"/>
          <p:cNvSpPr/>
          <p:nvPr/>
        </p:nvSpPr>
        <p:spPr>
          <a:xfrm>
            <a:off x="-1" y="1127630"/>
            <a:ext cx="12191999" cy="768350"/>
          </a:xfrm>
          <a:prstGeom prst="rect">
            <a:avLst/>
          </a:prstGeom>
          <a:noFill/>
        </p:spPr>
        <p:txBody>
          <a:bodyPr wrap="square" lIns="91440" tIns="45720" rIns="91440" bIns="45720">
            <a:spAutoFit/>
          </a:bodyPr>
          <a:lstStyle/>
          <a:p>
            <a:pPr algn="ctr"/>
            <a:r>
              <a:rPr lang="zh-CN" altLang="en-US" sz="4400" dirty="0">
                <a:ln w="6600">
                  <a:solidFill>
                    <a:schemeClr val="accent2"/>
                  </a:solidFill>
                  <a:prstDash val="solid"/>
                </a:ln>
                <a:solidFill>
                  <a:srgbClr val="FFFFFF"/>
                </a:solidFill>
                <a:effectLst>
                  <a:outerShdw dist="38100" dir="2700000" algn="tl" rotWithShape="0">
                    <a:schemeClr val="accent2"/>
                  </a:outerShdw>
                </a:effectLst>
                <a:latin typeface="楷体" panose="02010609060101010101" pitchFamily="49" charset="-122"/>
                <a:ea typeface="楷体" panose="02010609060101010101" pitchFamily="49" charset="-122"/>
              </a:rPr>
              <a:t>蓝桥</a:t>
            </a:r>
            <a:r>
              <a:rPr lang="zh-CN" altLang="en-US" sz="4400" dirty="0" smtClean="0">
                <a:ln w="6600">
                  <a:solidFill>
                    <a:schemeClr val="accent2"/>
                  </a:solidFill>
                  <a:prstDash val="solid"/>
                </a:ln>
                <a:solidFill>
                  <a:srgbClr val="FFFFFF"/>
                </a:solidFill>
                <a:effectLst>
                  <a:outerShdw dist="38100" dir="2700000" algn="tl" rotWithShape="0">
                    <a:schemeClr val="accent2"/>
                  </a:outerShdw>
                </a:effectLst>
                <a:latin typeface="楷体" panose="02010609060101010101" pitchFamily="49" charset="-122"/>
                <a:ea typeface="楷体" panose="02010609060101010101" pitchFamily="49" charset="-122"/>
              </a:rPr>
              <a:t>杯</a:t>
            </a:r>
            <a:r>
              <a:rPr lang="zh-CN" altLang="en-US" sz="4400" dirty="0" smtClean="0">
                <a:ln w="6600">
                  <a:solidFill>
                    <a:schemeClr val="accent2"/>
                  </a:solidFill>
                  <a:prstDash val="solid"/>
                </a:ln>
                <a:solidFill>
                  <a:srgbClr val="FFFFFF"/>
                </a:solidFill>
                <a:effectLst>
                  <a:outerShdw dist="38100" dir="2700000" algn="tl" rotWithShape="0">
                    <a:schemeClr val="accent2"/>
                  </a:outerShdw>
                </a:effectLst>
                <a:latin typeface="楷体" panose="02010609060101010101" pitchFamily="49" charset="-122"/>
                <a:ea typeface="楷体" panose="02010609060101010101" pitchFamily="49" charset="-122"/>
              </a:rPr>
              <a:t>图论入门</a:t>
            </a:r>
            <a:endParaRPr lang="zh-CN" altLang="en-US" sz="4400" dirty="0">
              <a:ln w="6600">
                <a:solidFill>
                  <a:schemeClr val="accent2"/>
                </a:solidFill>
                <a:prstDash val="solid"/>
              </a:ln>
              <a:solidFill>
                <a:srgbClr val="FFFFFF"/>
              </a:solidFill>
              <a:effectLst>
                <a:outerShdw dist="38100" dir="2700000" algn="tl" rotWithShape="0">
                  <a:schemeClr val="accent2"/>
                </a:outerShdw>
              </a:effectLst>
              <a:latin typeface="楷体" panose="02010609060101010101" pitchFamily="49" charset="-122"/>
              <a:ea typeface="楷体" panose="02010609060101010101" pitchFamily="49" charset="-122"/>
            </a:endParaRPr>
          </a:p>
        </p:txBody>
      </p: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081165" y="2360065"/>
            <a:ext cx="4650640" cy="4650640"/>
          </a:xfrm>
          <a:prstGeom prst="rect">
            <a:avLst/>
          </a:prstGeom>
        </p:spPr>
      </p:pic>
      <p:sp>
        <p:nvSpPr>
          <p:cNvPr id="2" name="文本框 1"/>
          <p:cNvSpPr txBox="1"/>
          <p:nvPr/>
        </p:nvSpPr>
        <p:spPr>
          <a:xfrm>
            <a:off x="4105275" y="4650740"/>
            <a:ext cx="3980815" cy="583565"/>
          </a:xfrm>
          <a:prstGeom prst="rect">
            <a:avLst/>
          </a:prstGeom>
          <a:noFill/>
        </p:spPr>
        <p:txBody>
          <a:bodyPr wrap="square" rtlCol="0">
            <a:spAutoFit/>
          </a:bodyPr>
          <a:p>
            <a:r>
              <a:rPr lang="zh-CN" altLang="en-US" sz="3200">
                <a:solidFill>
                  <a:schemeClr val="tx1"/>
                </a:solidFill>
                <a:latin typeface="华文新魏" panose="02010800040101010101" pitchFamily="2" charset="-122"/>
                <a:ea typeface="华文新魏" panose="02010800040101010101" pitchFamily="2" charset="-122"/>
                <a:cs typeface="华文新魏" panose="02010800040101010101" pitchFamily="2" charset="-122"/>
              </a:rPr>
              <a:t>时间：</a:t>
            </a:r>
            <a:r>
              <a:rPr lang="en-US" altLang="zh-CN" sz="3200">
                <a:solidFill>
                  <a:schemeClr val="tx1"/>
                </a:solidFill>
                <a:latin typeface="华文新魏" panose="02010800040101010101" pitchFamily="2" charset="-122"/>
                <a:ea typeface="华文新魏" panose="02010800040101010101" pitchFamily="2" charset="-122"/>
                <a:cs typeface="华文新魏" panose="02010800040101010101" pitchFamily="2" charset="-122"/>
              </a:rPr>
              <a:t>2025</a:t>
            </a:r>
            <a:r>
              <a:rPr lang="zh-CN" altLang="en-US" sz="3200">
                <a:solidFill>
                  <a:schemeClr val="tx1"/>
                </a:solidFill>
                <a:latin typeface="华文新魏" panose="02010800040101010101" pitchFamily="2" charset="-122"/>
                <a:ea typeface="华文新魏" panose="02010800040101010101" pitchFamily="2" charset="-122"/>
                <a:cs typeface="华文新魏" panose="02010800040101010101" pitchFamily="2" charset="-122"/>
              </a:rPr>
              <a:t>年</a:t>
            </a:r>
            <a:r>
              <a:rPr lang="en-US" altLang="zh-CN" sz="3200">
                <a:solidFill>
                  <a:schemeClr val="tx1"/>
                </a:solidFill>
                <a:latin typeface="华文新魏" panose="02010800040101010101" pitchFamily="2" charset="-122"/>
                <a:ea typeface="华文新魏" panose="02010800040101010101" pitchFamily="2" charset="-122"/>
                <a:cs typeface="华文新魏" panose="02010800040101010101" pitchFamily="2" charset="-122"/>
              </a:rPr>
              <a:t>1</a:t>
            </a:r>
            <a:r>
              <a:rPr lang="zh-CN" altLang="en-US" sz="3200">
                <a:solidFill>
                  <a:schemeClr val="tx1"/>
                </a:solidFill>
                <a:latin typeface="华文新魏" panose="02010800040101010101" pitchFamily="2" charset="-122"/>
                <a:ea typeface="华文新魏" panose="02010800040101010101" pitchFamily="2" charset="-122"/>
                <a:cs typeface="华文新魏" panose="02010800040101010101" pitchFamily="2" charset="-122"/>
              </a:rPr>
              <a:t>月</a:t>
            </a:r>
            <a:r>
              <a:rPr lang="en-US" altLang="zh-CN" sz="3200">
                <a:solidFill>
                  <a:schemeClr val="tx1"/>
                </a:solidFill>
                <a:latin typeface="华文新魏" panose="02010800040101010101" pitchFamily="2" charset="-122"/>
                <a:ea typeface="华文新魏" panose="02010800040101010101" pitchFamily="2" charset="-122"/>
                <a:cs typeface="华文新魏" panose="02010800040101010101" pitchFamily="2" charset="-122"/>
              </a:rPr>
              <a:t>5</a:t>
            </a:r>
            <a:r>
              <a:rPr lang="zh-CN" altLang="en-US" sz="3200">
                <a:solidFill>
                  <a:schemeClr val="tx1"/>
                </a:solidFill>
                <a:latin typeface="华文新魏" panose="02010800040101010101" pitchFamily="2" charset="-122"/>
                <a:ea typeface="华文新魏" panose="02010800040101010101" pitchFamily="2" charset="-122"/>
                <a:cs typeface="华文新魏" panose="02010800040101010101" pitchFamily="2" charset="-122"/>
              </a:rPr>
              <a:t>日</a:t>
            </a:r>
            <a:endParaRPr lang="zh-CN" altLang="en-US" sz="3200">
              <a:solidFill>
                <a:schemeClr val="tx1"/>
              </a:solidFill>
              <a:latin typeface="华文新魏" panose="02010800040101010101" pitchFamily="2" charset="-122"/>
              <a:ea typeface="华文新魏" panose="02010800040101010101" pitchFamily="2" charset="-122"/>
              <a:cs typeface="华文新魏" panose="02010800040101010101" pitchFamily="2" charset="-122"/>
            </a:endParaRPr>
          </a:p>
        </p:txBody>
      </p:sp>
    </p:spTree>
  </p:cSld>
  <p:clrMapOvr>
    <a:masterClrMapping/>
  </p:clrMapOvr>
  <p:transition spd="med" advTm="3780">
    <p:randomBar dir="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681165" y="401863"/>
            <a:ext cx="10454100" cy="88650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marL="571500" indent="-571500" algn="l">
              <a:buFont typeface="Wingdings" panose="05000000000000000000" pitchFamily="2" charset="2"/>
              <a:buChar char="p"/>
            </a:pPr>
            <a:r>
              <a:rPr lang="zh-CN" altLang="en-US" sz="4000" dirty="0" smtClean="0">
                <a:solidFill>
                  <a:srgbClr val="C00000"/>
                </a:solidFill>
                <a:effectLst/>
                <a:latin typeface="微软雅黑" panose="020B0503020204020204" pitchFamily="34" charset="-122"/>
                <a:ea typeface="微软雅黑" panose="020B0503020204020204" pitchFamily="34" charset="-122"/>
              </a:rPr>
              <a:t>图论概述</a:t>
            </a:r>
            <a:endParaRPr lang="zh-CN" altLang="en-US" sz="4000" dirty="0">
              <a:solidFill>
                <a:srgbClr val="C00000"/>
              </a:solidFill>
              <a:effectLst/>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fld>
            <a:endParaRPr lang="en-US" altLang="zh-CN" b="0" dirty="0">
              <a:solidFill>
                <a:schemeClr val="tx1"/>
              </a:solidFill>
            </a:endParaRPr>
          </a:p>
        </p:txBody>
      </p:sp>
      <p:sp>
        <p:nvSpPr>
          <p:cNvPr id="58" name="矩形 57"/>
          <p:cNvSpPr/>
          <p:nvPr/>
        </p:nvSpPr>
        <p:spPr>
          <a:xfrm>
            <a:off x="904030" y="1901950"/>
            <a:ext cx="9915613" cy="2862322"/>
          </a:xfrm>
          <a:prstGeom prst="rect">
            <a:avLst/>
          </a:prstGeom>
          <a:blipFill>
            <a:blip r:embed="rId1"/>
            <a:tile tx="0" ty="0" sx="100000" sy="100000" flip="none" algn="tl"/>
          </a:blipFill>
        </p:spPr>
        <p:txBody>
          <a:bodyPr wrap="square">
            <a:spAutoFit/>
          </a:bodyPr>
          <a:lstStyle/>
          <a:p>
            <a:pPr>
              <a:lnSpc>
                <a:spcPct val="150000"/>
              </a:lnSpc>
              <a:spcBef>
                <a:spcPts val="0"/>
              </a:spcBef>
              <a:buFont typeface="Wingdings" panose="05000000000000000000" pitchFamily="2" charset="2"/>
              <a:buChar char="u"/>
            </a:pPr>
            <a:r>
              <a:rPr lang="zh-CN" altLang="en-US" sz="2400" dirty="0" smtClean="0">
                <a:solidFill>
                  <a:schemeClr val="tx1"/>
                </a:solidFill>
                <a:latin typeface="微软雅黑" panose="020B0503020204020204" pitchFamily="34" charset="-122"/>
                <a:ea typeface="微软雅黑" panose="020B0503020204020204" pitchFamily="34" charset="-122"/>
                <a:cs typeface="+mn-ea"/>
                <a:sym typeface="+mn-lt"/>
              </a:rPr>
              <a:t>图论是一个巨大的专题，知识点特别多</a:t>
            </a:r>
            <a:endParaRPr lang="en-US" altLang="zh-CN" sz="2400" dirty="0" smtClean="0">
              <a:solidFill>
                <a:schemeClr val="tx1"/>
              </a:solidFill>
              <a:latin typeface="微软雅黑" panose="020B0503020204020204" pitchFamily="34" charset="-122"/>
              <a:ea typeface="微软雅黑" panose="020B0503020204020204" pitchFamily="34" charset="-122"/>
              <a:cs typeface="+mn-ea"/>
              <a:sym typeface="+mn-lt"/>
            </a:endParaRPr>
          </a:p>
          <a:p>
            <a:pPr>
              <a:lnSpc>
                <a:spcPct val="150000"/>
              </a:lnSpc>
              <a:spcBef>
                <a:spcPts val="0"/>
              </a:spcBef>
              <a:buFont typeface="Wingdings" panose="05000000000000000000" pitchFamily="2" charset="2"/>
              <a:buChar char="u"/>
            </a:pPr>
            <a:r>
              <a:rPr lang="zh-CN" altLang="en-US" sz="2400" dirty="0" smtClean="0">
                <a:solidFill>
                  <a:schemeClr val="tx1"/>
                </a:solidFill>
                <a:latin typeface="微软雅黑" panose="020B0503020204020204" pitchFamily="34" charset="-122"/>
                <a:ea typeface="微软雅黑" panose="020B0503020204020204" pitchFamily="34" charset="-122"/>
                <a:cs typeface="+mn-ea"/>
                <a:sym typeface="+mn-lt"/>
              </a:rPr>
              <a:t>题目可难可易</a:t>
            </a:r>
            <a:endParaRPr lang="en-US" altLang="zh-CN" sz="2400" dirty="0" smtClean="0">
              <a:solidFill>
                <a:schemeClr val="tx1"/>
              </a:solidFill>
              <a:latin typeface="微软雅黑" panose="020B0503020204020204" pitchFamily="34" charset="-122"/>
              <a:ea typeface="微软雅黑" panose="020B0503020204020204" pitchFamily="34" charset="-122"/>
              <a:cs typeface="+mn-ea"/>
              <a:sym typeface="+mn-lt"/>
            </a:endParaRPr>
          </a:p>
          <a:p>
            <a:pPr marL="800100" lvl="1" indent="-342900">
              <a:lnSpc>
                <a:spcPct val="150000"/>
              </a:lnSpc>
              <a:spcBef>
                <a:spcPts val="0"/>
              </a:spcBef>
              <a:buFont typeface="Wingdings" panose="05000000000000000000" pitchFamily="2" charset="2"/>
              <a:buChar char="Ø"/>
            </a:pPr>
            <a:r>
              <a:rPr lang="zh-CN" altLang="en-US" sz="2400" dirty="0" smtClean="0">
                <a:solidFill>
                  <a:srgbClr val="FF0000"/>
                </a:solidFill>
                <a:latin typeface="微软雅黑" panose="020B0503020204020204" pitchFamily="34" charset="-122"/>
                <a:ea typeface="微软雅黑" panose="020B0503020204020204" pitchFamily="34" charset="-122"/>
                <a:cs typeface="+mn-ea"/>
                <a:sym typeface="+mn-lt"/>
              </a:rPr>
              <a:t>简单</a:t>
            </a:r>
            <a:r>
              <a:rPr lang="zh-CN" altLang="en-US" sz="2400" dirty="0" smtClean="0">
                <a:solidFill>
                  <a:schemeClr val="tx1"/>
                </a:solidFill>
                <a:latin typeface="微软雅黑" panose="020B0503020204020204" pitchFamily="34" charset="-122"/>
                <a:ea typeface="微软雅黑" panose="020B0503020204020204" pitchFamily="34" charset="-122"/>
                <a:cs typeface="+mn-ea"/>
                <a:sym typeface="+mn-lt"/>
              </a:rPr>
              <a:t>图论：省赛二等奖、国赛</a:t>
            </a:r>
            <a:r>
              <a:rPr lang="zh-CN" altLang="en-US" sz="2400" dirty="0" smtClean="0">
                <a:solidFill>
                  <a:srgbClr val="FF0000"/>
                </a:solidFill>
                <a:latin typeface="微软雅黑" panose="020B0503020204020204" pitchFamily="34" charset="-122"/>
                <a:ea typeface="微软雅黑" panose="020B0503020204020204" pitchFamily="34" charset="-122"/>
                <a:cs typeface="+mn-ea"/>
                <a:sym typeface="+mn-lt"/>
              </a:rPr>
              <a:t>三等奖</a:t>
            </a:r>
            <a:r>
              <a:rPr lang="zh-CN" altLang="en-US" sz="2400" dirty="0" smtClean="0">
                <a:solidFill>
                  <a:schemeClr val="tx1"/>
                </a:solidFill>
                <a:latin typeface="微软雅黑" panose="020B0503020204020204" pitchFamily="34" charset="-122"/>
                <a:ea typeface="微软雅黑" panose="020B0503020204020204" pitchFamily="34" charset="-122"/>
                <a:cs typeface="+mn-ea"/>
                <a:sym typeface="+mn-lt"/>
              </a:rPr>
              <a:t>必备</a:t>
            </a:r>
            <a:endParaRPr lang="en-US" altLang="zh-CN" sz="2400" dirty="0" smtClean="0">
              <a:solidFill>
                <a:schemeClr val="tx1"/>
              </a:solidFill>
              <a:latin typeface="微软雅黑" panose="020B0503020204020204" pitchFamily="34" charset="-122"/>
              <a:ea typeface="微软雅黑" panose="020B0503020204020204" pitchFamily="34" charset="-122"/>
              <a:cs typeface="+mn-ea"/>
              <a:sym typeface="+mn-lt"/>
            </a:endParaRPr>
          </a:p>
          <a:p>
            <a:pPr marL="800100" lvl="1" indent="-342900">
              <a:lnSpc>
                <a:spcPct val="150000"/>
              </a:lnSpc>
              <a:spcBef>
                <a:spcPts val="0"/>
              </a:spcBef>
              <a:buFont typeface="Wingdings" panose="05000000000000000000" pitchFamily="2" charset="2"/>
              <a:buChar char="Ø"/>
            </a:pPr>
            <a:r>
              <a:rPr lang="zh-CN" altLang="en-US" sz="2400" dirty="0" smtClean="0">
                <a:solidFill>
                  <a:srgbClr val="FF0000"/>
                </a:solidFill>
                <a:latin typeface="微软雅黑" panose="020B0503020204020204" pitchFamily="34" charset="-122"/>
                <a:ea typeface="微软雅黑" panose="020B0503020204020204" pitchFamily="34" charset="-122"/>
                <a:cs typeface="+mn-ea"/>
                <a:sym typeface="+mn-lt"/>
              </a:rPr>
              <a:t>复杂</a:t>
            </a:r>
            <a:r>
              <a:rPr lang="zh-CN" altLang="en-US" sz="2400" dirty="0" smtClean="0">
                <a:solidFill>
                  <a:schemeClr val="tx1"/>
                </a:solidFill>
                <a:latin typeface="微软雅黑" panose="020B0503020204020204" pitchFamily="34" charset="-122"/>
                <a:ea typeface="微软雅黑" panose="020B0503020204020204" pitchFamily="34" charset="-122"/>
                <a:cs typeface="+mn-ea"/>
                <a:sym typeface="+mn-lt"/>
              </a:rPr>
              <a:t>图论：国赛</a:t>
            </a:r>
            <a:r>
              <a:rPr lang="zh-CN" altLang="en-US" sz="2400" dirty="0" smtClean="0">
                <a:solidFill>
                  <a:srgbClr val="FF0000"/>
                </a:solidFill>
                <a:latin typeface="微软雅黑" panose="020B0503020204020204" pitchFamily="34" charset="-122"/>
                <a:ea typeface="微软雅黑" panose="020B0503020204020204" pitchFamily="34" charset="-122"/>
                <a:cs typeface="+mn-ea"/>
                <a:sym typeface="+mn-lt"/>
              </a:rPr>
              <a:t>二等</a:t>
            </a:r>
            <a:r>
              <a:rPr lang="zh-CN" altLang="en-US" sz="2400" dirty="0" smtClean="0">
                <a:solidFill>
                  <a:schemeClr val="tx1"/>
                </a:solidFill>
                <a:latin typeface="微软雅黑" panose="020B0503020204020204" pitchFamily="34" charset="-122"/>
                <a:ea typeface="微软雅黑" panose="020B0503020204020204" pitchFamily="34" charset="-122"/>
                <a:cs typeface="+mn-ea"/>
                <a:sym typeface="+mn-lt"/>
              </a:rPr>
              <a:t>、一等必备</a:t>
            </a:r>
            <a:endParaRPr lang="en-US" altLang="zh-CN" sz="2400" dirty="0" smtClean="0">
              <a:solidFill>
                <a:schemeClr val="tx1"/>
              </a:solidFill>
              <a:latin typeface="微软雅黑" panose="020B0503020204020204" pitchFamily="34" charset="-122"/>
              <a:ea typeface="微软雅黑" panose="020B0503020204020204" pitchFamily="34" charset="-122"/>
              <a:cs typeface="+mn-ea"/>
              <a:sym typeface="+mn-lt"/>
            </a:endParaRPr>
          </a:p>
          <a:p>
            <a:pPr>
              <a:lnSpc>
                <a:spcPct val="150000"/>
              </a:lnSpc>
              <a:spcBef>
                <a:spcPts val="0"/>
              </a:spcBef>
              <a:buFont typeface="Wingdings" panose="05000000000000000000" pitchFamily="2" charset="2"/>
              <a:buChar char="u"/>
            </a:pPr>
            <a:r>
              <a:rPr lang="zh-CN" altLang="en-US" sz="2400" dirty="0" smtClean="0">
                <a:solidFill>
                  <a:schemeClr val="tx1"/>
                </a:solidFill>
                <a:latin typeface="微软雅黑" panose="020B0503020204020204" pitchFamily="34" charset="-122"/>
                <a:ea typeface="微软雅黑" panose="020B0503020204020204" pitchFamily="34" charset="-122"/>
                <a:cs typeface="+mn-ea"/>
                <a:sym typeface="+mn-lt"/>
              </a:rPr>
              <a:t>图论题目考核：建模、编码、知识储备</a:t>
            </a:r>
            <a:endParaRPr lang="en-US" altLang="zh-CN" sz="2400" dirty="0" smtClean="0">
              <a:solidFill>
                <a:schemeClr val="tx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7905"/>
    </mc:Choice>
    <mc:Fallback>
      <p:transition spd="slow" advTm="37905"/>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681165" y="401863"/>
            <a:ext cx="10454100" cy="88650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3200" dirty="0">
                <a:solidFill>
                  <a:srgbClr val="C00000"/>
                </a:solidFill>
                <a:effectLst/>
                <a:latin typeface="微软雅黑" panose="020B0503020204020204" pitchFamily="34" charset="-122"/>
                <a:ea typeface="微软雅黑" panose="020B0503020204020204" pitchFamily="34" charset="-122"/>
              </a:rPr>
              <a:t>“第十五届蓝桥杯大赛软件赛知识点大纲”中的图论</a:t>
            </a:r>
            <a:endParaRPr lang="zh-CN" altLang="en-US" sz="3200" dirty="0">
              <a:solidFill>
                <a:srgbClr val="C00000"/>
              </a:solidFill>
              <a:effectLst/>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fld>
            <a:endParaRPr lang="en-US" altLang="zh-CN" b="0" dirty="0">
              <a:solidFill>
                <a:schemeClr val="tx1"/>
              </a:solidFill>
            </a:endParaRPr>
          </a:p>
        </p:txBody>
      </p:sp>
      <p:graphicFrame>
        <p:nvGraphicFramePr>
          <p:cNvPr id="5" name="表格 4"/>
          <p:cNvGraphicFramePr>
            <a:graphicFrameLocks noGrp="1"/>
          </p:cNvGraphicFramePr>
          <p:nvPr/>
        </p:nvGraphicFramePr>
        <p:xfrm>
          <a:off x="1056735" y="1596541"/>
          <a:ext cx="9925024" cy="4581584"/>
        </p:xfrm>
        <a:graphic>
          <a:graphicData uri="http://schemas.openxmlformats.org/drawingml/2006/table">
            <a:tbl>
              <a:tblPr firstRow="1" bandRow="1">
                <a:tableStyleId>{5C22544A-7EE6-4342-B048-85BDC9FD1C3A}</a:tableStyleId>
              </a:tblPr>
              <a:tblGrid>
                <a:gridCol w="1415529"/>
                <a:gridCol w="8509495"/>
              </a:tblGrid>
              <a:tr h="585185">
                <a:tc>
                  <a:txBody>
                    <a:bodyPr/>
                    <a:lstStyle/>
                    <a:p>
                      <a:pPr marL="0" marR="0" algn="ctr">
                        <a:lnSpc>
                          <a:spcPct val="150000"/>
                        </a:lnSpc>
                        <a:spcBef>
                          <a:spcPts val="0"/>
                        </a:spcBef>
                        <a:spcAft>
                          <a:spcPts val="0"/>
                        </a:spcAft>
                      </a:pPr>
                      <a:r>
                        <a:rPr lang="zh-CN" altLang="en-US" sz="2400" b="1" u="none" kern="2200" spc="0" dirty="0" smtClean="0">
                          <a:solidFill>
                            <a:srgbClr val="0070C0"/>
                          </a:solidFill>
                          <a:effectLst/>
                          <a:latin typeface="微软雅黑" panose="020B0503020204020204" pitchFamily="34" charset="-122"/>
                          <a:ea typeface="微软雅黑" panose="020B0503020204020204" pitchFamily="34" charset="-122"/>
                          <a:cs typeface="+mn-cs"/>
                        </a:rPr>
                        <a:t>难度</a:t>
                      </a:r>
                      <a:endParaRPr lang="zh-CN" altLang="en-US" sz="2400" b="1" u="none" kern="2200" dirty="0">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a:solidFill>
                      <a:schemeClr val="accent1">
                        <a:lumMod val="40000"/>
                        <a:lumOff val="60000"/>
                      </a:schemeClr>
                    </a:solidFill>
                  </a:tcPr>
                </a:tc>
                <a:tc>
                  <a:txBody>
                    <a:bodyPr/>
                    <a:lstStyle/>
                    <a:p>
                      <a:pPr marL="0" marR="0" algn="ctr">
                        <a:lnSpc>
                          <a:spcPct val="150000"/>
                        </a:lnSpc>
                        <a:spcBef>
                          <a:spcPts val="0"/>
                        </a:spcBef>
                        <a:spcAft>
                          <a:spcPts val="0"/>
                        </a:spcAft>
                      </a:pPr>
                      <a:r>
                        <a:rPr lang="zh-CN" altLang="en-US" sz="2400" b="1" u="none" kern="2200" spc="0" dirty="0" smtClean="0">
                          <a:solidFill>
                            <a:srgbClr val="0070C0"/>
                          </a:solidFill>
                          <a:effectLst/>
                          <a:latin typeface="微软雅黑" panose="020B0503020204020204" pitchFamily="34" charset="-122"/>
                          <a:ea typeface="微软雅黑" panose="020B0503020204020204" pitchFamily="34" charset="-122"/>
                        </a:rPr>
                        <a:t>知识点</a:t>
                      </a:r>
                      <a:endParaRPr lang="zh-CN" altLang="en-US" sz="2400" b="1" u="none" kern="2200" dirty="0">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a:solidFill>
                      <a:schemeClr val="accent1">
                        <a:lumMod val="40000"/>
                        <a:lumOff val="60000"/>
                      </a:schemeClr>
                    </a:solidFill>
                  </a:tcPr>
                </a:tc>
              </a:tr>
              <a:tr h="585185">
                <a:tc>
                  <a:txBody>
                    <a:bodyPr/>
                    <a:lstStyle/>
                    <a:p>
                      <a:pPr marL="0" marR="0" lvl="0" indent="0" algn="ctr" defTabSz="914400" rtl="0" eaLnBrk="1" fontAlgn="auto" latinLnBrk="0" hangingPunct="1">
                        <a:lnSpc>
                          <a:spcPct val="150000"/>
                        </a:lnSpc>
                        <a:spcBef>
                          <a:spcPts val="0"/>
                        </a:spcBef>
                        <a:spcAft>
                          <a:spcPts val="0"/>
                        </a:spcAft>
                        <a:buClrTx/>
                        <a:buSzTx/>
                        <a:buFontTx/>
                        <a:buNone/>
                        <a:defRPr/>
                      </a:pPr>
                      <a:r>
                        <a:rPr lang="zh-CN" altLang="en-US" sz="2400" b="1" u="none" kern="2200" spc="0" dirty="0" smtClean="0">
                          <a:effectLst/>
                          <a:latin typeface="微软雅黑" panose="020B0503020204020204" pitchFamily="34" charset="-122"/>
                          <a:ea typeface="微软雅黑" panose="020B0503020204020204" pitchFamily="34" charset="-122"/>
                          <a:cs typeface="+mn-cs"/>
                        </a:rPr>
                        <a:t>大学</a:t>
                      </a:r>
                      <a:r>
                        <a:rPr lang="en-US" altLang="zh-CN" sz="2400" b="1" u="none" kern="2200" spc="0" dirty="0" smtClean="0">
                          <a:effectLst/>
                          <a:latin typeface="微软雅黑" panose="020B0503020204020204" pitchFamily="34" charset="-122"/>
                          <a:ea typeface="微软雅黑" panose="020B0503020204020204" pitchFamily="34" charset="-122"/>
                          <a:cs typeface="+mn-cs"/>
                        </a:rPr>
                        <a:t>C</a:t>
                      </a:r>
                      <a:r>
                        <a:rPr lang="zh-CN" altLang="en-US" sz="2400" b="1" u="none" kern="2200" spc="0" dirty="0" smtClean="0">
                          <a:effectLst/>
                          <a:latin typeface="微软雅黑" panose="020B0503020204020204" pitchFamily="34" charset="-122"/>
                          <a:ea typeface="微软雅黑" panose="020B0503020204020204" pitchFamily="34" charset="-122"/>
                          <a:cs typeface="+mn-cs"/>
                        </a:rPr>
                        <a:t>组</a:t>
                      </a:r>
                      <a:endParaRPr lang="zh-CN" altLang="en-US" sz="2400" b="1" u="none" kern="22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a:tc>
                <a:tc>
                  <a:txBody>
                    <a:bodyPr/>
                    <a:lstStyle/>
                    <a:p>
                      <a:pPr marL="342900" marR="0" indent="-342900" algn="l">
                        <a:lnSpc>
                          <a:spcPct val="150000"/>
                        </a:lnSpc>
                        <a:spcBef>
                          <a:spcPts val="0"/>
                        </a:spcBef>
                        <a:spcAft>
                          <a:spcPts val="0"/>
                        </a:spcAft>
                        <a:buFont typeface="Arial" panose="020B0604020202020204" pitchFamily="34" charset="0"/>
                        <a:buChar char="•"/>
                      </a:pPr>
                      <a:r>
                        <a:rPr lang="zh-CN" altLang="en-US" sz="2400" b="1" u="none" kern="2200" spc="0" dirty="0" smtClean="0">
                          <a:solidFill>
                            <a:schemeClr val="tx1"/>
                          </a:solidFill>
                          <a:effectLst/>
                          <a:latin typeface="微软雅黑" panose="020B0503020204020204" pitchFamily="34" charset="-122"/>
                          <a:ea typeface="微软雅黑" panose="020B0503020204020204" pitchFamily="34" charset="-122"/>
                        </a:rPr>
                        <a:t>搜索：</a:t>
                      </a:r>
                      <a:r>
                        <a:rPr lang="en-US" altLang="zh-CN" sz="2400" b="1" u="none" kern="2200" spc="0" dirty="0" smtClean="0">
                          <a:solidFill>
                            <a:srgbClr val="FF0000"/>
                          </a:solidFill>
                          <a:effectLst/>
                          <a:latin typeface="微软雅黑" panose="020B0503020204020204" pitchFamily="34" charset="-122"/>
                          <a:ea typeface="微软雅黑" panose="020B0503020204020204" pitchFamily="34" charset="-122"/>
                        </a:rPr>
                        <a:t>BFS</a:t>
                      </a:r>
                      <a:r>
                        <a:rPr lang="zh-CN" altLang="en-US" sz="2400" b="1" u="none" kern="2200" spc="0" dirty="0">
                          <a:solidFill>
                            <a:srgbClr val="FF0000"/>
                          </a:solidFill>
                          <a:effectLst/>
                          <a:latin typeface="微软雅黑" panose="020B0503020204020204" pitchFamily="34" charset="-122"/>
                          <a:ea typeface="微软雅黑" panose="020B0503020204020204" pitchFamily="34" charset="-122"/>
                        </a:rPr>
                        <a:t>、</a:t>
                      </a:r>
                      <a:r>
                        <a:rPr lang="en-US" altLang="zh-CN" sz="2400" b="1" u="none" kern="2200" spc="0" dirty="0" smtClean="0">
                          <a:solidFill>
                            <a:srgbClr val="FF0000"/>
                          </a:solidFill>
                          <a:effectLst/>
                          <a:latin typeface="微软雅黑" panose="020B0503020204020204" pitchFamily="34" charset="-122"/>
                          <a:ea typeface="微软雅黑" panose="020B0503020204020204" pitchFamily="34" charset="-122"/>
                        </a:rPr>
                        <a:t>DFS</a:t>
                      </a:r>
                      <a:r>
                        <a:rPr lang="en-US" altLang="zh-CN" sz="2400" b="1" u="none" kern="2200" spc="0" baseline="0" dirty="0" smtClean="0">
                          <a:solidFill>
                            <a:srgbClr val="FF0000"/>
                          </a:solidFill>
                          <a:effectLst/>
                          <a:latin typeface="微软雅黑" panose="020B0503020204020204" pitchFamily="34" charset="-122"/>
                          <a:ea typeface="微软雅黑" panose="020B0503020204020204" pitchFamily="34" charset="-122"/>
                        </a:rPr>
                        <a:t>  </a:t>
                      </a:r>
                      <a:r>
                        <a:rPr lang="en-US" altLang="zh-CN" sz="2400" b="1" u="none" kern="2200" spc="0" dirty="0" smtClean="0">
                          <a:solidFill>
                            <a:schemeClr val="tx1"/>
                          </a:solidFill>
                          <a:effectLst/>
                          <a:latin typeface="微软雅黑" panose="020B0503020204020204" pitchFamily="34" charset="-122"/>
                          <a:ea typeface="微软雅黑" panose="020B0503020204020204" pitchFamily="34" charset="-122"/>
                        </a:rPr>
                        <a:t>[1-5]    </a:t>
                      </a:r>
                      <a:r>
                        <a:rPr lang="zh-CN" altLang="en-US" sz="2000" b="1" u="none" kern="2200" spc="0" dirty="0" smtClean="0">
                          <a:solidFill>
                            <a:schemeClr val="tx1"/>
                          </a:solidFill>
                          <a:effectLst/>
                          <a:latin typeface="微软雅黑" panose="020B0503020204020204" pitchFamily="34" charset="-122"/>
                          <a:ea typeface="微软雅黑" panose="020B0503020204020204" pitchFamily="34" charset="-122"/>
                        </a:rPr>
                        <a:t>（</a:t>
                      </a:r>
                      <a:r>
                        <a:rPr lang="en-US" altLang="zh-CN" sz="2000" b="1" u="none" kern="2200" spc="0" dirty="0" smtClean="0">
                          <a:solidFill>
                            <a:schemeClr val="tx1"/>
                          </a:solidFill>
                          <a:effectLst/>
                          <a:latin typeface="微软雅黑" panose="020B0503020204020204" pitchFamily="34" charset="-122"/>
                          <a:ea typeface="微软雅黑" panose="020B0503020204020204" pitchFamily="34" charset="-122"/>
                        </a:rPr>
                        <a:t>BFS</a:t>
                      </a:r>
                      <a:r>
                        <a:rPr lang="zh-CN" altLang="en-US" sz="2000" b="1" u="none" kern="2200" spc="0" dirty="0" smtClean="0">
                          <a:solidFill>
                            <a:schemeClr val="tx1"/>
                          </a:solidFill>
                          <a:effectLst/>
                          <a:latin typeface="微软雅黑" panose="020B0503020204020204" pitchFamily="34" charset="-122"/>
                          <a:ea typeface="微软雅黑" panose="020B0503020204020204" pitchFamily="34" charset="-122"/>
                        </a:rPr>
                        <a:t>和</a:t>
                      </a:r>
                      <a:r>
                        <a:rPr lang="en-US" altLang="zh-CN" sz="2000" b="1" u="none" kern="2200" spc="0" dirty="0" smtClean="0">
                          <a:solidFill>
                            <a:schemeClr val="tx1"/>
                          </a:solidFill>
                          <a:effectLst/>
                          <a:latin typeface="微软雅黑" panose="020B0503020204020204" pitchFamily="34" charset="-122"/>
                          <a:ea typeface="微软雅黑" panose="020B0503020204020204" pitchFamily="34" charset="-122"/>
                        </a:rPr>
                        <a:t>DFS</a:t>
                      </a:r>
                      <a:r>
                        <a:rPr lang="zh-CN" altLang="en-US" sz="2000" b="1" u="none" kern="2200" spc="0" dirty="0" smtClean="0">
                          <a:solidFill>
                            <a:schemeClr val="tx1"/>
                          </a:solidFill>
                          <a:effectLst/>
                          <a:latin typeface="微软雅黑" panose="020B0503020204020204" pitchFamily="34" charset="-122"/>
                          <a:ea typeface="微软雅黑" panose="020B0503020204020204" pitchFamily="34" charset="-122"/>
                        </a:rPr>
                        <a:t>是简单的图论算法）</a:t>
                      </a:r>
                      <a:endParaRPr lang="en-US" altLang="zh-CN" sz="2000" b="1" u="none" kern="2200" spc="0" dirty="0" smtClean="0">
                        <a:solidFill>
                          <a:schemeClr val="tx1"/>
                        </a:solidFill>
                        <a:effectLst/>
                        <a:latin typeface="微软雅黑" panose="020B0503020204020204" pitchFamily="34" charset="-122"/>
                        <a:ea typeface="微软雅黑" panose="020B0503020204020204" pitchFamily="34" charset="-122"/>
                      </a:endParaRPr>
                    </a:p>
                  </a:txBody>
                  <a:tcPr marL="68580" marR="68580">
                    <a:solidFill>
                      <a:schemeClr val="accent1">
                        <a:tint val="40000"/>
                      </a:schemeClr>
                    </a:solidFill>
                  </a:tcPr>
                </a:tc>
              </a:tr>
              <a:tr h="2089946">
                <a:tc>
                  <a:txBody>
                    <a:bodyPr/>
                    <a:lstStyle/>
                    <a:p>
                      <a:pPr marL="0" marR="0" lvl="0" indent="0" algn="ctr" defTabSz="914400" rtl="0" eaLnBrk="1" fontAlgn="auto" latinLnBrk="0" hangingPunct="1">
                        <a:lnSpc>
                          <a:spcPct val="150000"/>
                        </a:lnSpc>
                        <a:spcBef>
                          <a:spcPts val="0"/>
                        </a:spcBef>
                        <a:spcAft>
                          <a:spcPts val="0"/>
                        </a:spcAft>
                        <a:buClrTx/>
                        <a:buSzTx/>
                        <a:buFontTx/>
                        <a:buNone/>
                        <a:defRPr/>
                      </a:pPr>
                      <a:r>
                        <a:rPr lang="zh-CN" altLang="en-US" sz="2400" b="1" u="none" kern="2200" dirty="0" smtClean="0">
                          <a:effectLst/>
                          <a:latin typeface="微软雅黑" panose="020B0503020204020204" pitchFamily="34" charset="-122"/>
                          <a:ea typeface="微软雅黑" panose="020B0503020204020204" pitchFamily="34" charset="-122"/>
                          <a:cs typeface="Times New Roman" panose="02020603050405020304" pitchFamily="18" charset="0"/>
                        </a:rPr>
                        <a:t>大学</a:t>
                      </a:r>
                      <a:r>
                        <a:rPr lang="en-US" altLang="zh-CN" sz="2400" b="1" u="none" kern="2200" dirty="0" smtClean="0">
                          <a:effectLst/>
                          <a:latin typeface="微软雅黑" panose="020B0503020204020204" pitchFamily="34" charset="-122"/>
                          <a:ea typeface="微软雅黑" panose="020B0503020204020204" pitchFamily="34" charset="-122"/>
                          <a:cs typeface="Times New Roman" panose="02020603050405020304" pitchFamily="18" charset="0"/>
                        </a:rPr>
                        <a:t>B</a:t>
                      </a:r>
                      <a:r>
                        <a:rPr lang="zh-CN" altLang="en-US" sz="2400" b="1" u="none" kern="2200" dirty="0" smtClean="0">
                          <a:effectLst/>
                          <a:latin typeface="微软雅黑" panose="020B0503020204020204" pitchFamily="34" charset="-122"/>
                          <a:ea typeface="微软雅黑" panose="020B0503020204020204" pitchFamily="34" charset="-122"/>
                          <a:cs typeface="Times New Roman" panose="02020603050405020304" pitchFamily="18" charset="0"/>
                        </a:rPr>
                        <a:t>组</a:t>
                      </a:r>
                      <a:endParaRPr lang="zh-CN" altLang="en-US" sz="2400" b="1" u="none" kern="22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a:tc>
                <a:tc>
                  <a:txBody>
                    <a:bodyPr/>
                    <a:lstStyle/>
                    <a:p>
                      <a:pPr marL="342900" marR="0" indent="-342900" algn="l">
                        <a:lnSpc>
                          <a:spcPct val="150000"/>
                        </a:lnSpc>
                        <a:spcBef>
                          <a:spcPts val="0"/>
                        </a:spcBef>
                        <a:spcAft>
                          <a:spcPts val="0"/>
                        </a:spcAft>
                        <a:buFont typeface="Arial" panose="020B0604020202020204" pitchFamily="34" charset="0"/>
                        <a:buChar char="•"/>
                      </a:pPr>
                      <a:r>
                        <a:rPr lang="zh-CN" altLang="en-US" sz="2400" b="1" u="none" kern="2200" spc="0" dirty="0" smtClean="0">
                          <a:solidFill>
                            <a:schemeClr val="tx1"/>
                          </a:solidFill>
                          <a:effectLst/>
                          <a:latin typeface="微软雅黑" panose="020B0503020204020204" pitchFamily="34" charset="-122"/>
                          <a:ea typeface="微软雅黑" panose="020B0503020204020204" pitchFamily="34" charset="-122"/>
                        </a:rPr>
                        <a:t>拓扑序列</a:t>
                      </a:r>
                      <a:r>
                        <a:rPr lang="en-US" altLang="zh-CN" sz="2400" b="1" u="none" kern="2200" spc="0" dirty="0" smtClean="0">
                          <a:solidFill>
                            <a:schemeClr val="tx1"/>
                          </a:solidFill>
                          <a:effectLst/>
                          <a:latin typeface="微软雅黑" panose="020B0503020204020204" pitchFamily="34" charset="-122"/>
                          <a:ea typeface="微软雅黑" panose="020B0503020204020204" pitchFamily="34" charset="-122"/>
                        </a:rPr>
                        <a:t>[5-7]</a:t>
                      </a:r>
                      <a:r>
                        <a:rPr lang="zh-CN" altLang="en-US" sz="2400" b="1" u="none" kern="2200" spc="0" dirty="0" smtClean="0">
                          <a:solidFill>
                            <a:schemeClr val="tx1"/>
                          </a:solidFill>
                          <a:effectLst/>
                          <a:latin typeface="微软雅黑" panose="020B0503020204020204" pitchFamily="34" charset="-122"/>
                          <a:ea typeface="微软雅黑" panose="020B0503020204020204" pitchFamily="34" charset="-122"/>
                        </a:rPr>
                        <a:t> 、</a:t>
                      </a:r>
                      <a:r>
                        <a:rPr lang="en-US" altLang="zh-CN" sz="2400" b="1" u="none" kern="2200" spc="0" dirty="0" smtClean="0">
                          <a:solidFill>
                            <a:srgbClr val="FF0000"/>
                          </a:solidFill>
                          <a:effectLst/>
                          <a:latin typeface="微软雅黑" panose="020B0503020204020204" pitchFamily="34" charset="-122"/>
                          <a:ea typeface="微软雅黑" panose="020B0503020204020204" pitchFamily="34" charset="-122"/>
                        </a:rPr>
                        <a:t>DFS </a:t>
                      </a:r>
                      <a:r>
                        <a:rPr lang="zh-CN" altLang="en-US" sz="2400" b="1" u="none" kern="2200" spc="0" dirty="0" smtClean="0">
                          <a:solidFill>
                            <a:srgbClr val="FF0000"/>
                          </a:solidFill>
                          <a:effectLst/>
                          <a:latin typeface="微软雅黑" panose="020B0503020204020204" pitchFamily="34" charset="-122"/>
                          <a:ea typeface="微软雅黑" panose="020B0503020204020204" pitchFamily="34" charset="-122"/>
                        </a:rPr>
                        <a:t>序</a:t>
                      </a:r>
                      <a:r>
                        <a:rPr lang="en-US" altLang="zh-CN" sz="2400" b="1" u="none" kern="2200" spc="0" dirty="0" smtClean="0">
                          <a:solidFill>
                            <a:srgbClr val="FF0000"/>
                          </a:solidFill>
                          <a:effectLst/>
                          <a:latin typeface="微软雅黑" panose="020B0503020204020204" pitchFamily="34" charset="-122"/>
                          <a:ea typeface="微软雅黑" panose="020B0503020204020204" pitchFamily="34" charset="-122"/>
                        </a:rPr>
                        <a:t>[5-7]</a:t>
                      </a:r>
                      <a:r>
                        <a:rPr lang="zh-CN" altLang="en-US" sz="2400" b="1" u="none" kern="2200" spc="0" dirty="0" smtClean="0">
                          <a:solidFill>
                            <a:schemeClr val="tx1"/>
                          </a:solidFill>
                          <a:effectLst/>
                          <a:latin typeface="微软雅黑" panose="020B0503020204020204" pitchFamily="34" charset="-122"/>
                          <a:ea typeface="微软雅黑" panose="020B0503020204020204" pitchFamily="34" charset="-122"/>
                        </a:rPr>
                        <a:t>、欧拉回路</a:t>
                      </a:r>
                      <a:r>
                        <a:rPr lang="en-US" altLang="zh-CN" sz="2400" b="1" u="none" kern="2200" spc="0" dirty="0" smtClean="0">
                          <a:solidFill>
                            <a:schemeClr val="tx1"/>
                          </a:solidFill>
                          <a:effectLst/>
                          <a:latin typeface="微软雅黑" panose="020B0503020204020204" pitchFamily="34" charset="-122"/>
                          <a:ea typeface="微软雅黑" panose="020B0503020204020204" pitchFamily="34" charset="-122"/>
                        </a:rPr>
                        <a:t>[5-7]</a:t>
                      </a:r>
                      <a:r>
                        <a:rPr lang="zh-CN" altLang="en-US" sz="2400" b="1" u="none" kern="2200" spc="0" dirty="0" smtClean="0">
                          <a:solidFill>
                            <a:schemeClr val="tx1"/>
                          </a:solidFill>
                          <a:effectLst/>
                          <a:latin typeface="微软雅黑" panose="020B0503020204020204" pitchFamily="34" charset="-122"/>
                          <a:ea typeface="微软雅黑" panose="020B0503020204020204" pitchFamily="34" charset="-122"/>
                        </a:rPr>
                        <a:t>、</a:t>
                      </a:r>
                      <a:r>
                        <a:rPr lang="zh-CN" altLang="en-US" sz="2400" b="1" u="none" kern="2200" spc="0" dirty="0" smtClean="0">
                          <a:solidFill>
                            <a:srgbClr val="FF0000"/>
                          </a:solidFill>
                          <a:effectLst/>
                          <a:latin typeface="微软雅黑" panose="020B0503020204020204" pitchFamily="34" charset="-122"/>
                          <a:ea typeface="微软雅黑" panose="020B0503020204020204" pitchFamily="34" charset="-122"/>
                        </a:rPr>
                        <a:t>最小生成树</a:t>
                      </a:r>
                      <a:r>
                        <a:rPr lang="en-US" altLang="zh-CN" sz="2400" b="1" u="none" kern="2200" spc="0" dirty="0" smtClean="0">
                          <a:solidFill>
                            <a:srgbClr val="FF0000"/>
                          </a:solidFill>
                          <a:effectLst/>
                          <a:latin typeface="微软雅黑" panose="020B0503020204020204" pitchFamily="34" charset="-122"/>
                          <a:ea typeface="微软雅黑" panose="020B0503020204020204" pitchFamily="34" charset="-122"/>
                        </a:rPr>
                        <a:t>[5-7]</a:t>
                      </a:r>
                      <a:r>
                        <a:rPr lang="zh-CN" altLang="en-US" sz="2400" b="1" u="none" kern="2200" spc="0" dirty="0" smtClean="0">
                          <a:solidFill>
                            <a:srgbClr val="FF0000"/>
                          </a:solidFill>
                          <a:effectLst/>
                          <a:latin typeface="微软雅黑" panose="020B0503020204020204" pitchFamily="34" charset="-122"/>
                          <a:ea typeface="微软雅黑" panose="020B0503020204020204" pitchFamily="34" charset="-122"/>
                        </a:rPr>
                        <a:t>、单源最短路及差分约束系统</a:t>
                      </a:r>
                      <a:r>
                        <a:rPr lang="en-US" altLang="zh-CN" sz="2400" b="1" u="none" kern="2200" spc="0" dirty="0" smtClean="0">
                          <a:solidFill>
                            <a:srgbClr val="FF0000"/>
                          </a:solidFill>
                          <a:effectLst/>
                          <a:latin typeface="微软雅黑" panose="020B0503020204020204" pitchFamily="34" charset="-122"/>
                          <a:ea typeface="微软雅黑" panose="020B0503020204020204" pitchFamily="34" charset="-122"/>
                        </a:rPr>
                        <a:t>[5-7]</a:t>
                      </a:r>
                      <a:r>
                        <a:rPr lang="zh-CN" altLang="en-US" sz="2400" b="1" u="none" kern="2200" spc="0" dirty="0" smtClean="0">
                          <a:solidFill>
                            <a:srgbClr val="FF0000"/>
                          </a:solidFill>
                          <a:effectLst/>
                          <a:latin typeface="微软雅黑" panose="020B0503020204020204" pitchFamily="34" charset="-122"/>
                          <a:ea typeface="微软雅黑" panose="020B0503020204020204" pitchFamily="34" charset="-122"/>
                        </a:rPr>
                        <a:t>、最近共同祖先</a:t>
                      </a:r>
                      <a:r>
                        <a:rPr lang="en-US" altLang="zh-CN" sz="2400" b="1" u="none" kern="2200" spc="0" dirty="0" smtClean="0">
                          <a:solidFill>
                            <a:srgbClr val="FF0000"/>
                          </a:solidFill>
                          <a:effectLst/>
                          <a:latin typeface="微软雅黑" panose="020B0503020204020204" pitchFamily="34" charset="-122"/>
                          <a:ea typeface="微软雅黑" panose="020B0503020204020204" pitchFamily="34" charset="-122"/>
                        </a:rPr>
                        <a:t>[5-7]</a:t>
                      </a:r>
                      <a:r>
                        <a:rPr lang="zh-CN" altLang="en-US" sz="2400" b="1" u="none" kern="2200" spc="0" dirty="0" smtClean="0">
                          <a:solidFill>
                            <a:schemeClr val="tx1"/>
                          </a:solidFill>
                          <a:effectLst/>
                          <a:latin typeface="微软雅黑" panose="020B0503020204020204" pitchFamily="34" charset="-122"/>
                          <a:ea typeface="微软雅黑" panose="020B0503020204020204" pitchFamily="34" charset="-122"/>
                        </a:rPr>
                        <a:t> 、二分图匹配</a:t>
                      </a:r>
                      <a:r>
                        <a:rPr lang="en-US" altLang="zh-CN" sz="2400" b="1" u="none" kern="2200" spc="0" dirty="0" smtClean="0">
                          <a:solidFill>
                            <a:schemeClr val="tx1"/>
                          </a:solidFill>
                          <a:effectLst/>
                          <a:latin typeface="微软雅黑" panose="020B0503020204020204" pitchFamily="34" charset="-122"/>
                          <a:ea typeface="微软雅黑" panose="020B0503020204020204" pitchFamily="34" charset="-122"/>
                        </a:rPr>
                        <a:t>[7]</a:t>
                      </a:r>
                      <a:r>
                        <a:rPr lang="zh-CN" altLang="en-US" sz="2400" b="1" u="none" kern="2200" spc="0" dirty="0" smtClean="0">
                          <a:solidFill>
                            <a:schemeClr val="tx1"/>
                          </a:solidFill>
                          <a:effectLst/>
                          <a:latin typeface="微软雅黑" panose="020B0503020204020204" pitchFamily="34" charset="-122"/>
                          <a:ea typeface="微软雅黑" panose="020B0503020204020204" pitchFamily="34" charset="-122"/>
                        </a:rPr>
                        <a:t>、</a:t>
                      </a:r>
                      <a:r>
                        <a:rPr lang="zh-CN" altLang="en-US" sz="2400" b="1" u="none" kern="2200" spc="0" dirty="0" smtClean="0">
                          <a:solidFill>
                            <a:srgbClr val="C00000"/>
                          </a:solidFill>
                          <a:effectLst/>
                          <a:latin typeface="微软雅黑" panose="020B0503020204020204" pitchFamily="34" charset="-122"/>
                          <a:ea typeface="微软雅黑" panose="020B0503020204020204" pitchFamily="34" charset="-122"/>
                        </a:rPr>
                        <a:t>图的连通性</a:t>
                      </a:r>
                      <a:r>
                        <a:rPr lang="zh-CN" altLang="en-US" sz="2400" b="1" u="none" kern="2200" spc="0" dirty="0" smtClean="0">
                          <a:solidFill>
                            <a:schemeClr val="tx1"/>
                          </a:solidFill>
                          <a:effectLst/>
                          <a:latin typeface="微软雅黑" panose="020B0503020204020204" pitchFamily="34" charset="-122"/>
                          <a:ea typeface="微软雅黑" panose="020B0503020204020204" pitchFamily="34" charset="-122"/>
                        </a:rPr>
                        <a:t>问题（割点、桥、强连通分量）</a:t>
                      </a:r>
                      <a:r>
                        <a:rPr lang="en-US" altLang="zh-CN" sz="2400" b="1" u="none" kern="2200" spc="0" dirty="0" smtClean="0">
                          <a:solidFill>
                            <a:schemeClr val="tx1"/>
                          </a:solidFill>
                          <a:effectLst/>
                          <a:latin typeface="微软雅黑" panose="020B0503020204020204" pitchFamily="34" charset="-122"/>
                          <a:ea typeface="微软雅黑" panose="020B0503020204020204" pitchFamily="34" charset="-122"/>
                        </a:rPr>
                        <a:t>[7]</a:t>
                      </a:r>
                      <a:endParaRPr lang="en-US" altLang="zh-CN" sz="2400" b="1" u="none" kern="2200" spc="0" dirty="0" smtClean="0">
                        <a:solidFill>
                          <a:schemeClr val="tx1"/>
                        </a:solidFill>
                        <a:effectLst/>
                        <a:latin typeface="微软雅黑" panose="020B0503020204020204" pitchFamily="34" charset="-122"/>
                        <a:ea typeface="微软雅黑" panose="020B0503020204020204" pitchFamily="34" charset="-122"/>
                      </a:endParaRPr>
                    </a:p>
                  </a:txBody>
                  <a:tcPr marL="68580" marR="68580">
                    <a:solidFill>
                      <a:schemeClr val="accent1">
                        <a:tint val="40000"/>
                      </a:schemeClr>
                    </a:solidFill>
                  </a:tcPr>
                </a:tc>
              </a:tr>
              <a:tr h="1015424">
                <a:tc>
                  <a:txBody>
                    <a:bodyPr/>
                    <a:lstStyle/>
                    <a:p>
                      <a:pPr marL="0" marR="0" lvl="0" indent="0" algn="ctr" defTabSz="914400" rtl="0" eaLnBrk="1" fontAlgn="auto" latinLnBrk="0" hangingPunct="1">
                        <a:lnSpc>
                          <a:spcPct val="150000"/>
                        </a:lnSpc>
                        <a:spcBef>
                          <a:spcPts val="0"/>
                        </a:spcBef>
                        <a:spcAft>
                          <a:spcPts val="0"/>
                        </a:spcAft>
                        <a:buClrTx/>
                        <a:buSzTx/>
                        <a:buFontTx/>
                        <a:buNone/>
                        <a:defRPr/>
                      </a:pPr>
                      <a:r>
                        <a:rPr lang="zh-CN" altLang="en-US" sz="2400" b="1" u="none" kern="2200" dirty="0" smtClean="0">
                          <a:effectLst/>
                          <a:latin typeface="微软雅黑" panose="020B0503020204020204" pitchFamily="34" charset="-122"/>
                          <a:ea typeface="微软雅黑" panose="020B0503020204020204" pitchFamily="34" charset="-122"/>
                          <a:cs typeface="Times New Roman" panose="02020603050405020304" pitchFamily="18" charset="0"/>
                        </a:rPr>
                        <a:t>大学</a:t>
                      </a:r>
                      <a:r>
                        <a:rPr lang="en-US" altLang="zh-CN" sz="2400" b="1" u="none" kern="2200" dirty="0" smtClean="0">
                          <a:effectLst/>
                          <a:latin typeface="微软雅黑" panose="020B0503020204020204" pitchFamily="34" charset="-122"/>
                          <a:ea typeface="微软雅黑" panose="020B0503020204020204" pitchFamily="34" charset="-122"/>
                          <a:cs typeface="Times New Roman" panose="02020603050405020304" pitchFamily="18" charset="0"/>
                        </a:rPr>
                        <a:t>A</a:t>
                      </a:r>
                      <a:r>
                        <a:rPr lang="zh-CN" altLang="en-US" sz="2400" b="1" u="none" kern="2200" dirty="0" smtClean="0">
                          <a:effectLst/>
                          <a:latin typeface="微软雅黑" panose="020B0503020204020204" pitchFamily="34" charset="-122"/>
                          <a:ea typeface="微软雅黑" panose="020B0503020204020204" pitchFamily="34" charset="-122"/>
                          <a:cs typeface="Times New Roman" panose="02020603050405020304" pitchFamily="18" charset="0"/>
                        </a:rPr>
                        <a:t>组</a:t>
                      </a:r>
                      <a:endParaRPr lang="zh-CN" altLang="en-US" sz="2400" b="1" u="none" kern="22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a:tc>
                <a:tc>
                  <a:txBody>
                    <a:bodyPr/>
                    <a:lstStyle/>
                    <a:p>
                      <a:pPr marL="342900" marR="0" indent="-342900" algn="l">
                        <a:lnSpc>
                          <a:spcPct val="150000"/>
                        </a:lnSpc>
                        <a:spcBef>
                          <a:spcPts val="0"/>
                        </a:spcBef>
                        <a:spcAft>
                          <a:spcPts val="0"/>
                        </a:spcAft>
                        <a:buFont typeface="Arial" panose="020B0604020202020204" pitchFamily="34" charset="0"/>
                        <a:buChar char="•"/>
                      </a:pPr>
                      <a:r>
                        <a:rPr lang="zh-CN" altLang="en-US" sz="2400" b="1" u="none" kern="2200" spc="0" dirty="0" smtClean="0">
                          <a:solidFill>
                            <a:schemeClr val="tx1"/>
                          </a:solidFill>
                          <a:effectLst/>
                          <a:latin typeface="微软雅黑" panose="020B0503020204020204" pitchFamily="34" charset="-122"/>
                          <a:ea typeface="微软雅黑" panose="020B0503020204020204" pitchFamily="34" charset="-122"/>
                        </a:rPr>
                        <a:t>网络流</a:t>
                      </a:r>
                      <a:r>
                        <a:rPr lang="en-US" altLang="zh-CN" sz="2400" b="1" u="none" kern="2200" spc="0" dirty="0" smtClean="0">
                          <a:solidFill>
                            <a:schemeClr val="tx1"/>
                          </a:solidFill>
                          <a:effectLst/>
                          <a:latin typeface="微软雅黑" panose="020B0503020204020204" pitchFamily="34" charset="-122"/>
                          <a:ea typeface="微软雅黑" panose="020B0503020204020204" pitchFamily="34" charset="-122"/>
                        </a:rPr>
                        <a:t>[8-10]</a:t>
                      </a:r>
                      <a:r>
                        <a:rPr lang="zh-CN" altLang="en-US" sz="2400" b="1" u="none" kern="2200" spc="0" dirty="0" smtClean="0">
                          <a:solidFill>
                            <a:schemeClr val="tx1"/>
                          </a:solidFill>
                          <a:effectLst/>
                          <a:latin typeface="微软雅黑" panose="020B0503020204020204" pitchFamily="34" charset="-122"/>
                          <a:ea typeface="微软雅黑" panose="020B0503020204020204" pitchFamily="34" charset="-122"/>
                        </a:rPr>
                        <a:t>、一般图匹配</a:t>
                      </a:r>
                      <a:r>
                        <a:rPr lang="en-US" altLang="zh-CN" sz="2400" b="1" u="none" kern="2200" spc="0" dirty="0" smtClean="0">
                          <a:solidFill>
                            <a:schemeClr val="tx1"/>
                          </a:solidFill>
                          <a:effectLst/>
                          <a:latin typeface="微软雅黑" panose="020B0503020204020204" pitchFamily="34" charset="-122"/>
                          <a:ea typeface="微软雅黑" panose="020B0503020204020204" pitchFamily="34" charset="-122"/>
                        </a:rPr>
                        <a:t>[9-10]</a:t>
                      </a:r>
                      <a:endParaRPr lang="en-US" altLang="zh-CN" sz="2400" b="1" u="none" kern="2200" spc="0" dirty="0" smtClean="0">
                        <a:solidFill>
                          <a:schemeClr val="tx1"/>
                        </a:solidFill>
                        <a:effectLst/>
                        <a:latin typeface="微软雅黑" panose="020B0503020204020204" pitchFamily="34" charset="-122"/>
                        <a:ea typeface="微软雅黑" panose="020B0503020204020204" pitchFamily="34" charset="-122"/>
                      </a:endParaRPr>
                    </a:p>
                  </a:txBody>
                  <a:tcPr marL="68580" marR="68580">
                    <a:solidFill>
                      <a:schemeClr val="accent1">
                        <a:tint val="40000"/>
                      </a:schemeClr>
                    </a:solidFill>
                  </a:tcPr>
                </a:tc>
              </a:tr>
            </a:tbl>
          </a:graphicData>
        </a:graphic>
      </p:graphicFrame>
      <p:sp>
        <p:nvSpPr>
          <p:cNvPr id="6" name="圆角矩形标注 5"/>
          <p:cNvSpPr/>
          <p:nvPr/>
        </p:nvSpPr>
        <p:spPr>
          <a:xfrm>
            <a:off x="9760920" y="1288365"/>
            <a:ext cx="1832460" cy="458114"/>
          </a:xfrm>
          <a:prstGeom prst="wedgeRoundRectCallout">
            <a:avLst>
              <a:gd name="adj1" fmla="val -14626"/>
              <a:gd name="adj2" fmla="val 305683"/>
              <a:gd name="adj3" fmla="val 16667"/>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dirty="0" smtClean="0">
                <a:solidFill>
                  <a:srgbClr val="C00000"/>
                </a:solidFill>
              </a:rPr>
              <a:t>红色：常考</a:t>
            </a:r>
            <a:endParaRPr lang="zh-CN" altLang="en-US" sz="2400" dirty="0">
              <a:solidFill>
                <a:schemeClr val="tx1"/>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42465"/>
    </mc:Choice>
    <mc:Fallback>
      <p:transition spd="slow" advTm="4246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541102" y="527605"/>
            <a:ext cx="7659923" cy="584775"/>
          </a:xfrm>
          <a:prstGeom prst="rect">
            <a:avLst/>
          </a:prstGeom>
          <a:noFill/>
        </p:spPr>
        <p:txBody>
          <a:bodyPr wrap="square">
            <a:spAutoFit/>
          </a:bodyPr>
          <a:lstStyle/>
          <a:p>
            <a:pPr marL="457200" indent="-457200" algn="l">
              <a:buFont typeface="Wingdings" panose="05000000000000000000" pitchFamily="2" charset="2"/>
              <a:buChar char="p"/>
            </a:pPr>
            <a:r>
              <a:rPr lang="zh-CN" altLang="en-US" sz="3200" spc="300" dirty="0" smtClean="0">
                <a:solidFill>
                  <a:srgbClr val="FF0000"/>
                </a:solidFill>
                <a:latin typeface="微软雅黑" panose="020B0503020204020204" pitchFamily="34" charset="-122"/>
                <a:ea typeface="微软雅黑" panose="020B0503020204020204" pitchFamily="34" charset="-122"/>
              </a:rPr>
              <a:t>图</a:t>
            </a:r>
            <a:r>
              <a:rPr lang="zh-CN" altLang="en-US" sz="3200" spc="300" dirty="0">
                <a:solidFill>
                  <a:srgbClr val="FF0000"/>
                </a:solidFill>
                <a:latin typeface="微软雅黑" panose="020B0503020204020204" pitchFamily="34" charset="-122"/>
                <a:ea typeface="微软雅黑" panose="020B0503020204020204" pitchFamily="34" charset="-122"/>
              </a:rPr>
              <a:t>的基本概念</a:t>
            </a:r>
            <a:endParaRPr lang="zh-CN" altLang="en-US" sz="3200" spc="300" dirty="0">
              <a:solidFill>
                <a:srgbClr val="FF0000"/>
              </a:solidFill>
              <a:latin typeface="微软雅黑" panose="020B0503020204020204" pitchFamily="34" charset="-122"/>
              <a:ea typeface="微软雅黑" panose="020B0503020204020204" pitchFamily="34" charset="-122"/>
            </a:endParaRPr>
          </a:p>
        </p:txBody>
      </p:sp>
      <p:sp>
        <p:nvSpPr>
          <p:cNvPr id="2" name="文本框 1" descr="7b0a202020202262756c6c6574223a20227b5c2263617465676f727949645c223a31303030352c5c2274656d706c61746549645c223a32303233313332387d220a7d0a"/>
          <p:cNvSpPr txBox="1"/>
          <p:nvPr/>
        </p:nvSpPr>
        <p:spPr>
          <a:xfrm>
            <a:off x="502499" y="1927636"/>
            <a:ext cx="10954523" cy="1689052"/>
          </a:xfrm>
          <a:prstGeom prst="rect">
            <a:avLst/>
          </a:prstGeom>
          <a:noFill/>
        </p:spPr>
        <p:txBody>
          <a:bodyPr wrap="square" rtlCol="0">
            <a:spAutoFit/>
          </a:bodyPr>
          <a:lstStyle/>
          <a:p>
            <a:pPr marL="342900" indent="-342900">
              <a:lnSpc>
                <a:spcPct val="150000"/>
              </a:lnSpc>
              <a:buFont typeface="Wingdings" panose="05000000000000000000" pitchFamily="2" charset="2"/>
              <a:buChar char="ü"/>
            </a:pPr>
            <a:r>
              <a:rPr lang="zh-CN" altLang="en-US" sz="2400" dirty="0">
                <a:solidFill>
                  <a:schemeClr val="tx1"/>
                </a:solidFill>
                <a:latin typeface="微软雅黑" panose="020B0503020204020204" pitchFamily="34" charset="-122"/>
                <a:ea typeface="微软雅黑" panose="020B0503020204020204" pitchFamily="34" charset="-122"/>
              </a:rPr>
              <a:t>图：由点</a:t>
            </a:r>
            <a:r>
              <a:rPr lang="en-US" altLang="zh-CN" sz="2400" dirty="0">
                <a:solidFill>
                  <a:schemeClr val="tx1"/>
                </a:solidFill>
                <a:latin typeface="微软雅黑" panose="020B0503020204020204" pitchFamily="34" charset="-122"/>
                <a:ea typeface="微软雅黑" panose="020B0503020204020204" pitchFamily="34" charset="-122"/>
              </a:rPr>
              <a:t>(node</a:t>
            </a:r>
            <a:r>
              <a:rPr lang="zh-CN" altLang="en-US" sz="2400" dirty="0">
                <a:solidFill>
                  <a:schemeClr val="tx1"/>
                </a:solidFill>
                <a:latin typeface="微软雅黑" panose="020B0503020204020204" pitchFamily="34" charset="-122"/>
                <a:ea typeface="微软雅黑" panose="020B0503020204020204" pitchFamily="34" charset="-122"/>
              </a:rPr>
              <a:t>，或者</a:t>
            </a:r>
            <a:r>
              <a:rPr lang="en-US" altLang="zh-CN" sz="2400" dirty="0">
                <a:solidFill>
                  <a:schemeClr val="tx1"/>
                </a:solidFill>
                <a:latin typeface="微软雅黑" panose="020B0503020204020204" pitchFamily="34" charset="-122"/>
                <a:ea typeface="微软雅黑" panose="020B0503020204020204" pitchFamily="34" charset="-122"/>
              </a:rPr>
              <a:t>vertex)</a:t>
            </a:r>
            <a:r>
              <a:rPr lang="zh-CN" altLang="en-US" sz="2400" dirty="0">
                <a:solidFill>
                  <a:schemeClr val="tx1"/>
                </a:solidFill>
                <a:latin typeface="微软雅黑" panose="020B0503020204020204" pitchFamily="34" charset="-122"/>
                <a:ea typeface="微软雅黑" panose="020B0503020204020204" pitchFamily="34" charset="-122"/>
              </a:rPr>
              <a:t>和连接点的边</a:t>
            </a:r>
            <a:r>
              <a:rPr lang="en-US" altLang="zh-CN" sz="2400" dirty="0">
                <a:solidFill>
                  <a:schemeClr val="tx1"/>
                </a:solidFill>
                <a:latin typeface="微软雅黑" panose="020B0503020204020204" pitchFamily="34" charset="-122"/>
                <a:ea typeface="微软雅黑" panose="020B0503020204020204" pitchFamily="34" charset="-122"/>
              </a:rPr>
              <a:t>(edge)</a:t>
            </a:r>
            <a:r>
              <a:rPr lang="zh-CN" altLang="en-US" sz="2400" dirty="0">
                <a:solidFill>
                  <a:schemeClr val="tx1"/>
                </a:solidFill>
                <a:latin typeface="微软雅黑" panose="020B0503020204020204" pitchFamily="34" charset="-122"/>
                <a:ea typeface="微软雅黑" panose="020B0503020204020204" pitchFamily="34" charset="-122"/>
              </a:rPr>
              <a:t>组成。</a:t>
            </a:r>
            <a:endParaRPr lang="zh-CN" altLang="en-US" sz="24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ü"/>
            </a:pPr>
            <a:endParaRPr lang="zh-CN" altLang="en-US" sz="24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ü"/>
            </a:pPr>
            <a:r>
              <a:rPr lang="zh-CN" altLang="en-US" sz="2400" dirty="0">
                <a:solidFill>
                  <a:schemeClr val="tx1"/>
                </a:solidFill>
                <a:latin typeface="微软雅黑" panose="020B0503020204020204" pitchFamily="34" charset="-122"/>
                <a:ea typeface="微软雅黑" panose="020B0503020204020204" pitchFamily="34" charset="-122"/>
              </a:rPr>
              <a:t>图是点和边构成的网。</a:t>
            </a:r>
            <a:endParaRPr lang="zh-CN" altLang="en-US" sz="2400" dirty="0">
              <a:solidFill>
                <a:schemeClr val="tx1"/>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4876800" y="3650456"/>
            <a:ext cx="3324225" cy="1928310"/>
          </a:xfrm>
          <a:prstGeom prst="rect">
            <a:avLst/>
          </a:prstGeom>
        </p:spPr>
      </p:pic>
    </p:spTree>
    <p:custDataLst>
      <p:tags r:id="rId2"/>
    </p:custDataLst>
  </p:cSld>
  <p:clrMapOvr>
    <a:masterClrMapping/>
  </p:clrMapOvr>
  <p:transition spd="slow" advClick="0" advTm="25345">
    <p:push dir="u"/>
  </p:transition>
  <p:timing>
    <p:tnLst>
      <p:par>
        <p:cTn id="1" dur="indefinite" restart="never" nodeType="tmRoot"/>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2"/>
          <p:cNvSpPr txBox="1"/>
          <p:nvPr/>
        </p:nvSpPr>
        <p:spPr>
          <a:xfrm>
            <a:off x="990601" y="1372915"/>
            <a:ext cx="10342123" cy="4356517"/>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457200" indent="-457200" algn="l" defTabSz="1828800" eaLnBrk="1" hangingPunct="1">
              <a:lnSpc>
                <a:spcPct val="90000"/>
              </a:lnSpc>
              <a:spcBef>
                <a:spcPct val="401000"/>
              </a:spcBef>
              <a:buFont typeface="Arial" panose="020B0604020202020204" pitchFamily="34" charset="0"/>
              <a:buChar char="•"/>
              <a:defRPr sz="4800" kern="1200">
                <a:solidFill>
                  <a:schemeClr val="tx1"/>
                </a:solidFill>
                <a:latin typeface="宋体" panose="02010600030101010101" pitchFamily="2" charset="-122"/>
                <a:ea typeface="宋体" panose="02010600030101010101" pitchFamily="2" charset="-122"/>
              </a:defRPr>
            </a:lvl1pPr>
            <a:lvl2pPr marL="400050" lvl="1" indent="0" algn="l" defTabSz="1828800" eaLnBrk="1" hangingPunct="1">
              <a:lnSpc>
                <a:spcPct val="90000"/>
              </a:lnSpc>
              <a:spcBef>
                <a:spcPct val="201000"/>
              </a:spcBef>
              <a:buFont typeface="Arial" panose="020B0604020202020204" pitchFamily="34" charset="0"/>
              <a:defRPr sz="4800" kern="1200">
                <a:solidFill>
                  <a:schemeClr val="tx1"/>
                </a:solidFill>
                <a:latin typeface="宋体" panose="02010600030101010101" pitchFamily="2" charset="-122"/>
                <a:ea typeface="宋体" panose="02010600030101010101" pitchFamily="2" charset="-122"/>
              </a:defRPr>
            </a:lvl2pPr>
            <a:lvl3pPr marL="2286000" indent="-457200" algn="l" defTabSz="1828800" eaLnBrk="1" hangingPunct="1">
              <a:lnSpc>
                <a:spcPct val="90000"/>
              </a:lnSpc>
              <a:spcBef>
                <a:spcPct val="201000"/>
              </a:spcBef>
              <a:buFont typeface="Arial" panose="020B0604020202020204" pitchFamily="34" charset="0"/>
              <a:buChar char="•"/>
              <a:defRPr sz="4000" kern="1200">
                <a:solidFill>
                  <a:schemeClr val="tx1"/>
                </a:solidFill>
              </a:defRPr>
            </a:lvl3pPr>
            <a:lvl4pPr marL="32004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4pPr>
            <a:lvl5pPr marL="41148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5pPr>
            <a:lvl6pPr marL="50292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6pPr>
            <a:lvl7pPr marL="59436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7pPr>
            <a:lvl8pPr marL="6857365"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8pPr>
            <a:lvl9pPr marL="7771765"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9pPr>
          </a:lstStyle>
          <a:p>
            <a:pPr marL="0" indent="0">
              <a:lnSpc>
                <a:spcPct val="150000"/>
              </a:lnSpc>
              <a:spcBef>
                <a:spcPts val="0"/>
              </a:spcBef>
              <a:buNone/>
            </a:pPr>
            <a:r>
              <a:rPr lang="zh-CN" altLang="en-US" sz="2400" dirty="0">
                <a:latin typeface="微软雅黑" panose="020B0503020204020204" pitchFamily="34" charset="-122"/>
                <a:ea typeface="微软雅黑" panose="020B0503020204020204" pitchFamily="34" charset="-122"/>
              </a:rPr>
              <a:t>能快速访问：图的存储，能让程序很快定位结点</a:t>
            </a:r>
            <a:r>
              <a:rPr lang="en-US" altLang="zh-CN" sz="2400" dirty="0">
                <a:latin typeface="微软雅黑" panose="020B0503020204020204" pitchFamily="34" charset="-122"/>
                <a:ea typeface="微软雅黑" panose="020B0503020204020204" pitchFamily="34" charset="-122"/>
              </a:rPr>
              <a:t>u</a:t>
            </a:r>
            <a:r>
              <a:rPr lang="zh-CN" altLang="en-US" sz="2400" dirty="0">
                <a:latin typeface="微软雅黑" panose="020B0503020204020204" pitchFamily="34" charset="-122"/>
                <a:ea typeface="微软雅黑" panose="020B0503020204020204" pitchFamily="34" charset="-122"/>
              </a:rPr>
              <a:t>和</a:t>
            </a:r>
            <a:r>
              <a:rPr lang="en-US" altLang="zh-CN" sz="2400" dirty="0">
                <a:latin typeface="微软雅黑" panose="020B0503020204020204" pitchFamily="34" charset="-122"/>
                <a:ea typeface="微软雅黑" panose="020B0503020204020204" pitchFamily="34" charset="-122"/>
              </a:rPr>
              <a:t>v</a:t>
            </a:r>
            <a:r>
              <a:rPr lang="zh-CN" altLang="en-US" sz="2400" dirty="0">
                <a:latin typeface="微软雅黑" panose="020B0503020204020204" pitchFamily="34" charset="-122"/>
                <a:ea typeface="微软雅黑" panose="020B0503020204020204" pitchFamily="34" charset="-122"/>
              </a:rPr>
              <a:t>的边</a:t>
            </a:r>
            <a:r>
              <a:rPr lang="en-US" altLang="zh-CN" sz="2400" dirty="0">
                <a:latin typeface="微软雅黑" panose="020B0503020204020204" pitchFamily="34" charset="-122"/>
                <a:ea typeface="微软雅黑" panose="020B0503020204020204" pitchFamily="34" charset="-122"/>
              </a:rPr>
              <a:t>(u, v) </a:t>
            </a:r>
            <a:r>
              <a:rPr lang="zh-CN" altLang="en-US"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a:p>
            <a:pPr marL="0" indent="0">
              <a:lnSpc>
                <a:spcPct val="150000"/>
              </a:lnSpc>
              <a:spcBef>
                <a:spcPts val="0"/>
              </a:spcBef>
              <a:buNone/>
            </a:pPr>
            <a:endParaRPr lang="zh-CN" altLang="en-US"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数组存边：简单、空间使用最少；</a:t>
            </a:r>
            <a:r>
              <a:rPr lang="zh-CN" altLang="en-US" sz="2400" dirty="0" smtClean="0">
                <a:latin typeface="微软雅黑" panose="020B0503020204020204" pitchFamily="34" charset="-122"/>
                <a:ea typeface="微软雅黑" panose="020B0503020204020204" pitchFamily="34" charset="-122"/>
              </a:rPr>
              <a:t>无法快速定位</a:t>
            </a:r>
            <a:endParaRPr lang="en-US" altLang="zh-CN"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邻接矩阵：简单、空间使用最大；定位最快</a:t>
            </a:r>
            <a:endParaRPr lang="zh-CN" altLang="en-US"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邻接表：</a:t>
            </a:r>
            <a:r>
              <a:rPr lang="zh-CN" altLang="en-US" sz="2400" dirty="0" smtClean="0">
                <a:latin typeface="微软雅黑" panose="020B0503020204020204" pitchFamily="34" charset="-122"/>
                <a:ea typeface="微软雅黑" panose="020B0503020204020204" pitchFamily="34" charset="-122"/>
              </a:rPr>
              <a:t>空间使用少</a:t>
            </a:r>
            <a:r>
              <a:rPr lang="zh-CN" altLang="en-US" sz="2400" dirty="0">
                <a:latin typeface="微软雅黑" panose="020B0503020204020204" pitchFamily="34" charset="-122"/>
                <a:ea typeface="微软雅黑" panose="020B0503020204020204" pitchFamily="34" charset="-122"/>
              </a:rPr>
              <a:t>，定位较快</a:t>
            </a:r>
            <a:endParaRPr lang="en-US" altLang="zh-CN"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链式前向星：空间更少，定位较快</a:t>
            </a:r>
            <a:endParaRPr lang="zh-CN" altLang="en-US"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l"/>
            </a:pPr>
            <a:endParaRPr lang="zh-CN" altLang="en-US" sz="2400" dirty="0">
              <a:latin typeface="微软雅黑" panose="020B0503020204020204" pitchFamily="34" charset="-122"/>
              <a:ea typeface="微软雅黑" panose="020B0503020204020204" pitchFamily="34" charset="-122"/>
            </a:endParaRPr>
          </a:p>
        </p:txBody>
      </p:sp>
      <p:sp>
        <p:nvSpPr>
          <p:cNvPr id="2" name="矩形 1"/>
          <p:cNvSpPr/>
          <p:nvPr/>
        </p:nvSpPr>
        <p:spPr>
          <a:xfrm>
            <a:off x="312758" y="527605"/>
            <a:ext cx="3171061" cy="584775"/>
          </a:xfrm>
          <a:prstGeom prst="rect">
            <a:avLst/>
          </a:prstGeom>
          <a:noFill/>
        </p:spPr>
        <p:txBody>
          <a:bodyPr wrap="square">
            <a:spAutoFit/>
          </a:bodyPr>
          <a:lstStyle/>
          <a:p>
            <a:pPr marL="457200" indent="-457200">
              <a:buFont typeface="Wingdings" panose="05000000000000000000" pitchFamily="2" charset="2"/>
              <a:buChar char="p"/>
            </a:pPr>
            <a:r>
              <a:rPr lang="zh-CN" altLang="en-US" sz="3200" spc="300" dirty="0" smtClean="0">
                <a:solidFill>
                  <a:srgbClr val="FF0000"/>
                </a:solidFill>
                <a:latin typeface="微软雅黑" panose="020B0503020204020204" pitchFamily="34" charset="-122"/>
                <a:ea typeface="微软雅黑" panose="020B0503020204020204" pitchFamily="34" charset="-122"/>
              </a:rPr>
              <a:t>图的</a:t>
            </a:r>
            <a:r>
              <a:rPr lang="zh-CN" altLang="en-US" sz="3200" spc="300" dirty="0">
                <a:solidFill>
                  <a:srgbClr val="FF0000"/>
                </a:solidFill>
                <a:latin typeface="微软雅黑" panose="020B0503020204020204" pitchFamily="34" charset="-122"/>
                <a:ea typeface="微软雅黑" panose="020B0503020204020204" pitchFamily="34" charset="-122"/>
              </a:rPr>
              <a:t>存储</a:t>
            </a:r>
            <a:endParaRPr lang="zh-CN" altLang="en-US" sz="3200" spc="300" dirty="0">
              <a:solidFill>
                <a:srgbClr val="FF0000"/>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ransition spd="slow" advClick="0" advTm="222">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990601" y="757361"/>
            <a:ext cx="7659924" cy="584775"/>
          </a:xfrm>
          <a:prstGeom prst="rect">
            <a:avLst/>
          </a:prstGeom>
          <a:noFill/>
        </p:spPr>
        <p:txBody>
          <a:bodyPr wrap="square">
            <a:spAutoFit/>
          </a:bodyPr>
          <a:lstStyle>
            <a:defPPr>
              <a:defRPr lang="en-US"/>
            </a:defPPr>
            <a:lvl1pPr>
              <a:defRPr sz="3200" spc="300">
                <a:solidFill>
                  <a:srgbClr val="FF0000"/>
                </a:solidFill>
                <a:latin typeface="微软雅黑" panose="020B0503020204020204" pitchFamily="34" charset="-122"/>
                <a:ea typeface="微软雅黑" panose="020B0503020204020204" pitchFamily="34" charset="-122"/>
              </a:defRPr>
            </a:lvl1pPr>
          </a:lstStyle>
          <a:p>
            <a:pPr marL="457200" indent="-457200">
              <a:buFont typeface="Wingdings" panose="05000000000000000000" pitchFamily="2" charset="2"/>
              <a:buChar char="Ø"/>
            </a:pPr>
            <a:r>
              <a:rPr lang="zh-CN" altLang="en-US" dirty="0"/>
              <a:t>最简单的存图方法：边集数组</a:t>
            </a:r>
            <a:endParaRPr lang="zh-CN" altLang="en-US" dirty="0"/>
          </a:p>
        </p:txBody>
      </p:sp>
      <p:sp>
        <p:nvSpPr>
          <p:cNvPr id="10" name="内容占位符 2"/>
          <p:cNvSpPr txBox="1"/>
          <p:nvPr/>
        </p:nvSpPr>
        <p:spPr>
          <a:xfrm>
            <a:off x="990601" y="1901950"/>
            <a:ext cx="10342123" cy="3827482"/>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457200" indent="-457200" algn="l" defTabSz="1828800" eaLnBrk="1" hangingPunct="1">
              <a:lnSpc>
                <a:spcPct val="90000"/>
              </a:lnSpc>
              <a:spcBef>
                <a:spcPct val="401000"/>
              </a:spcBef>
              <a:buFont typeface="Arial" panose="020B0604020202020204" pitchFamily="34" charset="0"/>
              <a:buChar char="•"/>
              <a:defRPr sz="4800" kern="1200">
                <a:solidFill>
                  <a:schemeClr val="tx1"/>
                </a:solidFill>
                <a:latin typeface="宋体" panose="02010600030101010101" pitchFamily="2" charset="-122"/>
                <a:ea typeface="宋体" panose="02010600030101010101" pitchFamily="2" charset="-122"/>
              </a:defRPr>
            </a:lvl1pPr>
            <a:lvl2pPr marL="400050" lvl="1" indent="0" algn="l" defTabSz="1828800" eaLnBrk="1" hangingPunct="1">
              <a:lnSpc>
                <a:spcPct val="90000"/>
              </a:lnSpc>
              <a:spcBef>
                <a:spcPct val="201000"/>
              </a:spcBef>
              <a:buFont typeface="Arial" panose="020B0604020202020204" pitchFamily="34" charset="0"/>
              <a:defRPr sz="4800" kern="1200">
                <a:solidFill>
                  <a:schemeClr val="tx1"/>
                </a:solidFill>
                <a:latin typeface="宋体" panose="02010600030101010101" pitchFamily="2" charset="-122"/>
                <a:ea typeface="宋体" panose="02010600030101010101" pitchFamily="2" charset="-122"/>
              </a:defRPr>
            </a:lvl2pPr>
            <a:lvl3pPr marL="2286000" indent="-457200" algn="l" defTabSz="1828800" eaLnBrk="1" hangingPunct="1">
              <a:lnSpc>
                <a:spcPct val="90000"/>
              </a:lnSpc>
              <a:spcBef>
                <a:spcPct val="201000"/>
              </a:spcBef>
              <a:buFont typeface="Arial" panose="020B0604020202020204" pitchFamily="34" charset="0"/>
              <a:buChar char="•"/>
              <a:defRPr sz="4000" kern="1200">
                <a:solidFill>
                  <a:schemeClr val="tx1"/>
                </a:solidFill>
              </a:defRPr>
            </a:lvl3pPr>
            <a:lvl4pPr marL="32004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4pPr>
            <a:lvl5pPr marL="41148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5pPr>
            <a:lvl6pPr marL="50292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6pPr>
            <a:lvl7pPr marL="59436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7pPr>
            <a:lvl8pPr marL="6857365"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8pPr>
            <a:lvl9pPr marL="7771765"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9pPr>
          </a:lstStyle>
          <a:p>
            <a:pPr marL="0" indent="0">
              <a:lnSpc>
                <a:spcPct val="150000"/>
              </a:lnSpc>
              <a:spcBef>
                <a:spcPts val="0"/>
              </a:spcBef>
              <a:buNone/>
            </a:pPr>
            <a:r>
              <a:rPr lang="zh-CN" altLang="en-US" sz="2400" dirty="0">
                <a:latin typeface="微软雅黑" panose="020B0503020204020204" pitchFamily="34" charset="-122"/>
                <a:ea typeface="微软雅黑" panose="020B0503020204020204" pitchFamily="34" charset="-122"/>
              </a:rPr>
              <a:t>优点：简单、最省空间。</a:t>
            </a:r>
            <a:endParaRPr lang="en-US" altLang="zh-CN" sz="2400" dirty="0">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zh-CN" altLang="en-US" sz="2400" dirty="0">
                <a:latin typeface="微软雅黑" panose="020B0503020204020204" pitchFamily="34" charset="-122"/>
                <a:ea typeface="微软雅黑" panose="020B0503020204020204" pitchFamily="34" charset="-122"/>
              </a:rPr>
              <a:t>缺点：无法定位某条边。</a:t>
            </a:r>
            <a:endParaRPr lang="en-US" altLang="zh-CN" sz="2400" dirty="0">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zh-CN" altLang="en-US" sz="2400" dirty="0">
                <a:latin typeface="微软雅黑" panose="020B0503020204020204" pitchFamily="34" charset="-122"/>
                <a:ea typeface="微软雅黑" panose="020B0503020204020204" pitchFamily="34" charset="-122"/>
              </a:rPr>
              <a:t>应用：最小生成树的</a:t>
            </a:r>
            <a:r>
              <a:rPr lang="en-US" altLang="zh-CN" sz="2400" dirty="0" err="1">
                <a:latin typeface="微软雅黑" panose="020B0503020204020204" pitchFamily="34" charset="-122"/>
                <a:ea typeface="微软雅黑" panose="020B0503020204020204" pitchFamily="34" charset="-122"/>
              </a:rPr>
              <a:t>kruskal</a:t>
            </a:r>
            <a:r>
              <a:rPr lang="zh-CN" altLang="en-US" sz="2400" dirty="0" smtClean="0">
                <a:latin typeface="微软雅黑" panose="020B0503020204020204" pitchFamily="34" charset="-122"/>
                <a:ea typeface="微软雅黑" panose="020B0503020204020204" pitchFamily="34" charset="-122"/>
              </a:rPr>
              <a:t>算法、最短路</a:t>
            </a:r>
            <a:r>
              <a:rPr lang="en-US" altLang="zh-CN" sz="2400" dirty="0" smtClean="0">
                <a:latin typeface="微软雅黑" panose="020B0503020204020204" pitchFamily="34" charset="-122"/>
                <a:ea typeface="微软雅黑" panose="020B0503020204020204" pitchFamily="34" charset="-122"/>
              </a:rPr>
              <a:t>Bellman-ford</a:t>
            </a:r>
            <a:r>
              <a:rPr lang="zh-CN" altLang="en-US" sz="2400" dirty="0" smtClean="0">
                <a:latin typeface="微软雅黑" panose="020B0503020204020204" pitchFamily="34" charset="-122"/>
                <a:ea typeface="微软雅黑" panose="020B0503020204020204" pitchFamily="34" charset="-122"/>
              </a:rPr>
              <a:t>算法</a:t>
            </a:r>
            <a:endParaRPr lang="en-US" altLang="zh-CN" sz="2400" dirty="0">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ransition spd="slow" advClick="0" advTm="74098">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982671" y="555435"/>
            <a:ext cx="7659923" cy="584775"/>
          </a:xfrm>
          <a:prstGeom prst="rect">
            <a:avLst/>
          </a:prstGeom>
          <a:noFill/>
        </p:spPr>
        <p:txBody>
          <a:bodyPr wrap="square">
            <a:spAutoFit/>
          </a:bodyPr>
          <a:lstStyle>
            <a:defPPr>
              <a:defRPr lang="en-US"/>
            </a:defPPr>
            <a:lvl1pPr>
              <a:defRPr sz="3200" spc="300">
                <a:solidFill>
                  <a:srgbClr val="FF0000"/>
                </a:solidFill>
                <a:latin typeface="微软雅黑" panose="020B0503020204020204" pitchFamily="34" charset="-122"/>
                <a:ea typeface="微软雅黑" panose="020B0503020204020204" pitchFamily="34" charset="-122"/>
              </a:defRPr>
            </a:lvl1pPr>
          </a:lstStyle>
          <a:p>
            <a:pPr marL="457200" indent="-457200">
              <a:buFont typeface="Wingdings" panose="05000000000000000000" pitchFamily="2" charset="2"/>
              <a:buChar char="Ø"/>
            </a:pPr>
            <a:r>
              <a:rPr lang="zh-CN" altLang="en-US" dirty="0"/>
              <a:t>邻接矩阵</a:t>
            </a:r>
            <a:endParaRPr lang="zh-CN" altLang="en-US" dirty="0"/>
          </a:p>
        </p:txBody>
      </p:sp>
      <p:sp>
        <p:nvSpPr>
          <p:cNvPr id="10" name="内容占位符 2"/>
          <p:cNvSpPr txBox="1"/>
          <p:nvPr/>
        </p:nvSpPr>
        <p:spPr>
          <a:xfrm>
            <a:off x="1014981" y="1161340"/>
            <a:ext cx="10572116" cy="4356517"/>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457200" indent="-457200" algn="l" defTabSz="1828800" eaLnBrk="1" hangingPunct="1">
              <a:lnSpc>
                <a:spcPct val="90000"/>
              </a:lnSpc>
              <a:spcBef>
                <a:spcPct val="401000"/>
              </a:spcBef>
              <a:buFont typeface="Arial" panose="020B0604020202020204" pitchFamily="34" charset="0"/>
              <a:buChar char="•"/>
              <a:defRPr sz="4800" kern="1200">
                <a:solidFill>
                  <a:schemeClr val="tx1"/>
                </a:solidFill>
                <a:latin typeface="宋体" panose="02010600030101010101" pitchFamily="2" charset="-122"/>
                <a:ea typeface="宋体" panose="02010600030101010101" pitchFamily="2" charset="-122"/>
              </a:defRPr>
            </a:lvl1pPr>
            <a:lvl2pPr marL="400050" lvl="1" indent="0" algn="l" defTabSz="1828800" eaLnBrk="1" hangingPunct="1">
              <a:lnSpc>
                <a:spcPct val="90000"/>
              </a:lnSpc>
              <a:spcBef>
                <a:spcPct val="201000"/>
              </a:spcBef>
              <a:buFont typeface="Arial" panose="020B0604020202020204" pitchFamily="34" charset="0"/>
              <a:defRPr sz="4800" kern="1200">
                <a:solidFill>
                  <a:schemeClr val="tx1"/>
                </a:solidFill>
                <a:latin typeface="宋体" panose="02010600030101010101" pitchFamily="2" charset="-122"/>
                <a:ea typeface="宋体" panose="02010600030101010101" pitchFamily="2" charset="-122"/>
              </a:defRPr>
            </a:lvl2pPr>
            <a:lvl3pPr marL="2286000" indent="-457200" algn="l" defTabSz="1828800" eaLnBrk="1" hangingPunct="1">
              <a:lnSpc>
                <a:spcPct val="90000"/>
              </a:lnSpc>
              <a:spcBef>
                <a:spcPct val="201000"/>
              </a:spcBef>
              <a:buFont typeface="Arial" panose="020B0604020202020204" pitchFamily="34" charset="0"/>
              <a:buChar char="•"/>
              <a:defRPr sz="4000" kern="1200">
                <a:solidFill>
                  <a:schemeClr val="tx1"/>
                </a:solidFill>
              </a:defRPr>
            </a:lvl3pPr>
            <a:lvl4pPr marL="32004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4pPr>
            <a:lvl5pPr marL="41148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5pPr>
            <a:lvl6pPr marL="50292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6pPr>
            <a:lvl7pPr marL="59436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7pPr>
            <a:lvl8pPr marL="6857365"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8pPr>
            <a:lvl9pPr marL="7771765"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9pPr>
          </a:lstStyle>
          <a:p>
            <a:pPr marL="0" indent="0">
              <a:lnSpc>
                <a:spcPct val="150000"/>
              </a:lnSpc>
              <a:spcBef>
                <a:spcPts val="0"/>
              </a:spcBef>
              <a:buNone/>
            </a:pPr>
            <a:r>
              <a:rPr lang="zh-CN" altLang="en-US" sz="2200" dirty="0">
                <a:latin typeface="微软雅黑" panose="020B0503020204020204" pitchFamily="34" charset="-122"/>
                <a:ea typeface="微软雅黑" panose="020B0503020204020204" pitchFamily="34" charset="-122"/>
              </a:rPr>
              <a:t>二维数组：</a:t>
            </a:r>
            <a:r>
              <a:rPr lang="en-US" altLang="zh-CN" sz="2200" dirty="0">
                <a:latin typeface="微软雅黑" panose="020B0503020204020204" pitchFamily="34" charset="-122"/>
                <a:ea typeface="微软雅黑" panose="020B0503020204020204" pitchFamily="34" charset="-122"/>
              </a:rPr>
              <a:t>  graph[NUM ][NUM ]</a:t>
            </a:r>
            <a:endParaRPr lang="en-US" altLang="zh-CN" sz="2200" dirty="0">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zh-CN" altLang="en-US" sz="2200" dirty="0">
                <a:latin typeface="微软雅黑" panose="020B0503020204020204" pitchFamily="34" charset="-122"/>
                <a:ea typeface="微软雅黑" panose="020B0503020204020204" pitchFamily="34" charset="-122"/>
              </a:rPr>
              <a:t>无向图：</a:t>
            </a:r>
            <a:r>
              <a:rPr lang="en-US" altLang="zh-CN" sz="2200" dirty="0">
                <a:latin typeface="微软雅黑" panose="020B0503020204020204" pitchFamily="34" charset="-122"/>
                <a:ea typeface="微软雅黑" panose="020B0503020204020204" pitchFamily="34" charset="-122"/>
              </a:rPr>
              <a:t>graph[</a:t>
            </a:r>
            <a:r>
              <a:rPr lang="en-US" altLang="zh-CN" sz="2200" dirty="0" err="1">
                <a:latin typeface="微软雅黑" panose="020B0503020204020204" pitchFamily="34" charset="-122"/>
                <a:ea typeface="微软雅黑" panose="020B0503020204020204" pitchFamily="34" charset="-122"/>
              </a:rPr>
              <a:t>i</a:t>
            </a:r>
            <a:r>
              <a:rPr lang="en-US" altLang="zh-CN" sz="2200" dirty="0">
                <a:latin typeface="微软雅黑" panose="020B0503020204020204" pitchFamily="34" charset="-122"/>
                <a:ea typeface="微软雅黑" panose="020B0503020204020204" pitchFamily="34" charset="-122"/>
              </a:rPr>
              <a:t>][j]  = graph[j][</a:t>
            </a:r>
            <a:r>
              <a:rPr lang="en-US" altLang="zh-CN" sz="2200" dirty="0" err="1">
                <a:latin typeface="微软雅黑" panose="020B0503020204020204" pitchFamily="34" charset="-122"/>
                <a:ea typeface="微软雅黑" panose="020B0503020204020204" pitchFamily="34" charset="-122"/>
              </a:rPr>
              <a:t>i</a:t>
            </a:r>
            <a:r>
              <a:rPr lang="en-US" altLang="zh-CN" sz="2200" dirty="0" smtClean="0">
                <a:latin typeface="微软雅黑" panose="020B0503020204020204" pitchFamily="34" charset="-122"/>
                <a:ea typeface="微软雅黑" panose="020B0503020204020204" pitchFamily="34" charset="-122"/>
              </a:rPr>
              <a:t>]</a:t>
            </a:r>
            <a:endParaRPr lang="zh-CN" altLang="en-US" sz="2200" dirty="0">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zh-CN" altLang="en-US" sz="2200" dirty="0">
                <a:latin typeface="微软雅黑" panose="020B0503020204020204" pitchFamily="34" charset="-122"/>
                <a:ea typeface="微软雅黑" panose="020B0503020204020204" pitchFamily="34" charset="-122"/>
              </a:rPr>
              <a:t>有向图：</a:t>
            </a:r>
            <a:r>
              <a:rPr lang="en-US" altLang="zh-CN" sz="2200" dirty="0">
                <a:latin typeface="微软雅黑" panose="020B0503020204020204" pitchFamily="34" charset="-122"/>
                <a:ea typeface="微软雅黑" panose="020B0503020204020204" pitchFamily="34" charset="-122"/>
              </a:rPr>
              <a:t>graph[</a:t>
            </a:r>
            <a:r>
              <a:rPr lang="en-US" altLang="zh-CN" sz="2200" dirty="0" err="1">
                <a:latin typeface="微软雅黑" panose="020B0503020204020204" pitchFamily="34" charset="-122"/>
                <a:ea typeface="微软雅黑" panose="020B0503020204020204" pitchFamily="34" charset="-122"/>
              </a:rPr>
              <a:t>i</a:t>
            </a:r>
            <a:r>
              <a:rPr lang="en-US" altLang="zh-CN" sz="2200" dirty="0">
                <a:latin typeface="微软雅黑" panose="020B0503020204020204" pitchFamily="34" charset="-122"/>
                <a:ea typeface="微软雅黑" panose="020B0503020204020204" pitchFamily="34" charset="-122"/>
              </a:rPr>
              <a:t>][j] != graph[j][</a:t>
            </a:r>
            <a:r>
              <a:rPr lang="en-US" altLang="zh-CN" sz="2200" dirty="0" err="1">
                <a:latin typeface="微软雅黑" panose="020B0503020204020204" pitchFamily="34" charset="-122"/>
                <a:ea typeface="微软雅黑" panose="020B0503020204020204" pitchFamily="34" charset="-122"/>
              </a:rPr>
              <a:t>i</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a:t>
            </a:r>
            <a:endParaRPr lang="zh-CN" altLang="en-US" sz="2200" dirty="0">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zh-CN" altLang="en-US" sz="2200" dirty="0">
                <a:latin typeface="微软雅黑" panose="020B0503020204020204" pitchFamily="34" charset="-122"/>
                <a:ea typeface="微软雅黑" panose="020B0503020204020204" pitchFamily="34" charset="-122"/>
              </a:rPr>
              <a:t>权值：</a:t>
            </a:r>
            <a:r>
              <a:rPr lang="en-US" altLang="zh-CN" sz="2200" dirty="0">
                <a:latin typeface="微软雅黑" panose="020B0503020204020204" pitchFamily="34" charset="-122"/>
                <a:ea typeface="微软雅黑" panose="020B0503020204020204" pitchFamily="34" charset="-122"/>
              </a:rPr>
              <a:t>graph[</a:t>
            </a:r>
            <a:r>
              <a:rPr lang="en-US" altLang="zh-CN" sz="2200" dirty="0" err="1">
                <a:latin typeface="微软雅黑" panose="020B0503020204020204" pitchFamily="34" charset="-122"/>
                <a:ea typeface="微软雅黑" panose="020B0503020204020204" pitchFamily="34" charset="-122"/>
              </a:rPr>
              <a:t>i</a:t>
            </a:r>
            <a:r>
              <a:rPr lang="en-US" altLang="zh-CN" sz="2200" dirty="0">
                <a:latin typeface="微软雅黑" panose="020B0503020204020204" pitchFamily="34" charset="-122"/>
                <a:ea typeface="微软雅黑" panose="020B0503020204020204" pitchFamily="34" charset="-122"/>
              </a:rPr>
              <a:t>][j]</a:t>
            </a:r>
            <a:r>
              <a:rPr lang="zh-CN" altLang="en-US" sz="2200" dirty="0">
                <a:latin typeface="微软雅黑" panose="020B0503020204020204" pitchFamily="34" charset="-122"/>
                <a:ea typeface="微软雅黑" panose="020B0503020204020204" pitchFamily="34" charset="-122"/>
              </a:rPr>
              <a:t>存结点</a:t>
            </a:r>
            <a:r>
              <a:rPr lang="en-US" altLang="zh-CN" sz="2200" dirty="0" err="1">
                <a:latin typeface="微软雅黑" panose="020B0503020204020204" pitchFamily="34" charset="-122"/>
                <a:ea typeface="微软雅黑" panose="020B0503020204020204" pitchFamily="34" charset="-122"/>
              </a:rPr>
              <a:t>i</a:t>
            </a:r>
            <a:r>
              <a:rPr lang="zh-CN" altLang="en-US" sz="2200" dirty="0">
                <a:latin typeface="微软雅黑" panose="020B0503020204020204" pitchFamily="34" charset="-122"/>
                <a:ea typeface="微软雅黑" panose="020B0503020204020204" pitchFamily="34" charset="-122"/>
              </a:rPr>
              <a:t>到</a:t>
            </a:r>
            <a:r>
              <a:rPr lang="en-US" altLang="zh-CN" sz="2200" dirty="0">
                <a:latin typeface="微软雅黑" panose="020B0503020204020204" pitchFamily="34" charset="-122"/>
                <a:ea typeface="微软雅黑" panose="020B0503020204020204" pitchFamily="34" charset="-122"/>
              </a:rPr>
              <a:t>j</a:t>
            </a:r>
            <a:r>
              <a:rPr lang="zh-CN" altLang="en-US" sz="2200" dirty="0">
                <a:latin typeface="微软雅黑" panose="020B0503020204020204" pitchFamily="34" charset="-122"/>
                <a:ea typeface="微软雅黑" panose="020B0503020204020204" pitchFamily="34" charset="-122"/>
              </a:rPr>
              <a:t>的边的权值</a:t>
            </a:r>
            <a:r>
              <a:rPr lang="zh-CN" altLang="en-US" sz="2200" dirty="0" smtClean="0">
                <a:latin typeface="微软雅黑" panose="020B0503020204020204" pitchFamily="34" charset="-122"/>
                <a:ea typeface="微软雅黑" panose="020B0503020204020204" pitchFamily="34" charset="-122"/>
              </a:rPr>
              <a:t>。</a:t>
            </a:r>
            <a:endParaRPr lang="en-US" altLang="zh-CN" sz="2200" dirty="0" smtClean="0">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en-US" altLang="zh-CN" sz="2200" dirty="0" smtClean="0">
                <a:latin typeface="微软雅黑" panose="020B0503020204020204" pitchFamily="34" charset="-122"/>
                <a:ea typeface="微软雅黑" panose="020B0503020204020204" pitchFamily="34" charset="-122"/>
              </a:rPr>
              <a:t>       </a:t>
            </a:r>
            <a:r>
              <a:rPr lang="zh-CN" altLang="en-US" sz="2200" dirty="0" smtClean="0">
                <a:latin typeface="微软雅黑" panose="020B0503020204020204" pitchFamily="34" charset="-122"/>
                <a:ea typeface="微软雅黑" panose="020B0503020204020204" pitchFamily="34" charset="-122"/>
              </a:rPr>
              <a:t>例：</a:t>
            </a:r>
            <a:r>
              <a:rPr lang="en-US" altLang="zh-CN" sz="2200" dirty="0" smtClean="0">
                <a:latin typeface="微软雅黑" panose="020B0503020204020204" pitchFamily="34" charset="-122"/>
                <a:ea typeface="微软雅黑" panose="020B0503020204020204" pitchFamily="34" charset="-122"/>
              </a:rPr>
              <a:t>graph[1</a:t>
            </a:r>
            <a:r>
              <a:rPr lang="en-US" altLang="zh-CN" sz="2200" dirty="0">
                <a:latin typeface="微软雅黑" panose="020B0503020204020204" pitchFamily="34" charset="-122"/>
                <a:ea typeface="微软雅黑" panose="020B0503020204020204" pitchFamily="34" charset="-122"/>
              </a:rPr>
              <a:t>][2] = 3</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graph[2][1] = </a:t>
            </a:r>
            <a:r>
              <a:rPr lang="en-US" altLang="zh-CN" sz="2200" dirty="0" smtClean="0">
                <a:latin typeface="微软雅黑" panose="020B0503020204020204" pitchFamily="34" charset="-122"/>
                <a:ea typeface="微软雅黑" panose="020B0503020204020204" pitchFamily="34" charset="-122"/>
              </a:rPr>
              <a:t>5</a:t>
            </a:r>
            <a:r>
              <a:rPr lang="zh-CN" altLang="en-US" sz="2200" dirty="0" smtClean="0">
                <a:latin typeface="微软雅黑" panose="020B0503020204020204" pitchFamily="34" charset="-122"/>
                <a:ea typeface="微软雅黑" panose="020B0503020204020204" pitchFamily="34" charset="-122"/>
              </a:rPr>
              <a:t>，</a:t>
            </a:r>
            <a:r>
              <a:rPr lang="en-US" altLang="zh-CN" sz="2200" dirty="0" smtClean="0">
                <a:latin typeface="微软雅黑" panose="020B0503020204020204" pitchFamily="34" charset="-122"/>
                <a:ea typeface="微软雅黑" panose="020B0503020204020204" pitchFamily="34" charset="-122"/>
              </a:rPr>
              <a:t>graph[</a:t>
            </a:r>
            <a:r>
              <a:rPr lang="en-US" altLang="zh-CN" sz="2200" dirty="0" err="1" smtClean="0">
                <a:latin typeface="微软雅黑" panose="020B0503020204020204" pitchFamily="34" charset="-122"/>
                <a:ea typeface="微软雅黑" panose="020B0503020204020204" pitchFamily="34" charset="-122"/>
              </a:rPr>
              <a:t>i</a:t>
            </a:r>
            <a:r>
              <a:rPr lang="en-US" altLang="zh-CN" sz="2200" dirty="0">
                <a:latin typeface="微软雅黑" panose="020B0503020204020204" pitchFamily="34" charset="-122"/>
                <a:ea typeface="微软雅黑" panose="020B0503020204020204" pitchFamily="34" charset="-122"/>
              </a:rPr>
              <a:t>][j] = INF</a:t>
            </a:r>
            <a:r>
              <a:rPr lang="zh-CN" altLang="en-US" sz="2200" dirty="0">
                <a:latin typeface="微软雅黑" panose="020B0503020204020204" pitchFamily="34" charset="-122"/>
                <a:ea typeface="微软雅黑" panose="020B0503020204020204" pitchFamily="34" charset="-122"/>
              </a:rPr>
              <a:t>表示</a:t>
            </a:r>
            <a:r>
              <a:rPr lang="en-US" altLang="zh-CN" sz="2200" dirty="0" err="1">
                <a:latin typeface="微软雅黑" panose="020B0503020204020204" pitchFamily="34" charset="-122"/>
                <a:ea typeface="微软雅黑" panose="020B0503020204020204" pitchFamily="34" charset="-122"/>
              </a:rPr>
              <a:t>i</a:t>
            </a:r>
            <a:r>
              <a:rPr lang="zh-CN" altLang="en-US" sz="2200" dirty="0">
                <a:latin typeface="微软雅黑" panose="020B0503020204020204" pitchFamily="34" charset="-122"/>
                <a:ea typeface="微软雅黑" panose="020B0503020204020204" pitchFamily="34" charset="-122"/>
              </a:rPr>
              <a:t>，</a:t>
            </a:r>
            <a:r>
              <a:rPr lang="en-US" altLang="zh-CN" sz="2200" dirty="0" smtClean="0">
                <a:latin typeface="微软雅黑" panose="020B0503020204020204" pitchFamily="34" charset="-122"/>
                <a:ea typeface="微软雅黑" panose="020B0503020204020204" pitchFamily="34" charset="-122"/>
              </a:rPr>
              <a:t>j</a:t>
            </a:r>
            <a:r>
              <a:rPr lang="zh-CN" altLang="en-US" sz="2200" dirty="0" smtClean="0">
                <a:latin typeface="微软雅黑" panose="020B0503020204020204" pitchFamily="34" charset="-122"/>
                <a:ea typeface="微软雅黑" panose="020B0503020204020204" pitchFamily="34" charset="-122"/>
              </a:rPr>
              <a:t>无边</a:t>
            </a:r>
            <a:r>
              <a:rPr lang="zh-CN" altLang="en-US" sz="2200" dirty="0">
                <a:latin typeface="微软雅黑" panose="020B0503020204020204" pitchFamily="34" charset="-122"/>
                <a:ea typeface="微软雅黑" panose="020B0503020204020204" pitchFamily="34" charset="-122"/>
              </a:rPr>
              <a:t>。</a:t>
            </a:r>
            <a:endParaRPr lang="zh-CN" altLang="en-US" sz="2200" dirty="0">
              <a:latin typeface="微软雅黑" panose="020B0503020204020204" pitchFamily="34" charset="-122"/>
              <a:ea typeface="微软雅黑" panose="020B0503020204020204" pitchFamily="34" charset="-122"/>
            </a:endParaRPr>
          </a:p>
          <a:p>
            <a:pPr marL="0" indent="0">
              <a:lnSpc>
                <a:spcPct val="150000"/>
              </a:lnSpc>
              <a:spcBef>
                <a:spcPts val="0"/>
              </a:spcBef>
              <a:buNone/>
            </a:pPr>
            <a:endParaRPr lang="zh-CN" altLang="en-US" sz="2200" dirty="0">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ransition spd="slow" advClick="0" advTm="62455">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751325" y="527605"/>
            <a:ext cx="7659924" cy="584775"/>
          </a:xfrm>
          <a:prstGeom prst="rect">
            <a:avLst/>
          </a:prstGeom>
          <a:noFill/>
        </p:spPr>
        <p:txBody>
          <a:bodyPr wrap="square">
            <a:spAutoFit/>
          </a:bodyPr>
          <a:lstStyle>
            <a:defPPr>
              <a:defRPr lang="en-US"/>
            </a:defPPr>
            <a:lvl1pPr>
              <a:defRPr sz="3200" spc="300">
                <a:solidFill>
                  <a:srgbClr val="FF0000"/>
                </a:solidFill>
                <a:latin typeface="微软雅黑" panose="020B0503020204020204" pitchFamily="34" charset="-122"/>
                <a:ea typeface="微软雅黑" panose="020B0503020204020204" pitchFamily="34" charset="-122"/>
              </a:defRPr>
            </a:lvl1pPr>
          </a:lstStyle>
          <a:p>
            <a:r>
              <a:rPr lang="zh-CN" altLang="en-US" dirty="0"/>
              <a:t>优点和缺点</a:t>
            </a:r>
            <a:endParaRPr lang="zh-CN" altLang="en-US" dirty="0"/>
          </a:p>
        </p:txBody>
      </p:sp>
      <p:sp>
        <p:nvSpPr>
          <p:cNvPr id="10" name="内容占位符 2"/>
          <p:cNvSpPr txBox="1"/>
          <p:nvPr/>
        </p:nvSpPr>
        <p:spPr>
          <a:xfrm>
            <a:off x="990601" y="1372915"/>
            <a:ext cx="10342123" cy="4356517"/>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457200" indent="-457200" algn="l" defTabSz="1828800" eaLnBrk="1" hangingPunct="1">
              <a:lnSpc>
                <a:spcPct val="90000"/>
              </a:lnSpc>
              <a:spcBef>
                <a:spcPct val="401000"/>
              </a:spcBef>
              <a:buFont typeface="Arial" panose="020B0604020202020204" pitchFamily="34" charset="0"/>
              <a:buChar char="•"/>
              <a:defRPr sz="4800" kern="1200">
                <a:solidFill>
                  <a:schemeClr val="tx1"/>
                </a:solidFill>
                <a:latin typeface="宋体" panose="02010600030101010101" pitchFamily="2" charset="-122"/>
                <a:ea typeface="宋体" panose="02010600030101010101" pitchFamily="2" charset="-122"/>
              </a:defRPr>
            </a:lvl1pPr>
            <a:lvl2pPr marL="400050" lvl="1" indent="0" algn="l" defTabSz="1828800" eaLnBrk="1" hangingPunct="1">
              <a:lnSpc>
                <a:spcPct val="90000"/>
              </a:lnSpc>
              <a:spcBef>
                <a:spcPct val="201000"/>
              </a:spcBef>
              <a:buFont typeface="Arial" panose="020B0604020202020204" pitchFamily="34" charset="0"/>
              <a:defRPr sz="4800" kern="1200">
                <a:solidFill>
                  <a:schemeClr val="tx1"/>
                </a:solidFill>
                <a:latin typeface="宋体" panose="02010600030101010101" pitchFamily="2" charset="-122"/>
                <a:ea typeface="宋体" panose="02010600030101010101" pitchFamily="2" charset="-122"/>
              </a:defRPr>
            </a:lvl2pPr>
            <a:lvl3pPr marL="2286000" indent="-457200" algn="l" defTabSz="1828800" eaLnBrk="1" hangingPunct="1">
              <a:lnSpc>
                <a:spcPct val="90000"/>
              </a:lnSpc>
              <a:spcBef>
                <a:spcPct val="201000"/>
              </a:spcBef>
              <a:buFont typeface="Arial" panose="020B0604020202020204" pitchFamily="34" charset="0"/>
              <a:buChar char="•"/>
              <a:defRPr sz="4000" kern="1200">
                <a:solidFill>
                  <a:schemeClr val="tx1"/>
                </a:solidFill>
              </a:defRPr>
            </a:lvl3pPr>
            <a:lvl4pPr marL="32004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4pPr>
            <a:lvl5pPr marL="41148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5pPr>
            <a:lvl6pPr marL="50292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6pPr>
            <a:lvl7pPr marL="59436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7pPr>
            <a:lvl8pPr marL="6857365"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8pPr>
            <a:lvl9pPr marL="7771765"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9pPr>
          </a:lstStyle>
          <a:p>
            <a:pPr marL="0" indent="0">
              <a:lnSpc>
                <a:spcPct val="150000"/>
              </a:lnSpc>
              <a:spcBef>
                <a:spcPts val="0"/>
              </a:spcBef>
              <a:buNone/>
            </a:pPr>
            <a:r>
              <a:rPr lang="zh-CN" altLang="en-US" sz="2400" dirty="0">
                <a:latin typeface="微软雅黑" panose="020B0503020204020204" pitchFamily="34" charset="-122"/>
                <a:ea typeface="微软雅黑" panose="020B0503020204020204" pitchFamily="34" charset="-122"/>
              </a:rPr>
              <a:t>优点：</a:t>
            </a:r>
            <a:endParaRPr lang="zh-CN" altLang="en-US" sz="2400" dirty="0">
              <a:latin typeface="微软雅黑" panose="020B0503020204020204" pitchFamily="34" charset="-122"/>
              <a:ea typeface="微软雅黑" panose="020B0503020204020204" pitchFamily="34" charset="-122"/>
            </a:endParaRPr>
          </a:p>
          <a:p>
            <a:pPr marL="1257300" lvl="2" indent="-342900">
              <a:lnSpc>
                <a:spcPct val="150000"/>
              </a:lnSpc>
              <a:spcBef>
                <a:spcPts val="0"/>
              </a:spcBef>
              <a:buFont typeface="Wingdings" panose="05000000000000000000" pitchFamily="2" charset="2"/>
              <a:buChar char="ü"/>
            </a:pPr>
            <a:r>
              <a:rPr lang="zh-CN" altLang="en-US" sz="2200" dirty="0">
                <a:latin typeface="微软雅黑" panose="020B0503020204020204" pitchFamily="34" charset="-122"/>
                <a:ea typeface="微软雅黑" panose="020B0503020204020204" pitchFamily="34" charset="-122"/>
              </a:rPr>
              <a:t>适合稠密图；</a:t>
            </a:r>
            <a:endParaRPr lang="zh-CN" altLang="en-US" sz="2200" dirty="0">
              <a:latin typeface="微软雅黑" panose="020B0503020204020204" pitchFamily="34" charset="-122"/>
              <a:ea typeface="微软雅黑" panose="020B0503020204020204" pitchFamily="34" charset="-122"/>
            </a:endParaRPr>
          </a:p>
          <a:p>
            <a:pPr marL="1257300" lvl="2" indent="-342900">
              <a:lnSpc>
                <a:spcPct val="150000"/>
              </a:lnSpc>
              <a:spcBef>
                <a:spcPts val="0"/>
              </a:spcBef>
              <a:buFont typeface="Wingdings" panose="05000000000000000000" pitchFamily="2" charset="2"/>
              <a:buChar char="ü"/>
            </a:pPr>
            <a:r>
              <a:rPr lang="zh-CN" altLang="en-US" sz="2200" dirty="0">
                <a:latin typeface="微软雅黑" panose="020B0503020204020204" pitchFamily="34" charset="-122"/>
                <a:ea typeface="微软雅黑" panose="020B0503020204020204" pitchFamily="34" charset="-122"/>
              </a:rPr>
              <a:t>编码非常简短；</a:t>
            </a:r>
            <a:endParaRPr lang="zh-CN" altLang="en-US" sz="2200" dirty="0">
              <a:latin typeface="微软雅黑" panose="020B0503020204020204" pitchFamily="34" charset="-122"/>
              <a:ea typeface="微软雅黑" panose="020B0503020204020204" pitchFamily="34" charset="-122"/>
            </a:endParaRPr>
          </a:p>
          <a:p>
            <a:pPr marL="1257300" lvl="2" indent="-342900">
              <a:lnSpc>
                <a:spcPct val="150000"/>
              </a:lnSpc>
              <a:spcBef>
                <a:spcPts val="0"/>
              </a:spcBef>
              <a:buFont typeface="Wingdings" panose="05000000000000000000" pitchFamily="2" charset="2"/>
              <a:buChar char="ü"/>
            </a:pPr>
            <a:r>
              <a:rPr lang="zh-CN" altLang="en-US" sz="2200" dirty="0">
                <a:latin typeface="微软雅黑" panose="020B0503020204020204" pitchFamily="34" charset="-122"/>
                <a:ea typeface="微软雅黑" panose="020B0503020204020204" pitchFamily="34" charset="-122"/>
              </a:rPr>
              <a:t>对边的存储、查询、更新等操作又快又简单。</a:t>
            </a:r>
            <a:endParaRPr lang="zh-CN" altLang="en-US" sz="2200" dirty="0">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zh-CN" altLang="en-US" sz="2400" dirty="0">
                <a:latin typeface="微软雅黑" panose="020B0503020204020204" pitchFamily="34" charset="-122"/>
                <a:ea typeface="微软雅黑" panose="020B0503020204020204" pitchFamily="34" charset="-122"/>
              </a:rPr>
              <a:t>缺点：</a:t>
            </a:r>
            <a:endParaRPr lang="zh-CN" altLang="en-US" sz="2400" dirty="0">
              <a:latin typeface="微软雅黑" panose="020B0503020204020204" pitchFamily="34" charset="-122"/>
              <a:ea typeface="微软雅黑" panose="020B0503020204020204" pitchFamily="34" charset="-122"/>
            </a:endParaRPr>
          </a:p>
          <a:p>
            <a:pPr marL="1257300" lvl="2" indent="-342900">
              <a:lnSpc>
                <a:spcPct val="150000"/>
              </a:lnSpc>
              <a:spcBef>
                <a:spcPts val="0"/>
              </a:spcBef>
              <a:buFont typeface="Wingdings" panose="05000000000000000000" pitchFamily="2" charset="2"/>
              <a:buChar char="ü"/>
            </a:pPr>
            <a:r>
              <a:rPr lang="zh-CN" altLang="en-US" sz="2200" dirty="0">
                <a:latin typeface="微软雅黑" panose="020B0503020204020204" pitchFamily="34" charset="-122"/>
                <a:ea typeface="微软雅黑" panose="020B0503020204020204" pitchFamily="34" charset="-122"/>
              </a:rPr>
              <a:t>存储复杂度</a:t>
            </a:r>
            <a:r>
              <a:rPr lang="en-US" altLang="zh-CN" sz="2200" dirty="0">
                <a:latin typeface="微软雅黑" panose="020B0503020204020204" pitchFamily="34" charset="-122"/>
                <a:ea typeface="微软雅黑" panose="020B0503020204020204" pitchFamily="34" charset="-122"/>
              </a:rPr>
              <a:t>O(V</a:t>
            </a:r>
            <a:r>
              <a:rPr lang="en-US" altLang="zh-CN" sz="2200" baseline="30000" dirty="0">
                <a:latin typeface="微软雅黑" panose="020B0503020204020204" pitchFamily="34" charset="-122"/>
                <a:ea typeface="微软雅黑" panose="020B0503020204020204" pitchFamily="34" charset="-122"/>
              </a:rPr>
              <a:t>2</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太高。</a:t>
            </a:r>
            <a:r>
              <a:rPr lang="en-US" altLang="zh-CN" sz="2200" dirty="0">
                <a:latin typeface="微软雅黑" panose="020B0503020204020204" pitchFamily="34" charset="-122"/>
                <a:ea typeface="微软雅黑" panose="020B0503020204020204" pitchFamily="34" charset="-122"/>
              </a:rPr>
              <a:t>V=10000</a:t>
            </a:r>
            <a:r>
              <a:rPr lang="zh-CN" altLang="en-US" sz="2200" dirty="0">
                <a:latin typeface="微软雅黑" panose="020B0503020204020204" pitchFamily="34" charset="-122"/>
                <a:ea typeface="微软雅黑" panose="020B0503020204020204" pitchFamily="34" charset="-122"/>
              </a:rPr>
              <a:t>时，空间</a:t>
            </a:r>
            <a:r>
              <a:rPr lang="en-US" altLang="zh-CN" sz="2200" dirty="0">
                <a:latin typeface="微软雅黑" panose="020B0503020204020204" pitchFamily="34" charset="-122"/>
                <a:ea typeface="微软雅黑" panose="020B0503020204020204" pitchFamily="34" charset="-122"/>
              </a:rPr>
              <a:t>100M</a:t>
            </a:r>
            <a:r>
              <a:rPr lang="zh-CN" altLang="en-US" sz="2200" dirty="0">
                <a:latin typeface="微软雅黑" panose="020B0503020204020204" pitchFamily="34" charset="-122"/>
                <a:ea typeface="微软雅黑" panose="020B0503020204020204" pitchFamily="34" charset="-122"/>
              </a:rPr>
              <a:t>。</a:t>
            </a:r>
            <a:endParaRPr lang="zh-CN" altLang="en-US" sz="2200" dirty="0">
              <a:latin typeface="微软雅黑" panose="020B0503020204020204" pitchFamily="34" charset="-122"/>
              <a:ea typeface="微软雅黑" panose="020B0503020204020204" pitchFamily="34" charset="-122"/>
            </a:endParaRPr>
          </a:p>
          <a:p>
            <a:pPr marL="1257300" lvl="2" indent="-342900">
              <a:lnSpc>
                <a:spcPct val="150000"/>
              </a:lnSpc>
              <a:spcBef>
                <a:spcPts val="0"/>
              </a:spcBef>
              <a:buFont typeface="Wingdings" panose="05000000000000000000" pitchFamily="2" charset="2"/>
              <a:buChar char="ü"/>
            </a:pPr>
            <a:r>
              <a:rPr lang="zh-CN" altLang="en-US" sz="2200" dirty="0">
                <a:latin typeface="微软雅黑" panose="020B0503020204020204" pitchFamily="34" charset="-122"/>
                <a:ea typeface="微软雅黑" panose="020B0503020204020204" pitchFamily="34" charset="-122"/>
              </a:rPr>
              <a:t>不能存储重边。</a:t>
            </a:r>
            <a:endParaRPr lang="zh-CN" altLang="en-US" sz="2200" dirty="0">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ransition spd="slow" advClick="0" advTm="85360">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904030" y="773643"/>
            <a:ext cx="7659923" cy="584775"/>
          </a:xfrm>
          <a:prstGeom prst="rect">
            <a:avLst/>
          </a:prstGeom>
          <a:noFill/>
        </p:spPr>
        <p:txBody>
          <a:bodyPr wrap="square">
            <a:spAutoFit/>
          </a:bodyPr>
          <a:lstStyle>
            <a:defPPr>
              <a:defRPr lang="en-US"/>
            </a:defPPr>
            <a:lvl1pPr>
              <a:defRPr sz="3200" spc="300">
                <a:solidFill>
                  <a:srgbClr val="FF0000"/>
                </a:solidFill>
                <a:latin typeface="微软雅黑" panose="020B0503020204020204" pitchFamily="34" charset="-122"/>
                <a:ea typeface="微软雅黑" panose="020B0503020204020204" pitchFamily="34" charset="-122"/>
              </a:defRPr>
            </a:lvl1pPr>
          </a:lstStyle>
          <a:p>
            <a:pPr marL="457200" indent="-457200">
              <a:buFont typeface="Wingdings" panose="05000000000000000000" pitchFamily="2" charset="2"/>
              <a:buChar char="Ø"/>
            </a:pPr>
            <a:r>
              <a:rPr lang="zh-CN" altLang="en-US" dirty="0"/>
              <a:t>邻接表 </a:t>
            </a:r>
            <a:endParaRPr lang="zh-CN" altLang="en-US" dirty="0"/>
          </a:p>
        </p:txBody>
      </p:sp>
      <p:sp>
        <p:nvSpPr>
          <p:cNvPr id="10" name="内容占位符 2"/>
          <p:cNvSpPr txBox="1"/>
          <p:nvPr/>
        </p:nvSpPr>
        <p:spPr>
          <a:xfrm>
            <a:off x="924939" y="1919568"/>
            <a:ext cx="10342123" cy="4356517"/>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457200" indent="-457200" algn="l" defTabSz="1828800" eaLnBrk="1" hangingPunct="1">
              <a:lnSpc>
                <a:spcPct val="90000"/>
              </a:lnSpc>
              <a:spcBef>
                <a:spcPct val="401000"/>
              </a:spcBef>
              <a:buFont typeface="Arial" panose="020B0604020202020204" pitchFamily="34" charset="0"/>
              <a:buChar char="•"/>
              <a:defRPr sz="4800" kern="1200">
                <a:solidFill>
                  <a:schemeClr val="tx1"/>
                </a:solidFill>
                <a:latin typeface="宋体" panose="02010600030101010101" pitchFamily="2" charset="-122"/>
                <a:ea typeface="宋体" panose="02010600030101010101" pitchFamily="2" charset="-122"/>
              </a:defRPr>
            </a:lvl1pPr>
            <a:lvl2pPr marL="400050" lvl="1" indent="0" algn="l" defTabSz="1828800" eaLnBrk="1" hangingPunct="1">
              <a:lnSpc>
                <a:spcPct val="90000"/>
              </a:lnSpc>
              <a:spcBef>
                <a:spcPct val="201000"/>
              </a:spcBef>
              <a:buFont typeface="Arial" panose="020B0604020202020204" pitchFamily="34" charset="0"/>
              <a:defRPr sz="4800" kern="1200">
                <a:solidFill>
                  <a:schemeClr val="tx1"/>
                </a:solidFill>
                <a:latin typeface="宋体" panose="02010600030101010101" pitchFamily="2" charset="-122"/>
                <a:ea typeface="宋体" panose="02010600030101010101" pitchFamily="2" charset="-122"/>
              </a:defRPr>
            </a:lvl2pPr>
            <a:lvl3pPr marL="2286000" indent="-457200" algn="l" defTabSz="1828800" eaLnBrk="1" hangingPunct="1">
              <a:lnSpc>
                <a:spcPct val="90000"/>
              </a:lnSpc>
              <a:spcBef>
                <a:spcPct val="201000"/>
              </a:spcBef>
              <a:buFont typeface="Arial" panose="020B0604020202020204" pitchFamily="34" charset="0"/>
              <a:buChar char="•"/>
              <a:defRPr sz="4000" kern="1200">
                <a:solidFill>
                  <a:schemeClr val="tx1"/>
                </a:solidFill>
              </a:defRPr>
            </a:lvl3pPr>
            <a:lvl4pPr marL="32004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4pPr>
            <a:lvl5pPr marL="41148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5pPr>
            <a:lvl6pPr marL="50292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6pPr>
            <a:lvl7pPr marL="59436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7pPr>
            <a:lvl8pPr marL="6857365"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8pPr>
            <a:lvl9pPr marL="7771765"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9pPr>
          </a:lstStyle>
          <a:p>
            <a:pPr>
              <a:spcBef>
                <a:spcPts val="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应用场景：大稀疏图。</a:t>
            </a:r>
            <a:endParaRPr lang="zh-CN" altLang="en-US" sz="2400" dirty="0">
              <a:latin typeface="微软雅黑" panose="020B0503020204020204" pitchFamily="34" charset="-122"/>
              <a:ea typeface="微软雅黑" panose="020B0503020204020204" pitchFamily="34" charset="-122"/>
            </a:endParaRPr>
          </a:p>
          <a:p>
            <a:pPr>
              <a:spcBef>
                <a:spcPts val="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优点：</a:t>
            </a:r>
            <a:endParaRPr lang="zh-CN" altLang="en-US" sz="2400" dirty="0">
              <a:latin typeface="微软雅黑" panose="020B0503020204020204" pitchFamily="34" charset="-122"/>
              <a:ea typeface="微软雅黑" panose="020B0503020204020204" pitchFamily="34" charset="-122"/>
            </a:endParaRPr>
          </a:p>
          <a:p>
            <a:pPr marL="0" indent="0">
              <a:spcBef>
                <a:spcPts val="0"/>
              </a:spcBef>
              <a:buNone/>
            </a:pPr>
            <a:r>
              <a:rPr lang="en-US" altLang="zh-CN" sz="2400" dirty="0">
                <a:latin typeface="微软雅黑" panose="020B0503020204020204" pitchFamily="34" charset="-122"/>
                <a:ea typeface="微软雅黑" panose="020B0503020204020204" pitchFamily="34" charset="-122"/>
              </a:rPr>
              <a:t> </a:t>
            </a: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存储</a:t>
            </a:r>
            <a:r>
              <a:rPr lang="zh-CN" altLang="en-US" sz="2400" dirty="0">
                <a:latin typeface="微软雅黑" panose="020B0503020204020204" pitchFamily="34" charset="-122"/>
                <a:ea typeface="微软雅黑" panose="020B0503020204020204" pitchFamily="34" charset="-122"/>
              </a:rPr>
              <a:t>效率非常高，存储复杂度</a:t>
            </a:r>
            <a:r>
              <a:rPr lang="en-US" altLang="zh-CN" sz="2400" dirty="0">
                <a:latin typeface="微软雅黑" panose="020B0503020204020204" pitchFamily="34" charset="-122"/>
                <a:ea typeface="微软雅黑" panose="020B0503020204020204" pitchFamily="34" charset="-122"/>
              </a:rPr>
              <a:t>O(V+E)</a:t>
            </a:r>
            <a:r>
              <a:rPr lang="zh-CN" altLang="en-US"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a:p>
            <a:pPr marL="0" indent="0">
              <a:spcBef>
                <a:spcPts val="0"/>
              </a:spcBef>
              <a:buNone/>
            </a:pPr>
            <a:r>
              <a:rPr lang="en-US" altLang="zh-CN" sz="2400">
                <a:latin typeface="微软雅黑" panose="020B0503020204020204" pitchFamily="34" charset="-122"/>
                <a:ea typeface="微软雅黑" panose="020B0503020204020204" pitchFamily="34" charset="-122"/>
              </a:rPr>
              <a:t> </a:t>
            </a:r>
            <a:r>
              <a:rPr lang="en-US" altLang="zh-CN" sz="2400" smtClean="0">
                <a:latin typeface="微软雅黑" panose="020B0503020204020204" pitchFamily="34" charset="-122"/>
                <a:ea typeface="微软雅黑" panose="020B0503020204020204" pitchFamily="34" charset="-122"/>
              </a:rPr>
              <a:t>          </a:t>
            </a:r>
            <a:r>
              <a:rPr lang="zh-CN" altLang="en-US" sz="2400" smtClean="0">
                <a:latin typeface="微软雅黑" panose="020B0503020204020204" pitchFamily="34" charset="-122"/>
                <a:ea typeface="微软雅黑" panose="020B0503020204020204" pitchFamily="34" charset="-122"/>
              </a:rPr>
              <a:t>能</a:t>
            </a:r>
            <a:r>
              <a:rPr lang="zh-CN" altLang="en-US" sz="2400" dirty="0">
                <a:latin typeface="微软雅黑" panose="020B0503020204020204" pitchFamily="34" charset="-122"/>
                <a:ea typeface="微软雅黑" panose="020B0503020204020204" pitchFamily="34" charset="-122"/>
              </a:rPr>
              <a:t>存储重边。 </a:t>
            </a:r>
            <a:endParaRPr lang="zh-CN" altLang="en-US" sz="2400" dirty="0">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4240944" y="3626644"/>
            <a:ext cx="6741616" cy="2097662"/>
          </a:xfrm>
          <a:prstGeom prst="rect">
            <a:avLst/>
          </a:prstGeom>
        </p:spPr>
      </p:pic>
    </p:spTree>
    <p:custDataLst>
      <p:tags r:id="rId2"/>
    </p:custDataLst>
  </p:cSld>
  <p:clrMapOvr>
    <a:masterClrMapping/>
  </p:clrMapOvr>
  <p:transition spd="slow" advClick="0" advTm="62270">
    <p:push dir="u"/>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217794D7-36C4-4E93-AE7A-0CAF6AF174FC}" type="slidenum">
              <a:rPr lang="zh-CN" altLang="en-US" smtClean="0"/>
            </a:fld>
            <a:endParaRPr lang="en-US" altLang="zh-CN"/>
          </a:p>
        </p:txBody>
      </p:sp>
      <p:sp>
        <p:nvSpPr>
          <p:cNvPr id="3" name="矩形 2"/>
          <p:cNvSpPr/>
          <p:nvPr/>
        </p:nvSpPr>
        <p:spPr>
          <a:xfrm>
            <a:off x="1820260" y="1316277"/>
            <a:ext cx="8850790" cy="5016758"/>
          </a:xfrm>
          <a:prstGeom prst="rect">
            <a:avLst/>
          </a:prstGeom>
        </p:spPr>
        <p:txBody>
          <a:bodyPr wrap="square">
            <a:spAutoFit/>
          </a:bodyPr>
          <a:lstStyle/>
          <a:p>
            <a:pPr algn="just">
              <a:spcAft>
                <a:spcPts val="0"/>
              </a:spcAft>
            </a:pP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struct</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edge{                         // </a:t>
            </a:r>
            <a:r>
              <a:rPr lang="zh-CN" altLang="zh-CN" b="0" kern="2200" dirty="0">
                <a:solidFill>
                  <a:schemeClr val="tx1"/>
                </a:solidFill>
                <a:latin typeface="Calibri" panose="020F0502020204030204" charset="0"/>
                <a:ea typeface="宋体" panose="02010600030101010101" pitchFamily="2" charset="-122"/>
                <a:cs typeface="宋体" panose="02010600030101010101" pitchFamily="2" charset="-122"/>
              </a:rPr>
              <a:t>定义边</a:t>
            </a:r>
            <a:endParaRPr lang="zh-CN" altLang="zh-CN" sz="4800" kern="2200" dirty="0">
              <a:solidFill>
                <a:schemeClr val="tx1"/>
              </a:solidFill>
              <a:latin typeface="Calibri" panose="020F0502020204030204" charset="0"/>
              <a:ea typeface="宋体" panose="02010600030101010101" pitchFamily="2" charset="-122"/>
            </a:endParaRPr>
          </a:p>
          <a:p>
            <a:pPr indent="266700" algn="just">
              <a:spcAft>
                <a:spcPts val="0"/>
              </a:spcAft>
            </a:pP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int</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from, to, w;                 // </a:t>
            </a:r>
            <a:r>
              <a:rPr lang="zh-CN" altLang="zh-CN" b="0" kern="2200" dirty="0">
                <a:solidFill>
                  <a:schemeClr val="tx1"/>
                </a:solidFill>
                <a:latin typeface="Calibri" panose="020F0502020204030204" charset="0"/>
                <a:ea typeface="宋体" panose="02010600030101010101" pitchFamily="2" charset="-122"/>
                <a:cs typeface="宋体" panose="02010600030101010101" pitchFamily="2" charset="-122"/>
              </a:rPr>
              <a:t>边：起点</a:t>
            </a:r>
            <a:r>
              <a:rPr lang="en-US" altLang="zh-CN" b="0" kern="2200" dirty="0">
                <a:solidFill>
                  <a:schemeClr val="tx1"/>
                </a:solidFill>
                <a:latin typeface="Calibri" panose="020F0502020204030204" charset="0"/>
                <a:ea typeface="宋体" panose="02010600030101010101" pitchFamily="2" charset="-122"/>
                <a:cs typeface="宋体" panose="02010600030101010101" pitchFamily="2" charset="-122"/>
              </a:rPr>
              <a:t>from</a:t>
            </a:r>
            <a:r>
              <a:rPr lang="zh-CN" altLang="zh-CN" b="0" kern="2200" dirty="0">
                <a:solidFill>
                  <a:schemeClr val="tx1"/>
                </a:solidFill>
                <a:latin typeface="Calibri" panose="020F0502020204030204" charset="0"/>
                <a:ea typeface="宋体" panose="02010600030101010101" pitchFamily="2" charset="-122"/>
                <a:cs typeface="宋体" panose="02010600030101010101" pitchFamily="2" charset="-122"/>
              </a:rPr>
              <a:t>，终点</a:t>
            </a:r>
            <a:r>
              <a:rPr lang="en-US" altLang="zh-CN" b="0" kern="2200" dirty="0">
                <a:solidFill>
                  <a:schemeClr val="tx1"/>
                </a:solidFill>
                <a:latin typeface="Calibri" panose="020F0502020204030204" charset="0"/>
                <a:ea typeface="宋体" panose="02010600030101010101" pitchFamily="2" charset="-122"/>
                <a:cs typeface="宋体" panose="02010600030101010101" pitchFamily="2" charset="-122"/>
              </a:rPr>
              <a:t>to</a:t>
            </a:r>
            <a:r>
              <a:rPr lang="zh-CN" altLang="zh-CN" b="0" kern="2200" dirty="0">
                <a:solidFill>
                  <a:schemeClr val="tx1"/>
                </a:solidFill>
                <a:latin typeface="Calibri" panose="020F0502020204030204" charset="0"/>
                <a:ea typeface="宋体" panose="02010600030101010101" pitchFamily="2" charset="-122"/>
                <a:cs typeface="宋体" panose="02010600030101010101" pitchFamily="2" charset="-122"/>
              </a:rPr>
              <a:t>，权值</a:t>
            </a:r>
            <a:r>
              <a:rPr lang="en-US" altLang="zh-CN" b="0" kern="2200" dirty="0">
                <a:solidFill>
                  <a:schemeClr val="tx1"/>
                </a:solidFill>
                <a:latin typeface="Calibri" panose="020F0502020204030204" charset="0"/>
                <a:ea typeface="宋体" panose="02010600030101010101" pitchFamily="2" charset="-122"/>
                <a:cs typeface="宋体" panose="02010600030101010101" pitchFamily="2" charset="-122"/>
              </a:rPr>
              <a:t>w</a:t>
            </a:r>
            <a:endParaRPr lang="zh-CN" altLang="zh-CN" sz="4800" kern="2200" dirty="0">
              <a:solidFill>
                <a:schemeClr val="tx1"/>
              </a:solidFill>
              <a:latin typeface="Calibri" panose="020F0502020204030204" charset="0"/>
              <a:ea typeface="宋体" panose="02010600030101010101" pitchFamily="2" charset="-122"/>
            </a:endParaRPr>
          </a:p>
          <a:p>
            <a:pPr indent="266700" algn="just">
              <a:spcAft>
                <a:spcPts val="0"/>
              </a:spcAft>
            </a:pP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edge(</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int</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a, </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int</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b,int</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c){from=a; to=b; w=c;}    // </a:t>
            </a:r>
            <a:r>
              <a:rPr lang="zh-CN" altLang="zh-CN" b="0" kern="2200" dirty="0">
                <a:solidFill>
                  <a:schemeClr val="tx1"/>
                </a:solidFill>
                <a:latin typeface="Calibri" panose="020F0502020204030204" charset="0"/>
                <a:ea typeface="宋体" panose="02010600030101010101" pitchFamily="2" charset="-122"/>
                <a:cs typeface="宋体" panose="02010600030101010101" pitchFamily="2" charset="-122"/>
              </a:rPr>
              <a:t>对边赋值</a:t>
            </a:r>
            <a:endParaRPr lang="zh-CN" altLang="zh-CN" sz="4800" kern="2200" dirty="0">
              <a:solidFill>
                <a:schemeClr val="tx1"/>
              </a:solidFill>
              <a:latin typeface="Calibri" panose="020F0502020204030204" charset="0"/>
              <a:ea typeface="宋体" panose="02010600030101010101" pitchFamily="2" charset="-122"/>
            </a:endParaRPr>
          </a:p>
          <a:p>
            <a:pPr algn="just">
              <a:spcAft>
                <a:spcPts val="0"/>
              </a:spcAft>
            </a:pP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a:t>
            </a:r>
            <a:endParaRPr lang="zh-CN" altLang="zh-CN" sz="4800" kern="2200" dirty="0">
              <a:solidFill>
                <a:schemeClr val="tx1"/>
              </a:solidFill>
              <a:latin typeface="Calibri" panose="020F0502020204030204" charset="0"/>
              <a:ea typeface="宋体" panose="02010600030101010101" pitchFamily="2" charset="-122"/>
            </a:endParaRPr>
          </a:p>
          <a:p>
            <a:pPr algn="just">
              <a:spcAft>
                <a:spcPts val="0"/>
              </a:spcAft>
            </a:pP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vector&lt;edge&gt; e[N]; </a:t>
            </a:r>
            <a:r>
              <a:rPr lang="en-US" altLang="zh-CN" b="0" kern="2200" dirty="0" smtClean="0">
                <a:solidFill>
                  <a:schemeClr val="tx1"/>
                </a:solidFill>
                <a:latin typeface="宋体" panose="02010600030101010101" pitchFamily="2" charset="-122"/>
                <a:ea typeface="宋体" panose="02010600030101010101" pitchFamily="2" charset="-122"/>
                <a:cs typeface="宋体" panose="02010600030101010101" pitchFamily="2" charset="-122"/>
              </a:rPr>
              <a:t>  // </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e[</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a:t>
            </a:r>
            <a:r>
              <a:rPr lang="zh-CN" altLang="zh-CN" b="0" kern="2200" dirty="0">
                <a:solidFill>
                  <a:schemeClr val="tx1"/>
                </a:solidFill>
                <a:latin typeface="Calibri" panose="020F0502020204030204" charset="0"/>
                <a:ea typeface="宋体" panose="02010600030101010101" pitchFamily="2" charset="-122"/>
                <a:cs typeface="宋体" panose="02010600030101010101" pitchFamily="2" charset="-122"/>
              </a:rPr>
              <a:t>：邻接表，存第</a:t>
            </a:r>
            <a:r>
              <a:rPr lang="en-US" altLang="zh-CN" b="0" kern="2200" dirty="0" err="1">
                <a:solidFill>
                  <a:schemeClr val="tx1"/>
                </a:solidFill>
                <a:latin typeface="Calibri" panose="020F0502020204030204" charset="0"/>
                <a:ea typeface="宋体" panose="02010600030101010101" pitchFamily="2" charset="-122"/>
                <a:cs typeface="宋体" panose="02010600030101010101" pitchFamily="2" charset="-122"/>
              </a:rPr>
              <a:t>i</a:t>
            </a:r>
            <a:r>
              <a:rPr lang="zh-CN" altLang="zh-CN" b="0" kern="2200" dirty="0">
                <a:solidFill>
                  <a:schemeClr val="tx1"/>
                </a:solidFill>
                <a:latin typeface="Calibri" panose="020F0502020204030204" charset="0"/>
                <a:ea typeface="宋体" panose="02010600030101010101" pitchFamily="2" charset="-122"/>
                <a:cs typeface="宋体" panose="02010600030101010101" pitchFamily="2" charset="-122"/>
              </a:rPr>
              <a:t>个点连接的所有的边</a:t>
            </a:r>
            <a:endParaRPr lang="zh-CN" altLang="zh-CN" sz="4800" kern="2200" dirty="0">
              <a:solidFill>
                <a:schemeClr val="tx1"/>
              </a:solidFill>
              <a:latin typeface="Calibri" panose="020F0502020204030204" charset="0"/>
              <a:ea typeface="宋体" panose="02010600030101010101" pitchFamily="2" charset="-122"/>
            </a:endParaRPr>
          </a:p>
          <a:p>
            <a:pPr algn="just">
              <a:spcAft>
                <a:spcPts val="0"/>
              </a:spcAft>
            </a:pP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a:t>
            </a:r>
            <a:r>
              <a:rPr lang="zh-CN" altLang="zh-CN" b="0" kern="2200" dirty="0">
                <a:solidFill>
                  <a:schemeClr val="tx1"/>
                </a:solidFill>
                <a:latin typeface="Calibri" panose="020F0502020204030204" charset="0"/>
                <a:ea typeface="宋体" panose="02010600030101010101" pitchFamily="2" charset="-122"/>
                <a:cs typeface="宋体" panose="02010600030101010101" pitchFamily="2" charset="-122"/>
              </a:rPr>
              <a:t>初始化：</a:t>
            </a:r>
            <a:endParaRPr lang="zh-CN" altLang="zh-CN" sz="4800" kern="2200" dirty="0">
              <a:solidFill>
                <a:schemeClr val="tx1"/>
              </a:solidFill>
              <a:latin typeface="Calibri" panose="020F0502020204030204" charset="0"/>
              <a:ea typeface="宋体" panose="02010600030101010101" pitchFamily="2" charset="-122"/>
            </a:endParaRPr>
          </a:p>
          <a:p>
            <a:pPr indent="266700" algn="just">
              <a:spcAft>
                <a:spcPts val="0"/>
              </a:spcAft>
            </a:pP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for(</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int</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=1; </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&lt;=n; </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a:t>
            </a:r>
            <a:endParaRPr lang="zh-CN" altLang="zh-CN" sz="4800" kern="2200" dirty="0">
              <a:solidFill>
                <a:schemeClr val="tx1"/>
              </a:solidFill>
              <a:latin typeface="Calibri" panose="020F0502020204030204" charset="0"/>
              <a:ea typeface="宋体" panose="02010600030101010101" pitchFamily="2" charset="-122"/>
            </a:endParaRPr>
          </a:p>
          <a:p>
            <a:pPr indent="533400" algn="just">
              <a:spcAft>
                <a:spcPts val="0"/>
              </a:spcAft>
            </a:pP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e[</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].clear();</a:t>
            </a:r>
            <a:endParaRPr lang="zh-CN" altLang="zh-CN" sz="4800" kern="2200" dirty="0">
              <a:solidFill>
                <a:schemeClr val="tx1"/>
              </a:solidFill>
              <a:latin typeface="Calibri" panose="020F0502020204030204" charset="0"/>
              <a:ea typeface="宋体" panose="02010600030101010101" pitchFamily="2" charset="-122"/>
            </a:endParaRPr>
          </a:p>
          <a:p>
            <a:pPr algn="just">
              <a:spcAft>
                <a:spcPts val="0"/>
              </a:spcAft>
            </a:pP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a:t>
            </a:r>
            <a:r>
              <a:rPr lang="zh-CN" altLang="zh-CN" b="0" kern="2200" dirty="0">
                <a:solidFill>
                  <a:schemeClr val="tx1"/>
                </a:solidFill>
                <a:latin typeface="Calibri" panose="020F0502020204030204" charset="0"/>
                <a:ea typeface="宋体" panose="02010600030101010101" pitchFamily="2" charset="-122"/>
                <a:cs typeface="宋体" panose="02010600030101010101" pitchFamily="2" charset="-122"/>
              </a:rPr>
              <a:t>存边：</a:t>
            </a:r>
            <a:endParaRPr lang="zh-CN" altLang="zh-CN" sz="4800" kern="2200" dirty="0">
              <a:solidFill>
                <a:schemeClr val="tx1"/>
              </a:solidFill>
              <a:latin typeface="Calibri" panose="020F0502020204030204" charset="0"/>
              <a:ea typeface="宋体" panose="02010600030101010101" pitchFamily="2" charset="-122"/>
            </a:endParaRPr>
          </a:p>
          <a:p>
            <a:pPr algn="just">
              <a:spcAft>
                <a:spcPts val="0"/>
              </a:spcAft>
            </a:pP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e[a].</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push_back</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(edge(</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a,b,c</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 </a:t>
            </a:r>
            <a:r>
              <a:rPr lang="zh-CN" altLang="zh-CN" b="0" kern="2200" dirty="0">
                <a:solidFill>
                  <a:schemeClr val="tx1"/>
                </a:solidFill>
                <a:latin typeface="Calibri" panose="020F0502020204030204" charset="0"/>
                <a:ea typeface="宋体" panose="02010600030101010101" pitchFamily="2" charset="-122"/>
                <a:cs typeface="宋体" panose="02010600030101010101" pitchFamily="2" charset="-122"/>
              </a:rPr>
              <a:t>把边</a:t>
            </a:r>
            <a:r>
              <a:rPr lang="en-US" altLang="zh-CN" b="0" kern="2200" dirty="0">
                <a:solidFill>
                  <a:schemeClr val="tx1"/>
                </a:solidFill>
                <a:latin typeface="Calibri" panose="020F0502020204030204" charset="0"/>
                <a:ea typeface="宋体" panose="02010600030101010101" pitchFamily="2" charset="-122"/>
                <a:cs typeface="宋体" panose="02010600030101010101" pitchFamily="2" charset="-122"/>
              </a:rPr>
              <a:t>(</a:t>
            </a:r>
            <a:r>
              <a:rPr lang="en-US" altLang="zh-CN" b="0" kern="2200" dirty="0" err="1">
                <a:solidFill>
                  <a:schemeClr val="tx1"/>
                </a:solidFill>
                <a:latin typeface="Calibri" panose="020F0502020204030204" charset="0"/>
                <a:ea typeface="宋体" panose="02010600030101010101" pitchFamily="2" charset="-122"/>
                <a:cs typeface="宋体" panose="02010600030101010101" pitchFamily="2" charset="-122"/>
              </a:rPr>
              <a:t>a,b</a:t>
            </a:r>
            <a:r>
              <a:rPr lang="en-US" altLang="zh-CN" b="0" kern="2200" dirty="0">
                <a:solidFill>
                  <a:schemeClr val="tx1"/>
                </a:solidFill>
                <a:latin typeface="Calibri" panose="020F0502020204030204" charset="0"/>
                <a:ea typeface="宋体" panose="02010600030101010101" pitchFamily="2" charset="-122"/>
                <a:cs typeface="宋体" panose="02010600030101010101" pitchFamily="2" charset="-122"/>
              </a:rPr>
              <a:t>) </a:t>
            </a:r>
            <a:r>
              <a:rPr lang="zh-CN" altLang="zh-CN" b="0" kern="2200" dirty="0">
                <a:solidFill>
                  <a:schemeClr val="tx1"/>
                </a:solidFill>
                <a:latin typeface="Calibri" panose="020F0502020204030204" charset="0"/>
                <a:ea typeface="宋体" panose="02010600030101010101" pitchFamily="2" charset="-122"/>
                <a:cs typeface="宋体" panose="02010600030101010101" pitchFamily="2" charset="-122"/>
              </a:rPr>
              <a:t>存到点</a:t>
            </a:r>
            <a:r>
              <a:rPr lang="en-US" altLang="zh-CN" b="0" kern="2200" dirty="0">
                <a:solidFill>
                  <a:schemeClr val="tx1"/>
                </a:solidFill>
                <a:latin typeface="Calibri" panose="020F0502020204030204" charset="0"/>
                <a:ea typeface="宋体" panose="02010600030101010101" pitchFamily="2" charset="-122"/>
                <a:cs typeface="宋体" panose="02010600030101010101" pitchFamily="2" charset="-122"/>
              </a:rPr>
              <a:t>a</a:t>
            </a:r>
            <a:r>
              <a:rPr lang="zh-CN" altLang="zh-CN" b="0" kern="2200" dirty="0">
                <a:solidFill>
                  <a:schemeClr val="tx1"/>
                </a:solidFill>
                <a:latin typeface="Calibri" panose="020F0502020204030204" charset="0"/>
                <a:ea typeface="宋体" panose="02010600030101010101" pitchFamily="2" charset="-122"/>
                <a:cs typeface="宋体" panose="02010600030101010101" pitchFamily="2" charset="-122"/>
              </a:rPr>
              <a:t>的邻接表中</a:t>
            </a:r>
            <a:endParaRPr lang="zh-CN" altLang="zh-CN" sz="4800" kern="2200" dirty="0">
              <a:solidFill>
                <a:schemeClr val="tx1"/>
              </a:solidFill>
              <a:latin typeface="Calibri" panose="020F0502020204030204" charset="0"/>
              <a:ea typeface="宋体" panose="02010600030101010101" pitchFamily="2" charset="-122"/>
            </a:endParaRPr>
          </a:p>
          <a:p>
            <a:pPr algn="just">
              <a:spcAft>
                <a:spcPts val="0"/>
              </a:spcAft>
            </a:pP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a:t>
            </a:r>
            <a:r>
              <a:rPr lang="zh-CN" altLang="zh-CN" b="0" kern="2200" dirty="0">
                <a:solidFill>
                  <a:schemeClr val="tx1"/>
                </a:solidFill>
                <a:latin typeface="Calibri" panose="020F0502020204030204" charset="0"/>
                <a:ea typeface="宋体" panose="02010600030101010101" pitchFamily="2" charset="-122"/>
                <a:cs typeface="宋体" panose="02010600030101010101" pitchFamily="2" charset="-122"/>
              </a:rPr>
              <a:t>遍历节点</a:t>
            </a:r>
            <a:r>
              <a:rPr lang="en-US" altLang="zh-CN" b="0" kern="2200" dirty="0">
                <a:solidFill>
                  <a:schemeClr val="tx1"/>
                </a:solidFill>
                <a:latin typeface="Calibri" panose="020F0502020204030204" charset="0"/>
                <a:ea typeface="宋体" panose="02010600030101010101" pitchFamily="2" charset="-122"/>
                <a:cs typeface="宋体" panose="02010600030101010101" pitchFamily="2" charset="-122"/>
              </a:rPr>
              <a:t>u</a:t>
            </a:r>
            <a:r>
              <a:rPr lang="zh-CN" altLang="zh-CN" b="0" kern="2200" dirty="0">
                <a:solidFill>
                  <a:schemeClr val="tx1"/>
                </a:solidFill>
                <a:latin typeface="Calibri" panose="020F0502020204030204" charset="0"/>
                <a:ea typeface="宋体" panose="02010600030101010101" pitchFamily="2" charset="-122"/>
                <a:cs typeface="宋体" panose="02010600030101010101" pitchFamily="2" charset="-122"/>
              </a:rPr>
              <a:t>的所有邻居：</a:t>
            </a:r>
            <a:endParaRPr lang="zh-CN" altLang="zh-CN" sz="4800" kern="2200" dirty="0">
              <a:solidFill>
                <a:schemeClr val="tx1"/>
              </a:solidFill>
              <a:latin typeface="Calibri" panose="020F0502020204030204" charset="0"/>
              <a:ea typeface="宋体" panose="02010600030101010101" pitchFamily="2" charset="-122"/>
            </a:endParaRPr>
          </a:p>
          <a:p>
            <a:pPr algn="just">
              <a:spcAft>
                <a:spcPts val="0"/>
              </a:spcAft>
            </a:pP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for(</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int</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=0; </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&lt; e[u].size(); </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 // </a:t>
            </a:r>
            <a:r>
              <a:rPr lang="zh-CN" altLang="zh-CN" b="0" kern="2200" dirty="0">
                <a:solidFill>
                  <a:schemeClr val="tx1"/>
                </a:solidFill>
                <a:latin typeface="Calibri" panose="020F0502020204030204" charset="0"/>
                <a:ea typeface="宋体" panose="02010600030101010101" pitchFamily="2" charset="-122"/>
                <a:cs typeface="宋体" panose="02010600030101010101" pitchFamily="2" charset="-122"/>
              </a:rPr>
              <a:t>点</a:t>
            </a:r>
            <a:r>
              <a:rPr lang="en-US" altLang="zh-CN" b="0" kern="2200" dirty="0">
                <a:solidFill>
                  <a:schemeClr val="tx1"/>
                </a:solidFill>
                <a:latin typeface="Calibri" panose="020F0502020204030204" charset="0"/>
                <a:ea typeface="宋体" panose="02010600030101010101" pitchFamily="2" charset="-122"/>
                <a:cs typeface="宋体" panose="02010600030101010101" pitchFamily="2" charset="-122"/>
              </a:rPr>
              <a:t>u</a:t>
            </a:r>
            <a:r>
              <a:rPr lang="zh-CN" altLang="zh-CN" b="0" kern="2200" dirty="0">
                <a:solidFill>
                  <a:schemeClr val="tx1"/>
                </a:solidFill>
                <a:latin typeface="Calibri" panose="020F0502020204030204" charset="0"/>
                <a:ea typeface="宋体" panose="02010600030101010101" pitchFamily="2" charset="-122"/>
                <a:cs typeface="宋体" panose="02010600030101010101" pitchFamily="2" charset="-122"/>
              </a:rPr>
              <a:t>的邻居有</a:t>
            </a:r>
            <a:r>
              <a:rPr lang="en-US" altLang="zh-CN" b="0" kern="2200" dirty="0">
                <a:solidFill>
                  <a:schemeClr val="tx1"/>
                </a:solidFill>
                <a:latin typeface="Calibri" panose="020F0502020204030204" charset="0"/>
                <a:ea typeface="宋体" panose="02010600030101010101" pitchFamily="2" charset="-122"/>
                <a:cs typeface="宋体" panose="02010600030101010101" pitchFamily="2" charset="-122"/>
              </a:rPr>
              <a:t>e[u].size()</a:t>
            </a:r>
            <a:r>
              <a:rPr lang="zh-CN" altLang="zh-CN" b="0" kern="2200" dirty="0">
                <a:solidFill>
                  <a:schemeClr val="tx1"/>
                </a:solidFill>
                <a:latin typeface="Calibri" panose="020F0502020204030204" charset="0"/>
                <a:ea typeface="宋体" panose="02010600030101010101" pitchFamily="2" charset="-122"/>
                <a:cs typeface="宋体" panose="02010600030101010101" pitchFamily="2" charset="-122"/>
              </a:rPr>
              <a:t>个</a:t>
            </a:r>
            <a:endParaRPr lang="zh-CN" altLang="zh-CN" sz="4800" kern="2200" dirty="0">
              <a:solidFill>
                <a:schemeClr val="tx1"/>
              </a:solidFill>
              <a:latin typeface="Calibri" panose="020F0502020204030204" charset="0"/>
              <a:ea typeface="宋体" panose="02010600030101010101" pitchFamily="2" charset="-122"/>
            </a:endParaRPr>
          </a:p>
          <a:p>
            <a:pPr algn="just">
              <a:spcAft>
                <a:spcPts val="0"/>
              </a:spcAft>
            </a:pP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//for(</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int</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v : e[u])                  // </a:t>
            </a:r>
            <a:r>
              <a:rPr lang="zh-CN" altLang="zh-CN" b="0" kern="2200" dirty="0">
                <a:solidFill>
                  <a:schemeClr val="tx1"/>
                </a:solidFill>
                <a:latin typeface="Calibri" panose="020F0502020204030204" charset="0"/>
                <a:ea typeface="宋体" panose="02010600030101010101" pitchFamily="2" charset="-122"/>
                <a:cs typeface="宋体" panose="02010600030101010101" pitchFamily="2" charset="-122"/>
              </a:rPr>
              <a:t>上一行的简单写法</a:t>
            </a:r>
            <a:endParaRPr lang="zh-CN" altLang="zh-CN" sz="4800" kern="2200" dirty="0">
              <a:solidFill>
                <a:schemeClr val="tx1"/>
              </a:solidFill>
              <a:latin typeface="Calibri" panose="020F0502020204030204" charset="0"/>
              <a:ea typeface="宋体" panose="02010600030101010101" pitchFamily="2" charset="-122"/>
            </a:endParaRPr>
          </a:p>
          <a:p>
            <a:pPr algn="just">
              <a:spcAft>
                <a:spcPts val="0"/>
              </a:spcAft>
            </a:pP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int</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v = e[u][</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].to, w = e[u][</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].w;</a:t>
            </a:r>
            <a:endParaRPr lang="zh-CN" altLang="zh-CN" sz="4800" kern="2200" dirty="0">
              <a:solidFill>
                <a:schemeClr val="tx1"/>
              </a:solidFill>
              <a:latin typeface="Calibri" panose="020F0502020204030204" charset="0"/>
              <a:ea typeface="宋体" panose="02010600030101010101" pitchFamily="2" charset="-122"/>
            </a:endParaRPr>
          </a:p>
          <a:p>
            <a:pPr algn="just">
              <a:spcAft>
                <a:spcPts val="0"/>
              </a:spcAft>
            </a:pP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a:t>
            </a:r>
            <a:r>
              <a:rPr lang="zh-CN" altLang="zh-CN" b="0" kern="2200" dirty="0">
                <a:solidFill>
                  <a:schemeClr val="tx1"/>
                </a:solidFill>
                <a:latin typeface="Calibri" panose="020F0502020204030204" charset="0"/>
                <a:ea typeface="宋体" panose="02010600030101010101" pitchFamily="2" charset="-122"/>
                <a:cs typeface="宋体" panose="02010600030101010101" pitchFamily="2" charset="-122"/>
              </a:rPr>
              <a:t>…</a:t>
            </a:r>
            <a:r>
              <a:rPr lang="en-US" altLang="zh-CN" b="0" kern="2200" dirty="0">
                <a:solidFill>
                  <a:schemeClr val="tx1"/>
                </a:solidFill>
                <a:latin typeface="Calibri" panose="020F0502020204030204" charset="0"/>
                <a:ea typeface="宋体" panose="02010600030101010101" pitchFamily="2" charset="-122"/>
                <a:cs typeface="宋体" panose="02010600030101010101" pitchFamily="2" charset="-122"/>
              </a:rPr>
              <a:t>  </a:t>
            </a:r>
            <a:endParaRPr lang="zh-CN" altLang="zh-CN" sz="4800" kern="2200" dirty="0">
              <a:solidFill>
                <a:schemeClr val="tx1"/>
              </a:solidFill>
              <a:latin typeface="Calibri" panose="020F0502020204030204" charset="0"/>
              <a:ea typeface="宋体" panose="02010600030101010101" pitchFamily="2" charset="-122"/>
            </a:endParaRPr>
          </a:p>
          <a:p>
            <a:r>
              <a:rPr lang="en-US" altLang="zh-CN" kern="2200" dirty="0">
                <a:solidFill>
                  <a:schemeClr val="tx1"/>
                </a:solidFill>
                <a:latin typeface="宋体" panose="02010600030101010101" pitchFamily="2" charset="-122"/>
                <a:cs typeface="宋体" panose="02010600030101010101" pitchFamily="2" charset="-122"/>
              </a:rPr>
              <a:t>}</a:t>
            </a:r>
            <a:endParaRPr lang="zh-CN" altLang="en-US" dirty="0">
              <a:solidFill>
                <a:schemeClr val="tx1"/>
              </a:solidFill>
            </a:endParaRPr>
          </a:p>
        </p:txBody>
      </p:sp>
      <p:sp>
        <p:nvSpPr>
          <p:cNvPr id="4" name="内容占位符 2"/>
          <p:cNvSpPr txBox="1"/>
          <p:nvPr/>
        </p:nvSpPr>
        <p:spPr>
          <a:xfrm>
            <a:off x="751325" y="374901"/>
            <a:ext cx="10342123" cy="610820"/>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457200" indent="-457200" algn="l" defTabSz="1828800" eaLnBrk="1" hangingPunct="1">
              <a:lnSpc>
                <a:spcPct val="90000"/>
              </a:lnSpc>
              <a:spcBef>
                <a:spcPct val="401000"/>
              </a:spcBef>
              <a:buFont typeface="Arial" panose="020B0604020202020204" pitchFamily="34" charset="0"/>
              <a:buChar char="•"/>
              <a:defRPr sz="4800" kern="1200">
                <a:solidFill>
                  <a:schemeClr val="tx1"/>
                </a:solidFill>
                <a:latin typeface="宋体" panose="02010600030101010101" pitchFamily="2" charset="-122"/>
                <a:ea typeface="宋体" panose="02010600030101010101" pitchFamily="2" charset="-122"/>
              </a:defRPr>
            </a:lvl1pPr>
            <a:lvl2pPr marL="400050" lvl="1" indent="0" algn="l" defTabSz="1828800" eaLnBrk="1" hangingPunct="1">
              <a:lnSpc>
                <a:spcPct val="90000"/>
              </a:lnSpc>
              <a:spcBef>
                <a:spcPct val="201000"/>
              </a:spcBef>
              <a:buFont typeface="Arial" panose="020B0604020202020204" pitchFamily="34" charset="0"/>
              <a:defRPr sz="4800" kern="1200">
                <a:solidFill>
                  <a:schemeClr val="tx1"/>
                </a:solidFill>
                <a:latin typeface="宋体" panose="02010600030101010101" pitchFamily="2" charset="-122"/>
                <a:ea typeface="宋体" panose="02010600030101010101" pitchFamily="2" charset="-122"/>
              </a:defRPr>
            </a:lvl2pPr>
            <a:lvl3pPr marL="2286000" indent="-457200" algn="l" defTabSz="1828800" eaLnBrk="1" hangingPunct="1">
              <a:lnSpc>
                <a:spcPct val="90000"/>
              </a:lnSpc>
              <a:spcBef>
                <a:spcPct val="201000"/>
              </a:spcBef>
              <a:buFont typeface="Arial" panose="020B0604020202020204" pitchFamily="34" charset="0"/>
              <a:buChar char="•"/>
              <a:defRPr sz="4000" kern="1200">
                <a:solidFill>
                  <a:schemeClr val="tx1"/>
                </a:solidFill>
              </a:defRPr>
            </a:lvl3pPr>
            <a:lvl4pPr marL="32004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4pPr>
            <a:lvl5pPr marL="41148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5pPr>
            <a:lvl6pPr marL="50292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6pPr>
            <a:lvl7pPr marL="59436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7pPr>
            <a:lvl8pPr marL="6857365"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8pPr>
            <a:lvl9pPr marL="7771765"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9pPr>
          </a:lstStyle>
          <a:p>
            <a:pPr marL="0" indent="0">
              <a:lnSpc>
                <a:spcPct val="150000"/>
              </a:lnSpc>
              <a:spcBef>
                <a:spcPts val="0"/>
              </a:spcBef>
              <a:buNone/>
            </a:pPr>
            <a:r>
              <a:rPr lang="zh-CN" altLang="en-US" sz="2400" dirty="0">
                <a:latin typeface="微软雅黑" panose="020B0503020204020204" pitchFamily="34" charset="-122"/>
                <a:ea typeface="微软雅黑" panose="020B0503020204020204" pitchFamily="34" charset="-122"/>
              </a:rPr>
              <a:t>常用</a:t>
            </a:r>
            <a:r>
              <a:rPr lang="en-US" altLang="zh-CN" sz="2400" dirty="0">
                <a:latin typeface="微软雅黑" panose="020B0503020204020204" pitchFamily="34" charset="-122"/>
                <a:ea typeface="微软雅黑" panose="020B0503020204020204" pitchFamily="34" charset="-122"/>
              </a:rPr>
              <a:t>STL</a:t>
            </a:r>
            <a:r>
              <a:rPr lang="zh-CN" altLang="en-US" sz="2400" dirty="0">
                <a:latin typeface="微软雅黑" panose="020B0503020204020204" pitchFamily="34" charset="-122"/>
                <a:ea typeface="微软雅黑" panose="020B0503020204020204" pitchFamily="34" charset="-122"/>
              </a:rPr>
              <a:t>的</a:t>
            </a:r>
            <a:r>
              <a:rPr lang="en-US" altLang="zh-CN" sz="2400" dirty="0">
                <a:latin typeface="微软雅黑" panose="020B0503020204020204" pitchFamily="34" charset="-122"/>
                <a:ea typeface="微软雅黑" panose="020B0503020204020204" pitchFamily="34" charset="-122"/>
              </a:rPr>
              <a:t>vector</a:t>
            </a:r>
            <a:r>
              <a:rPr lang="zh-CN" altLang="en-US" sz="2400" dirty="0">
                <a:latin typeface="微软雅黑" panose="020B0503020204020204" pitchFamily="34" charset="-122"/>
                <a:ea typeface="微软雅黑" panose="020B0503020204020204" pitchFamily="34" charset="-122"/>
              </a:rPr>
              <a:t>实现邻接表</a:t>
            </a:r>
            <a:endParaRPr lang="zh-CN" altLang="en-US" sz="2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2"/>
          </p:nvPr>
        </p:nvSpPr>
        <p:spPr/>
        <p:txBody>
          <a:bodyPr/>
          <a:p>
            <a:fld id="{EB7C6F6D-FFA8-468C-AF6A-CB4C27E2EEF8}" type="slidenum">
              <a:rPr lang="zh-CN" altLang="en-US" smtClean="0"/>
            </a:fld>
            <a:endParaRPr lang="en-US" altLang="zh-CN"/>
          </a:p>
        </p:txBody>
      </p:sp>
      <p:sp>
        <p:nvSpPr>
          <p:cNvPr id="3" name="文本框 2"/>
          <p:cNvSpPr txBox="1"/>
          <p:nvPr/>
        </p:nvSpPr>
        <p:spPr>
          <a:xfrm>
            <a:off x="445770" y="375285"/>
            <a:ext cx="5494655" cy="1014730"/>
          </a:xfrm>
          <a:prstGeom prst="rect">
            <a:avLst/>
          </a:prstGeom>
          <a:noFill/>
        </p:spPr>
        <p:txBody>
          <a:bodyPr wrap="square" rtlCol="0">
            <a:spAutoFit/>
          </a:bodyPr>
          <a:p>
            <a:r>
              <a:rPr lang="en-US" altLang="zh-CN" sz="6000">
                <a:solidFill>
                  <a:schemeClr val="tx1"/>
                </a:solidFill>
                <a:latin typeface="华文行楷" panose="02010800040101010101" charset="-122"/>
                <a:ea typeface="华文行楷" panose="02010800040101010101" charset="-122"/>
              </a:rPr>
              <a:t>·</a:t>
            </a:r>
            <a:r>
              <a:rPr lang="zh-CN" altLang="en-US" sz="6000">
                <a:solidFill>
                  <a:schemeClr val="tx1"/>
                </a:solidFill>
                <a:latin typeface="华文行楷" panose="02010800040101010101" charset="-122"/>
                <a:ea typeface="华文行楷" panose="02010800040101010101" charset="-122"/>
              </a:rPr>
              <a:t>链式前</a:t>
            </a:r>
            <a:r>
              <a:rPr lang="zh-CN" altLang="en-US" sz="6000">
                <a:solidFill>
                  <a:schemeClr val="tx1"/>
                </a:solidFill>
                <a:latin typeface="华文行楷" panose="02010800040101010101" charset="-122"/>
                <a:ea typeface="华文行楷" panose="02010800040101010101" charset="-122"/>
                <a:sym typeface="+mn-ea"/>
              </a:rPr>
              <a:t>向</a:t>
            </a:r>
            <a:r>
              <a:rPr lang="zh-CN" altLang="en-US" sz="6000">
                <a:solidFill>
                  <a:schemeClr val="tx1"/>
                </a:solidFill>
                <a:latin typeface="华文行楷" panose="02010800040101010101" charset="-122"/>
                <a:ea typeface="华文行楷" panose="02010800040101010101" charset="-122"/>
              </a:rPr>
              <a:t>星</a:t>
            </a:r>
            <a:endParaRPr lang="zh-CN" altLang="en-US" sz="6000">
              <a:solidFill>
                <a:schemeClr val="tx1"/>
              </a:solidFill>
              <a:latin typeface="华文行楷" panose="02010800040101010101" charset="-122"/>
              <a:ea typeface="华文行楷" panose="02010800040101010101" charset="-122"/>
            </a:endParaRPr>
          </a:p>
        </p:txBody>
      </p:sp>
      <p:sp>
        <p:nvSpPr>
          <p:cNvPr id="6" name="文本框 5"/>
          <p:cNvSpPr txBox="1"/>
          <p:nvPr/>
        </p:nvSpPr>
        <p:spPr>
          <a:xfrm>
            <a:off x="749935" y="1596390"/>
            <a:ext cx="7466965" cy="3784600"/>
          </a:xfrm>
          <a:prstGeom prst="rect">
            <a:avLst/>
          </a:prstGeom>
          <a:noFill/>
        </p:spPr>
        <p:txBody>
          <a:bodyPr wrap="square" rtlCol="0">
            <a:spAutoFit/>
          </a:bodyPr>
          <a:p>
            <a:pPr>
              <a:lnSpc>
                <a:spcPct val="150000"/>
              </a:lnSpc>
            </a:pPr>
            <a:r>
              <a:rPr lang="zh-CN" altLang="en-US" sz="4000">
                <a:solidFill>
                  <a:schemeClr val="tx1"/>
                </a:solidFill>
              </a:rPr>
              <a:t>图的存储方式，共有三种：</a:t>
            </a:r>
            <a:endParaRPr lang="zh-CN" altLang="en-US" sz="4000">
              <a:solidFill>
                <a:schemeClr val="tx1"/>
              </a:solidFill>
            </a:endParaRPr>
          </a:p>
          <a:p>
            <a:pPr>
              <a:lnSpc>
                <a:spcPct val="150000"/>
              </a:lnSpc>
            </a:pPr>
            <a:r>
              <a:rPr lang="en-US" altLang="zh-CN" sz="4000">
                <a:solidFill>
                  <a:schemeClr val="bg2">
                    <a:lumMod val="50000"/>
                  </a:schemeClr>
                </a:solidFill>
              </a:rPr>
              <a:t>  </a:t>
            </a:r>
            <a:r>
              <a:rPr lang="zh-CN" altLang="en-US" sz="4000">
                <a:solidFill>
                  <a:schemeClr val="bg2">
                    <a:lumMod val="50000"/>
                  </a:schemeClr>
                </a:solidFill>
              </a:rPr>
              <a:t>邻接矩阵</a:t>
            </a:r>
            <a:endParaRPr lang="zh-CN" altLang="en-US" sz="4000">
              <a:solidFill>
                <a:schemeClr val="bg2">
                  <a:lumMod val="50000"/>
                </a:schemeClr>
              </a:solidFill>
            </a:endParaRPr>
          </a:p>
          <a:p>
            <a:pPr>
              <a:lnSpc>
                <a:spcPct val="150000"/>
              </a:lnSpc>
            </a:pPr>
            <a:r>
              <a:rPr lang="en-US" altLang="zh-CN" sz="4000">
                <a:solidFill>
                  <a:schemeClr val="bg2">
                    <a:lumMod val="50000"/>
                  </a:schemeClr>
                </a:solidFill>
              </a:rPr>
              <a:t>  </a:t>
            </a:r>
            <a:r>
              <a:rPr lang="zh-CN" altLang="en-US" sz="4000">
                <a:solidFill>
                  <a:schemeClr val="bg2">
                    <a:lumMod val="50000"/>
                  </a:schemeClr>
                </a:solidFill>
              </a:rPr>
              <a:t>邻接表（利用点来</a:t>
            </a:r>
            <a:r>
              <a:rPr lang="zh-CN" altLang="en-US" sz="4000">
                <a:solidFill>
                  <a:schemeClr val="bg2">
                    <a:lumMod val="50000"/>
                  </a:schemeClr>
                </a:solidFill>
              </a:rPr>
              <a:t>存储）</a:t>
            </a:r>
            <a:endParaRPr lang="zh-CN" altLang="en-US" sz="4000">
              <a:solidFill>
                <a:schemeClr val="bg2">
                  <a:lumMod val="50000"/>
                </a:schemeClr>
              </a:solidFill>
            </a:endParaRPr>
          </a:p>
          <a:p>
            <a:pPr>
              <a:lnSpc>
                <a:spcPct val="150000"/>
              </a:lnSpc>
            </a:pPr>
            <a:r>
              <a:rPr lang="en-US" altLang="zh-CN" sz="4000">
                <a:solidFill>
                  <a:schemeClr val="tx1"/>
                </a:solidFill>
              </a:rPr>
              <a:t>  </a:t>
            </a:r>
            <a:r>
              <a:rPr lang="zh-CN" altLang="en-US" sz="4000">
                <a:solidFill>
                  <a:schemeClr val="tx1"/>
                </a:solidFill>
              </a:rPr>
              <a:t>链式前向星（利用边来</a:t>
            </a:r>
            <a:r>
              <a:rPr lang="zh-CN" altLang="en-US" sz="4000">
                <a:solidFill>
                  <a:schemeClr val="tx1"/>
                </a:solidFill>
              </a:rPr>
              <a:t>存储）</a:t>
            </a:r>
            <a:endParaRPr lang="zh-CN" altLang="en-US" sz="4000">
              <a:solidFill>
                <a:schemeClr val="tx1"/>
              </a:solidFill>
            </a:endParaRPr>
          </a:p>
        </p:txBody>
      </p:sp>
      <p:pic>
        <p:nvPicPr>
          <p:cNvPr id="7" name="图片 6"/>
          <p:cNvPicPr>
            <a:picLocks noChangeAspect="1"/>
          </p:cNvPicPr>
          <p:nvPr/>
        </p:nvPicPr>
        <p:blipFill>
          <a:blip r:embed="rId1"/>
          <a:srcRect t="8645"/>
          <a:stretch>
            <a:fillRect/>
          </a:stretch>
        </p:blipFill>
        <p:spPr>
          <a:xfrm>
            <a:off x="7470140" y="751205"/>
            <a:ext cx="3715385" cy="187896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5"/>
          <p:cNvSpPr>
            <a:spLocks noChangeArrowheads="1"/>
          </p:cNvSpPr>
          <p:nvPr/>
        </p:nvSpPr>
        <p:spPr bwMode="white">
          <a:xfrm>
            <a:off x="140505" y="2465030"/>
            <a:ext cx="1191099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3600" b="1">
                <a:solidFill>
                  <a:schemeClr val="tx2"/>
                </a:solidFill>
                <a:latin typeface="Verdana" panose="020B0604030504040204" pitchFamily="34" charset="0"/>
              </a:defRPr>
            </a:lvl1pPr>
            <a:lvl2pPr algn="ctr">
              <a:defRPr sz="3600" b="1">
                <a:solidFill>
                  <a:schemeClr val="tx2"/>
                </a:solidFill>
                <a:latin typeface="Verdana" panose="020B0604030504040204" pitchFamily="34" charset="0"/>
              </a:defRPr>
            </a:lvl2pPr>
            <a:lvl3pPr algn="ctr">
              <a:defRPr sz="3600" b="1">
                <a:solidFill>
                  <a:schemeClr val="tx2"/>
                </a:solidFill>
                <a:latin typeface="Verdana" panose="020B0604030504040204" pitchFamily="34" charset="0"/>
              </a:defRPr>
            </a:lvl3pPr>
            <a:lvl4pPr algn="ctr">
              <a:defRPr sz="3600" b="1">
                <a:solidFill>
                  <a:schemeClr val="tx2"/>
                </a:solidFill>
                <a:latin typeface="Verdana" panose="020B0604030504040204" pitchFamily="34" charset="0"/>
              </a:defRPr>
            </a:lvl4pPr>
            <a:lvl5pPr algn="ctr">
              <a:defRPr sz="3600" b="1">
                <a:solidFill>
                  <a:schemeClr val="tx2"/>
                </a:solidFill>
                <a:latin typeface="Verdana" panose="020B0604030504040204" pitchFamily="34" charset="0"/>
              </a:defRPr>
            </a:lvl5pPr>
            <a:lvl6pPr marL="457200" algn="ctr" fontAlgn="base">
              <a:spcBef>
                <a:spcPct val="0"/>
              </a:spcBef>
              <a:spcAft>
                <a:spcPct val="0"/>
              </a:spcAft>
              <a:defRPr sz="3600" b="1">
                <a:solidFill>
                  <a:schemeClr val="tx2"/>
                </a:solidFill>
                <a:latin typeface="Verdana" panose="020B0604030504040204" pitchFamily="34" charset="0"/>
              </a:defRPr>
            </a:lvl6pPr>
            <a:lvl7pPr marL="914400" algn="ctr" fontAlgn="base">
              <a:spcBef>
                <a:spcPct val="0"/>
              </a:spcBef>
              <a:spcAft>
                <a:spcPct val="0"/>
              </a:spcAft>
              <a:defRPr sz="3600" b="1">
                <a:solidFill>
                  <a:schemeClr val="tx2"/>
                </a:solidFill>
                <a:latin typeface="Verdana" panose="020B0604030504040204" pitchFamily="34" charset="0"/>
              </a:defRPr>
            </a:lvl7pPr>
            <a:lvl8pPr marL="1371600" algn="ctr" fontAlgn="base">
              <a:spcBef>
                <a:spcPct val="0"/>
              </a:spcBef>
              <a:spcAft>
                <a:spcPct val="0"/>
              </a:spcAft>
              <a:defRPr sz="3600" b="1">
                <a:solidFill>
                  <a:schemeClr val="tx2"/>
                </a:solidFill>
                <a:latin typeface="Verdana" panose="020B0604030504040204" pitchFamily="34" charset="0"/>
              </a:defRPr>
            </a:lvl8pPr>
            <a:lvl9pPr marL="1828800" algn="ctr" fontAlgn="base">
              <a:spcBef>
                <a:spcPct val="0"/>
              </a:spcBef>
              <a:spcAft>
                <a:spcPct val="0"/>
              </a:spcAft>
              <a:defRPr sz="3600" b="1">
                <a:solidFill>
                  <a:schemeClr val="tx2"/>
                </a:solidFill>
                <a:latin typeface="Verdana" panose="020B0604030504040204" pitchFamily="34" charset="0"/>
              </a:defRPr>
            </a:lvl9pPr>
          </a:lstStyle>
          <a:p>
            <a:r>
              <a:rPr lang="en-US" altLang="zh-CN" sz="5400" spc="50" dirty="0" smtClean="0">
                <a:ln w="9525" cmpd="sng">
                  <a:solidFill>
                    <a:schemeClr val="accent1"/>
                  </a:solidFill>
                  <a:prstDash val="solid"/>
                </a:ln>
                <a:solidFill>
                  <a:srgbClr val="FFFF00"/>
                </a:solidFill>
                <a:effectLst>
                  <a:glow rad="38100">
                    <a:schemeClr val="accent1">
                      <a:alpha val="40000"/>
                    </a:schemeClr>
                  </a:glow>
                </a:effectLst>
                <a:latin typeface="华文新魏" panose="02010800040101010101" pitchFamily="2" charset="-122"/>
                <a:ea typeface="华文新魏" panose="02010800040101010101" pitchFamily="2" charset="-122"/>
              </a:rPr>
              <a:t>9.2</a:t>
            </a:r>
            <a:r>
              <a:rPr lang="zh-CN" altLang="en-US" sz="5400" spc="50" dirty="0" smtClean="0">
                <a:ln w="9525" cmpd="sng">
                  <a:solidFill>
                    <a:schemeClr val="accent1"/>
                  </a:solidFill>
                  <a:prstDash val="solid"/>
                </a:ln>
                <a:solidFill>
                  <a:srgbClr val="FFFF00"/>
                </a:solidFill>
                <a:effectLst>
                  <a:glow rad="38100">
                    <a:schemeClr val="accent1">
                      <a:alpha val="40000"/>
                    </a:schemeClr>
                  </a:glow>
                </a:effectLst>
                <a:latin typeface="华文新魏" panose="02010800040101010101" pitchFamily="2" charset="-122"/>
                <a:ea typeface="华文新魏" panose="02010800040101010101" pitchFamily="2" charset="-122"/>
              </a:rPr>
              <a:t>   最短路算法</a:t>
            </a:r>
            <a:endParaRPr lang="en-US" altLang="zh-CN" sz="5400" spc="50" dirty="0">
              <a:ln w="9525" cmpd="sng">
                <a:solidFill>
                  <a:schemeClr val="accent1"/>
                </a:solidFill>
                <a:prstDash val="solid"/>
              </a:ln>
              <a:solidFill>
                <a:srgbClr val="FFFF00"/>
              </a:solidFill>
              <a:effectLst>
                <a:glow rad="38100">
                  <a:schemeClr val="accent1">
                    <a:alpha val="40000"/>
                  </a:schemeClr>
                </a:glow>
              </a:effectLst>
              <a:latin typeface="华文新魏" panose="02010800040101010101" pitchFamily="2" charset="-122"/>
              <a:ea typeface="华文新魏" panose="02010800040101010101" pitchFamily="2" charset="-122"/>
            </a:endParaRPr>
          </a:p>
        </p:txBody>
      </p:sp>
    </p:spTree>
  </p:cSld>
  <p:clrMapOvr>
    <a:masterClrMapping/>
  </p:clrMapOvr>
  <p:transition spd="med" advTm="4495">
    <p:randomBar dir="ver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553299" y="415859"/>
            <a:ext cx="7659924" cy="584775"/>
          </a:xfrm>
          <a:prstGeom prst="rect">
            <a:avLst/>
          </a:prstGeom>
          <a:noFill/>
        </p:spPr>
        <p:txBody>
          <a:bodyPr wrap="square">
            <a:spAutoFit/>
          </a:bodyPr>
          <a:lstStyle/>
          <a:p>
            <a:pPr marL="457200" indent="-457200" algn="l">
              <a:buFont typeface="Wingdings" panose="05000000000000000000" pitchFamily="2" charset="2"/>
              <a:buChar char="p"/>
            </a:pPr>
            <a:r>
              <a:rPr lang="zh-CN" altLang="en-US" sz="3200" spc="300" dirty="0">
                <a:solidFill>
                  <a:srgbClr val="FF0000"/>
                </a:solidFill>
                <a:latin typeface="微软雅黑" panose="020B0503020204020204" pitchFamily="34" charset="-122"/>
                <a:ea typeface="微软雅黑" panose="020B0503020204020204" pitchFamily="34" charset="-122"/>
              </a:rPr>
              <a:t>最短路问题</a:t>
            </a:r>
            <a:endParaRPr lang="zh-CN" altLang="en-US" sz="3200" spc="300" dirty="0">
              <a:solidFill>
                <a:srgbClr val="FF0000"/>
              </a:solidFill>
              <a:latin typeface="微软雅黑" panose="020B0503020204020204" pitchFamily="34" charset="-122"/>
              <a:ea typeface="微软雅黑" panose="020B0503020204020204" pitchFamily="34" charset="-122"/>
            </a:endParaRPr>
          </a:p>
        </p:txBody>
      </p:sp>
      <p:sp>
        <p:nvSpPr>
          <p:cNvPr id="2" name="文本框 1" descr="7b0a202020202262756c6c6574223a20227b5c2263617465676f727949645c223a31303030352c5c2274656d706c61746549645c223a32303233313332387d220a7d0a"/>
          <p:cNvSpPr txBox="1"/>
          <p:nvPr/>
        </p:nvSpPr>
        <p:spPr>
          <a:xfrm>
            <a:off x="553299" y="1648237"/>
            <a:ext cx="10954523" cy="3970318"/>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sz="2400" dirty="0">
                <a:solidFill>
                  <a:schemeClr val="tx1"/>
                </a:solidFill>
                <a:latin typeface="微软雅黑" panose="020B0503020204020204" pitchFamily="34" charset="-122"/>
                <a:ea typeface="微软雅黑" panose="020B0503020204020204" pitchFamily="34" charset="-122"/>
              </a:rPr>
              <a:t>最广为人知的图论问题。</a:t>
            </a:r>
            <a:endParaRPr lang="en-US" altLang="zh-CN" sz="24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2400" dirty="0">
                <a:solidFill>
                  <a:schemeClr val="tx1"/>
                </a:solidFill>
                <a:latin typeface="微软雅黑" panose="020B0503020204020204" pitchFamily="34" charset="-122"/>
                <a:ea typeface="微软雅黑" panose="020B0503020204020204" pitchFamily="34" charset="-122"/>
              </a:rPr>
              <a:t>简单图的最短</a:t>
            </a:r>
            <a:r>
              <a:rPr lang="zh-CN" altLang="en-US" sz="2400" dirty="0" smtClean="0">
                <a:solidFill>
                  <a:schemeClr val="tx1"/>
                </a:solidFill>
                <a:latin typeface="微软雅黑" panose="020B0503020204020204" pitchFamily="34" charset="-122"/>
                <a:ea typeface="微软雅黑" panose="020B0503020204020204" pitchFamily="34" charset="-122"/>
              </a:rPr>
              <a:t>路径</a:t>
            </a:r>
            <a:endParaRPr lang="en-US" altLang="zh-CN" sz="2400" dirty="0">
              <a:solidFill>
                <a:schemeClr val="tx1"/>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ü"/>
            </a:pPr>
            <a:r>
              <a:rPr lang="zh-CN" altLang="en-US" sz="2400" dirty="0" smtClean="0">
                <a:solidFill>
                  <a:schemeClr val="tx1"/>
                </a:solidFill>
                <a:latin typeface="微软雅黑" panose="020B0503020204020204" pitchFamily="34" charset="-122"/>
                <a:ea typeface="微软雅黑" panose="020B0503020204020204" pitchFamily="34" charset="-122"/>
              </a:rPr>
              <a:t>树</a:t>
            </a:r>
            <a:r>
              <a:rPr lang="zh-CN" altLang="en-US" sz="2400" dirty="0">
                <a:solidFill>
                  <a:schemeClr val="tx1"/>
                </a:solidFill>
                <a:latin typeface="微软雅黑" panose="020B0503020204020204" pitchFamily="34" charset="-122"/>
                <a:ea typeface="微软雅黑" panose="020B0503020204020204" pitchFamily="34" charset="-122"/>
              </a:rPr>
              <a:t>上的路径：任意</a:t>
            </a:r>
            <a:r>
              <a:rPr lang="en-US" altLang="zh-CN" sz="2400" dirty="0">
                <a:solidFill>
                  <a:schemeClr val="tx1"/>
                </a:solidFill>
                <a:latin typeface="微软雅黑" panose="020B0503020204020204" pitchFamily="34" charset="-122"/>
                <a:ea typeface="微软雅黑" panose="020B0503020204020204" pitchFamily="34" charset="-122"/>
              </a:rPr>
              <a:t>2</a:t>
            </a:r>
            <a:r>
              <a:rPr lang="zh-CN" altLang="en-US" sz="2400" dirty="0">
                <a:solidFill>
                  <a:schemeClr val="tx1"/>
                </a:solidFill>
                <a:latin typeface="微软雅黑" panose="020B0503020204020204" pitchFamily="34" charset="-122"/>
                <a:ea typeface="微软雅黑" panose="020B0503020204020204" pitchFamily="34" charset="-122"/>
              </a:rPr>
              <a:t>点之间只有一条</a:t>
            </a:r>
            <a:r>
              <a:rPr lang="zh-CN" altLang="en-US" sz="2400" dirty="0" smtClean="0">
                <a:solidFill>
                  <a:schemeClr val="tx1"/>
                </a:solidFill>
                <a:latin typeface="微软雅黑" panose="020B0503020204020204" pitchFamily="34" charset="-122"/>
                <a:ea typeface="微软雅黑" panose="020B0503020204020204" pitchFamily="34" charset="-122"/>
              </a:rPr>
              <a:t>路径</a:t>
            </a:r>
            <a:endParaRPr lang="en-US" altLang="zh-CN" sz="2400" dirty="0">
              <a:solidFill>
                <a:schemeClr val="tx1"/>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ü"/>
            </a:pPr>
            <a:r>
              <a:rPr lang="zh-CN" altLang="en-US" sz="2400" dirty="0" smtClean="0">
                <a:solidFill>
                  <a:schemeClr val="tx1"/>
                </a:solidFill>
                <a:latin typeface="微软雅黑" panose="020B0503020204020204" pitchFamily="34" charset="-122"/>
                <a:ea typeface="微软雅黑" panose="020B0503020204020204" pitchFamily="34" charset="-122"/>
              </a:rPr>
              <a:t>所有</a:t>
            </a:r>
            <a:r>
              <a:rPr lang="zh-CN" altLang="en-US" sz="2400" dirty="0">
                <a:solidFill>
                  <a:schemeClr val="tx1"/>
                </a:solidFill>
                <a:latin typeface="微软雅黑" panose="020B0503020204020204" pitchFamily="34" charset="-122"/>
                <a:ea typeface="微软雅黑" panose="020B0503020204020204" pitchFamily="34" charset="-122"/>
              </a:rPr>
              <a:t>边长都为</a:t>
            </a:r>
            <a:r>
              <a:rPr lang="en-US" altLang="zh-CN" sz="2400" dirty="0">
                <a:solidFill>
                  <a:schemeClr val="tx1"/>
                </a:solidFill>
                <a:latin typeface="微软雅黑" panose="020B0503020204020204" pitchFamily="34" charset="-122"/>
                <a:ea typeface="微软雅黑" panose="020B0503020204020204" pitchFamily="34" charset="-122"/>
              </a:rPr>
              <a:t>1</a:t>
            </a:r>
            <a:r>
              <a:rPr lang="zh-CN" altLang="en-US" sz="2400" dirty="0">
                <a:solidFill>
                  <a:schemeClr val="tx1"/>
                </a:solidFill>
                <a:latin typeface="微软雅黑" panose="020B0503020204020204" pitchFamily="34" charset="-122"/>
                <a:ea typeface="微软雅黑" panose="020B0503020204020204" pitchFamily="34" charset="-122"/>
              </a:rPr>
              <a:t>的图：用</a:t>
            </a:r>
            <a:r>
              <a:rPr lang="en-US" altLang="zh-CN" sz="2400" dirty="0">
                <a:solidFill>
                  <a:schemeClr val="tx1"/>
                </a:solidFill>
                <a:latin typeface="微软雅黑" panose="020B0503020204020204" pitchFamily="34" charset="-122"/>
                <a:ea typeface="微软雅黑" panose="020B0503020204020204" pitchFamily="34" charset="-122"/>
              </a:rPr>
              <a:t>BFS</a:t>
            </a:r>
            <a:r>
              <a:rPr lang="zh-CN" altLang="en-US" sz="2400" dirty="0">
                <a:solidFill>
                  <a:schemeClr val="tx1"/>
                </a:solidFill>
                <a:latin typeface="微软雅黑" panose="020B0503020204020204" pitchFamily="34" charset="-122"/>
                <a:ea typeface="微软雅黑" panose="020B0503020204020204" pitchFamily="34" charset="-122"/>
              </a:rPr>
              <a:t>搜最短路径，复杂度</a:t>
            </a:r>
            <a:r>
              <a:rPr lang="en-US" altLang="zh-CN" sz="2400" dirty="0">
                <a:solidFill>
                  <a:schemeClr val="tx1"/>
                </a:solidFill>
                <a:latin typeface="微软雅黑" panose="020B0503020204020204" pitchFamily="34" charset="-122"/>
                <a:ea typeface="微软雅黑" panose="020B0503020204020204" pitchFamily="34" charset="-122"/>
              </a:rPr>
              <a:t>O(</a:t>
            </a:r>
            <a:r>
              <a:rPr lang="en-US" altLang="zh-CN" sz="2400" dirty="0" err="1">
                <a:solidFill>
                  <a:schemeClr val="tx1"/>
                </a:solidFill>
                <a:latin typeface="微软雅黑" panose="020B0503020204020204" pitchFamily="34" charset="-122"/>
                <a:ea typeface="微软雅黑" panose="020B0503020204020204" pitchFamily="34" charset="-122"/>
              </a:rPr>
              <a:t>n+m</a:t>
            </a:r>
            <a:r>
              <a:rPr lang="en-US" altLang="zh-CN" sz="2400" dirty="0">
                <a:solidFill>
                  <a:schemeClr val="tx1"/>
                </a:solidFill>
                <a:latin typeface="微软雅黑" panose="020B0503020204020204" pitchFamily="34" charset="-122"/>
                <a:ea typeface="微软雅黑" panose="020B0503020204020204" pitchFamily="34" charset="-122"/>
              </a:rPr>
              <a:t>)</a:t>
            </a:r>
            <a:endParaRPr lang="en-US" altLang="zh-CN" sz="2400" dirty="0">
              <a:solidFill>
                <a:schemeClr val="tx1"/>
              </a:solidFill>
              <a:latin typeface="微软雅黑" panose="020B0503020204020204" pitchFamily="34" charset="-122"/>
              <a:ea typeface="微软雅黑" panose="020B0503020204020204" pitchFamily="34" charset="-122"/>
            </a:endParaRPr>
          </a:p>
          <a:p>
            <a:pPr marL="342900" lvl="5" indent="-342900">
              <a:lnSpc>
                <a:spcPct val="150000"/>
              </a:lnSpc>
              <a:buFont typeface="Wingdings" panose="05000000000000000000" pitchFamily="2" charset="2"/>
              <a:buChar char="Ø"/>
            </a:pPr>
            <a:r>
              <a:rPr lang="zh-CN" altLang="en-US" sz="2400" dirty="0">
                <a:solidFill>
                  <a:schemeClr val="tx1"/>
                </a:solidFill>
                <a:latin typeface="微软雅黑" panose="020B0503020204020204" pitchFamily="34" charset="-122"/>
                <a:ea typeface="微软雅黑" panose="020B0503020204020204" pitchFamily="34" charset="-122"/>
              </a:rPr>
              <a:t>普通图的最</a:t>
            </a:r>
            <a:r>
              <a:rPr lang="zh-CN" altLang="en-US" sz="2400" dirty="0" smtClean="0">
                <a:solidFill>
                  <a:schemeClr val="tx1"/>
                </a:solidFill>
                <a:latin typeface="微软雅黑" panose="020B0503020204020204" pitchFamily="34" charset="-122"/>
                <a:ea typeface="微软雅黑" panose="020B0503020204020204" pitchFamily="34" charset="-122"/>
              </a:rPr>
              <a:t>短路径</a:t>
            </a:r>
            <a:endParaRPr lang="en-US" altLang="zh-CN" sz="2400" dirty="0">
              <a:solidFill>
                <a:schemeClr val="tx1"/>
              </a:solidFill>
              <a:latin typeface="微软雅黑" panose="020B0503020204020204" pitchFamily="34" charset="-122"/>
              <a:ea typeface="微软雅黑" panose="020B0503020204020204" pitchFamily="34" charset="-122"/>
            </a:endParaRPr>
          </a:p>
          <a:p>
            <a:pPr marL="800100" lvl="6" indent="-342900">
              <a:lnSpc>
                <a:spcPct val="150000"/>
              </a:lnSpc>
              <a:buFont typeface="Wingdings" panose="05000000000000000000" pitchFamily="2" charset="2"/>
              <a:buChar char="ü"/>
            </a:pP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边长：不一定等于</a:t>
            </a:r>
            <a:r>
              <a:rPr lang="en-US" altLang="zh-CN" sz="2400" dirty="0" smtClean="0">
                <a:solidFill>
                  <a:schemeClr val="tx1"/>
                </a:solidFill>
                <a:latin typeface="微软雅黑" panose="020B0503020204020204" pitchFamily="34" charset="-122"/>
                <a:ea typeface="微软雅黑" panose="020B0503020204020204" pitchFamily="34" charset="-122"/>
              </a:rPr>
              <a:t>1</a:t>
            </a:r>
            <a:r>
              <a:rPr lang="zh-CN" altLang="en-US" sz="2400" dirty="0" smtClean="0">
                <a:solidFill>
                  <a:schemeClr val="tx1"/>
                </a:solidFill>
                <a:latin typeface="微软雅黑" panose="020B0503020204020204" pitchFamily="34" charset="-122"/>
                <a:ea typeface="微软雅黑" panose="020B0503020204020204" pitchFamily="34" charset="-122"/>
              </a:rPr>
              <a:t>，而且可能为负数</a:t>
            </a:r>
            <a:endParaRPr lang="en-US" altLang="zh-CN" sz="2400" dirty="0">
              <a:solidFill>
                <a:schemeClr val="tx1"/>
              </a:solidFill>
              <a:latin typeface="微软雅黑" panose="020B0503020204020204" pitchFamily="34" charset="-122"/>
              <a:ea typeface="微软雅黑" panose="020B0503020204020204" pitchFamily="34" charset="-122"/>
            </a:endParaRPr>
          </a:p>
          <a:p>
            <a:pPr marL="800100" lvl="6" indent="-342900">
              <a:lnSpc>
                <a:spcPct val="150000"/>
              </a:lnSpc>
              <a:buFont typeface="Wingdings" panose="05000000000000000000" pitchFamily="2" charset="2"/>
              <a:buChar char="ü"/>
            </a:pPr>
            <a:r>
              <a:rPr lang="en-US" altLang="zh-CN" sz="2400" dirty="0" smtClean="0">
                <a:solidFill>
                  <a:schemeClr val="tx1"/>
                </a:solidFill>
                <a:latin typeface="微软雅黑" panose="020B0503020204020204" pitchFamily="34" charset="-122"/>
                <a:ea typeface="微软雅黑" panose="020B0503020204020204" pitchFamily="34" charset="-122"/>
              </a:rPr>
              <a:t>	</a:t>
            </a:r>
            <a:r>
              <a:rPr lang="zh-CN" altLang="en-US" sz="2400" dirty="0" smtClean="0">
                <a:solidFill>
                  <a:schemeClr val="tx1"/>
                </a:solidFill>
                <a:latin typeface="微软雅黑" panose="020B0503020204020204" pitchFamily="34" charset="-122"/>
                <a:ea typeface="微软雅黑" panose="020B0503020204020204" pitchFamily="34" charset="-122"/>
              </a:rPr>
              <a:t>算法</a:t>
            </a:r>
            <a:r>
              <a:rPr lang="zh-CN" altLang="en-US" sz="2400" dirty="0">
                <a:solidFill>
                  <a:schemeClr val="tx1"/>
                </a:solidFill>
                <a:latin typeface="微软雅黑" panose="020B0503020204020204" pitchFamily="34" charset="-122"/>
                <a:ea typeface="微软雅黑" panose="020B0503020204020204" pitchFamily="34" charset="-122"/>
              </a:rPr>
              <a:t>：</a:t>
            </a:r>
            <a:r>
              <a:rPr lang="en-US" altLang="zh-CN" sz="2400" dirty="0">
                <a:solidFill>
                  <a:schemeClr val="tx1"/>
                </a:solidFill>
                <a:latin typeface="微软雅黑" panose="020B0503020204020204" pitchFamily="34" charset="-122"/>
                <a:ea typeface="微软雅黑" panose="020B0503020204020204" pitchFamily="34" charset="-122"/>
              </a:rPr>
              <a:t>Floyd</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smtClean="0">
                <a:solidFill>
                  <a:schemeClr val="tx1"/>
                </a:solidFill>
                <a:latin typeface="微软雅黑" panose="020B0503020204020204" pitchFamily="34" charset="-122"/>
                <a:ea typeface="微软雅黑" panose="020B0503020204020204" pitchFamily="34" charset="-122"/>
              </a:rPr>
              <a:t>Bellman-ford</a:t>
            </a:r>
            <a:r>
              <a:rPr lang="zh-CN" altLang="en-US" sz="2400" dirty="0" smtClean="0">
                <a:solidFill>
                  <a:schemeClr val="tx1"/>
                </a:solidFill>
                <a:latin typeface="微软雅黑" panose="020B0503020204020204" pitchFamily="34" charset="-122"/>
                <a:ea typeface="微软雅黑" panose="020B0503020204020204" pitchFamily="34" charset="-122"/>
              </a:rPr>
              <a:t>、</a:t>
            </a:r>
            <a:r>
              <a:rPr lang="en-US" altLang="zh-CN" sz="2400" dirty="0" err="1" smtClean="0">
                <a:solidFill>
                  <a:schemeClr val="tx1"/>
                </a:solidFill>
                <a:latin typeface="微软雅黑" panose="020B0503020204020204" pitchFamily="34" charset="-122"/>
                <a:ea typeface="微软雅黑" panose="020B0503020204020204" pitchFamily="34" charset="-122"/>
              </a:rPr>
              <a:t>Dijkstra</a:t>
            </a:r>
            <a:r>
              <a:rPr lang="zh-CN" altLang="en-US" sz="2400" dirty="0" smtClean="0">
                <a:solidFill>
                  <a:schemeClr val="tx1"/>
                </a:solidFill>
                <a:latin typeface="微软雅黑" panose="020B0503020204020204" pitchFamily="34" charset="-122"/>
                <a:ea typeface="微软雅黑" panose="020B0503020204020204" pitchFamily="34" charset="-122"/>
              </a:rPr>
              <a:t>等</a:t>
            </a:r>
            <a:r>
              <a:rPr lang="zh-CN" altLang="en-US" sz="2400" dirty="0">
                <a:solidFill>
                  <a:schemeClr val="tx1"/>
                </a:solidFill>
                <a:latin typeface="微软雅黑" panose="020B0503020204020204" pitchFamily="34" charset="-122"/>
                <a:ea typeface="微软雅黑" panose="020B0503020204020204" pitchFamily="34" charset="-122"/>
              </a:rPr>
              <a:t>，各有应用场景，</a:t>
            </a:r>
            <a:r>
              <a:rPr lang="zh-CN" altLang="en-US" sz="2400" dirty="0" smtClean="0">
                <a:solidFill>
                  <a:schemeClr val="tx1"/>
                </a:solidFill>
                <a:latin typeface="微软雅黑" panose="020B0503020204020204" pitchFamily="34" charset="-122"/>
                <a:ea typeface="微软雅黑" panose="020B0503020204020204" pitchFamily="34" charset="-122"/>
              </a:rPr>
              <a:t>不可替代</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ransition spd="slow" advClick="0" advTm="68276">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fade">
                                      <p:cBhvr>
                                        <p:cTn id="10" dur="500"/>
                                        <p:tgtEl>
                                          <p:spTgt spid="2">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Effect transition="in" filter="fade">
                                      <p:cBhvr>
                                        <p:cTn id="13" dur="500"/>
                                        <p:tgtEl>
                                          <p:spTgt spid="2">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fade">
                                      <p:cBhvr>
                                        <p:cTn id="18" dur="500"/>
                                        <p:tgtEl>
                                          <p:spTgt spid="2">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animEffect transition="in" filter="fade">
                                      <p:cBhvr>
                                        <p:cTn id="21" dur="500"/>
                                        <p:tgtEl>
                                          <p:spTgt spid="2">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2">
                                            <p:txEl>
                                              <p:pRg st="6" end="6"/>
                                            </p:txEl>
                                          </p:spTgt>
                                        </p:tgtEl>
                                        <p:attrNameLst>
                                          <p:attrName>style.visibility</p:attrName>
                                        </p:attrNameLst>
                                      </p:cBhvr>
                                      <p:to>
                                        <p:strVal val="visible"/>
                                      </p:to>
                                    </p:set>
                                    <p:animEffect transition="in" filter="fade">
                                      <p:cBhvr>
                                        <p:cTn id="24"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403784" y="287464"/>
            <a:ext cx="7659923" cy="584775"/>
          </a:xfrm>
          <a:prstGeom prst="rect">
            <a:avLst/>
          </a:prstGeom>
          <a:noFill/>
        </p:spPr>
        <p:txBody>
          <a:bodyPr wrap="square">
            <a:spAutoFit/>
          </a:bodyPr>
          <a:lstStyle>
            <a:defPPr>
              <a:defRPr lang="en-US"/>
            </a:defPPr>
            <a:lvl1pPr marL="457200" indent="-457200">
              <a:buFont typeface="Wingdings" panose="05000000000000000000" pitchFamily="2" charset="2"/>
              <a:buChar char="p"/>
              <a:defRPr sz="3200" spc="300">
                <a:solidFill>
                  <a:srgbClr val="FF0000"/>
                </a:solidFill>
                <a:latin typeface="微软雅黑" panose="020B0503020204020204" pitchFamily="34" charset="-122"/>
                <a:ea typeface="微软雅黑" panose="020B0503020204020204" pitchFamily="34" charset="-122"/>
              </a:defRPr>
            </a:lvl1pPr>
          </a:lstStyle>
          <a:p>
            <a:r>
              <a:rPr lang="en-US" altLang="zh-CN" dirty="0" smtClean="0"/>
              <a:t>Floyd</a:t>
            </a:r>
            <a:r>
              <a:rPr lang="zh-CN" altLang="en-US" dirty="0"/>
              <a:t>算法</a:t>
            </a:r>
            <a:endParaRPr lang="zh-CN" altLang="en-US" dirty="0"/>
          </a:p>
        </p:txBody>
      </p:sp>
      <p:sp>
        <p:nvSpPr>
          <p:cNvPr id="10" name="内容占位符 2"/>
          <p:cNvSpPr txBox="1"/>
          <p:nvPr/>
        </p:nvSpPr>
        <p:spPr>
          <a:xfrm>
            <a:off x="652463" y="1138425"/>
            <a:ext cx="10342123" cy="2462516"/>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457200" indent="-457200" algn="l" defTabSz="1828800" eaLnBrk="1" hangingPunct="1">
              <a:lnSpc>
                <a:spcPct val="90000"/>
              </a:lnSpc>
              <a:spcBef>
                <a:spcPct val="401000"/>
              </a:spcBef>
              <a:buFont typeface="Arial" panose="020B0604020202020204" pitchFamily="34" charset="0"/>
              <a:buChar char="•"/>
              <a:defRPr sz="4800" kern="1200">
                <a:solidFill>
                  <a:schemeClr val="tx1"/>
                </a:solidFill>
                <a:latin typeface="宋体" panose="02010600030101010101" pitchFamily="2" charset="-122"/>
                <a:ea typeface="宋体" panose="02010600030101010101" pitchFamily="2" charset="-122"/>
              </a:defRPr>
            </a:lvl1pPr>
            <a:lvl2pPr marL="400050" lvl="1" indent="0" algn="l" defTabSz="1828800" eaLnBrk="1" hangingPunct="1">
              <a:lnSpc>
                <a:spcPct val="90000"/>
              </a:lnSpc>
              <a:spcBef>
                <a:spcPct val="201000"/>
              </a:spcBef>
              <a:buFont typeface="Arial" panose="020B0604020202020204" pitchFamily="34" charset="0"/>
              <a:defRPr sz="4800" kern="1200">
                <a:solidFill>
                  <a:schemeClr val="tx1"/>
                </a:solidFill>
                <a:latin typeface="宋体" panose="02010600030101010101" pitchFamily="2" charset="-122"/>
                <a:ea typeface="宋体" panose="02010600030101010101" pitchFamily="2" charset="-122"/>
              </a:defRPr>
            </a:lvl2pPr>
            <a:lvl3pPr marL="2286000" indent="-457200" algn="l" defTabSz="1828800" eaLnBrk="1" hangingPunct="1">
              <a:lnSpc>
                <a:spcPct val="90000"/>
              </a:lnSpc>
              <a:spcBef>
                <a:spcPct val="201000"/>
              </a:spcBef>
              <a:buFont typeface="Arial" panose="020B0604020202020204" pitchFamily="34" charset="0"/>
              <a:buChar char="•"/>
              <a:defRPr sz="4000" kern="1200">
                <a:solidFill>
                  <a:schemeClr val="tx1"/>
                </a:solidFill>
              </a:defRPr>
            </a:lvl3pPr>
            <a:lvl4pPr marL="32004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4pPr>
            <a:lvl5pPr marL="41148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5pPr>
            <a:lvl6pPr marL="50292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6pPr>
            <a:lvl7pPr marL="59436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7pPr>
            <a:lvl8pPr marL="6857365"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8pPr>
            <a:lvl9pPr marL="7771765"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9pPr>
          </a:lstStyle>
          <a:p>
            <a:pPr>
              <a:lnSpc>
                <a:spcPct val="150000"/>
              </a:lnSpc>
              <a:spcBef>
                <a:spcPts val="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最简单的最短路径算法，代码仅有</a:t>
            </a:r>
            <a:r>
              <a:rPr lang="en-US" altLang="zh-CN" sz="2400" dirty="0">
                <a:latin typeface="微软雅黑" panose="020B0503020204020204" pitchFamily="34" charset="-122"/>
                <a:ea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rPr>
              <a:t>行</a:t>
            </a:r>
            <a:endParaRPr lang="en-US" altLang="zh-CN"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存图：最简单的矩阵存图</a:t>
            </a:r>
            <a:endParaRPr lang="en-US" altLang="zh-CN"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易懂，比暴力的搜索更简单易懂。</a:t>
            </a:r>
            <a:endParaRPr lang="en-US" altLang="zh-CN"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效率不高，不能用于大图</a:t>
            </a:r>
            <a:endParaRPr lang="en-US" altLang="zh-CN"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在某些场景下有自己的优势，难以替代。</a:t>
            </a:r>
            <a:endParaRPr lang="zh-CN" altLang="en-US" sz="2400" dirty="0">
              <a:latin typeface="微软雅黑" panose="020B0503020204020204" pitchFamily="34" charset="-122"/>
              <a:ea typeface="微软雅黑" panose="020B0503020204020204" pitchFamily="34" charset="-122"/>
            </a:endParaRPr>
          </a:p>
        </p:txBody>
      </p:sp>
      <p:sp>
        <p:nvSpPr>
          <p:cNvPr id="12" name="文本框 11" descr="7b0a202020202262756c6c6574223a20227b5c2263617465676f727949645c223a31303030352c5c2274656d706c61746549645c223a32303233313332387d220a7d0a"/>
          <p:cNvSpPr txBox="1"/>
          <p:nvPr/>
        </p:nvSpPr>
        <p:spPr>
          <a:xfrm>
            <a:off x="1972965" y="4345230"/>
            <a:ext cx="8693889" cy="1631216"/>
          </a:xfrm>
          <a:prstGeom prst="rect">
            <a:avLst/>
          </a:prstGeom>
          <a:noFill/>
          <a:ln>
            <a:noFill/>
          </a:ln>
        </p:spPr>
        <p:txBody>
          <a:bodyPr wrap="square" rtlCol="0">
            <a:spAutoFit/>
          </a:bodyPr>
          <a:lstStyle/>
          <a:p>
            <a:pPr algn="l"/>
            <a:r>
              <a:rPr lang="en-US" altLang="zh-CN" dirty="0">
                <a:solidFill>
                  <a:schemeClr val="tx1"/>
                </a:solidFill>
                <a:latin typeface="宋体" panose="02010600030101010101" pitchFamily="2" charset="-122"/>
                <a:ea typeface="宋体" panose="02010600030101010101" pitchFamily="2" charset="-122"/>
              </a:rPr>
              <a:t>for(</a:t>
            </a:r>
            <a:r>
              <a:rPr lang="en-US" altLang="zh-CN" dirty="0" err="1">
                <a:solidFill>
                  <a:schemeClr val="tx1"/>
                </a:solidFill>
                <a:latin typeface="宋体" panose="02010600030101010101" pitchFamily="2" charset="-122"/>
                <a:ea typeface="宋体" panose="02010600030101010101" pitchFamily="2" charset="-122"/>
              </a:rPr>
              <a:t>int</a:t>
            </a:r>
            <a:r>
              <a:rPr lang="en-US" altLang="zh-CN" dirty="0">
                <a:solidFill>
                  <a:schemeClr val="tx1"/>
                </a:solidFill>
                <a:latin typeface="宋体" panose="02010600030101010101" pitchFamily="2" charset="-122"/>
                <a:ea typeface="宋体" panose="02010600030101010101" pitchFamily="2" charset="-122"/>
              </a:rPr>
              <a:t> k=1; k&lt;=n; k++)         //</a:t>
            </a:r>
            <a:r>
              <a:rPr lang="en-US" altLang="zh-CN" dirty="0" err="1">
                <a:solidFill>
                  <a:schemeClr val="tx1"/>
                </a:solidFill>
                <a:latin typeface="宋体" panose="02010600030101010101" pitchFamily="2" charset="-122"/>
                <a:ea typeface="宋体" panose="02010600030101010101" pitchFamily="2" charset="-122"/>
              </a:rPr>
              <a:t>floyd</a:t>
            </a:r>
            <a:r>
              <a:rPr lang="zh-CN" altLang="en-US" dirty="0">
                <a:solidFill>
                  <a:schemeClr val="tx1"/>
                </a:solidFill>
                <a:latin typeface="宋体" panose="02010600030101010101" pitchFamily="2" charset="-122"/>
                <a:ea typeface="宋体" panose="02010600030101010101" pitchFamily="2" charset="-122"/>
              </a:rPr>
              <a:t>的三重循环</a:t>
            </a:r>
            <a:endParaRPr lang="zh-CN" altLang="en-US" dirty="0">
              <a:solidFill>
                <a:schemeClr val="tx1"/>
              </a:solidFill>
              <a:latin typeface="宋体" panose="02010600030101010101" pitchFamily="2" charset="-122"/>
              <a:ea typeface="宋体" panose="02010600030101010101" pitchFamily="2" charset="-122"/>
            </a:endParaRPr>
          </a:p>
          <a:p>
            <a:pPr algn="l"/>
            <a:r>
              <a:rPr lang="zh-CN" altLang="en-US" dirty="0">
                <a:solidFill>
                  <a:schemeClr val="tx1"/>
                </a:solidFill>
                <a:latin typeface="宋体" panose="02010600030101010101" pitchFamily="2" charset="-122"/>
                <a:ea typeface="宋体" panose="02010600030101010101" pitchFamily="2" charset="-122"/>
              </a:rPr>
              <a:t>    </a:t>
            </a:r>
            <a:r>
              <a:rPr lang="en-US" altLang="zh-CN" dirty="0">
                <a:solidFill>
                  <a:schemeClr val="tx1"/>
                </a:solidFill>
                <a:latin typeface="宋体" panose="02010600030101010101" pitchFamily="2" charset="-122"/>
                <a:ea typeface="宋体" panose="02010600030101010101" pitchFamily="2" charset="-122"/>
              </a:rPr>
              <a:t>for(</a:t>
            </a:r>
            <a:r>
              <a:rPr lang="en-US" altLang="zh-CN" dirty="0" err="1">
                <a:solidFill>
                  <a:schemeClr val="tx1"/>
                </a:solidFill>
                <a:latin typeface="宋体" panose="02010600030101010101" pitchFamily="2" charset="-122"/>
                <a:ea typeface="宋体" panose="02010600030101010101" pitchFamily="2" charset="-122"/>
              </a:rPr>
              <a:t>int</a:t>
            </a:r>
            <a:r>
              <a:rPr lang="en-US" altLang="zh-CN" dirty="0">
                <a:solidFill>
                  <a:schemeClr val="tx1"/>
                </a:solidFill>
                <a:latin typeface="宋体" panose="02010600030101010101" pitchFamily="2" charset="-122"/>
                <a:ea typeface="宋体" panose="02010600030101010101" pitchFamily="2" charset="-122"/>
              </a:rPr>
              <a:t> </a:t>
            </a:r>
            <a:r>
              <a:rPr lang="en-US" altLang="zh-CN" dirty="0" err="1">
                <a:solidFill>
                  <a:schemeClr val="tx1"/>
                </a:solidFill>
                <a:latin typeface="宋体" panose="02010600030101010101" pitchFamily="2" charset="-122"/>
                <a:ea typeface="宋体" panose="02010600030101010101" pitchFamily="2" charset="-122"/>
              </a:rPr>
              <a:t>i</a:t>
            </a:r>
            <a:r>
              <a:rPr lang="en-US" altLang="zh-CN" dirty="0">
                <a:solidFill>
                  <a:schemeClr val="tx1"/>
                </a:solidFill>
                <a:latin typeface="宋体" panose="02010600030101010101" pitchFamily="2" charset="-122"/>
                <a:ea typeface="宋体" panose="02010600030101010101" pitchFamily="2" charset="-122"/>
              </a:rPr>
              <a:t>=1; </a:t>
            </a:r>
            <a:r>
              <a:rPr lang="en-US" altLang="zh-CN" dirty="0" err="1">
                <a:solidFill>
                  <a:schemeClr val="tx1"/>
                </a:solidFill>
                <a:latin typeface="宋体" panose="02010600030101010101" pitchFamily="2" charset="-122"/>
                <a:ea typeface="宋体" panose="02010600030101010101" pitchFamily="2" charset="-122"/>
              </a:rPr>
              <a:t>i</a:t>
            </a:r>
            <a:r>
              <a:rPr lang="en-US" altLang="zh-CN" dirty="0">
                <a:solidFill>
                  <a:schemeClr val="tx1"/>
                </a:solidFill>
                <a:latin typeface="宋体" panose="02010600030101010101" pitchFamily="2" charset="-122"/>
                <a:ea typeface="宋体" panose="02010600030101010101" pitchFamily="2" charset="-122"/>
              </a:rPr>
              <a:t>&lt;=n; </a:t>
            </a:r>
            <a:r>
              <a:rPr lang="en-US" altLang="zh-CN" dirty="0" err="1">
                <a:solidFill>
                  <a:schemeClr val="tx1"/>
                </a:solidFill>
                <a:latin typeface="宋体" panose="02010600030101010101" pitchFamily="2" charset="-122"/>
                <a:ea typeface="宋体" panose="02010600030101010101" pitchFamily="2" charset="-122"/>
              </a:rPr>
              <a:t>i</a:t>
            </a:r>
            <a:r>
              <a:rPr lang="en-US" altLang="zh-CN" dirty="0">
                <a:solidFill>
                  <a:schemeClr val="tx1"/>
                </a:solidFill>
                <a:latin typeface="宋体" panose="02010600030101010101" pitchFamily="2" charset="-122"/>
                <a:ea typeface="宋体" panose="02010600030101010101" pitchFamily="2" charset="-122"/>
              </a:rPr>
              <a:t>++)</a:t>
            </a:r>
            <a:endParaRPr lang="en-US" altLang="zh-CN" dirty="0">
              <a:solidFill>
                <a:schemeClr val="tx1"/>
              </a:solidFill>
              <a:latin typeface="宋体" panose="02010600030101010101" pitchFamily="2" charset="-122"/>
              <a:ea typeface="宋体" panose="02010600030101010101" pitchFamily="2" charset="-122"/>
            </a:endParaRPr>
          </a:p>
          <a:p>
            <a:pPr algn="l"/>
            <a:r>
              <a:rPr lang="en-US" altLang="zh-CN" dirty="0">
                <a:solidFill>
                  <a:schemeClr val="tx1"/>
                </a:solidFill>
                <a:latin typeface="宋体" panose="02010600030101010101" pitchFamily="2" charset="-122"/>
                <a:ea typeface="宋体" panose="02010600030101010101" pitchFamily="2" charset="-122"/>
              </a:rPr>
              <a:t>        for(</a:t>
            </a:r>
            <a:r>
              <a:rPr lang="en-US" altLang="zh-CN" dirty="0" err="1">
                <a:solidFill>
                  <a:schemeClr val="tx1"/>
                </a:solidFill>
                <a:latin typeface="宋体" panose="02010600030101010101" pitchFamily="2" charset="-122"/>
                <a:ea typeface="宋体" panose="02010600030101010101" pitchFamily="2" charset="-122"/>
              </a:rPr>
              <a:t>int</a:t>
            </a:r>
            <a:r>
              <a:rPr lang="en-US" altLang="zh-CN" dirty="0">
                <a:solidFill>
                  <a:schemeClr val="tx1"/>
                </a:solidFill>
                <a:latin typeface="宋体" panose="02010600030101010101" pitchFamily="2" charset="-122"/>
                <a:ea typeface="宋体" panose="02010600030101010101" pitchFamily="2" charset="-122"/>
              </a:rPr>
              <a:t> j=1; j&lt;=n; </a:t>
            </a:r>
            <a:r>
              <a:rPr lang="en-US" altLang="zh-CN" dirty="0" err="1">
                <a:solidFill>
                  <a:schemeClr val="tx1"/>
                </a:solidFill>
                <a:latin typeface="宋体" panose="02010600030101010101" pitchFamily="2" charset="-122"/>
                <a:ea typeface="宋体" panose="02010600030101010101" pitchFamily="2" charset="-122"/>
              </a:rPr>
              <a:t>j++</a:t>
            </a:r>
            <a:r>
              <a:rPr lang="en-US" altLang="zh-CN" dirty="0">
                <a:solidFill>
                  <a:schemeClr val="tx1"/>
                </a:solidFill>
                <a:latin typeface="宋体" panose="02010600030101010101" pitchFamily="2" charset="-122"/>
                <a:ea typeface="宋体" panose="02010600030101010101" pitchFamily="2" charset="-122"/>
              </a:rPr>
              <a:t>)      // k</a:t>
            </a:r>
            <a:r>
              <a:rPr lang="zh-CN" altLang="en-US" dirty="0">
                <a:solidFill>
                  <a:schemeClr val="tx1"/>
                </a:solidFill>
                <a:latin typeface="宋体" panose="02010600030101010101" pitchFamily="2" charset="-122"/>
                <a:ea typeface="宋体" panose="02010600030101010101" pitchFamily="2" charset="-122"/>
              </a:rPr>
              <a:t>循环在</a:t>
            </a:r>
            <a:r>
              <a:rPr lang="en-US" altLang="zh-CN" dirty="0" err="1">
                <a:solidFill>
                  <a:schemeClr val="tx1"/>
                </a:solidFill>
                <a:latin typeface="宋体" panose="02010600030101010101" pitchFamily="2" charset="-122"/>
                <a:ea typeface="宋体" panose="02010600030101010101" pitchFamily="2" charset="-122"/>
              </a:rPr>
              <a:t>i</a:t>
            </a:r>
            <a:r>
              <a:rPr lang="zh-CN" altLang="en-US" dirty="0">
                <a:solidFill>
                  <a:schemeClr val="tx1"/>
                </a:solidFill>
                <a:latin typeface="宋体" panose="02010600030101010101" pitchFamily="2" charset="-122"/>
                <a:ea typeface="宋体" panose="02010600030101010101" pitchFamily="2" charset="-122"/>
              </a:rPr>
              <a:t>、</a:t>
            </a:r>
            <a:r>
              <a:rPr lang="en-US" altLang="zh-CN" dirty="0">
                <a:solidFill>
                  <a:schemeClr val="tx1"/>
                </a:solidFill>
                <a:latin typeface="宋体" panose="02010600030101010101" pitchFamily="2" charset="-122"/>
                <a:ea typeface="宋体" panose="02010600030101010101" pitchFamily="2" charset="-122"/>
              </a:rPr>
              <a:t>j</a:t>
            </a:r>
            <a:r>
              <a:rPr lang="zh-CN" altLang="en-US" dirty="0">
                <a:solidFill>
                  <a:schemeClr val="tx1"/>
                </a:solidFill>
                <a:latin typeface="宋体" panose="02010600030101010101" pitchFamily="2" charset="-122"/>
                <a:ea typeface="宋体" panose="02010600030101010101" pitchFamily="2" charset="-122"/>
              </a:rPr>
              <a:t>循环外面</a:t>
            </a:r>
            <a:endParaRPr lang="zh-CN" altLang="en-US" dirty="0">
              <a:solidFill>
                <a:schemeClr val="tx1"/>
              </a:solidFill>
              <a:latin typeface="宋体" panose="02010600030101010101" pitchFamily="2" charset="-122"/>
              <a:ea typeface="宋体" panose="02010600030101010101" pitchFamily="2" charset="-122"/>
            </a:endParaRPr>
          </a:p>
          <a:p>
            <a:pPr algn="l"/>
            <a:r>
              <a:rPr lang="zh-CN" altLang="en-US" dirty="0">
                <a:solidFill>
                  <a:schemeClr val="tx1"/>
                </a:solidFill>
                <a:latin typeface="宋体" panose="02010600030101010101" pitchFamily="2" charset="-122"/>
                <a:ea typeface="宋体" panose="02010600030101010101" pitchFamily="2" charset="-122"/>
              </a:rPr>
              <a:t>            </a:t>
            </a:r>
            <a:r>
              <a:rPr lang="en-US" altLang="zh-CN" dirty="0" err="1">
                <a:solidFill>
                  <a:schemeClr val="tx1"/>
                </a:solidFill>
                <a:latin typeface="宋体" panose="02010600030101010101" pitchFamily="2" charset="-122"/>
                <a:ea typeface="宋体" panose="02010600030101010101" pitchFamily="2" charset="-122"/>
              </a:rPr>
              <a:t>dp</a:t>
            </a:r>
            <a:r>
              <a:rPr lang="en-US" altLang="zh-CN" dirty="0">
                <a:solidFill>
                  <a:schemeClr val="tx1"/>
                </a:solidFill>
                <a:latin typeface="宋体" panose="02010600030101010101" pitchFamily="2" charset="-122"/>
                <a:ea typeface="宋体" panose="02010600030101010101" pitchFamily="2" charset="-122"/>
              </a:rPr>
              <a:t>[</a:t>
            </a:r>
            <a:r>
              <a:rPr lang="en-US" altLang="zh-CN" dirty="0" err="1">
                <a:solidFill>
                  <a:schemeClr val="tx1"/>
                </a:solidFill>
                <a:latin typeface="宋体" panose="02010600030101010101" pitchFamily="2" charset="-122"/>
                <a:ea typeface="宋体" panose="02010600030101010101" pitchFamily="2" charset="-122"/>
              </a:rPr>
              <a:t>i</a:t>
            </a:r>
            <a:r>
              <a:rPr lang="en-US" altLang="zh-CN" dirty="0">
                <a:solidFill>
                  <a:schemeClr val="tx1"/>
                </a:solidFill>
                <a:latin typeface="宋体" panose="02010600030101010101" pitchFamily="2" charset="-122"/>
                <a:ea typeface="宋体" panose="02010600030101010101" pitchFamily="2" charset="-122"/>
              </a:rPr>
              <a:t>][j] = min(</a:t>
            </a:r>
            <a:r>
              <a:rPr lang="en-US" altLang="zh-CN" dirty="0" err="1">
                <a:solidFill>
                  <a:schemeClr val="tx1"/>
                </a:solidFill>
                <a:latin typeface="宋体" panose="02010600030101010101" pitchFamily="2" charset="-122"/>
                <a:ea typeface="宋体" panose="02010600030101010101" pitchFamily="2" charset="-122"/>
              </a:rPr>
              <a:t>dp</a:t>
            </a:r>
            <a:r>
              <a:rPr lang="en-US" altLang="zh-CN" dirty="0">
                <a:solidFill>
                  <a:schemeClr val="tx1"/>
                </a:solidFill>
                <a:latin typeface="宋体" panose="02010600030101010101" pitchFamily="2" charset="-122"/>
                <a:ea typeface="宋体" panose="02010600030101010101" pitchFamily="2" charset="-122"/>
              </a:rPr>
              <a:t>[</a:t>
            </a:r>
            <a:r>
              <a:rPr lang="en-US" altLang="zh-CN" dirty="0" err="1">
                <a:solidFill>
                  <a:schemeClr val="tx1"/>
                </a:solidFill>
                <a:latin typeface="宋体" panose="02010600030101010101" pitchFamily="2" charset="-122"/>
                <a:ea typeface="宋体" panose="02010600030101010101" pitchFamily="2" charset="-122"/>
              </a:rPr>
              <a:t>i</a:t>
            </a:r>
            <a:r>
              <a:rPr lang="en-US" altLang="zh-CN" dirty="0">
                <a:solidFill>
                  <a:schemeClr val="tx1"/>
                </a:solidFill>
                <a:latin typeface="宋体" panose="02010600030101010101" pitchFamily="2" charset="-122"/>
                <a:ea typeface="宋体" panose="02010600030101010101" pitchFamily="2" charset="-122"/>
              </a:rPr>
              <a:t>][j], </a:t>
            </a:r>
            <a:r>
              <a:rPr lang="en-US" altLang="zh-CN" dirty="0" err="1">
                <a:solidFill>
                  <a:schemeClr val="tx1"/>
                </a:solidFill>
                <a:latin typeface="宋体" panose="02010600030101010101" pitchFamily="2" charset="-122"/>
                <a:ea typeface="宋体" panose="02010600030101010101" pitchFamily="2" charset="-122"/>
              </a:rPr>
              <a:t>dp</a:t>
            </a:r>
            <a:r>
              <a:rPr lang="en-US" altLang="zh-CN" dirty="0">
                <a:solidFill>
                  <a:schemeClr val="tx1"/>
                </a:solidFill>
                <a:latin typeface="宋体" panose="02010600030101010101" pitchFamily="2" charset="-122"/>
                <a:ea typeface="宋体" panose="02010600030101010101" pitchFamily="2" charset="-122"/>
              </a:rPr>
              <a:t>[</a:t>
            </a:r>
            <a:r>
              <a:rPr lang="en-US" altLang="zh-CN" dirty="0" err="1">
                <a:solidFill>
                  <a:schemeClr val="tx1"/>
                </a:solidFill>
                <a:latin typeface="宋体" panose="02010600030101010101" pitchFamily="2" charset="-122"/>
                <a:ea typeface="宋体" panose="02010600030101010101" pitchFamily="2" charset="-122"/>
              </a:rPr>
              <a:t>i</a:t>
            </a:r>
            <a:r>
              <a:rPr lang="en-US" altLang="zh-CN" dirty="0">
                <a:solidFill>
                  <a:schemeClr val="tx1"/>
                </a:solidFill>
                <a:latin typeface="宋体" panose="02010600030101010101" pitchFamily="2" charset="-122"/>
                <a:ea typeface="宋体" panose="02010600030101010101" pitchFamily="2" charset="-122"/>
              </a:rPr>
              <a:t>][k] + </a:t>
            </a:r>
            <a:r>
              <a:rPr lang="en-US" altLang="zh-CN" dirty="0" err="1">
                <a:solidFill>
                  <a:schemeClr val="tx1"/>
                </a:solidFill>
                <a:latin typeface="宋体" panose="02010600030101010101" pitchFamily="2" charset="-122"/>
                <a:ea typeface="宋体" panose="02010600030101010101" pitchFamily="2" charset="-122"/>
              </a:rPr>
              <a:t>dp</a:t>
            </a:r>
            <a:r>
              <a:rPr lang="en-US" altLang="zh-CN" dirty="0">
                <a:solidFill>
                  <a:schemeClr val="tx1"/>
                </a:solidFill>
                <a:latin typeface="宋体" panose="02010600030101010101" pitchFamily="2" charset="-122"/>
                <a:ea typeface="宋体" panose="02010600030101010101" pitchFamily="2" charset="-122"/>
              </a:rPr>
              <a:t>[k][j]); </a:t>
            </a:r>
            <a:endParaRPr lang="en-US" altLang="zh-CN" dirty="0">
              <a:solidFill>
                <a:schemeClr val="tx1"/>
              </a:solidFill>
              <a:latin typeface="宋体" panose="02010600030101010101" pitchFamily="2" charset="-122"/>
              <a:ea typeface="宋体" panose="02010600030101010101" pitchFamily="2" charset="-122"/>
            </a:endParaRPr>
          </a:p>
          <a:p>
            <a:pPr algn="l"/>
            <a:r>
              <a:rPr lang="en-US" altLang="zh-CN" dirty="0">
                <a:solidFill>
                  <a:schemeClr val="tx1"/>
                </a:solidFill>
                <a:latin typeface="宋体" panose="02010600030101010101" pitchFamily="2" charset="-122"/>
                <a:ea typeface="宋体" panose="02010600030101010101" pitchFamily="2" charset="-122"/>
              </a:rPr>
              <a:t>                     </a:t>
            </a:r>
            <a:endParaRPr lang="en-US" altLang="zh-CN" dirty="0">
              <a:solidFill>
                <a:schemeClr val="tx1"/>
              </a:solidFill>
              <a:latin typeface="宋体" panose="02010600030101010101" pitchFamily="2" charset="-122"/>
              <a:ea typeface="宋体" panose="02010600030101010101" pitchFamily="2" charset="-122"/>
            </a:endParaRPr>
          </a:p>
        </p:txBody>
      </p:sp>
    </p:spTree>
    <p:custDataLst>
      <p:tags r:id="rId1"/>
    </p:custDataLst>
  </p:cSld>
  <p:clrMapOvr>
    <a:masterClrMapping/>
  </p:clrMapOvr>
  <p:transition spd="slow" advClick="0" advTm="68023">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1"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fade">
                                      <p:cBhvr>
                                        <p:cTn id="12" dur="500"/>
                                        <p:tgtEl>
                                          <p:spTgt spid="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fade">
                                      <p:cBhvr>
                                        <p:cTn id="17" dur="500"/>
                                        <p:tgtEl>
                                          <p:spTgt spid="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fade">
                                      <p:cBhvr>
                                        <p:cTn id="22" dur="500"/>
                                        <p:tgtEl>
                                          <p:spTgt spid="1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animEffect transition="in" filter="fade">
                                      <p:cBhvr>
                                        <p:cTn id="27"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2"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410983" y="374900"/>
            <a:ext cx="7659923" cy="584775"/>
          </a:xfrm>
          <a:prstGeom prst="rect">
            <a:avLst/>
          </a:prstGeom>
          <a:noFill/>
        </p:spPr>
        <p:txBody>
          <a:bodyPr wrap="square">
            <a:spAutoFit/>
          </a:bodyPr>
          <a:lstStyle>
            <a:defPPr>
              <a:defRPr lang="en-US"/>
            </a:defPPr>
            <a:lvl1pPr marL="457200" indent="-457200">
              <a:buFont typeface="Wingdings" panose="05000000000000000000" pitchFamily="2" charset="2"/>
              <a:buChar char="p"/>
              <a:defRPr sz="3200" spc="300">
                <a:solidFill>
                  <a:srgbClr val="FF0000"/>
                </a:solidFill>
                <a:latin typeface="微软雅黑" panose="020B0503020204020204" pitchFamily="34" charset="-122"/>
                <a:ea typeface="微软雅黑" panose="020B0503020204020204" pitchFamily="34" charset="-122"/>
              </a:defRPr>
            </a:lvl1pPr>
          </a:lstStyle>
          <a:p>
            <a:pPr marL="0" indent="0">
              <a:buNone/>
            </a:pPr>
            <a:r>
              <a:rPr lang="en-US" altLang="zh-CN" dirty="0"/>
              <a:t>Floyd</a:t>
            </a:r>
            <a:r>
              <a:rPr lang="zh-CN" altLang="en-US" dirty="0"/>
              <a:t>的特点</a:t>
            </a:r>
            <a:endParaRPr lang="zh-CN" altLang="en-US" dirty="0"/>
          </a:p>
        </p:txBody>
      </p:sp>
      <p:sp>
        <p:nvSpPr>
          <p:cNvPr id="10" name="内容占位符 2"/>
          <p:cNvSpPr txBox="1"/>
          <p:nvPr/>
        </p:nvSpPr>
        <p:spPr>
          <a:xfrm>
            <a:off x="842662" y="1648237"/>
            <a:ext cx="10342123" cy="4356516"/>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457200" indent="-457200" algn="l" defTabSz="1828800" eaLnBrk="1" hangingPunct="1">
              <a:lnSpc>
                <a:spcPct val="90000"/>
              </a:lnSpc>
              <a:spcBef>
                <a:spcPct val="401000"/>
              </a:spcBef>
              <a:buFont typeface="Arial" panose="020B0604020202020204" pitchFamily="34" charset="0"/>
              <a:buChar char="•"/>
              <a:defRPr sz="4800" kern="1200">
                <a:solidFill>
                  <a:schemeClr val="tx1"/>
                </a:solidFill>
                <a:latin typeface="宋体" panose="02010600030101010101" pitchFamily="2" charset="-122"/>
                <a:ea typeface="宋体" panose="02010600030101010101" pitchFamily="2" charset="-122"/>
              </a:defRPr>
            </a:lvl1pPr>
            <a:lvl2pPr marL="400050" lvl="1" indent="0" algn="l" defTabSz="1828800" eaLnBrk="1" hangingPunct="1">
              <a:lnSpc>
                <a:spcPct val="90000"/>
              </a:lnSpc>
              <a:spcBef>
                <a:spcPct val="201000"/>
              </a:spcBef>
              <a:buFont typeface="Arial" panose="020B0604020202020204" pitchFamily="34" charset="0"/>
              <a:defRPr sz="4800" kern="1200">
                <a:solidFill>
                  <a:schemeClr val="tx1"/>
                </a:solidFill>
                <a:latin typeface="宋体" panose="02010600030101010101" pitchFamily="2" charset="-122"/>
                <a:ea typeface="宋体" panose="02010600030101010101" pitchFamily="2" charset="-122"/>
              </a:defRPr>
            </a:lvl2pPr>
            <a:lvl3pPr marL="2286000" indent="-457200" algn="l" defTabSz="1828800" eaLnBrk="1" hangingPunct="1">
              <a:lnSpc>
                <a:spcPct val="90000"/>
              </a:lnSpc>
              <a:spcBef>
                <a:spcPct val="201000"/>
              </a:spcBef>
              <a:buFont typeface="Arial" panose="020B0604020202020204" pitchFamily="34" charset="0"/>
              <a:buChar char="•"/>
              <a:defRPr sz="4000" kern="1200">
                <a:solidFill>
                  <a:schemeClr val="tx1"/>
                </a:solidFill>
              </a:defRPr>
            </a:lvl3pPr>
            <a:lvl4pPr marL="32004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4pPr>
            <a:lvl5pPr marL="41148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5pPr>
            <a:lvl6pPr marL="50292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6pPr>
            <a:lvl7pPr marL="59436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7pPr>
            <a:lvl8pPr marL="6857365"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8pPr>
            <a:lvl9pPr marL="7771765"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9pPr>
          </a:lstStyle>
          <a:p>
            <a:pPr>
              <a:lnSpc>
                <a:spcPct val="150000"/>
              </a:lnSpc>
              <a:spcBef>
                <a:spcPts val="0"/>
              </a:spcBef>
              <a:buFont typeface="Wingdings" panose="05000000000000000000" pitchFamily="2" charset="2"/>
              <a:buChar char="ü"/>
            </a:pPr>
            <a:r>
              <a:rPr lang="en-US" altLang="zh-CN" sz="2400" dirty="0">
                <a:latin typeface="微软雅黑" panose="020B0503020204020204" pitchFamily="34" charset="-122"/>
                <a:ea typeface="微软雅黑" panose="020B0503020204020204" pitchFamily="34" charset="-122"/>
              </a:rPr>
              <a:t>Floyd</a:t>
            </a:r>
            <a:r>
              <a:rPr lang="zh-CN" altLang="en-US" sz="2400" dirty="0">
                <a:latin typeface="微软雅黑" panose="020B0503020204020204" pitchFamily="34" charset="-122"/>
                <a:ea typeface="微软雅黑" panose="020B0503020204020204" pitchFamily="34" charset="-122"/>
              </a:rPr>
              <a:t>算法：“多源”最短路算法，一次计算能得到图中每一对结点之间（多对多）的最短路径。</a:t>
            </a:r>
            <a:endParaRPr lang="en-US" altLang="zh-CN"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r>
              <a:rPr lang="en-US" altLang="zh-CN" sz="2400" dirty="0" err="1">
                <a:latin typeface="微软雅黑" panose="020B0503020204020204" pitchFamily="34" charset="-122"/>
                <a:ea typeface="微软雅黑" panose="020B0503020204020204" pitchFamily="34" charset="-122"/>
              </a:rPr>
              <a:t>Dijkstra</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Bellman-Ford</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SPFA</a:t>
            </a:r>
            <a:r>
              <a:rPr lang="zh-CN" altLang="en-US" sz="2400" dirty="0">
                <a:latin typeface="微软雅黑" panose="020B0503020204020204" pitchFamily="34" charset="-122"/>
                <a:ea typeface="微软雅黑" panose="020B0503020204020204" pitchFamily="34" charset="-122"/>
              </a:rPr>
              <a:t>算法：“单源”最短路径算法（</a:t>
            </a:r>
            <a:r>
              <a:rPr lang="en-US" altLang="zh-CN" sz="2400" dirty="0">
                <a:latin typeface="微软雅黑" panose="020B0503020204020204" pitchFamily="34" charset="-122"/>
                <a:ea typeface="微软雅黑" panose="020B0503020204020204" pitchFamily="34" charset="-122"/>
              </a:rPr>
              <a:t>Single source shortest path algorithm</a:t>
            </a:r>
            <a:r>
              <a:rPr lang="zh-CN" altLang="en-US" sz="2400" dirty="0">
                <a:latin typeface="微软雅黑" panose="020B0503020204020204" pitchFamily="34" charset="-122"/>
                <a:ea typeface="微软雅黑" panose="020B0503020204020204" pitchFamily="34" charset="-122"/>
              </a:rPr>
              <a:t>），一次计算能得到一个起点到其他所有点（一对多）的最短路径。</a:t>
            </a:r>
            <a:endParaRPr lang="zh-CN" altLang="en-US"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endParaRPr lang="en-US" altLang="zh-CN"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r>
              <a:rPr lang="zh-CN" altLang="en-US" sz="2400" dirty="0" smtClean="0">
                <a:latin typeface="微软雅黑" panose="020B0503020204020204" pitchFamily="34" charset="-122"/>
                <a:ea typeface="微软雅黑" panose="020B0503020204020204" pitchFamily="34" charset="-122"/>
              </a:rPr>
              <a:t>蓝桥</a:t>
            </a:r>
            <a:r>
              <a:rPr lang="zh-CN" altLang="en-US" sz="2400" dirty="0">
                <a:latin typeface="微软雅黑" panose="020B0503020204020204" pitchFamily="34" charset="-122"/>
                <a:ea typeface="微软雅黑" panose="020B0503020204020204" pitchFamily="34" charset="-122"/>
              </a:rPr>
              <a:t>杯大赛中，</a:t>
            </a:r>
            <a:r>
              <a:rPr lang="en-US" altLang="zh-CN" sz="2400" dirty="0">
                <a:latin typeface="微软雅黑" panose="020B0503020204020204" pitchFamily="34" charset="-122"/>
                <a:ea typeface="微软雅黑" panose="020B0503020204020204" pitchFamily="34" charset="-122"/>
              </a:rPr>
              <a:t>Floyd</a:t>
            </a:r>
            <a:r>
              <a:rPr lang="zh-CN" altLang="en-US" sz="2400" dirty="0">
                <a:latin typeface="微软雅黑" panose="020B0503020204020204" pitchFamily="34" charset="-122"/>
                <a:ea typeface="微软雅黑" panose="020B0503020204020204" pitchFamily="34" charset="-122"/>
              </a:rPr>
              <a:t>算法</a:t>
            </a:r>
            <a:r>
              <a:rPr lang="zh-CN" altLang="en-US" sz="2400" dirty="0" smtClean="0">
                <a:latin typeface="微软雅黑" panose="020B0503020204020204" pitchFamily="34" charset="-122"/>
                <a:ea typeface="微软雅黑" panose="020B0503020204020204" pitchFamily="34" charset="-122"/>
              </a:rPr>
              <a:t>是常见</a:t>
            </a:r>
            <a:r>
              <a:rPr lang="zh-CN" altLang="en-US" sz="2400" dirty="0">
                <a:latin typeface="微软雅黑" panose="020B0503020204020204" pitchFamily="34" charset="-122"/>
                <a:ea typeface="微软雅黑" panose="020B0503020204020204" pitchFamily="34" charset="-122"/>
              </a:rPr>
              <a:t>的最短路径算法。</a:t>
            </a:r>
            <a:endParaRPr lang="zh-CN" altLang="en-US" sz="2400" dirty="0">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ransition spd="slow" advClick="0" advTm="44832">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500"/>
                                        <p:tgtEl>
                                          <p:spTgt spid="1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3" end="3"/>
                                            </p:txEl>
                                          </p:spTgt>
                                        </p:tgtEl>
                                        <p:attrNameLst>
                                          <p:attrName>style.visibility</p:attrName>
                                        </p:attrNameLst>
                                      </p:cBhvr>
                                      <p:to>
                                        <p:strVal val="visible"/>
                                      </p:to>
                                    </p:set>
                                    <p:animEffect transition="in" filter="fade">
                                      <p:cBhvr>
                                        <p:cTn id="12" dur="50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410983" y="647532"/>
            <a:ext cx="7659924" cy="584775"/>
          </a:xfrm>
          <a:prstGeom prst="rect">
            <a:avLst/>
          </a:prstGeom>
          <a:noFill/>
        </p:spPr>
        <p:txBody>
          <a:bodyPr wrap="square">
            <a:spAutoFit/>
          </a:bodyPr>
          <a:lstStyle>
            <a:defPPr>
              <a:defRPr lang="en-US"/>
            </a:defPPr>
            <a:lvl1pPr marL="457200" indent="-457200">
              <a:buFont typeface="Wingdings" panose="05000000000000000000" pitchFamily="2" charset="2"/>
              <a:buChar char="p"/>
              <a:defRPr sz="3200" spc="300">
                <a:solidFill>
                  <a:srgbClr val="FF0000"/>
                </a:solidFill>
                <a:latin typeface="微软雅黑" panose="020B0503020204020204" pitchFamily="34" charset="-122"/>
                <a:ea typeface="微软雅黑" panose="020B0503020204020204" pitchFamily="34" charset="-122"/>
              </a:defRPr>
            </a:lvl1pPr>
          </a:lstStyle>
          <a:p>
            <a:pPr marL="0" indent="0">
              <a:buNone/>
            </a:pPr>
            <a:r>
              <a:rPr lang="en-US" altLang="zh-CN" dirty="0"/>
              <a:t>Floyd</a:t>
            </a:r>
            <a:r>
              <a:rPr lang="zh-CN" altLang="en-US" dirty="0"/>
              <a:t>算法思想：动态规划</a:t>
            </a:r>
            <a:endParaRPr lang="zh-CN" altLang="en-US" dirty="0"/>
          </a:p>
        </p:txBody>
      </p:sp>
      <p:sp>
        <p:nvSpPr>
          <p:cNvPr id="10" name="内容占位符 2"/>
          <p:cNvSpPr txBox="1"/>
          <p:nvPr/>
        </p:nvSpPr>
        <p:spPr>
          <a:xfrm>
            <a:off x="924939" y="1550453"/>
            <a:ext cx="11126556" cy="4356516"/>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457200" indent="-457200" algn="l" defTabSz="1828800" eaLnBrk="1" hangingPunct="1">
              <a:lnSpc>
                <a:spcPct val="90000"/>
              </a:lnSpc>
              <a:spcBef>
                <a:spcPct val="401000"/>
              </a:spcBef>
              <a:buFont typeface="Arial" panose="020B0604020202020204" pitchFamily="34" charset="0"/>
              <a:buChar char="•"/>
              <a:defRPr sz="4800" kern="1200">
                <a:solidFill>
                  <a:schemeClr val="tx1"/>
                </a:solidFill>
                <a:latin typeface="宋体" panose="02010600030101010101" pitchFamily="2" charset="-122"/>
                <a:ea typeface="宋体" panose="02010600030101010101" pitchFamily="2" charset="-122"/>
              </a:defRPr>
            </a:lvl1pPr>
            <a:lvl2pPr marL="400050" lvl="1" indent="0" algn="l" defTabSz="1828800" eaLnBrk="1" hangingPunct="1">
              <a:lnSpc>
                <a:spcPct val="90000"/>
              </a:lnSpc>
              <a:spcBef>
                <a:spcPct val="201000"/>
              </a:spcBef>
              <a:buFont typeface="Arial" panose="020B0604020202020204" pitchFamily="34" charset="0"/>
              <a:defRPr sz="4800" kern="1200">
                <a:solidFill>
                  <a:schemeClr val="tx1"/>
                </a:solidFill>
                <a:latin typeface="宋体" panose="02010600030101010101" pitchFamily="2" charset="-122"/>
                <a:ea typeface="宋体" panose="02010600030101010101" pitchFamily="2" charset="-122"/>
              </a:defRPr>
            </a:lvl2pPr>
            <a:lvl3pPr marL="2286000" indent="-457200" algn="l" defTabSz="1828800" eaLnBrk="1" hangingPunct="1">
              <a:lnSpc>
                <a:spcPct val="90000"/>
              </a:lnSpc>
              <a:spcBef>
                <a:spcPct val="201000"/>
              </a:spcBef>
              <a:buFont typeface="Arial" panose="020B0604020202020204" pitchFamily="34" charset="0"/>
              <a:buChar char="•"/>
              <a:defRPr sz="4000" kern="1200">
                <a:solidFill>
                  <a:schemeClr val="tx1"/>
                </a:solidFill>
              </a:defRPr>
            </a:lvl3pPr>
            <a:lvl4pPr marL="32004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4pPr>
            <a:lvl5pPr marL="41148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5pPr>
            <a:lvl6pPr marL="50292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6pPr>
            <a:lvl7pPr marL="59436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7pPr>
            <a:lvl8pPr marL="6857365"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8pPr>
            <a:lvl9pPr marL="7771765"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9pPr>
          </a:lstStyle>
          <a:p>
            <a:pPr>
              <a:lnSpc>
                <a:spcPct val="150000"/>
              </a:lnSpc>
              <a:spcBef>
                <a:spcPts val="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动态规划：求图上两点</a:t>
            </a:r>
            <a:r>
              <a:rPr lang="en-US" altLang="zh-CN" sz="2400" dirty="0" err="1">
                <a:latin typeface="微软雅黑" panose="020B0503020204020204" pitchFamily="34" charset="-122"/>
                <a:ea typeface="微软雅黑" panose="020B0503020204020204" pitchFamily="34" charset="-122"/>
              </a:rPr>
              <a:t>i</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j</a:t>
            </a:r>
            <a:r>
              <a:rPr lang="zh-CN" altLang="en-US" sz="2400" dirty="0">
                <a:latin typeface="微软雅黑" panose="020B0503020204020204" pitchFamily="34" charset="-122"/>
                <a:ea typeface="微软雅黑" panose="020B0503020204020204" pitchFamily="34" charset="-122"/>
              </a:rPr>
              <a:t>之间的最短距离，按“从小图到全图”的步骤，在逐步扩大图的过程中计算和更新最短路。</a:t>
            </a:r>
            <a:endParaRPr lang="en-US" altLang="zh-CN"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定义状态：</a:t>
            </a:r>
            <a:r>
              <a:rPr lang="en-US" altLang="zh-CN" sz="2400" dirty="0" err="1">
                <a:latin typeface="微软雅黑" panose="020B0503020204020204" pitchFamily="34" charset="-122"/>
                <a:ea typeface="微软雅黑" panose="020B0503020204020204" pitchFamily="34" charset="-122"/>
              </a:rPr>
              <a:t>dp</a:t>
            </a:r>
            <a:r>
              <a:rPr lang="en-US" altLang="zh-CN" sz="2400" dirty="0">
                <a:latin typeface="微软雅黑" panose="020B0503020204020204" pitchFamily="34" charset="-122"/>
                <a:ea typeface="微软雅黑" panose="020B0503020204020204" pitchFamily="34" charset="-122"/>
              </a:rPr>
              <a:t>[k][</a:t>
            </a:r>
            <a:r>
              <a:rPr lang="en-US" altLang="zh-CN" sz="2400" dirty="0" err="1">
                <a:latin typeface="微软雅黑" panose="020B0503020204020204" pitchFamily="34" charset="-122"/>
                <a:ea typeface="微软雅黑" panose="020B0503020204020204" pitchFamily="34" charset="-122"/>
              </a:rPr>
              <a:t>i</a:t>
            </a:r>
            <a:r>
              <a:rPr lang="en-US" altLang="zh-CN" sz="2400" dirty="0">
                <a:latin typeface="微软雅黑" panose="020B0503020204020204" pitchFamily="34" charset="-122"/>
                <a:ea typeface="微软雅黑" panose="020B0503020204020204" pitchFamily="34" charset="-122"/>
              </a:rPr>
              <a:t>][j]</a:t>
            </a:r>
            <a:r>
              <a:rPr lang="zh-CN" altLang="en-US" sz="2400" dirty="0">
                <a:latin typeface="微软雅黑" panose="020B0503020204020204" pitchFamily="34" charset="-122"/>
                <a:ea typeface="微软雅黑" panose="020B0503020204020204" pitchFamily="34" charset="-122"/>
              </a:rPr>
              <a:t>，</a:t>
            </a:r>
            <a:r>
              <a:rPr lang="en-US" altLang="zh-CN" sz="2400" dirty="0" err="1">
                <a:latin typeface="微软雅黑" panose="020B0503020204020204" pitchFamily="34" charset="-122"/>
                <a:ea typeface="微软雅黑" panose="020B0503020204020204" pitchFamily="34" charset="-122"/>
              </a:rPr>
              <a:t>i</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j</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k</a:t>
            </a:r>
            <a:r>
              <a:rPr lang="zh-CN" altLang="en-US" sz="2400" dirty="0">
                <a:latin typeface="微软雅黑" panose="020B0503020204020204" pitchFamily="34" charset="-122"/>
                <a:ea typeface="微软雅黑" panose="020B0503020204020204" pitchFamily="34" charset="-122"/>
              </a:rPr>
              <a:t>是点的编号，范围</a:t>
            </a:r>
            <a:r>
              <a:rPr lang="en-US" altLang="zh-CN" sz="2400" dirty="0">
                <a:latin typeface="微软雅黑" panose="020B0503020204020204" pitchFamily="34" charset="-122"/>
                <a:ea typeface="微软雅黑" panose="020B0503020204020204" pitchFamily="34" charset="-122"/>
              </a:rPr>
              <a:t>1 ~ n</a:t>
            </a:r>
            <a:r>
              <a:rPr lang="zh-CN" altLang="en-US" sz="2400" dirty="0">
                <a:latin typeface="微软雅黑" panose="020B0503020204020204" pitchFamily="34" charset="-122"/>
                <a:ea typeface="微软雅黑" panose="020B0503020204020204" pitchFamily="34" charset="-122"/>
              </a:rPr>
              <a:t>。状态</a:t>
            </a:r>
            <a:r>
              <a:rPr lang="en-US" altLang="zh-CN" sz="2400" dirty="0" err="1">
                <a:latin typeface="微软雅黑" panose="020B0503020204020204" pitchFamily="34" charset="-122"/>
                <a:ea typeface="微软雅黑" panose="020B0503020204020204" pitchFamily="34" charset="-122"/>
              </a:rPr>
              <a:t>dp</a:t>
            </a:r>
            <a:r>
              <a:rPr lang="en-US" altLang="zh-CN" sz="2400" dirty="0">
                <a:latin typeface="微软雅黑" panose="020B0503020204020204" pitchFamily="34" charset="-122"/>
                <a:ea typeface="微软雅黑" panose="020B0503020204020204" pitchFamily="34" charset="-122"/>
              </a:rPr>
              <a:t>[k][</a:t>
            </a:r>
            <a:r>
              <a:rPr lang="en-US" altLang="zh-CN" sz="2400" dirty="0" err="1">
                <a:latin typeface="微软雅黑" panose="020B0503020204020204" pitchFamily="34" charset="-122"/>
                <a:ea typeface="微软雅黑" panose="020B0503020204020204" pitchFamily="34" charset="-122"/>
              </a:rPr>
              <a:t>i</a:t>
            </a:r>
            <a:r>
              <a:rPr lang="en-US" altLang="zh-CN" sz="2400" dirty="0">
                <a:latin typeface="微软雅黑" panose="020B0503020204020204" pitchFamily="34" charset="-122"/>
                <a:ea typeface="微软雅黑" panose="020B0503020204020204" pitchFamily="34" charset="-122"/>
              </a:rPr>
              <a:t>][j]</a:t>
            </a:r>
            <a:r>
              <a:rPr lang="zh-CN" altLang="en-US" sz="2400" dirty="0">
                <a:latin typeface="微软雅黑" panose="020B0503020204020204" pitchFamily="34" charset="-122"/>
                <a:ea typeface="微软雅黑" panose="020B0503020204020204" pitchFamily="34" charset="-122"/>
              </a:rPr>
              <a:t>表示在包含</a:t>
            </a:r>
            <a:r>
              <a:rPr lang="en-US" altLang="zh-CN" sz="2400" dirty="0">
                <a:latin typeface="微软雅黑" panose="020B0503020204020204" pitchFamily="34" charset="-122"/>
                <a:ea typeface="微软雅黑" panose="020B0503020204020204" pitchFamily="34" charset="-122"/>
              </a:rPr>
              <a:t>1 ~ k</a:t>
            </a:r>
            <a:r>
              <a:rPr lang="zh-CN" altLang="en-US" sz="2400" dirty="0">
                <a:latin typeface="微软雅黑" panose="020B0503020204020204" pitchFamily="34" charset="-122"/>
                <a:ea typeface="微软雅黑" panose="020B0503020204020204" pitchFamily="34" charset="-122"/>
              </a:rPr>
              <a:t>点的子图上，点对</a:t>
            </a:r>
            <a:r>
              <a:rPr lang="en-US" altLang="zh-CN" sz="2400" dirty="0" err="1">
                <a:latin typeface="微软雅黑" panose="020B0503020204020204" pitchFamily="34" charset="-122"/>
                <a:ea typeface="微软雅黑" panose="020B0503020204020204" pitchFamily="34" charset="-122"/>
              </a:rPr>
              <a:t>i</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j</a:t>
            </a:r>
            <a:r>
              <a:rPr lang="zh-CN" altLang="en-US" sz="2400" dirty="0">
                <a:latin typeface="微软雅黑" panose="020B0503020204020204" pitchFamily="34" charset="-122"/>
                <a:ea typeface="微软雅黑" panose="020B0503020204020204" pitchFamily="34" charset="-122"/>
              </a:rPr>
              <a:t>之间的最短路。</a:t>
            </a:r>
            <a:endParaRPr lang="en-US" altLang="zh-CN"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状态转移方程：从子图</a:t>
            </a:r>
            <a:r>
              <a:rPr lang="en-US" altLang="zh-CN" sz="2400" dirty="0">
                <a:latin typeface="微软雅黑" panose="020B0503020204020204" pitchFamily="34" charset="-122"/>
                <a:ea typeface="微软雅黑" panose="020B0503020204020204" pitchFamily="34" charset="-122"/>
              </a:rPr>
              <a:t>1 ~ k-1</a:t>
            </a:r>
            <a:r>
              <a:rPr lang="zh-CN" altLang="en-US" sz="2400" dirty="0">
                <a:latin typeface="微软雅黑" panose="020B0503020204020204" pitchFamily="34" charset="-122"/>
                <a:ea typeface="微软雅黑" panose="020B0503020204020204" pitchFamily="34" charset="-122"/>
              </a:rPr>
              <a:t>扩展到子图</a:t>
            </a:r>
            <a:r>
              <a:rPr lang="en-US" altLang="zh-CN" sz="2400" dirty="0">
                <a:latin typeface="微软雅黑" panose="020B0503020204020204" pitchFamily="34" charset="-122"/>
                <a:ea typeface="微软雅黑" panose="020B0503020204020204" pitchFamily="34" charset="-122"/>
              </a:rPr>
              <a:t>1 ~ k</a:t>
            </a:r>
            <a:endParaRPr lang="zh-CN" altLang="en-US" sz="2400" dirty="0">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en-US" altLang="zh-CN" sz="2400" dirty="0">
                <a:latin typeface="微软雅黑" panose="020B0503020204020204" pitchFamily="34" charset="-122"/>
                <a:ea typeface="微软雅黑" panose="020B0503020204020204" pitchFamily="34" charset="-122"/>
              </a:rPr>
              <a:t>	</a:t>
            </a:r>
            <a:r>
              <a:rPr lang="en-US" altLang="zh-CN" sz="2400" dirty="0" err="1">
                <a:latin typeface="微软雅黑" panose="020B0503020204020204" pitchFamily="34" charset="-122"/>
                <a:ea typeface="微软雅黑" panose="020B0503020204020204" pitchFamily="34" charset="-122"/>
              </a:rPr>
              <a:t>dp</a:t>
            </a:r>
            <a:r>
              <a:rPr lang="en-US" altLang="zh-CN" sz="2400" dirty="0">
                <a:latin typeface="微软雅黑" panose="020B0503020204020204" pitchFamily="34" charset="-122"/>
                <a:ea typeface="微软雅黑" panose="020B0503020204020204" pitchFamily="34" charset="-122"/>
              </a:rPr>
              <a:t>[k][</a:t>
            </a:r>
            <a:r>
              <a:rPr lang="en-US" altLang="zh-CN" sz="2400" dirty="0" err="1">
                <a:latin typeface="微软雅黑" panose="020B0503020204020204" pitchFamily="34" charset="-122"/>
                <a:ea typeface="微软雅黑" panose="020B0503020204020204" pitchFamily="34" charset="-122"/>
              </a:rPr>
              <a:t>i</a:t>
            </a:r>
            <a:r>
              <a:rPr lang="en-US" altLang="zh-CN" sz="2400" dirty="0">
                <a:latin typeface="微软雅黑" panose="020B0503020204020204" pitchFamily="34" charset="-122"/>
                <a:ea typeface="微软雅黑" panose="020B0503020204020204" pitchFamily="34" charset="-122"/>
              </a:rPr>
              <a:t>][j] = min(</a:t>
            </a:r>
            <a:r>
              <a:rPr lang="en-US" altLang="zh-CN" sz="2400" dirty="0" err="1">
                <a:latin typeface="微软雅黑" panose="020B0503020204020204" pitchFamily="34" charset="-122"/>
                <a:ea typeface="微软雅黑" panose="020B0503020204020204" pitchFamily="34" charset="-122"/>
              </a:rPr>
              <a:t>dp</a:t>
            </a:r>
            <a:r>
              <a:rPr lang="en-US" altLang="zh-CN" sz="2400" dirty="0">
                <a:latin typeface="微软雅黑" panose="020B0503020204020204" pitchFamily="34" charset="-122"/>
                <a:ea typeface="微软雅黑" panose="020B0503020204020204" pitchFamily="34" charset="-122"/>
              </a:rPr>
              <a:t>[k-1][</a:t>
            </a:r>
            <a:r>
              <a:rPr lang="en-US" altLang="zh-CN" sz="2400" dirty="0" err="1">
                <a:latin typeface="微软雅黑" panose="020B0503020204020204" pitchFamily="34" charset="-122"/>
                <a:ea typeface="微软雅黑" panose="020B0503020204020204" pitchFamily="34" charset="-122"/>
              </a:rPr>
              <a:t>i</a:t>
            </a:r>
            <a:r>
              <a:rPr lang="en-US" altLang="zh-CN" sz="2400" dirty="0">
                <a:latin typeface="微软雅黑" panose="020B0503020204020204" pitchFamily="34" charset="-122"/>
                <a:ea typeface="微软雅黑" panose="020B0503020204020204" pitchFamily="34" charset="-122"/>
              </a:rPr>
              <a:t>][j], </a:t>
            </a:r>
            <a:r>
              <a:rPr lang="en-US" altLang="zh-CN" sz="2400" dirty="0" err="1">
                <a:latin typeface="微软雅黑" panose="020B0503020204020204" pitchFamily="34" charset="-122"/>
                <a:ea typeface="微软雅黑" panose="020B0503020204020204" pitchFamily="34" charset="-122"/>
              </a:rPr>
              <a:t>dp</a:t>
            </a:r>
            <a:r>
              <a:rPr lang="en-US" altLang="zh-CN" sz="2400" dirty="0">
                <a:latin typeface="微软雅黑" panose="020B0503020204020204" pitchFamily="34" charset="-122"/>
                <a:ea typeface="微软雅黑" panose="020B0503020204020204" pitchFamily="34" charset="-122"/>
              </a:rPr>
              <a:t>[k-1][</a:t>
            </a:r>
            <a:r>
              <a:rPr lang="en-US" altLang="zh-CN" sz="2400" dirty="0" err="1">
                <a:latin typeface="微软雅黑" panose="020B0503020204020204" pitchFamily="34" charset="-122"/>
                <a:ea typeface="微软雅黑" panose="020B0503020204020204" pitchFamily="34" charset="-122"/>
              </a:rPr>
              <a:t>i</a:t>
            </a:r>
            <a:r>
              <a:rPr lang="en-US" altLang="zh-CN" sz="2400" dirty="0">
                <a:latin typeface="微软雅黑" panose="020B0503020204020204" pitchFamily="34" charset="-122"/>
                <a:ea typeface="微软雅黑" panose="020B0503020204020204" pitchFamily="34" charset="-122"/>
              </a:rPr>
              <a:t>][k] + </a:t>
            </a:r>
            <a:r>
              <a:rPr lang="en-US" altLang="zh-CN" sz="2400" dirty="0" err="1">
                <a:latin typeface="微软雅黑" panose="020B0503020204020204" pitchFamily="34" charset="-122"/>
                <a:ea typeface="微软雅黑" panose="020B0503020204020204" pitchFamily="34" charset="-122"/>
              </a:rPr>
              <a:t>dp</a:t>
            </a:r>
            <a:r>
              <a:rPr lang="en-US" altLang="zh-CN" sz="2400" dirty="0">
                <a:latin typeface="微软雅黑" panose="020B0503020204020204" pitchFamily="34" charset="-122"/>
                <a:ea typeface="微软雅黑" panose="020B0503020204020204" pitchFamily="34" charset="-122"/>
              </a:rPr>
              <a:t>[k-1][k][j])</a:t>
            </a:r>
            <a:endParaRPr lang="zh-CN" altLang="en-US" sz="2400" dirty="0">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ransition spd="slow" advClick="0" advTm="84026">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500"/>
                                        <p:tgtEl>
                                          <p:spTgt spid="1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fade">
                                      <p:cBhvr>
                                        <p:cTn id="12" dur="500"/>
                                        <p:tgtEl>
                                          <p:spTgt spid="10">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animEffect transition="in" filter="fade">
                                      <p:cBhvr>
                                        <p:cTn id="15" dur="50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598620" y="388950"/>
            <a:ext cx="7659924" cy="584775"/>
          </a:xfrm>
          <a:prstGeom prst="rect">
            <a:avLst/>
          </a:prstGeom>
          <a:noFill/>
        </p:spPr>
        <p:txBody>
          <a:bodyPr wrap="square">
            <a:spAutoFit/>
          </a:bodyPr>
          <a:lstStyle>
            <a:defPPr>
              <a:defRPr lang="en-US"/>
            </a:defPPr>
            <a:lvl1pPr marL="457200" indent="-457200">
              <a:buFont typeface="Wingdings" panose="05000000000000000000" pitchFamily="2" charset="2"/>
              <a:buChar char="p"/>
              <a:defRPr sz="3200" spc="300">
                <a:solidFill>
                  <a:srgbClr val="FF0000"/>
                </a:solidFill>
                <a:latin typeface="微软雅黑" panose="020B0503020204020204" pitchFamily="34" charset="-122"/>
                <a:ea typeface="微软雅黑" panose="020B0503020204020204" pitchFamily="34" charset="-122"/>
              </a:defRPr>
            </a:lvl1pPr>
          </a:lstStyle>
          <a:p>
            <a:pPr marL="0" indent="0">
              <a:buNone/>
            </a:pPr>
            <a:r>
              <a:rPr lang="zh-CN" altLang="en-US" dirty="0"/>
              <a:t>计算过程</a:t>
            </a:r>
            <a:endParaRPr lang="zh-CN" altLang="en-US" dirty="0"/>
          </a:p>
        </p:txBody>
      </p:sp>
      <p:sp>
        <p:nvSpPr>
          <p:cNvPr id="10" name="内容占位符 2"/>
          <p:cNvSpPr txBox="1"/>
          <p:nvPr/>
        </p:nvSpPr>
        <p:spPr>
          <a:xfrm>
            <a:off x="557213" y="1401492"/>
            <a:ext cx="7523951" cy="4356516"/>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457200" indent="-457200" algn="l" defTabSz="1828800" eaLnBrk="1" hangingPunct="1">
              <a:lnSpc>
                <a:spcPct val="90000"/>
              </a:lnSpc>
              <a:spcBef>
                <a:spcPct val="401000"/>
              </a:spcBef>
              <a:buFont typeface="Arial" panose="020B0604020202020204" pitchFamily="34" charset="0"/>
              <a:buChar char="•"/>
              <a:defRPr sz="4800" kern="1200">
                <a:solidFill>
                  <a:schemeClr val="tx1"/>
                </a:solidFill>
                <a:latin typeface="宋体" panose="02010600030101010101" pitchFamily="2" charset="-122"/>
                <a:ea typeface="宋体" panose="02010600030101010101" pitchFamily="2" charset="-122"/>
              </a:defRPr>
            </a:lvl1pPr>
            <a:lvl2pPr marL="400050" lvl="1" indent="0" algn="l" defTabSz="1828800" eaLnBrk="1" hangingPunct="1">
              <a:lnSpc>
                <a:spcPct val="90000"/>
              </a:lnSpc>
              <a:spcBef>
                <a:spcPct val="201000"/>
              </a:spcBef>
              <a:buFont typeface="Arial" panose="020B0604020202020204" pitchFamily="34" charset="0"/>
              <a:defRPr sz="4800" kern="1200">
                <a:solidFill>
                  <a:schemeClr val="tx1"/>
                </a:solidFill>
                <a:latin typeface="宋体" panose="02010600030101010101" pitchFamily="2" charset="-122"/>
                <a:ea typeface="宋体" panose="02010600030101010101" pitchFamily="2" charset="-122"/>
              </a:defRPr>
            </a:lvl2pPr>
            <a:lvl3pPr marL="2286000" indent="-457200" algn="l" defTabSz="1828800" eaLnBrk="1" hangingPunct="1">
              <a:lnSpc>
                <a:spcPct val="90000"/>
              </a:lnSpc>
              <a:spcBef>
                <a:spcPct val="201000"/>
              </a:spcBef>
              <a:buFont typeface="Arial" panose="020B0604020202020204" pitchFamily="34" charset="0"/>
              <a:buChar char="•"/>
              <a:defRPr sz="4000" kern="1200">
                <a:solidFill>
                  <a:schemeClr val="tx1"/>
                </a:solidFill>
              </a:defRPr>
            </a:lvl3pPr>
            <a:lvl4pPr marL="32004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4pPr>
            <a:lvl5pPr marL="41148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5pPr>
            <a:lvl6pPr marL="50292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6pPr>
            <a:lvl7pPr marL="59436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7pPr>
            <a:lvl8pPr marL="6857365"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8pPr>
            <a:lvl9pPr marL="7771765"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9pPr>
          </a:lstStyle>
          <a:p>
            <a:pPr marL="0" indent="0">
              <a:lnSpc>
                <a:spcPct val="150000"/>
              </a:lnSpc>
              <a:spcBef>
                <a:spcPts val="0"/>
              </a:spcBef>
              <a:buNone/>
            </a:pPr>
            <a:r>
              <a:rPr lang="en-US" altLang="zh-CN" sz="2000" dirty="0" err="1">
                <a:latin typeface="微软雅黑" panose="020B0503020204020204" pitchFamily="34" charset="-122"/>
                <a:ea typeface="微软雅黑" panose="020B0503020204020204" pitchFamily="34" charset="-122"/>
              </a:rPr>
              <a:t>dp</a:t>
            </a:r>
            <a:r>
              <a:rPr lang="en-US" altLang="zh-CN" sz="2000" dirty="0">
                <a:latin typeface="微软雅黑" panose="020B0503020204020204" pitchFamily="34" charset="-122"/>
                <a:ea typeface="微软雅黑" panose="020B0503020204020204" pitchFamily="34" charset="-122"/>
              </a:rPr>
              <a:t>[k][</a:t>
            </a:r>
            <a:r>
              <a:rPr lang="en-US" altLang="zh-CN" sz="2000" dirty="0" err="1">
                <a:latin typeface="微软雅黑" panose="020B0503020204020204" pitchFamily="34" charset="-122"/>
                <a:ea typeface="微软雅黑" panose="020B0503020204020204" pitchFamily="34" charset="-122"/>
              </a:rPr>
              <a:t>i</a:t>
            </a:r>
            <a:r>
              <a:rPr lang="en-US" altLang="zh-CN" sz="2000" dirty="0">
                <a:latin typeface="微软雅黑" panose="020B0503020204020204" pitchFamily="34" charset="-122"/>
                <a:ea typeface="微软雅黑" panose="020B0503020204020204" pitchFamily="34" charset="-122"/>
              </a:rPr>
              <a:t>][j] = min(</a:t>
            </a:r>
            <a:r>
              <a:rPr lang="en-US" altLang="zh-CN" sz="2000" dirty="0" err="1">
                <a:latin typeface="微软雅黑" panose="020B0503020204020204" pitchFamily="34" charset="-122"/>
                <a:ea typeface="微软雅黑" panose="020B0503020204020204" pitchFamily="34" charset="-122"/>
              </a:rPr>
              <a:t>dp</a:t>
            </a:r>
            <a:r>
              <a:rPr lang="en-US" altLang="zh-CN" sz="2000" dirty="0">
                <a:latin typeface="微软雅黑" panose="020B0503020204020204" pitchFamily="34" charset="-122"/>
                <a:ea typeface="微软雅黑" panose="020B0503020204020204" pitchFamily="34" charset="-122"/>
              </a:rPr>
              <a:t>[k-1][</a:t>
            </a:r>
            <a:r>
              <a:rPr lang="en-US" altLang="zh-CN" sz="2000" dirty="0" err="1">
                <a:latin typeface="微软雅黑" panose="020B0503020204020204" pitchFamily="34" charset="-122"/>
                <a:ea typeface="微软雅黑" panose="020B0503020204020204" pitchFamily="34" charset="-122"/>
              </a:rPr>
              <a:t>i</a:t>
            </a:r>
            <a:r>
              <a:rPr lang="en-US" altLang="zh-CN" sz="2000" dirty="0">
                <a:latin typeface="微软雅黑" panose="020B0503020204020204" pitchFamily="34" charset="-122"/>
                <a:ea typeface="微软雅黑" panose="020B0503020204020204" pitchFamily="34" charset="-122"/>
              </a:rPr>
              <a:t>][j], </a:t>
            </a:r>
            <a:r>
              <a:rPr lang="en-US" altLang="zh-CN" sz="2000" dirty="0" err="1">
                <a:latin typeface="微软雅黑" panose="020B0503020204020204" pitchFamily="34" charset="-122"/>
                <a:ea typeface="微软雅黑" panose="020B0503020204020204" pitchFamily="34" charset="-122"/>
              </a:rPr>
              <a:t>dp</a:t>
            </a:r>
            <a:r>
              <a:rPr lang="en-US" altLang="zh-CN" sz="2000" dirty="0">
                <a:latin typeface="微软雅黑" panose="020B0503020204020204" pitchFamily="34" charset="-122"/>
                <a:ea typeface="微软雅黑" panose="020B0503020204020204" pitchFamily="34" charset="-122"/>
              </a:rPr>
              <a:t>[k-1][</a:t>
            </a:r>
            <a:r>
              <a:rPr lang="en-US" altLang="zh-CN" sz="2000" dirty="0" err="1">
                <a:latin typeface="微软雅黑" panose="020B0503020204020204" pitchFamily="34" charset="-122"/>
                <a:ea typeface="微软雅黑" panose="020B0503020204020204" pitchFamily="34" charset="-122"/>
              </a:rPr>
              <a:t>i</a:t>
            </a:r>
            <a:r>
              <a:rPr lang="en-US" altLang="zh-CN" sz="2000" dirty="0">
                <a:latin typeface="微软雅黑" panose="020B0503020204020204" pitchFamily="34" charset="-122"/>
                <a:ea typeface="微软雅黑" panose="020B0503020204020204" pitchFamily="34" charset="-122"/>
              </a:rPr>
              <a:t>][k] + </a:t>
            </a:r>
            <a:r>
              <a:rPr lang="en-US" altLang="zh-CN" sz="2000" dirty="0" err="1">
                <a:latin typeface="微软雅黑" panose="020B0503020204020204" pitchFamily="34" charset="-122"/>
                <a:ea typeface="微软雅黑" panose="020B0503020204020204" pitchFamily="34" charset="-122"/>
              </a:rPr>
              <a:t>dp</a:t>
            </a:r>
            <a:r>
              <a:rPr lang="en-US" altLang="zh-CN" sz="2000" dirty="0">
                <a:latin typeface="微软雅黑" panose="020B0503020204020204" pitchFamily="34" charset="-122"/>
                <a:ea typeface="微软雅黑" panose="020B0503020204020204" pitchFamily="34" charset="-122"/>
              </a:rPr>
              <a:t>[k-1][k][j])</a:t>
            </a:r>
            <a:endParaRPr lang="en-US" altLang="zh-CN" sz="2000" dirty="0">
              <a:latin typeface="微软雅黑" panose="020B0503020204020204" pitchFamily="34" charset="-122"/>
              <a:ea typeface="微软雅黑" panose="020B0503020204020204" pitchFamily="34" charset="-122"/>
            </a:endParaRPr>
          </a:p>
          <a:p>
            <a:pPr marL="0" indent="0">
              <a:lnSpc>
                <a:spcPct val="150000"/>
              </a:lnSpc>
              <a:spcBef>
                <a:spcPts val="0"/>
              </a:spcBef>
              <a:buNone/>
            </a:pPr>
            <a:endParaRPr lang="zh-CN" altLang="en-US" sz="22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r>
              <a:rPr lang="zh-CN" altLang="en-US" sz="2200" dirty="0">
                <a:latin typeface="微软雅黑" panose="020B0503020204020204" pitchFamily="34" charset="-122"/>
                <a:ea typeface="微软雅黑" panose="020B0503020204020204" pitchFamily="34" charset="-122"/>
              </a:rPr>
              <a:t>虚线圆圈：包含</a:t>
            </a:r>
            <a:r>
              <a:rPr lang="en-US" altLang="zh-CN" sz="2200" dirty="0">
                <a:latin typeface="微软雅黑" panose="020B0503020204020204" pitchFamily="34" charset="-122"/>
                <a:ea typeface="微软雅黑" panose="020B0503020204020204" pitchFamily="34" charset="-122"/>
              </a:rPr>
              <a:t>1 ~ k-1</a:t>
            </a:r>
            <a:r>
              <a:rPr lang="zh-CN" altLang="en-US" sz="2200" dirty="0">
                <a:latin typeface="微软雅黑" panose="020B0503020204020204" pitchFamily="34" charset="-122"/>
                <a:ea typeface="微软雅黑" panose="020B0503020204020204" pitchFamily="34" charset="-122"/>
              </a:rPr>
              <a:t>点的子图。</a:t>
            </a:r>
            <a:endParaRPr lang="en-US" altLang="zh-CN" sz="22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r>
              <a:rPr lang="en-US" altLang="zh-CN" sz="2200" dirty="0" err="1">
                <a:latin typeface="微软雅黑" panose="020B0503020204020204" pitchFamily="34" charset="-122"/>
                <a:ea typeface="微软雅黑" panose="020B0503020204020204" pitchFamily="34" charset="-122"/>
              </a:rPr>
              <a:t>dp</a:t>
            </a:r>
            <a:r>
              <a:rPr lang="en-US" altLang="zh-CN" sz="2200" dirty="0">
                <a:latin typeface="微软雅黑" panose="020B0503020204020204" pitchFamily="34" charset="-122"/>
                <a:ea typeface="微软雅黑" panose="020B0503020204020204" pitchFamily="34" charset="-122"/>
              </a:rPr>
              <a:t>[k-1][</a:t>
            </a:r>
            <a:r>
              <a:rPr lang="en-US" altLang="zh-CN" sz="2200" dirty="0" err="1">
                <a:latin typeface="微软雅黑" panose="020B0503020204020204" pitchFamily="34" charset="-122"/>
                <a:ea typeface="微软雅黑" panose="020B0503020204020204" pitchFamily="34" charset="-122"/>
              </a:rPr>
              <a:t>i</a:t>
            </a:r>
            <a:r>
              <a:rPr lang="en-US" altLang="zh-CN" sz="2200" dirty="0">
                <a:latin typeface="微软雅黑" panose="020B0503020204020204" pitchFamily="34" charset="-122"/>
                <a:ea typeface="微软雅黑" panose="020B0503020204020204" pitchFamily="34" charset="-122"/>
              </a:rPr>
              <a:t>][j]</a:t>
            </a:r>
            <a:r>
              <a:rPr lang="zh-CN" altLang="en-US" sz="2200" dirty="0" smtClean="0">
                <a:latin typeface="微软雅黑" panose="020B0503020204020204" pitchFamily="34" charset="-122"/>
                <a:ea typeface="微软雅黑" panose="020B0503020204020204" pitchFamily="34" charset="-122"/>
              </a:rPr>
              <a:t>：点</a:t>
            </a:r>
            <a:r>
              <a:rPr lang="zh-CN" altLang="en-US" sz="2200" dirty="0">
                <a:latin typeface="微软雅黑" panose="020B0503020204020204" pitchFamily="34" charset="-122"/>
                <a:ea typeface="微软雅黑" panose="020B0503020204020204" pitchFamily="34" charset="-122"/>
              </a:rPr>
              <a:t>对</a:t>
            </a:r>
            <a:r>
              <a:rPr lang="en-US" altLang="zh-CN" sz="2200" dirty="0" err="1">
                <a:latin typeface="微软雅黑" panose="020B0503020204020204" pitchFamily="34" charset="-122"/>
                <a:ea typeface="微软雅黑" panose="020B0503020204020204" pitchFamily="34" charset="-122"/>
              </a:rPr>
              <a:t>i</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j</a:t>
            </a:r>
            <a:r>
              <a:rPr lang="zh-CN" altLang="en-US" sz="2200" dirty="0">
                <a:latin typeface="微软雅黑" panose="020B0503020204020204" pitchFamily="34" charset="-122"/>
                <a:ea typeface="微软雅黑" panose="020B0503020204020204" pitchFamily="34" charset="-122"/>
              </a:rPr>
              <a:t>的最短路；</a:t>
            </a:r>
            <a:endParaRPr lang="en-US" altLang="zh-CN" sz="22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r>
              <a:rPr lang="en-US" altLang="zh-CN" sz="2200" dirty="0" err="1">
                <a:latin typeface="微软雅黑" panose="020B0503020204020204" pitchFamily="34" charset="-122"/>
                <a:ea typeface="微软雅黑" panose="020B0503020204020204" pitchFamily="34" charset="-122"/>
              </a:rPr>
              <a:t>dp</a:t>
            </a:r>
            <a:r>
              <a:rPr lang="en-US" altLang="zh-CN" sz="2200" dirty="0">
                <a:latin typeface="微软雅黑" panose="020B0503020204020204" pitchFamily="34" charset="-122"/>
                <a:ea typeface="微软雅黑" panose="020B0503020204020204" pitchFamily="34" charset="-122"/>
              </a:rPr>
              <a:t>[k-1][</a:t>
            </a:r>
            <a:r>
              <a:rPr lang="en-US" altLang="zh-CN" sz="2200" dirty="0" err="1">
                <a:latin typeface="微软雅黑" panose="020B0503020204020204" pitchFamily="34" charset="-122"/>
                <a:ea typeface="微软雅黑" panose="020B0503020204020204" pitchFamily="34" charset="-122"/>
              </a:rPr>
              <a:t>i</a:t>
            </a:r>
            <a:r>
              <a:rPr lang="en-US" altLang="zh-CN" sz="2200" dirty="0">
                <a:latin typeface="微软雅黑" panose="020B0503020204020204" pitchFamily="34" charset="-122"/>
                <a:ea typeface="微软雅黑" panose="020B0503020204020204" pitchFamily="34" charset="-122"/>
              </a:rPr>
              <a:t>][k] + </a:t>
            </a:r>
            <a:r>
              <a:rPr lang="en-US" altLang="zh-CN" sz="2200" dirty="0" err="1">
                <a:latin typeface="微软雅黑" panose="020B0503020204020204" pitchFamily="34" charset="-122"/>
                <a:ea typeface="微软雅黑" panose="020B0503020204020204" pitchFamily="34" charset="-122"/>
              </a:rPr>
              <a:t>dp</a:t>
            </a:r>
            <a:r>
              <a:rPr lang="en-US" altLang="zh-CN" sz="2200" dirty="0">
                <a:latin typeface="微软雅黑" panose="020B0503020204020204" pitchFamily="34" charset="-122"/>
                <a:ea typeface="微软雅黑" panose="020B0503020204020204" pitchFamily="34" charset="-122"/>
              </a:rPr>
              <a:t>[k-1][k][j]</a:t>
            </a:r>
            <a:r>
              <a:rPr lang="zh-CN" altLang="en-US" sz="2200" dirty="0">
                <a:latin typeface="微软雅黑" panose="020B0503020204020204" pitchFamily="34" charset="-122"/>
                <a:ea typeface="微软雅黑" panose="020B0503020204020204" pitchFamily="34" charset="-122"/>
              </a:rPr>
              <a:t>：经过</a:t>
            </a:r>
            <a:r>
              <a:rPr lang="en-US" altLang="zh-CN" sz="2200" dirty="0">
                <a:latin typeface="微软雅黑" panose="020B0503020204020204" pitchFamily="34" charset="-122"/>
                <a:ea typeface="微软雅黑" panose="020B0503020204020204" pitchFamily="34" charset="-122"/>
              </a:rPr>
              <a:t>k</a:t>
            </a:r>
            <a:r>
              <a:rPr lang="zh-CN" altLang="en-US" sz="2200" dirty="0">
                <a:latin typeface="微软雅黑" panose="020B0503020204020204" pitchFamily="34" charset="-122"/>
                <a:ea typeface="微软雅黑" panose="020B0503020204020204" pitchFamily="34" charset="-122"/>
              </a:rPr>
              <a:t>点的新路径的长度，即这条路径从</a:t>
            </a:r>
            <a:r>
              <a:rPr lang="en-US" altLang="zh-CN" sz="2200" dirty="0" err="1">
                <a:latin typeface="微软雅黑" panose="020B0503020204020204" pitchFamily="34" charset="-122"/>
                <a:ea typeface="微软雅黑" panose="020B0503020204020204" pitchFamily="34" charset="-122"/>
              </a:rPr>
              <a:t>i</a:t>
            </a:r>
            <a:r>
              <a:rPr lang="zh-CN" altLang="en-US" sz="2200" dirty="0">
                <a:latin typeface="微软雅黑" panose="020B0503020204020204" pitchFamily="34" charset="-122"/>
                <a:ea typeface="微软雅黑" panose="020B0503020204020204" pitchFamily="34" charset="-122"/>
              </a:rPr>
              <a:t>出发，先到</a:t>
            </a:r>
            <a:r>
              <a:rPr lang="en-US" altLang="zh-CN" sz="2200" dirty="0">
                <a:latin typeface="微软雅黑" panose="020B0503020204020204" pitchFamily="34" charset="-122"/>
                <a:ea typeface="微软雅黑" panose="020B0503020204020204" pitchFamily="34" charset="-122"/>
              </a:rPr>
              <a:t>k</a:t>
            </a:r>
            <a:r>
              <a:rPr lang="zh-CN" altLang="en-US" sz="2200" dirty="0">
                <a:latin typeface="微软雅黑" panose="020B0503020204020204" pitchFamily="34" charset="-122"/>
                <a:ea typeface="微软雅黑" panose="020B0503020204020204" pitchFamily="34" charset="-122"/>
              </a:rPr>
              <a:t>，再从</a:t>
            </a:r>
            <a:r>
              <a:rPr lang="en-US" altLang="zh-CN" sz="2200" dirty="0">
                <a:latin typeface="微软雅黑" panose="020B0503020204020204" pitchFamily="34" charset="-122"/>
                <a:ea typeface="微软雅黑" panose="020B0503020204020204" pitchFamily="34" charset="-122"/>
              </a:rPr>
              <a:t>k</a:t>
            </a:r>
            <a:r>
              <a:rPr lang="zh-CN" altLang="en-US" sz="2200" dirty="0">
                <a:latin typeface="微软雅黑" panose="020B0503020204020204" pitchFamily="34" charset="-122"/>
                <a:ea typeface="微软雅黑" panose="020B0503020204020204" pitchFamily="34" charset="-122"/>
              </a:rPr>
              <a:t>到终点</a:t>
            </a:r>
            <a:r>
              <a:rPr lang="en-US" altLang="zh-CN" sz="2200" dirty="0">
                <a:latin typeface="微软雅黑" panose="020B0503020204020204" pitchFamily="34" charset="-122"/>
                <a:ea typeface="微软雅黑" panose="020B0503020204020204" pitchFamily="34" charset="-122"/>
              </a:rPr>
              <a:t>j</a:t>
            </a:r>
            <a:r>
              <a:rPr lang="zh-CN" altLang="en-US" sz="2200" dirty="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r>
              <a:rPr lang="zh-CN" altLang="en-US" sz="2200" dirty="0">
                <a:latin typeface="微软雅黑" panose="020B0503020204020204" pitchFamily="34" charset="-122"/>
                <a:ea typeface="微软雅黑" panose="020B0503020204020204" pitchFamily="34" charset="-122"/>
              </a:rPr>
              <a:t>比较：不经过</a:t>
            </a:r>
            <a:r>
              <a:rPr lang="en-US" altLang="zh-CN" sz="2200" dirty="0">
                <a:latin typeface="微软雅黑" panose="020B0503020204020204" pitchFamily="34" charset="-122"/>
                <a:ea typeface="微软雅黑" panose="020B0503020204020204" pitchFamily="34" charset="-122"/>
              </a:rPr>
              <a:t>k</a:t>
            </a:r>
            <a:r>
              <a:rPr lang="zh-CN" altLang="en-US" sz="2200" dirty="0">
                <a:latin typeface="微软雅黑" panose="020B0503020204020204" pitchFamily="34" charset="-122"/>
                <a:ea typeface="微软雅黑" panose="020B0503020204020204" pitchFamily="34" charset="-122"/>
              </a:rPr>
              <a:t>的最短路径</a:t>
            </a:r>
            <a:r>
              <a:rPr lang="en-US" altLang="zh-CN" sz="2200" dirty="0" err="1">
                <a:latin typeface="微软雅黑" panose="020B0503020204020204" pitchFamily="34" charset="-122"/>
                <a:ea typeface="微软雅黑" panose="020B0503020204020204" pitchFamily="34" charset="-122"/>
              </a:rPr>
              <a:t>dp</a:t>
            </a:r>
            <a:r>
              <a:rPr lang="en-US" altLang="zh-CN" sz="2200" dirty="0">
                <a:latin typeface="微软雅黑" panose="020B0503020204020204" pitchFamily="34" charset="-122"/>
                <a:ea typeface="微软雅黑" panose="020B0503020204020204" pitchFamily="34" charset="-122"/>
              </a:rPr>
              <a:t>[k-1][</a:t>
            </a:r>
            <a:r>
              <a:rPr lang="en-US" altLang="zh-CN" sz="2200" dirty="0" err="1">
                <a:latin typeface="微软雅黑" panose="020B0503020204020204" pitchFamily="34" charset="-122"/>
                <a:ea typeface="微软雅黑" panose="020B0503020204020204" pitchFamily="34" charset="-122"/>
              </a:rPr>
              <a:t>i</a:t>
            </a:r>
            <a:r>
              <a:rPr lang="en-US" altLang="zh-CN" sz="2200" dirty="0">
                <a:latin typeface="微软雅黑" panose="020B0503020204020204" pitchFamily="34" charset="-122"/>
                <a:ea typeface="微软雅黑" panose="020B0503020204020204" pitchFamily="34" charset="-122"/>
              </a:rPr>
              <a:t>][j]</a:t>
            </a:r>
            <a:r>
              <a:rPr lang="zh-CN" altLang="en-US" sz="2200" dirty="0">
                <a:latin typeface="微软雅黑" panose="020B0503020204020204" pitchFamily="34" charset="-122"/>
                <a:ea typeface="微软雅黑" panose="020B0503020204020204" pitchFamily="34" charset="-122"/>
              </a:rPr>
              <a:t>和经过</a:t>
            </a:r>
            <a:r>
              <a:rPr lang="en-US" altLang="zh-CN" sz="2200" dirty="0">
                <a:latin typeface="微软雅黑" panose="020B0503020204020204" pitchFamily="34" charset="-122"/>
                <a:ea typeface="微软雅黑" panose="020B0503020204020204" pitchFamily="34" charset="-122"/>
              </a:rPr>
              <a:t>k</a:t>
            </a:r>
            <a:r>
              <a:rPr lang="zh-CN" altLang="en-US" sz="2200" dirty="0">
                <a:latin typeface="微软雅黑" panose="020B0503020204020204" pitchFamily="34" charset="-122"/>
                <a:ea typeface="微软雅黑" panose="020B0503020204020204" pitchFamily="34" charset="-122"/>
              </a:rPr>
              <a:t>的新路径，较小者就是新的</a:t>
            </a:r>
            <a:r>
              <a:rPr lang="en-US" altLang="zh-CN" sz="2200" dirty="0" err="1">
                <a:latin typeface="微软雅黑" panose="020B0503020204020204" pitchFamily="34" charset="-122"/>
                <a:ea typeface="微软雅黑" panose="020B0503020204020204" pitchFamily="34" charset="-122"/>
              </a:rPr>
              <a:t>dp</a:t>
            </a:r>
            <a:r>
              <a:rPr lang="en-US" altLang="zh-CN" sz="2200" dirty="0">
                <a:latin typeface="微软雅黑" panose="020B0503020204020204" pitchFamily="34" charset="-122"/>
                <a:ea typeface="微软雅黑" panose="020B0503020204020204" pitchFamily="34" charset="-122"/>
              </a:rPr>
              <a:t>[k][</a:t>
            </a:r>
            <a:r>
              <a:rPr lang="en-US" altLang="zh-CN" sz="2200" dirty="0" err="1">
                <a:latin typeface="微软雅黑" panose="020B0503020204020204" pitchFamily="34" charset="-122"/>
                <a:ea typeface="微软雅黑" panose="020B0503020204020204" pitchFamily="34" charset="-122"/>
              </a:rPr>
              <a:t>i</a:t>
            </a:r>
            <a:r>
              <a:rPr lang="en-US" altLang="zh-CN" sz="2200" dirty="0">
                <a:latin typeface="微软雅黑" panose="020B0503020204020204" pitchFamily="34" charset="-122"/>
                <a:ea typeface="微软雅黑" panose="020B0503020204020204" pitchFamily="34" charset="-122"/>
              </a:rPr>
              <a:t>][j]</a:t>
            </a:r>
            <a:r>
              <a:rPr lang="zh-CN" altLang="en-US" sz="2200" dirty="0">
                <a:latin typeface="微软雅黑" panose="020B0503020204020204" pitchFamily="34" charset="-122"/>
                <a:ea typeface="微软雅黑" panose="020B0503020204020204" pitchFamily="34" charset="-122"/>
              </a:rPr>
              <a:t>。</a:t>
            </a:r>
            <a:endParaRPr lang="zh-CN" altLang="en-US" sz="2200" dirty="0">
              <a:latin typeface="微软雅黑" panose="020B0503020204020204" pitchFamily="34" charset="-122"/>
              <a:ea typeface="微软雅黑" panose="020B0503020204020204" pitchFamily="34" charset="-122"/>
            </a:endParaRPr>
          </a:p>
        </p:txBody>
      </p:sp>
      <p:pic>
        <p:nvPicPr>
          <p:cNvPr id="1026" name="Picture 2" descr="C:\Users\ECUST\AppData\Local\Temp\ksohtml35556\wps1.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539279" y="2970149"/>
            <a:ext cx="3206805" cy="2073088"/>
          </a:xfrm>
          <a:prstGeom prst="rect">
            <a:avLst/>
          </a:prstGeom>
          <a:noFill/>
          <a:extLst>
            <a:ext uri="{909E8E84-426E-40DD-AFC4-6F175D3DCCD1}">
              <a14:hiddenFill xmlns:a14="http://schemas.microsoft.com/office/drawing/2010/main">
                <a:solidFill>
                  <a:srgbClr val="FFFFFF"/>
                </a:solidFill>
              </a14:hiddenFill>
            </a:ext>
          </a:extLst>
        </p:spPr>
      </p:pic>
    </p:spTree>
    <p:custDataLst>
      <p:tags r:id="rId2"/>
    </p:custDataLst>
  </p:cSld>
  <p:clrMapOvr>
    <a:masterClrMapping/>
  </p:clrMapOvr>
  <p:transition spd="slow" advClick="0" advTm="59176">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545864" y="399110"/>
            <a:ext cx="7659924" cy="584775"/>
          </a:xfrm>
          <a:prstGeom prst="rect">
            <a:avLst/>
          </a:prstGeom>
          <a:noFill/>
        </p:spPr>
        <p:txBody>
          <a:bodyPr wrap="square">
            <a:spAutoFit/>
          </a:bodyPr>
          <a:lstStyle>
            <a:defPPr>
              <a:defRPr lang="en-US"/>
            </a:defPPr>
            <a:lvl1pPr marL="457200" indent="-457200">
              <a:buFont typeface="Wingdings" panose="05000000000000000000" pitchFamily="2" charset="2"/>
              <a:buChar char="p"/>
              <a:defRPr sz="3200" spc="300">
                <a:solidFill>
                  <a:srgbClr val="FF0000"/>
                </a:solidFill>
                <a:latin typeface="微软雅黑" panose="020B0503020204020204" pitchFamily="34" charset="-122"/>
                <a:ea typeface="微软雅黑" panose="020B0503020204020204" pitchFamily="34" charset="-122"/>
              </a:defRPr>
            </a:lvl1pPr>
          </a:lstStyle>
          <a:p>
            <a:pPr marL="0" indent="0">
              <a:buNone/>
            </a:pPr>
            <a:r>
              <a:rPr lang="zh-CN" altLang="en-US" dirty="0"/>
              <a:t>计算步骤</a:t>
            </a:r>
            <a:endParaRPr lang="zh-CN" altLang="en-US" dirty="0"/>
          </a:p>
        </p:txBody>
      </p:sp>
      <p:sp>
        <p:nvSpPr>
          <p:cNvPr id="10" name="内容占位符 2"/>
          <p:cNvSpPr txBox="1"/>
          <p:nvPr/>
        </p:nvSpPr>
        <p:spPr>
          <a:xfrm>
            <a:off x="647700" y="1811066"/>
            <a:ext cx="7128055" cy="4356516"/>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457200" indent="-457200" algn="l" defTabSz="1828800" eaLnBrk="1" hangingPunct="1">
              <a:lnSpc>
                <a:spcPct val="90000"/>
              </a:lnSpc>
              <a:spcBef>
                <a:spcPct val="401000"/>
              </a:spcBef>
              <a:buFont typeface="Arial" panose="020B0604020202020204" pitchFamily="34" charset="0"/>
              <a:buChar char="•"/>
              <a:defRPr sz="4800" kern="1200">
                <a:solidFill>
                  <a:schemeClr val="tx1"/>
                </a:solidFill>
                <a:latin typeface="宋体" panose="02010600030101010101" pitchFamily="2" charset="-122"/>
                <a:ea typeface="宋体" panose="02010600030101010101" pitchFamily="2" charset="-122"/>
              </a:defRPr>
            </a:lvl1pPr>
            <a:lvl2pPr marL="400050" lvl="1" indent="0" algn="l" defTabSz="1828800" eaLnBrk="1" hangingPunct="1">
              <a:lnSpc>
                <a:spcPct val="90000"/>
              </a:lnSpc>
              <a:spcBef>
                <a:spcPct val="201000"/>
              </a:spcBef>
              <a:buFont typeface="Arial" panose="020B0604020202020204" pitchFamily="34" charset="0"/>
              <a:defRPr sz="4800" kern="1200">
                <a:solidFill>
                  <a:schemeClr val="tx1"/>
                </a:solidFill>
                <a:latin typeface="宋体" panose="02010600030101010101" pitchFamily="2" charset="-122"/>
                <a:ea typeface="宋体" panose="02010600030101010101" pitchFamily="2" charset="-122"/>
              </a:defRPr>
            </a:lvl2pPr>
            <a:lvl3pPr marL="2286000" indent="-457200" algn="l" defTabSz="1828800" eaLnBrk="1" hangingPunct="1">
              <a:lnSpc>
                <a:spcPct val="90000"/>
              </a:lnSpc>
              <a:spcBef>
                <a:spcPct val="201000"/>
              </a:spcBef>
              <a:buFont typeface="Arial" panose="020B0604020202020204" pitchFamily="34" charset="0"/>
              <a:buChar char="•"/>
              <a:defRPr sz="4000" kern="1200">
                <a:solidFill>
                  <a:schemeClr val="tx1"/>
                </a:solidFill>
              </a:defRPr>
            </a:lvl3pPr>
            <a:lvl4pPr marL="32004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4pPr>
            <a:lvl5pPr marL="41148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5pPr>
            <a:lvl6pPr marL="50292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6pPr>
            <a:lvl7pPr marL="59436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7pPr>
            <a:lvl8pPr marL="6857365"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8pPr>
            <a:lvl9pPr marL="7771765"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9pPr>
          </a:lstStyle>
          <a:p>
            <a:pPr>
              <a:lnSpc>
                <a:spcPct val="150000"/>
              </a:lnSpc>
              <a:spcBef>
                <a:spcPts val="0"/>
              </a:spcBef>
              <a:buFont typeface="Wingdings" panose="05000000000000000000" pitchFamily="2" charset="2"/>
              <a:buChar char="ü"/>
            </a:pPr>
            <a:r>
              <a:rPr lang="en-US" altLang="zh-CN" sz="2400" dirty="0">
                <a:latin typeface="微软雅黑" panose="020B0503020204020204" pitchFamily="34" charset="-122"/>
                <a:ea typeface="微软雅黑" panose="020B0503020204020204" pitchFamily="34" charset="-122"/>
              </a:rPr>
              <a:t>k</a:t>
            </a:r>
            <a:r>
              <a:rPr lang="zh-CN" altLang="en-US" sz="2400" dirty="0">
                <a:latin typeface="微软雅黑" panose="020B0503020204020204" pitchFamily="34" charset="-122"/>
                <a:ea typeface="微软雅黑" panose="020B0503020204020204" pitchFamily="34" charset="-122"/>
              </a:rPr>
              <a:t>从</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逐步扩展到</a:t>
            </a:r>
            <a:r>
              <a:rPr lang="en-US" altLang="zh-CN" sz="2400" dirty="0">
                <a:latin typeface="微软雅黑" panose="020B0503020204020204" pitchFamily="34" charset="-122"/>
                <a:ea typeface="微软雅黑" panose="020B0503020204020204" pitchFamily="34" charset="-122"/>
              </a:rPr>
              <a:t>n</a:t>
            </a:r>
            <a:r>
              <a:rPr lang="zh-CN" altLang="en-US" sz="2400" dirty="0">
                <a:latin typeface="微软雅黑" panose="020B0503020204020204" pitchFamily="34" charset="-122"/>
                <a:ea typeface="微软雅黑" panose="020B0503020204020204" pitchFamily="34" charset="-122"/>
              </a:rPr>
              <a:t>：最后得到的</a:t>
            </a:r>
            <a:r>
              <a:rPr lang="en-US" altLang="zh-CN" sz="2400" dirty="0" err="1">
                <a:latin typeface="微软雅黑" panose="020B0503020204020204" pitchFamily="34" charset="-122"/>
                <a:ea typeface="微软雅黑" panose="020B0503020204020204" pitchFamily="34" charset="-122"/>
              </a:rPr>
              <a:t>dp</a:t>
            </a:r>
            <a:r>
              <a:rPr lang="en-US" altLang="zh-CN" sz="2400" dirty="0">
                <a:latin typeface="微软雅黑" panose="020B0503020204020204" pitchFamily="34" charset="-122"/>
                <a:ea typeface="微软雅黑" panose="020B0503020204020204" pitchFamily="34" charset="-122"/>
              </a:rPr>
              <a:t>[n][</a:t>
            </a:r>
            <a:r>
              <a:rPr lang="en-US" altLang="zh-CN" sz="2400" dirty="0" err="1">
                <a:latin typeface="微软雅黑" panose="020B0503020204020204" pitchFamily="34" charset="-122"/>
                <a:ea typeface="微软雅黑" panose="020B0503020204020204" pitchFamily="34" charset="-122"/>
              </a:rPr>
              <a:t>i</a:t>
            </a:r>
            <a:r>
              <a:rPr lang="en-US" altLang="zh-CN" sz="2400" dirty="0">
                <a:latin typeface="微软雅黑" panose="020B0503020204020204" pitchFamily="34" charset="-122"/>
                <a:ea typeface="微软雅黑" panose="020B0503020204020204" pitchFamily="34" charset="-122"/>
              </a:rPr>
              <a:t>][j]</a:t>
            </a:r>
            <a:r>
              <a:rPr lang="zh-CN" altLang="en-US" sz="2400" dirty="0">
                <a:latin typeface="微软雅黑" panose="020B0503020204020204" pitchFamily="34" charset="-122"/>
                <a:ea typeface="微软雅黑" panose="020B0503020204020204" pitchFamily="34" charset="-122"/>
              </a:rPr>
              <a:t>是点对</a:t>
            </a:r>
            <a:r>
              <a:rPr lang="en-US" altLang="zh-CN" sz="2400" dirty="0" err="1">
                <a:latin typeface="微软雅黑" panose="020B0503020204020204" pitchFamily="34" charset="-122"/>
                <a:ea typeface="微软雅黑" panose="020B0503020204020204" pitchFamily="34" charset="-122"/>
              </a:rPr>
              <a:t>i</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j</a:t>
            </a:r>
            <a:r>
              <a:rPr lang="zh-CN" altLang="en-US" sz="2400" dirty="0">
                <a:latin typeface="微软雅黑" panose="020B0503020204020204" pitchFamily="34" charset="-122"/>
                <a:ea typeface="微软雅黑" panose="020B0503020204020204" pitchFamily="34" charset="-122"/>
              </a:rPr>
              <a:t>之间的最短路径长度。</a:t>
            </a:r>
            <a:endParaRPr lang="en-US" altLang="zh-CN"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初值</a:t>
            </a:r>
            <a:r>
              <a:rPr lang="en-US" altLang="zh-CN" sz="2400" dirty="0" err="1">
                <a:latin typeface="微软雅黑" panose="020B0503020204020204" pitchFamily="34" charset="-122"/>
                <a:ea typeface="微软雅黑" panose="020B0503020204020204" pitchFamily="34" charset="-122"/>
              </a:rPr>
              <a:t>dp</a:t>
            </a:r>
            <a:r>
              <a:rPr lang="en-US" altLang="zh-CN" sz="2400" dirty="0">
                <a:latin typeface="微软雅黑" panose="020B0503020204020204" pitchFamily="34" charset="-122"/>
                <a:ea typeface="微软雅黑" panose="020B0503020204020204" pitchFamily="34" charset="-122"/>
              </a:rPr>
              <a:t>[0][</a:t>
            </a:r>
            <a:r>
              <a:rPr lang="en-US" altLang="zh-CN" sz="2400" dirty="0" err="1">
                <a:latin typeface="微软雅黑" panose="020B0503020204020204" pitchFamily="34" charset="-122"/>
                <a:ea typeface="微软雅黑" panose="020B0503020204020204" pitchFamily="34" charset="-122"/>
              </a:rPr>
              <a:t>i</a:t>
            </a:r>
            <a:r>
              <a:rPr lang="en-US" altLang="zh-CN" sz="2400" dirty="0">
                <a:latin typeface="微软雅黑" panose="020B0503020204020204" pitchFamily="34" charset="-122"/>
                <a:ea typeface="微软雅黑" panose="020B0503020204020204" pitchFamily="34" charset="-122"/>
              </a:rPr>
              <a:t>][j]</a:t>
            </a:r>
            <a:r>
              <a:rPr lang="zh-CN" altLang="en-US" sz="2400" dirty="0">
                <a:latin typeface="微软雅黑" panose="020B0503020204020204" pitchFamily="34" charset="-122"/>
                <a:ea typeface="微软雅黑" panose="020B0503020204020204" pitchFamily="34" charset="-122"/>
              </a:rPr>
              <a:t>：若</a:t>
            </a:r>
            <a:r>
              <a:rPr lang="en-US" altLang="zh-CN" sz="2400" dirty="0" err="1">
                <a:latin typeface="微软雅黑" panose="020B0503020204020204" pitchFamily="34" charset="-122"/>
                <a:ea typeface="微软雅黑" panose="020B0503020204020204" pitchFamily="34" charset="-122"/>
              </a:rPr>
              <a:t>i</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j</a:t>
            </a:r>
            <a:r>
              <a:rPr lang="zh-CN" altLang="en-US" sz="2400" dirty="0">
                <a:latin typeface="微软雅黑" panose="020B0503020204020204" pitchFamily="34" charset="-122"/>
                <a:ea typeface="微软雅黑" panose="020B0503020204020204" pitchFamily="34" charset="-122"/>
              </a:rPr>
              <a:t>是直连的，就是它们的边长；若不直连，赋值为无穷大。</a:t>
            </a:r>
            <a:endParaRPr lang="zh-CN" altLang="en-US"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r>
              <a:rPr lang="en-US" altLang="zh-CN" sz="2400" dirty="0" err="1">
                <a:latin typeface="微软雅黑" panose="020B0503020204020204" pitchFamily="34" charset="-122"/>
                <a:ea typeface="微软雅黑" panose="020B0503020204020204" pitchFamily="34" charset="-122"/>
              </a:rPr>
              <a:t>i</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j</a:t>
            </a:r>
            <a:r>
              <a:rPr lang="zh-CN" altLang="en-US" sz="2400" dirty="0">
                <a:latin typeface="微软雅黑" panose="020B0503020204020204" pitchFamily="34" charset="-122"/>
                <a:ea typeface="微软雅黑" panose="020B0503020204020204" pitchFamily="34" charset="-122"/>
              </a:rPr>
              <a:t>是任意点对：计算结束后得到了所有点对之间的最短路。</a:t>
            </a:r>
            <a:endParaRPr lang="zh-CN" altLang="en-US" sz="2400" dirty="0">
              <a:latin typeface="微软雅黑" panose="020B0503020204020204" pitchFamily="34" charset="-122"/>
              <a:ea typeface="微软雅黑" panose="020B0503020204020204" pitchFamily="34" charset="-122"/>
            </a:endParaRPr>
          </a:p>
        </p:txBody>
      </p:sp>
      <p:pic>
        <p:nvPicPr>
          <p:cNvPr id="6" name="Picture 2" descr="C:\Users\ECUST\AppData\Local\Temp\ksohtml35556\wps1.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539279" y="2970149"/>
            <a:ext cx="3206805" cy="2073088"/>
          </a:xfrm>
          <a:prstGeom prst="rect">
            <a:avLst/>
          </a:prstGeom>
          <a:noFill/>
          <a:extLst>
            <a:ext uri="{909E8E84-426E-40DD-AFC4-6F175D3DCCD1}">
              <a14:hiddenFill xmlns:a14="http://schemas.microsoft.com/office/drawing/2010/main">
                <a:solidFill>
                  <a:srgbClr val="FFFFFF"/>
                </a:solidFill>
              </a14:hiddenFill>
            </a:ext>
          </a:extLst>
        </p:spPr>
      </p:pic>
    </p:spTree>
    <p:custDataLst>
      <p:tags r:id="rId2"/>
    </p:custDataLst>
  </p:cSld>
  <p:clrMapOvr>
    <a:masterClrMapping/>
  </p:clrMapOvr>
  <p:transition spd="slow" advClick="0" advTm="56738">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500"/>
                                        <p:tgtEl>
                                          <p:spTgt spid="1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fade">
                                      <p:cBhvr>
                                        <p:cTn id="12" dur="50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410983" y="617899"/>
            <a:ext cx="7659924" cy="584775"/>
          </a:xfrm>
          <a:prstGeom prst="rect">
            <a:avLst/>
          </a:prstGeom>
          <a:noFill/>
        </p:spPr>
        <p:txBody>
          <a:bodyPr wrap="square">
            <a:spAutoFit/>
          </a:bodyPr>
          <a:lstStyle>
            <a:defPPr>
              <a:defRPr lang="en-US"/>
            </a:defPPr>
            <a:lvl1pPr marL="457200" indent="-457200">
              <a:buFont typeface="Wingdings" panose="05000000000000000000" pitchFamily="2" charset="2"/>
              <a:buChar char="p"/>
              <a:defRPr sz="3200" spc="300">
                <a:solidFill>
                  <a:srgbClr val="FF0000"/>
                </a:solidFill>
                <a:latin typeface="微软雅黑" panose="020B0503020204020204" pitchFamily="34" charset="-122"/>
                <a:ea typeface="微软雅黑" panose="020B0503020204020204" pitchFamily="34" charset="-122"/>
              </a:defRPr>
            </a:lvl1pPr>
          </a:lstStyle>
          <a:p>
            <a:pPr marL="0" indent="0">
              <a:buNone/>
            </a:pPr>
            <a:r>
              <a:rPr lang="zh-CN" altLang="en-US" dirty="0"/>
              <a:t>方程的简化</a:t>
            </a:r>
            <a:endParaRPr lang="zh-CN" altLang="en-US" dirty="0"/>
          </a:p>
        </p:txBody>
      </p:sp>
      <p:sp>
        <p:nvSpPr>
          <p:cNvPr id="10" name="内容占位符 2"/>
          <p:cNvSpPr txBox="1"/>
          <p:nvPr/>
        </p:nvSpPr>
        <p:spPr>
          <a:xfrm>
            <a:off x="990602" y="1372916"/>
            <a:ext cx="10342123" cy="1741760"/>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457200" indent="-457200" algn="l" defTabSz="1828800" eaLnBrk="1" hangingPunct="1">
              <a:lnSpc>
                <a:spcPct val="90000"/>
              </a:lnSpc>
              <a:spcBef>
                <a:spcPct val="401000"/>
              </a:spcBef>
              <a:buFont typeface="Arial" panose="020B0604020202020204" pitchFamily="34" charset="0"/>
              <a:buChar char="•"/>
              <a:defRPr sz="4800" kern="1200">
                <a:solidFill>
                  <a:schemeClr val="tx1"/>
                </a:solidFill>
                <a:latin typeface="宋体" panose="02010600030101010101" pitchFamily="2" charset="-122"/>
                <a:ea typeface="宋体" panose="02010600030101010101" pitchFamily="2" charset="-122"/>
              </a:defRPr>
            </a:lvl1pPr>
            <a:lvl2pPr marL="400050" lvl="1" indent="0" algn="l" defTabSz="1828800" eaLnBrk="1" hangingPunct="1">
              <a:lnSpc>
                <a:spcPct val="90000"/>
              </a:lnSpc>
              <a:spcBef>
                <a:spcPct val="201000"/>
              </a:spcBef>
              <a:buFont typeface="Arial" panose="020B0604020202020204" pitchFamily="34" charset="0"/>
              <a:defRPr sz="4800" kern="1200">
                <a:solidFill>
                  <a:schemeClr val="tx1"/>
                </a:solidFill>
                <a:latin typeface="宋体" panose="02010600030101010101" pitchFamily="2" charset="-122"/>
                <a:ea typeface="宋体" panose="02010600030101010101" pitchFamily="2" charset="-122"/>
              </a:defRPr>
            </a:lvl2pPr>
            <a:lvl3pPr marL="2286000" indent="-457200" algn="l" defTabSz="1828800" eaLnBrk="1" hangingPunct="1">
              <a:lnSpc>
                <a:spcPct val="90000"/>
              </a:lnSpc>
              <a:spcBef>
                <a:spcPct val="201000"/>
              </a:spcBef>
              <a:buFont typeface="Arial" panose="020B0604020202020204" pitchFamily="34" charset="0"/>
              <a:buChar char="•"/>
              <a:defRPr sz="4000" kern="1200">
                <a:solidFill>
                  <a:schemeClr val="tx1"/>
                </a:solidFill>
              </a:defRPr>
            </a:lvl3pPr>
            <a:lvl4pPr marL="32004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4pPr>
            <a:lvl5pPr marL="41148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5pPr>
            <a:lvl6pPr marL="50292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6pPr>
            <a:lvl7pPr marL="59436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7pPr>
            <a:lvl8pPr marL="6857365"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8pPr>
            <a:lvl9pPr marL="7771765"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9pPr>
          </a:lstStyle>
          <a:p>
            <a:pPr marL="0" indent="0">
              <a:lnSpc>
                <a:spcPct val="150000"/>
              </a:lnSpc>
              <a:spcBef>
                <a:spcPts val="0"/>
              </a:spcBef>
              <a:buNone/>
            </a:pPr>
            <a:r>
              <a:rPr lang="en-US" altLang="zh-CN" sz="2400" dirty="0" err="1">
                <a:latin typeface="Times New Roman" panose="02020603050405020304" pitchFamily="18" charset="0"/>
              </a:rPr>
              <a:t>dp</a:t>
            </a:r>
            <a:r>
              <a:rPr lang="en-US" altLang="zh-CN" sz="2400" dirty="0">
                <a:latin typeface="Times New Roman" panose="02020603050405020304" pitchFamily="18" charset="0"/>
              </a:rPr>
              <a:t>[k][</a:t>
            </a:r>
            <a:r>
              <a:rPr lang="en-US" altLang="zh-CN" sz="2400" dirty="0" err="1">
                <a:latin typeface="Times New Roman" panose="02020603050405020304" pitchFamily="18" charset="0"/>
              </a:rPr>
              <a:t>i</a:t>
            </a:r>
            <a:r>
              <a:rPr lang="en-US" altLang="zh-CN" sz="2400" dirty="0">
                <a:latin typeface="Times New Roman" panose="02020603050405020304" pitchFamily="18" charset="0"/>
              </a:rPr>
              <a:t>][j] = min(</a:t>
            </a:r>
            <a:r>
              <a:rPr lang="en-US" altLang="zh-CN" sz="2400" dirty="0" err="1">
                <a:latin typeface="Times New Roman" panose="02020603050405020304" pitchFamily="18" charset="0"/>
              </a:rPr>
              <a:t>dp</a:t>
            </a:r>
            <a:r>
              <a:rPr lang="en-US" altLang="zh-CN" sz="2400" dirty="0">
                <a:latin typeface="Times New Roman" panose="02020603050405020304" pitchFamily="18" charset="0"/>
              </a:rPr>
              <a:t>[k-1][</a:t>
            </a:r>
            <a:r>
              <a:rPr lang="en-US" altLang="zh-CN" sz="2400" dirty="0" err="1">
                <a:latin typeface="Times New Roman" panose="02020603050405020304" pitchFamily="18" charset="0"/>
              </a:rPr>
              <a:t>i</a:t>
            </a:r>
            <a:r>
              <a:rPr lang="en-US" altLang="zh-CN" sz="2400" dirty="0">
                <a:latin typeface="Times New Roman" panose="02020603050405020304" pitchFamily="18" charset="0"/>
              </a:rPr>
              <a:t>][j], </a:t>
            </a:r>
            <a:r>
              <a:rPr lang="en-US" altLang="zh-CN" sz="2400" dirty="0" err="1">
                <a:latin typeface="Times New Roman" panose="02020603050405020304" pitchFamily="18" charset="0"/>
              </a:rPr>
              <a:t>dp</a:t>
            </a:r>
            <a:r>
              <a:rPr lang="en-US" altLang="zh-CN" sz="2400" dirty="0">
                <a:latin typeface="Times New Roman" panose="02020603050405020304" pitchFamily="18" charset="0"/>
              </a:rPr>
              <a:t>[k-1][</a:t>
            </a:r>
            <a:r>
              <a:rPr lang="en-US" altLang="zh-CN" sz="2400" dirty="0" err="1">
                <a:latin typeface="Times New Roman" panose="02020603050405020304" pitchFamily="18" charset="0"/>
              </a:rPr>
              <a:t>i</a:t>
            </a:r>
            <a:r>
              <a:rPr lang="en-US" altLang="zh-CN" sz="2400" dirty="0">
                <a:latin typeface="Times New Roman" panose="02020603050405020304" pitchFamily="18" charset="0"/>
              </a:rPr>
              <a:t>][k] + </a:t>
            </a:r>
            <a:r>
              <a:rPr lang="en-US" altLang="zh-CN" sz="2400" dirty="0" err="1">
                <a:latin typeface="Times New Roman" panose="02020603050405020304" pitchFamily="18" charset="0"/>
              </a:rPr>
              <a:t>dp</a:t>
            </a:r>
            <a:r>
              <a:rPr lang="en-US" altLang="zh-CN" sz="2400" dirty="0">
                <a:latin typeface="Times New Roman" panose="02020603050405020304" pitchFamily="18" charset="0"/>
              </a:rPr>
              <a:t>[k-1][k][j])</a:t>
            </a:r>
            <a:endParaRPr lang="en-US" altLang="zh-CN" sz="2400" dirty="0">
              <a:latin typeface="Times New Roman" panose="02020603050405020304" pitchFamily="18" charset="0"/>
            </a:endParaRPr>
          </a:p>
          <a:p>
            <a:pPr marL="0" indent="0">
              <a:lnSpc>
                <a:spcPct val="150000"/>
              </a:lnSpc>
              <a:spcBef>
                <a:spcPts val="0"/>
              </a:spcBef>
              <a:buNone/>
            </a:pPr>
            <a:r>
              <a:rPr lang="zh-CN" altLang="en-US" sz="2400" dirty="0">
                <a:latin typeface="Times New Roman" panose="02020603050405020304" pitchFamily="18" charset="0"/>
              </a:rPr>
              <a:t>用滚动数组简化：</a:t>
            </a:r>
            <a:endParaRPr lang="en-US" altLang="zh-CN" sz="2400" dirty="0">
              <a:latin typeface="Times New Roman" panose="02020603050405020304" pitchFamily="18" charset="0"/>
            </a:endParaRPr>
          </a:p>
          <a:p>
            <a:pPr marL="0" indent="0">
              <a:lnSpc>
                <a:spcPct val="150000"/>
              </a:lnSpc>
              <a:spcBef>
                <a:spcPts val="0"/>
              </a:spcBef>
              <a:buNone/>
            </a:pPr>
            <a:r>
              <a:rPr lang="en-US" altLang="zh-CN" sz="2400" dirty="0">
                <a:latin typeface="Times New Roman" panose="02020603050405020304" pitchFamily="18" charset="0"/>
              </a:rPr>
              <a:t> </a:t>
            </a:r>
            <a:r>
              <a:rPr lang="en-US" altLang="zh-CN" sz="2400" dirty="0" err="1">
                <a:latin typeface="Times New Roman" panose="02020603050405020304" pitchFamily="18" charset="0"/>
              </a:rPr>
              <a:t>dp</a:t>
            </a:r>
            <a:r>
              <a:rPr lang="en-US" altLang="zh-CN" sz="2400" dirty="0">
                <a:latin typeface="Times New Roman" panose="02020603050405020304" pitchFamily="18" charset="0"/>
              </a:rPr>
              <a:t>[</a:t>
            </a:r>
            <a:r>
              <a:rPr lang="en-US" altLang="zh-CN" sz="2400" dirty="0" err="1">
                <a:latin typeface="Times New Roman" panose="02020603050405020304" pitchFamily="18" charset="0"/>
              </a:rPr>
              <a:t>i</a:t>
            </a:r>
            <a:r>
              <a:rPr lang="en-US" altLang="zh-CN" sz="2400" dirty="0">
                <a:latin typeface="Times New Roman" panose="02020603050405020304" pitchFamily="18" charset="0"/>
              </a:rPr>
              <a:t>][j] = min(</a:t>
            </a:r>
            <a:r>
              <a:rPr lang="en-US" altLang="zh-CN" sz="2400" dirty="0" err="1">
                <a:latin typeface="Times New Roman" panose="02020603050405020304" pitchFamily="18" charset="0"/>
              </a:rPr>
              <a:t>dp</a:t>
            </a:r>
            <a:r>
              <a:rPr lang="en-US" altLang="zh-CN" sz="2400" dirty="0">
                <a:latin typeface="Times New Roman" panose="02020603050405020304" pitchFamily="18" charset="0"/>
              </a:rPr>
              <a:t>[</a:t>
            </a:r>
            <a:r>
              <a:rPr lang="en-US" altLang="zh-CN" sz="2400" dirty="0" err="1">
                <a:latin typeface="Times New Roman" panose="02020603050405020304" pitchFamily="18" charset="0"/>
              </a:rPr>
              <a:t>i</a:t>
            </a:r>
            <a:r>
              <a:rPr lang="en-US" altLang="zh-CN" sz="2400" dirty="0">
                <a:latin typeface="Times New Roman" panose="02020603050405020304" pitchFamily="18" charset="0"/>
              </a:rPr>
              <a:t>][j], </a:t>
            </a:r>
            <a:r>
              <a:rPr lang="en-US" altLang="zh-CN" sz="2400" dirty="0" err="1">
                <a:latin typeface="Times New Roman" panose="02020603050405020304" pitchFamily="18" charset="0"/>
              </a:rPr>
              <a:t>dp</a:t>
            </a:r>
            <a:r>
              <a:rPr lang="en-US" altLang="zh-CN" sz="2400" dirty="0">
                <a:latin typeface="Times New Roman" panose="02020603050405020304" pitchFamily="18" charset="0"/>
              </a:rPr>
              <a:t>[</a:t>
            </a:r>
            <a:r>
              <a:rPr lang="en-US" altLang="zh-CN" sz="2400" dirty="0" err="1">
                <a:latin typeface="Times New Roman" panose="02020603050405020304" pitchFamily="18" charset="0"/>
              </a:rPr>
              <a:t>i</a:t>
            </a:r>
            <a:r>
              <a:rPr lang="en-US" altLang="zh-CN" sz="2400" dirty="0">
                <a:latin typeface="Times New Roman" panose="02020603050405020304" pitchFamily="18" charset="0"/>
              </a:rPr>
              <a:t>][k] + </a:t>
            </a:r>
            <a:r>
              <a:rPr lang="en-US" altLang="zh-CN" sz="2400" dirty="0" err="1">
                <a:latin typeface="Times New Roman" panose="02020603050405020304" pitchFamily="18" charset="0"/>
              </a:rPr>
              <a:t>dp</a:t>
            </a:r>
            <a:r>
              <a:rPr lang="en-US" altLang="zh-CN" sz="2400" dirty="0">
                <a:latin typeface="Times New Roman" panose="02020603050405020304" pitchFamily="18" charset="0"/>
              </a:rPr>
              <a:t>[k][j])</a:t>
            </a:r>
            <a:endParaRPr lang="en-US" altLang="zh-CN" sz="2400" dirty="0">
              <a:latin typeface="Times New Roman" panose="02020603050405020304" pitchFamily="18" charset="0"/>
            </a:endParaRPr>
          </a:p>
          <a:p>
            <a:pPr marL="0" indent="0">
              <a:lnSpc>
                <a:spcPct val="150000"/>
              </a:lnSpc>
              <a:spcBef>
                <a:spcPts val="0"/>
              </a:spcBef>
              <a:buNone/>
            </a:pPr>
            <a:endParaRPr lang="en-US" altLang="zh-CN" sz="2400" dirty="0">
              <a:latin typeface="Times New Roman" panose="02020603050405020304" pitchFamily="18" charset="0"/>
            </a:endParaRPr>
          </a:p>
        </p:txBody>
      </p:sp>
      <p:sp>
        <p:nvSpPr>
          <p:cNvPr id="12" name="文本框 11" descr="7b0a202020202262756c6c6574223a20227b5c2263617465676f727949645c223a31303030352c5c2274656d706c61746549645c223a32303233313332387d220a7d0a"/>
          <p:cNvSpPr txBox="1"/>
          <p:nvPr/>
        </p:nvSpPr>
        <p:spPr>
          <a:xfrm>
            <a:off x="1667555" y="3705385"/>
            <a:ext cx="9665170" cy="1938992"/>
          </a:xfrm>
          <a:prstGeom prst="rect">
            <a:avLst/>
          </a:prstGeom>
          <a:noFill/>
          <a:ln>
            <a:noFill/>
          </a:ln>
        </p:spPr>
        <p:txBody>
          <a:bodyPr wrap="square" rtlCol="0">
            <a:spAutoFit/>
          </a:bodyPr>
          <a:lstStyle/>
          <a:p>
            <a:pPr algn="l"/>
            <a:r>
              <a:rPr lang="en-US" altLang="zh-CN" sz="2400" dirty="0">
                <a:solidFill>
                  <a:schemeClr val="tx1"/>
                </a:solidFill>
                <a:latin typeface="宋体" panose="02010600030101010101" pitchFamily="2" charset="-122"/>
                <a:ea typeface="宋体" panose="02010600030101010101" pitchFamily="2" charset="-122"/>
              </a:rPr>
              <a:t>for(</a:t>
            </a:r>
            <a:r>
              <a:rPr lang="en-US" altLang="zh-CN" sz="2400" dirty="0" err="1">
                <a:solidFill>
                  <a:schemeClr val="tx1"/>
                </a:solidFill>
                <a:latin typeface="宋体" panose="02010600030101010101" pitchFamily="2" charset="-122"/>
                <a:ea typeface="宋体" panose="02010600030101010101" pitchFamily="2" charset="-122"/>
              </a:rPr>
              <a:t>int</a:t>
            </a:r>
            <a:r>
              <a:rPr lang="en-US" altLang="zh-CN" sz="2400" dirty="0">
                <a:solidFill>
                  <a:schemeClr val="tx1"/>
                </a:solidFill>
                <a:latin typeface="宋体" panose="02010600030101010101" pitchFamily="2" charset="-122"/>
                <a:ea typeface="宋体" panose="02010600030101010101" pitchFamily="2" charset="-122"/>
              </a:rPr>
              <a:t> k=1; k&lt;=n; k++)         //</a:t>
            </a:r>
            <a:r>
              <a:rPr lang="en-US" altLang="zh-CN" sz="2400" dirty="0" err="1">
                <a:solidFill>
                  <a:schemeClr val="tx1"/>
                </a:solidFill>
                <a:latin typeface="宋体" panose="02010600030101010101" pitchFamily="2" charset="-122"/>
                <a:ea typeface="宋体" panose="02010600030101010101" pitchFamily="2" charset="-122"/>
              </a:rPr>
              <a:t>floyd</a:t>
            </a:r>
            <a:r>
              <a:rPr lang="zh-CN" altLang="en-US" sz="2400" dirty="0">
                <a:solidFill>
                  <a:schemeClr val="tx1"/>
                </a:solidFill>
                <a:latin typeface="宋体" panose="02010600030101010101" pitchFamily="2" charset="-122"/>
                <a:ea typeface="宋体" panose="02010600030101010101" pitchFamily="2" charset="-122"/>
              </a:rPr>
              <a:t>的三重循环</a:t>
            </a:r>
            <a:endParaRPr lang="zh-CN" altLang="en-US" sz="2400" dirty="0">
              <a:solidFill>
                <a:schemeClr val="tx1"/>
              </a:solidFill>
              <a:latin typeface="宋体" panose="02010600030101010101" pitchFamily="2" charset="-122"/>
              <a:ea typeface="宋体" panose="02010600030101010101" pitchFamily="2" charset="-122"/>
            </a:endParaRPr>
          </a:p>
          <a:p>
            <a:pPr algn="l"/>
            <a:r>
              <a:rPr lang="zh-CN" altLang="en-US" sz="2400" dirty="0">
                <a:solidFill>
                  <a:schemeClr val="tx1"/>
                </a:solidFill>
                <a:latin typeface="宋体" panose="02010600030101010101" pitchFamily="2" charset="-122"/>
                <a:ea typeface="宋体" panose="02010600030101010101" pitchFamily="2" charset="-122"/>
              </a:rPr>
              <a:t>    </a:t>
            </a:r>
            <a:r>
              <a:rPr lang="en-US" altLang="zh-CN" sz="2400" dirty="0">
                <a:solidFill>
                  <a:schemeClr val="tx1"/>
                </a:solidFill>
                <a:latin typeface="宋体" panose="02010600030101010101" pitchFamily="2" charset="-122"/>
                <a:ea typeface="宋体" panose="02010600030101010101" pitchFamily="2" charset="-122"/>
              </a:rPr>
              <a:t>for(</a:t>
            </a:r>
            <a:r>
              <a:rPr lang="en-US" altLang="zh-CN" sz="2400" dirty="0" err="1">
                <a:solidFill>
                  <a:schemeClr val="tx1"/>
                </a:solidFill>
                <a:latin typeface="宋体" panose="02010600030101010101" pitchFamily="2" charset="-122"/>
                <a:ea typeface="宋体" panose="02010600030101010101" pitchFamily="2" charset="-122"/>
              </a:rPr>
              <a:t>int</a:t>
            </a:r>
            <a:r>
              <a:rPr lang="en-US" altLang="zh-CN" sz="2400" dirty="0">
                <a:solidFill>
                  <a:schemeClr val="tx1"/>
                </a:solidFill>
                <a:latin typeface="宋体" panose="02010600030101010101" pitchFamily="2" charset="-122"/>
                <a:ea typeface="宋体" panose="02010600030101010101" pitchFamily="2" charset="-122"/>
              </a:rPr>
              <a:t> </a:t>
            </a:r>
            <a:r>
              <a:rPr lang="en-US" altLang="zh-CN" sz="2400" dirty="0" err="1">
                <a:solidFill>
                  <a:schemeClr val="tx1"/>
                </a:solidFill>
                <a:latin typeface="宋体" panose="02010600030101010101" pitchFamily="2" charset="-122"/>
                <a:ea typeface="宋体" panose="02010600030101010101" pitchFamily="2" charset="-122"/>
              </a:rPr>
              <a:t>i</a:t>
            </a:r>
            <a:r>
              <a:rPr lang="en-US" altLang="zh-CN" sz="2400" dirty="0">
                <a:solidFill>
                  <a:schemeClr val="tx1"/>
                </a:solidFill>
                <a:latin typeface="宋体" panose="02010600030101010101" pitchFamily="2" charset="-122"/>
                <a:ea typeface="宋体" panose="02010600030101010101" pitchFamily="2" charset="-122"/>
              </a:rPr>
              <a:t>=1; </a:t>
            </a:r>
            <a:r>
              <a:rPr lang="en-US" altLang="zh-CN" sz="2400" dirty="0" err="1">
                <a:solidFill>
                  <a:schemeClr val="tx1"/>
                </a:solidFill>
                <a:latin typeface="宋体" panose="02010600030101010101" pitchFamily="2" charset="-122"/>
                <a:ea typeface="宋体" panose="02010600030101010101" pitchFamily="2" charset="-122"/>
              </a:rPr>
              <a:t>i</a:t>
            </a:r>
            <a:r>
              <a:rPr lang="en-US" altLang="zh-CN" sz="2400" dirty="0">
                <a:solidFill>
                  <a:schemeClr val="tx1"/>
                </a:solidFill>
                <a:latin typeface="宋体" panose="02010600030101010101" pitchFamily="2" charset="-122"/>
                <a:ea typeface="宋体" panose="02010600030101010101" pitchFamily="2" charset="-122"/>
              </a:rPr>
              <a:t>&lt;=n; </a:t>
            </a:r>
            <a:r>
              <a:rPr lang="en-US" altLang="zh-CN" sz="2400" dirty="0" err="1">
                <a:solidFill>
                  <a:schemeClr val="tx1"/>
                </a:solidFill>
                <a:latin typeface="宋体" panose="02010600030101010101" pitchFamily="2" charset="-122"/>
                <a:ea typeface="宋体" panose="02010600030101010101" pitchFamily="2" charset="-122"/>
              </a:rPr>
              <a:t>i</a:t>
            </a:r>
            <a:r>
              <a:rPr lang="en-US" altLang="zh-CN" sz="2400" dirty="0">
                <a:solidFill>
                  <a:schemeClr val="tx1"/>
                </a:solidFill>
                <a:latin typeface="宋体" panose="02010600030101010101" pitchFamily="2" charset="-122"/>
                <a:ea typeface="宋体" panose="02010600030101010101" pitchFamily="2" charset="-122"/>
              </a:rPr>
              <a:t>++)</a:t>
            </a:r>
            <a:endParaRPr lang="en-US" altLang="zh-CN" sz="2400" dirty="0">
              <a:solidFill>
                <a:schemeClr val="tx1"/>
              </a:solidFill>
              <a:latin typeface="宋体" panose="02010600030101010101" pitchFamily="2" charset="-122"/>
              <a:ea typeface="宋体" panose="02010600030101010101" pitchFamily="2" charset="-122"/>
            </a:endParaRPr>
          </a:p>
          <a:p>
            <a:pPr algn="l"/>
            <a:r>
              <a:rPr lang="en-US" altLang="zh-CN" sz="2400" dirty="0">
                <a:solidFill>
                  <a:schemeClr val="tx1"/>
                </a:solidFill>
                <a:latin typeface="宋体" panose="02010600030101010101" pitchFamily="2" charset="-122"/>
                <a:ea typeface="宋体" panose="02010600030101010101" pitchFamily="2" charset="-122"/>
              </a:rPr>
              <a:t>        for(</a:t>
            </a:r>
            <a:r>
              <a:rPr lang="en-US" altLang="zh-CN" sz="2400" dirty="0" err="1">
                <a:solidFill>
                  <a:schemeClr val="tx1"/>
                </a:solidFill>
                <a:latin typeface="宋体" panose="02010600030101010101" pitchFamily="2" charset="-122"/>
                <a:ea typeface="宋体" panose="02010600030101010101" pitchFamily="2" charset="-122"/>
              </a:rPr>
              <a:t>int</a:t>
            </a:r>
            <a:r>
              <a:rPr lang="en-US" altLang="zh-CN" sz="2400" dirty="0">
                <a:solidFill>
                  <a:schemeClr val="tx1"/>
                </a:solidFill>
                <a:latin typeface="宋体" panose="02010600030101010101" pitchFamily="2" charset="-122"/>
                <a:ea typeface="宋体" panose="02010600030101010101" pitchFamily="2" charset="-122"/>
              </a:rPr>
              <a:t> j=1; j&lt;=n; </a:t>
            </a:r>
            <a:r>
              <a:rPr lang="en-US" altLang="zh-CN" sz="2400" dirty="0" err="1">
                <a:solidFill>
                  <a:schemeClr val="tx1"/>
                </a:solidFill>
                <a:latin typeface="宋体" panose="02010600030101010101" pitchFamily="2" charset="-122"/>
                <a:ea typeface="宋体" panose="02010600030101010101" pitchFamily="2" charset="-122"/>
              </a:rPr>
              <a:t>j++</a:t>
            </a:r>
            <a:r>
              <a:rPr lang="en-US" altLang="zh-CN" sz="2400" dirty="0">
                <a:solidFill>
                  <a:schemeClr val="tx1"/>
                </a:solidFill>
                <a:latin typeface="宋体" panose="02010600030101010101" pitchFamily="2" charset="-122"/>
                <a:ea typeface="宋体" panose="02010600030101010101" pitchFamily="2" charset="-122"/>
              </a:rPr>
              <a:t>) // k</a:t>
            </a:r>
            <a:r>
              <a:rPr lang="zh-CN" altLang="en-US" sz="2400" dirty="0">
                <a:solidFill>
                  <a:schemeClr val="tx1"/>
                </a:solidFill>
                <a:latin typeface="宋体" panose="02010600030101010101" pitchFamily="2" charset="-122"/>
                <a:ea typeface="宋体" panose="02010600030101010101" pitchFamily="2" charset="-122"/>
              </a:rPr>
              <a:t>循环在</a:t>
            </a:r>
            <a:r>
              <a:rPr lang="en-US" altLang="zh-CN" sz="2400" dirty="0" err="1">
                <a:solidFill>
                  <a:schemeClr val="tx1"/>
                </a:solidFill>
                <a:latin typeface="宋体" panose="02010600030101010101" pitchFamily="2" charset="-122"/>
                <a:ea typeface="宋体" panose="02010600030101010101" pitchFamily="2" charset="-122"/>
              </a:rPr>
              <a:t>i</a:t>
            </a:r>
            <a:r>
              <a:rPr lang="zh-CN" altLang="en-US" sz="2400" dirty="0">
                <a:solidFill>
                  <a:schemeClr val="tx1"/>
                </a:solidFill>
                <a:latin typeface="宋体" panose="02010600030101010101" pitchFamily="2" charset="-122"/>
                <a:ea typeface="宋体" panose="02010600030101010101" pitchFamily="2" charset="-122"/>
              </a:rPr>
              <a:t>、</a:t>
            </a:r>
            <a:r>
              <a:rPr lang="en-US" altLang="zh-CN" sz="2400" dirty="0">
                <a:solidFill>
                  <a:schemeClr val="tx1"/>
                </a:solidFill>
                <a:latin typeface="宋体" panose="02010600030101010101" pitchFamily="2" charset="-122"/>
                <a:ea typeface="宋体" panose="02010600030101010101" pitchFamily="2" charset="-122"/>
              </a:rPr>
              <a:t>j</a:t>
            </a:r>
            <a:r>
              <a:rPr lang="zh-CN" altLang="en-US" sz="2400" dirty="0">
                <a:solidFill>
                  <a:schemeClr val="tx1"/>
                </a:solidFill>
                <a:latin typeface="宋体" panose="02010600030101010101" pitchFamily="2" charset="-122"/>
                <a:ea typeface="宋体" panose="02010600030101010101" pitchFamily="2" charset="-122"/>
              </a:rPr>
              <a:t>循环外面</a:t>
            </a:r>
            <a:endParaRPr lang="zh-CN" altLang="en-US" sz="2400" dirty="0">
              <a:solidFill>
                <a:schemeClr val="tx1"/>
              </a:solidFill>
              <a:latin typeface="宋体" panose="02010600030101010101" pitchFamily="2" charset="-122"/>
              <a:ea typeface="宋体" panose="02010600030101010101" pitchFamily="2" charset="-122"/>
            </a:endParaRPr>
          </a:p>
          <a:p>
            <a:pPr algn="l"/>
            <a:r>
              <a:rPr lang="zh-CN" altLang="en-US" sz="2400" dirty="0">
                <a:solidFill>
                  <a:schemeClr val="tx1"/>
                </a:solidFill>
                <a:latin typeface="宋体" panose="02010600030101010101" pitchFamily="2" charset="-122"/>
                <a:ea typeface="宋体" panose="02010600030101010101" pitchFamily="2" charset="-122"/>
              </a:rPr>
              <a:t>            </a:t>
            </a:r>
            <a:r>
              <a:rPr lang="en-US" altLang="zh-CN" sz="2400" dirty="0" err="1">
                <a:solidFill>
                  <a:schemeClr val="tx1"/>
                </a:solidFill>
                <a:latin typeface="宋体" panose="02010600030101010101" pitchFamily="2" charset="-122"/>
                <a:ea typeface="宋体" panose="02010600030101010101" pitchFamily="2" charset="-122"/>
              </a:rPr>
              <a:t>dp</a:t>
            </a:r>
            <a:r>
              <a:rPr lang="en-US" altLang="zh-CN" sz="2400" dirty="0">
                <a:solidFill>
                  <a:schemeClr val="tx1"/>
                </a:solidFill>
                <a:latin typeface="宋体" panose="02010600030101010101" pitchFamily="2" charset="-122"/>
                <a:ea typeface="宋体" panose="02010600030101010101" pitchFamily="2" charset="-122"/>
              </a:rPr>
              <a:t>[</a:t>
            </a:r>
            <a:r>
              <a:rPr lang="en-US" altLang="zh-CN" sz="2400" dirty="0" err="1">
                <a:solidFill>
                  <a:schemeClr val="tx1"/>
                </a:solidFill>
                <a:latin typeface="宋体" panose="02010600030101010101" pitchFamily="2" charset="-122"/>
                <a:ea typeface="宋体" panose="02010600030101010101" pitchFamily="2" charset="-122"/>
              </a:rPr>
              <a:t>i</a:t>
            </a:r>
            <a:r>
              <a:rPr lang="en-US" altLang="zh-CN" sz="2400" dirty="0">
                <a:solidFill>
                  <a:schemeClr val="tx1"/>
                </a:solidFill>
                <a:latin typeface="宋体" panose="02010600030101010101" pitchFamily="2" charset="-122"/>
                <a:ea typeface="宋体" panose="02010600030101010101" pitchFamily="2" charset="-122"/>
              </a:rPr>
              <a:t>][j] = min(</a:t>
            </a:r>
            <a:r>
              <a:rPr lang="en-US" altLang="zh-CN" sz="2400" dirty="0" err="1">
                <a:solidFill>
                  <a:schemeClr val="tx1"/>
                </a:solidFill>
                <a:latin typeface="宋体" panose="02010600030101010101" pitchFamily="2" charset="-122"/>
                <a:ea typeface="宋体" panose="02010600030101010101" pitchFamily="2" charset="-122"/>
              </a:rPr>
              <a:t>dp</a:t>
            </a:r>
            <a:r>
              <a:rPr lang="en-US" altLang="zh-CN" sz="2400" dirty="0">
                <a:solidFill>
                  <a:schemeClr val="tx1"/>
                </a:solidFill>
                <a:latin typeface="宋体" panose="02010600030101010101" pitchFamily="2" charset="-122"/>
                <a:ea typeface="宋体" panose="02010600030101010101" pitchFamily="2" charset="-122"/>
              </a:rPr>
              <a:t>[</a:t>
            </a:r>
            <a:r>
              <a:rPr lang="en-US" altLang="zh-CN" sz="2400" dirty="0" err="1">
                <a:solidFill>
                  <a:schemeClr val="tx1"/>
                </a:solidFill>
                <a:latin typeface="宋体" panose="02010600030101010101" pitchFamily="2" charset="-122"/>
                <a:ea typeface="宋体" panose="02010600030101010101" pitchFamily="2" charset="-122"/>
              </a:rPr>
              <a:t>i</a:t>
            </a:r>
            <a:r>
              <a:rPr lang="en-US" altLang="zh-CN" sz="2400" dirty="0">
                <a:solidFill>
                  <a:schemeClr val="tx1"/>
                </a:solidFill>
                <a:latin typeface="宋体" panose="02010600030101010101" pitchFamily="2" charset="-122"/>
                <a:ea typeface="宋体" panose="02010600030101010101" pitchFamily="2" charset="-122"/>
              </a:rPr>
              <a:t>][j], </a:t>
            </a:r>
            <a:r>
              <a:rPr lang="en-US" altLang="zh-CN" sz="2400" dirty="0" err="1">
                <a:solidFill>
                  <a:schemeClr val="tx1"/>
                </a:solidFill>
                <a:latin typeface="宋体" panose="02010600030101010101" pitchFamily="2" charset="-122"/>
                <a:ea typeface="宋体" panose="02010600030101010101" pitchFamily="2" charset="-122"/>
              </a:rPr>
              <a:t>dp</a:t>
            </a:r>
            <a:r>
              <a:rPr lang="en-US" altLang="zh-CN" sz="2400" dirty="0">
                <a:solidFill>
                  <a:schemeClr val="tx1"/>
                </a:solidFill>
                <a:latin typeface="宋体" panose="02010600030101010101" pitchFamily="2" charset="-122"/>
                <a:ea typeface="宋体" panose="02010600030101010101" pitchFamily="2" charset="-122"/>
              </a:rPr>
              <a:t>[</a:t>
            </a:r>
            <a:r>
              <a:rPr lang="en-US" altLang="zh-CN" sz="2400" dirty="0" err="1">
                <a:solidFill>
                  <a:schemeClr val="tx1"/>
                </a:solidFill>
                <a:latin typeface="宋体" panose="02010600030101010101" pitchFamily="2" charset="-122"/>
                <a:ea typeface="宋体" panose="02010600030101010101" pitchFamily="2" charset="-122"/>
              </a:rPr>
              <a:t>i</a:t>
            </a:r>
            <a:r>
              <a:rPr lang="en-US" altLang="zh-CN" sz="2400" dirty="0">
                <a:solidFill>
                  <a:schemeClr val="tx1"/>
                </a:solidFill>
                <a:latin typeface="宋体" panose="02010600030101010101" pitchFamily="2" charset="-122"/>
                <a:ea typeface="宋体" panose="02010600030101010101" pitchFamily="2" charset="-122"/>
              </a:rPr>
              <a:t>][k] + </a:t>
            </a:r>
            <a:r>
              <a:rPr lang="en-US" altLang="zh-CN" sz="2400" dirty="0" err="1">
                <a:solidFill>
                  <a:schemeClr val="tx1"/>
                </a:solidFill>
                <a:latin typeface="宋体" panose="02010600030101010101" pitchFamily="2" charset="-122"/>
                <a:ea typeface="宋体" panose="02010600030101010101" pitchFamily="2" charset="-122"/>
              </a:rPr>
              <a:t>dp</a:t>
            </a:r>
            <a:r>
              <a:rPr lang="en-US" altLang="zh-CN" sz="2400" dirty="0">
                <a:solidFill>
                  <a:schemeClr val="tx1"/>
                </a:solidFill>
                <a:latin typeface="宋体" panose="02010600030101010101" pitchFamily="2" charset="-122"/>
                <a:ea typeface="宋体" panose="02010600030101010101" pitchFamily="2" charset="-122"/>
              </a:rPr>
              <a:t>[k][j]);</a:t>
            </a:r>
            <a:endParaRPr lang="en-US" altLang="zh-CN" sz="2400" dirty="0">
              <a:solidFill>
                <a:schemeClr val="tx1"/>
              </a:solidFill>
              <a:latin typeface="宋体" panose="02010600030101010101" pitchFamily="2" charset="-122"/>
              <a:ea typeface="宋体" panose="02010600030101010101" pitchFamily="2" charset="-122"/>
            </a:endParaRPr>
          </a:p>
          <a:p>
            <a:pPr algn="l"/>
            <a:r>
              <a:rPr lang="en-US" altLang="zh-CN" sz="2400" dirty="0">
                <a:solidFill>
                  <a:schemeClr val="tx1"/>
                </a:solidFill>
                <a:latin typeface="宋体" panose="02010600030101010101" pitchFamily="2" charset="-122"/>
                <a:ea typeface="宋体" panose="02010600030101010101" pitchFamily="2" charset="-122"/>
              </a:rPr>
              <a:t>                  //</a:t>
            </a:r>
            <a:r>
              <a:rPr lang="zh-CN" altLang="en-US" sz="2400" dirty="0">
                <a:solidFill>
                  <a:schemeClr val="tx1"/>
                </a:solidFill>
                <a:latin typeface="宋体" panose="02010600030101010101" pitchFamily="2" charset="-122"/>
                <a:ea typeface="宋体" panose="02010600030101010101" pitchFamily="2" charset="-122"/>
              </a:rPr>
              <a:t>比较：不经过</a:t>
            </a:r>
            <a:r>
              <a:rPr lang="en-US" altLang="zh-CN" sz="2400" dirty="0">
                <a:solidFill>
                  <a:schemeClr val="tx1"/>
                </a:solidFill>
                <a:latin typeface="宋体" panose="02010600030101010101" pitchFamily="2" charset="-122"/>
                <a:ea typeface="宋体" panose="02010600030101010101" pitchFamily="2" charset="-122"/>
              </a:rPr>
              <a:t>k</a:t>
            </a:r>
            <a:r>
              <a:rPr lang="zh-CN" altLang="en-US" sz="2400" dirty="0">
                <a:solidFill>
                  <a:schemeClr val="tx1"/>
                </a:solidFill>
                <a:latin typeface="宋体" panose="02010600030101010101" pitchFamily="2" charset="-122"/>
                <a:ea typeface="宋体" panose="02010600030101010101" pitchFamily="2" charset="-122"/>
              </a:rPr>
              <a:t>、经过</a:t>
            </a:r>
            <a:r>
              <a:rPr lang="en-US" altLang="zh-CN" sz="2400" dirty="0">
                <a:solidFill>
                  <a:schemeClr val="tx1"/>
                </a:solidFill>
                <a:latin typeface="宋体" panose="02010600030101010101" pitchFamily="2" charset="-122"/>
                <a:ea typeface="宋体" panose="02010600030101010101" pitchFamily="2" charset="-122"/>
              </a:rPr>
              <a:t>k</a:t>
            </a:r>
            <a:endParaRPr lang="en-US" altLang="zh-CN" sz="2400" dirty="0">
              <a:solidFill>
                <a:schemeClr val="tx1"/>
              </a:solidFill>
              <a:latin typeface="宋体" panose="02010600030101010101" pitchFamily="2" charset="-122"/>
              <a:ea typeface="宋体" panose="02010600030101010101" pitchFamily="2" charset="-122"/>
            </a:endParaRPr>
          </a:p>
        </p:txBody>
      </p:sp>
    </p:spTree>
    <p:custDataLst>
      <p:tags r:id="rId1"/>
    </p:custDataLst>
  </p:cSld>
  <p:clrMapOvr>
    <a:masterClrMapping/>
  </p:clrMapOvr>
  <p:transition spd="slow" advClick="0" advTm="50387">
    <p:push dir="u"/>
  </p:transition>
  <p:timing>
    <p:tnLst>
      <p:par>
        <p:cTn id="1" dur="indefinite" restart="never" nodeType="tmRoot"/>
      </p:par>
    </p:tnLst>
    <p:bldLst>
      <p:bldP spid="1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410983" y="670835"/>
            <a:ext cx="7659924" cy="584775"/>
          </a:xfrm>
          <a:prstGeom prst="rect">
            <a:avLst/>
          </a:prstGeom>
          <a:noFill/>
        </p:spPr>
        <p:txBody>
          <a:bodyPr wrap="square">
            <a:spAutoFit/>
          </a:bodyPr>
          <a:lstStyle>
            <a:defPPr>
              <a:defRPr lang="en-US"/>
            </a:defPPr>
            <a:lvl1pPr marL="457200" indent="-457200">
              <a:buFont typeface="Wingdings" panose="05000000000000000000" pitchFamily="2" charset="2"/>
              <a:buChar char="p"/>
              <a:defRPr sz="3200" spc="300">
                <a:solidFill>
                  <a:srgbClr val="FF0000"/>
                </a:solidFill>
                <a:latin typeface="微软雅黑" panose="020B0503020204020204" pitchFamily="34" charset="-122"/>
                <a:ea typeface="微软雅黑" panose="020B0503020204020204" pitchFamily="34" charset="-122"/>
              </a:defRPr>
            </a:lvl1pPr>
          </a:lstStyle>
          <a:p>
            <a:pPr marL="0" indent="0">
              <a:buNone/>
            </a:pPr>
            <a:r>
              <a:rPr lang="en-US" altLang="zh-CN" dirty="0"/>
              <a:t>Floyd</a:t>
            </a:r>
            <a:r>
              <a:rPr lang="zh-CN" altLang="en-US" dirty="0"/>
              <a:t>算法总结</a:t>
            </a:r>
            <a:endParaRPr lang="zh-CN" altLang="en-US" dirty="0"/>
          </a:p>
        </p:txBody>
      </p:sp>
      <p:sp>
        <p:nvSpPr>
          <p:cNvPr id="10" name="内容占位符 2"/>
          <p:cNvSpPr txBox="1"/>
          <p:nvPr/>
        </p:nvSpPr>
        <p:spPr>
          <a:xfrm>
            <a:off x="1000126" y="1820590"/>
            <a:ext cx="10342123" cy="4694511"/>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457200" indent="-457200" algn="l" defTabSz="1828800" eaLnBrk="1" hangingPunct="1">
              <a:lnSpc>
                <a:spcPct val="90000"/>
              </a:lnSpc>
              <a:spcBef>
                <a:spcPct val="401000"/>
              </a:spcBef>
              <a:buFont typeface="Arial" panose="020B0604020202020204" pitchFamily="34" charset="0"/>
              <a:buChar char="•"/>
              <a:defRPr sz="4800" kern="1200">
                <a:solidFill>
                  <a:schemeClr val="tx1"/>
                </a:solidFill>
                <a:latin typeface="宋体" panose="02010600030101010101" pitchFamily="2" charset="-122"/>
                <a:ea typeface="宋体" panose="02010600030101010101" pitchFamily="2" charset="-122"/>
              </a:defRPr>
            </a:lvl1pPr>
            <a:lvl2pPr marL="400050" lvl="1" indent="0" algn="l" defTabSz="1828800" eaLnBrk="1" hangingPunct="1">
              <a:lnSpc>
                <a:spcPct val="90000"/>
              </a:lnSpc>
              <a:spcBef>
                <a:spcPct val="201000"/>
              </a:spcBef>
              <a:buFont typeface="Arial" panose="020B0604020202020204" pitchFamily="34" charset="0"/>
              <a:defRPr sz="4800" kern="1200">
                <a:solidFill>
                  <a:schemeClr val="tx1"/>
                </a:solidFill>
                <a:latin typeface="宋体" panose="02010600030101010101" pitchFamily="2" charset="-122"/>
                <a:ea typeface="宋体" panose="02010600030101010101" pitchFamily="2" charset="-122"/>
              </a:defRPr>
            </a:lvl2pPr>
            <a:lvl3pPr marL="2286000" indent="-457200" algn="l" defTabSz="1828800" eaLnBrk="1" hangingPunct="1">
              <a:lnSpc>
                <a:spcPct val="90000"/>
              </a:lnSpc>
              <a:spcBef>
                <a:spcPct val="201000"/>
              </a:spcBef>
              <a:buFont typeface="Arial" panose="020B0604020202020204" pitchFamily="34" charset="0"/>
              <a:buChar char="•"/>
              <a:defRPr sz="4000" kern="1200">
                <a:solidFill>
                  <a:schemeClr val="tx1"/>
                </a:solidFill>
              </a:defRPr>
            </a:lvl3pPr>
            <a:lvl4pPr marL="32004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4pPr>
            <a:lvl5pPr marL="41148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5pPr>
            <a:lvl6pPr marL="50292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6pPr>
            <a:lvl7pPr marL="59436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7pPr>
            <a:lvl8pPr marL="6857365"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8pPr>
            <a:lvl9pPr marL="7771765"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9pPr>
          </a:lstStyle>
          <a:p>
            <a:pPr marL="0" indent="0">
              <a:lnSpc>
                <a:spcPct val="150000"/>
              </a:lnSpc>
              <a:spcBef>
                <a:spcPts val="0"/>
              </a:spcBef>
              <a:buNone/>
            </a:pP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）在一次计算后求得所有结点之间的最短距离。</a:t>
            </a:r>
            <a:endParaRPr lang="zh-CN" altLang="en-US" sz="2400" dirty="0">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）代码极其简单，是最简单的最短路算法。</a:t>
            </a:r>
            <a:endParaRPr lang="zh-CN" altLang="en-US" sz="2400" dirty="0">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）效率低下，计算复杂度是</a:t>
            </a:r>
            <a:r>
              <a:rPr lang="en-US" altLang="zh-CN" sz="2400" dirty="0">
                <a:latin typeface="微软雅黑" panose="020B0503020204020204" pitchFamily="34" charset="-122"/>
                <a:ea typeface="微软雅黑" panose="020B0503020204020204" pitchFamily="34" charset="-122"/>
              </a:rPr>
              <a:t>O(n</a:t>
            </a:r>
            <a:r>
              <a:rPr lang="en-US" altLang="zh-CN" sz="2400" baseline="30000" dirty="0">
                <a:latin typeface="微软雅黑" panose="020B0503020204020204" pitchFamily="34" charset="-122"/>
                <a:ea typeface="微软雅黑" panose="020B0503020204020204" pitchFamily="34" charset="-122"/>
              </a:rPr>
              <a:t>3</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，只能用于</a:t>
            </a:r>
            <a:r>
              <a:rPr lang="en-US" altLang="zh-CN" sz="2400" dirty="0">
                <a:latin typeface="微软雅黑" panose="020B0503020204020204" pitchFamily="34" charset="-122"/>
                <a:ea typeface="微软雅黑" panose="020B0503020204020204" pitchFamily="34" charset="-122"/>
              </a:rPr>
              <a:t>n &lt; 300</a:t>
            </a:r>
            <a:r>
              <a:rPr lang="zh-CN" altLang="en-US" sz="2400" dirty="0">
                <a:latin typeface="微软雅黑" panose="020B0503020204020204" pitchFamily="34" charset="-122"/>
                <a:ea typeface="微软雅黑" panose="020B0503020204020204" pitchFamily="34" charset="-122"/>
              </a:rPr>
              <a:t>的小规模的图。</a:t>
            </a:r>
            <a:endParaRPr lang="zh-CN" altLang="en-US" sz="2400" dirty="0">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rPr>
              <a:t>）存图用邻接矩阵</a:t>
            </a:r>
            <a:r>
              <a:rPr lang="en-US" altLang="zh-CN" sz="2400" dirty="0" err="1">
                <a:latin typeface="微软雅黑" panose="020B0503020204020204" pitchFamily="34" charset="-122"/>
                <a:ea typeface="微软雅黑" panose="020B0503020204020204" pitchFamily="34" charset="-122"/>
              </a:rPr>
              <a:t>dp</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 。因为</a:t>
            </a:r>
            <a:r>
              <a:rPr lang="en-US" altLang="zh-CN" sz="2400" dirty="0">
                <a:latin typeface="微软雅黑" panose="020B0503020204020204" pitchFamily="34" charset="-122"/>
                <a:ea typeface="微软雅黑" panose="020B0503020204020204" pitchFamily="34" charset="-122"/>
              </a:rPr>
              <a:t>Floyd</a:t>
            </a:r>
            <a:r>
              <a:rPr lang="zh-CN" altLang="en-US" sz="2400" dirty="0">
                <a:latin typeface="微软雅黑" panose="020B0503020204020204" pitchFamily="34" charset="-122"/>
                <a:ea typeface="微软雅黑" panose="020B0503020204020204" pitchFamily="34" charset="-122"/>
              </a:rPr>
              <a:t>算法计算的结果是所有点对之间的最短路，本身就需要</a:t>
            </a:r>
            <a:r>
              <a:rPr lang="en-US" altLang="zh-CN" sz="2400" dirty="0">
                <a:latin typeface="微软雅黑" panose="020B0503020204020204" pitchFamily="34" charset="-122"/>
                <a:ea typeface="微软雅黑" panose="020B0503020204020204" pitchFamily="34" charset="-122"/>
              </a:rPr>
              <a:t>n</a:t>
            </a:r>
            <a:r>
              <a:rPr lang="en-US" altLang="zh-CN" sz="2400" baseline="300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的空间，用矩阵存储最合适。</a:t>
            </a:r>
            <a:endParaRPr lang="zh-CN" altLang="en-US" sz="2400" dirty="0">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ransition spd="slow" advClick="0" advTm="55164">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500"/>
                                        <p:tgtEl>
                                          <p:spTgt spid="1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fade">
                                      <p:cBhvr>
                                        <p:cTn id="12" dur="500"/>
                                        <p:tgtEl>
                                          <p:spTgt spid="1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animEffect transition="in" filter="fade">
                                      <p:cBhvr>
                                        <p:cTn id="17" dur="50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2"/>
          <p:cNvSpPr txBox="1"/>
          <p:nvPr/>
        </p:nvSpPr>
        <p:spPr>
          <a:xfrm>
            <a:off x="990602" y="1372916"/>
            <a:ext cx="10342123" cy="4694511"/>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457200" indent="-457200" algn="l" defTabSz="1828800" eaLnBrk="1" hangingPunct="1">
              <a:lnSpc>
                <a:spcPct val="90000"/>
              </a:lnSpc>
              <a:spcBef>
                <a:spcPct val="401000"/>
              </a:spcBef>
              <a:buFont typeface="Arial" panose="020B0604020202020204" pitchFamily="34" charset="0"/>
              <a:buChar char="•"/>
              <a:defRPr sz="4800" kern="1200">
                <a:solidFill>
                  <a:schemeClr val="tx1"/>
                </a:solidFill>
                <a:latin typeface="宋体" panose="02010600030101010101" pitchFamily="2" charset="-122"/>
                <a:ea typeface="宋体" panose="02010600030101010101" pitchFamily="2" charset="-122"/>
              </a:defRPr>
            </a:lvl1pPr>
            <a:lvl2pPr marL="400050" lvl="1" indent="0" algn="l" defTabSz="1828800" eaLnBrk="1" hangingPunct="1">
              <a:lnSpc>
                <a:spcPct val="90000"/>
              </a:lnSpc>
              <a:spcBef>
                <a:spcPct val="201000"/>
              </a:spcBef>
              <a:buFont typeface="Arial" panose="020B0604020202020204" pitchFamily="34" charset="0"/>
              <a:defRPr sz="4800" kern="1200">
                <a:solidFill>
                  <a:schemeClr val="tx1"/>
                </a:solidFill>
                <a:latin typeface="宋体" panose="02010600030101010101" pitchFamily="2" charset="-122"/>
                <a:ea typeface="宋体" panose="02010600030101010101" pitchFamily="2" charset="-122"/>
              </a:defRPr>
            </a:lvl2pPr>
            <a:lvl3pPr marL="2286000" indent="-457200" algn="l" defTabSz="1828800" eaLnBrk="1" hangingPunct="1">
              <a:lnSpc>
                <a:spcPct val="90000"/>
              </a:lnSpc>
              <a:spcBef>
                <a:spcPct val="201000"/>
              </a:spcBef>
              <a:buFont typeface="Arial" panose="020B0604020202020204" pitchFamily="34" charset="0"/>
              <a:buChar char="•"/>
              <a:defRPr sz="4000" kern="1200">
                <a:solidFill>
                  <a:schemeClr val="tx1"/>
                </a:solidFill>
              </a:defRPr>
            </a:lvl3pPr>
            <a:lvl4pPr marL="32004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4pPr>
            <a:lvl5pPr marL="41148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5pPr>
            <a:lvl6pPr marL="50292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6pPr>
            <a:lvl7pPr marL="59436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7pPr>
            <a:lvl8pPr marL="6857365"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8pPr>
            <a:lvl9pPr marL="7771765"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9pPr>
          </a:lstStyle>
          <a:p>
            <a:pPr marL="0" indent="0">
              <a:lnSpc>
                <a:spcPct val="150000"/>
              </a:lnSpc>
              <a:spcBef>
                <a:spcPts val="0"/>
              </a:spcBef>
              <a:buNone/>
            </a:pP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5</a:t>
            </a:r>
            <a:r>
              <a:rPr lang="zh-CN" altLang="en-US" sz="2400" dirty="0">
                <a:latin typeface="微软雅黑" panose="020B0503020204020204" pitchFamily="34" charset="-122"/>
                <a:ea typeface="微软雅黑" panose="020B0503020204020204" pitchFamily="34" charset="-122"/>
              </a:rPr>
              <a:t>）能判断负圈。</a:t>
            </a:r>
            <a:endParaRPr lang="en-US" altLang="zh-CN" sz="2400" dirty="0">
              <a:latin typeface="微软雅黑" panose="020B0503020204020204" pitchFamily="34" charset="-122"/>
              <a:ea typeface="微软雅黑" panose="020B0503020204020204" pitchFamily="34" charset="-122"/>
            </a:endParaRPr>
          </a:p>
          <a:p>
            <a:pPr>
              <a:lnSpc>
                <a:spcPct val="150000"/>
              </a:lnSpc>
              <a:spcBef>
                <a:spcPts val="0"/>
              </a:spcBef>
            </a:pPr>
            <a:r>
              <a:rPr lang="zh-CN" altLang="en-US" sz="2400" dirty="0">
                <a:latin typeface="微软雅黑" panose="020B0503020204020204" pitchFamily="34" charset="-122"/>
                <a:ea typeface="微软雅黑" panose="020B0503020204020204" pitchFamily="34" charset="-122"/>
              </a:rPr>
              <a:t>负圈：若图中有权值为负的边，某个经过这个负边的环路，所有边长相加的总长度也是负数，这就是负圈。在这个负圈上每绕一圈，总长度就更小，从而陷入在负圈上兜圈子的死循环。</a:t>
            </a:r>
            <a:endParaRPr lang="en-US" altLang="zh-CN" sz="2400" dirty="0">
              <a:latin typeface="微软雅黑" panose="020B0503020204020204" pitchFamily="34" charset="-122"/>
              <a:ea typeface="微软雅黑" panose="020B0503020204020204" pitchFamily="34" charset="-122"/>
            </a:endParaRPr>
          </a:p>
          <a:p>
            <a:pPr>
              <a:lnSpc>
                <a:spcPct val="150000"/>
              </a:lnSpc>
              <a:spcBef>
                <a:spcPts val="0"/>
              </a:spcBef>
            </a:pPr>
            <a:r>
              <a:rPr lang="en-US" altLang="zh-CN" sz="2400" dirty="0">
                <a:latin typeface="微软雅黑" panose="020B0503020204020204" pitchFamily="34" charset="-122"/>
                <a:ea typeface="微软雅黑" panose="020B0503020204020204" pitchFamily="34" charset="-122"/>
              </a:rPr>
              <a:t>Floyd</a:t>
            </a:r>
            <a:r>
              <a:rPr lang="zh-CN" altLang="en-US" sz="2400" dirty="0">
                <a:latin typeface="微软雅黑" panose="020B0503020204020204" pitchFamily="34" charset="-122"/>
                <a:ea typeface="微软雅黑" panose="020B0503020204020204" pitchFamily="34" charset="-122"/>
              </a:rPr>
              <a:t>算法很容易判断负圈，只要在算法运行过程出现任意一个</a:t>
            </a:r>
            <a:r>
              <a:rPr lang="en-US" altLang="zh-CN" sz="2400" dirty="0" err="1">
                <a:latin typeface="微软雅黑" panose="020B0503020204020204" pitchFamily="34" charset="-122"/>
                <a:ea typeface="微软雅黑" panose="020B0503020204020204" pitchFamily="34" charset="-122"/>
              </a:rPr>
              <a:t>dp</a:t>
            </a:r>
            <a:r>
              <a:rPr lang="en-US" altLang="zh-CN" sz="2400" dirty="0">
                <a:latin typeface="微软雅黑" panose="020B0503020204020204" pitchFamily="34" charset="-122"/>
                <a:ea typeface="微软雅黑" panose="020B0503020204020204" pitchFamily="34" charset="-122"/>
              </a:rPr>
              <a:t>[</a:t>
            </a:r>
            <a:r>
              <a:rPr lang="en-US" altLang="zh-CN" sz="2400" dirty="0" err="1">
                <a:latin typeface="微软雅黑" panose="020B0503020204020204" pitchFamily="34" charset="-122"/>
                <a:ea typeface="微软雅黑" panose="020B0503020204020204" pitchFamily="34" charset="-122"/>
              </a:rPr>
              <a:t>i</a:t>
            </a:r>
            <a:r>
              <a:rPr lang="en-US" altLang="zh-CN" sz="2400" dirty="0">
                <a:latin typeface="微软雅黑" panose="020B0503020204020204" pitchFamily="34" charset="-122"/>
                <a:ea typeface="微软雅黑" panose="020B0503020204020204" pitchFamily="34" charset="-122"/>
              </a:rPr>
              <a:t>][</a:t>
            </a:r>
            <a:r>
              <a:rPr lang="en-US" altLang="zh-CN" sz="2400" dirty="0" err="1">
                <a:latin typeface="微软雅黑" panose="020B0503020204020204" pitchFamily="34" charset="-122"/>
                <a:ea typeface="微软雅黑" panose="020B0503020204020204" pitchFamily="34" charset="-122"/>
              </a:rPr>
              <a:t>i</a:t>
            </a:r>
            <a:r>
              <a:rPr lang="en-US" altLang="zh-CN" sz="2400" dirty="0">
                <a:latin typeface="微软雅黑" panose="020B0503020204020204" pitchFamily="34" charset="-122"/>
                <a:ea typeface="微软雅黑" panose="020B0503020204020204" pitchFamily="34" charset="-122"/>
              </a:rPr>
              <a:t>] &lt; 0</a:t>
            </a:r>
            <a:r>
              <a:rPr lang="zh-CN" altLang="en-US" sz="2400" dirty="0">
                <a:latin typeface="微软雅黑" panose="020B0503020204020204" pitchFamily="34" charset="-122"/>
                <a:ea typeface="微软雅黑" panose="020B0503020204020204" pitchFamily="34" charset="-122"/>
              </a:rPr>
              <a:t>就说明有负圈。因为</a:t>
            </a:r>
            <a:r>
              <a:rPr lang="en-US" altLang="zh-CN" sz="2400" dirty="0" err="1">
                <a:latin typeface="微软雅黑" panose="020B0503020204020204" pitchFamily="34" charset="-122"/>
                <a:ea typeface="微软雅黑" panose="020B0503020204020204" pitchFamily="34" charset="-122"/>
              </a:rPr>
              <a:t>dp</a:t>
            </a:r>
            <a:r>
              <a:rPr lang="en-US" altLang="zh-CN" sz="2400" dirty="0">
                <a:latin typeface="微软雅黑" panose="020B0503020204020204" pitchFamily="34" charset="-122"/>
                <a:ea typeface="微软雅黑" panose="020B0503020204020204" pitchFamily="34" charset="-122"/>
              </a:rPr>
              <a:t>[</a:t>
            </a:r>
            <a:r>
              <a:rPr lang="en-US" altLang="zh-CN" sz="2400" dirty="0" err="1">
                <a:latin typeface="微软雅黑" panose="020B0503020204020204" pitchFamily="34" charset="-122"/>
                <a:ea typeface="微软雅黑" panose="020B0503020204020204" pitchFamily="34" charset="-122"/>
              </a:rPr>
              <a:t>i</a:t>
            </a:r>
            <a:r>
              <a:rPr lang="en-US" altLang="zh-CN" sz="2400" dirty="0">
                <a:latin typeface="微软雅黑" panose="020B0503020204020204" pitchFamily="34" charset="-122"/>
                <a:ea typeface="微软雅黑" panose="020B0503020204020204" pitchFamily="34" charset="-122"/>
              </a:rPr>
              <a:t>][</a:t>
            </a:r>
            <a:r>
              <a:rPr lang="en-US" altLang="zh-CN" sz="2400" dirty="0" err="1">
                <a:latin typeface="微软雅黑" panose="020B0503020204020204" pitchFamily="34" charset="-122"/>
                <a:ea typeface="微软雅黑" panose="020B0503020204020204" pitchFamily="34" charset="-122"/>
              </a:rPr>
              <a:t>i</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是从</a:t>
            </a:r>
            <a:r>
              <a:rPr lang="en-US" altLang="zh-CN" sz="2400" dirty="0" err="1">
                <a:latin typeface="微软雅黑" panose="020B0503020204020204" pitchFamily="34" charset="-122"/>
                <a:ea typeface="微软雅黑" panose="020B0503020204020204" pitchFamily="34" charset="-122"/>
              </a:rPr>
              <a:t>i</a:t>
            </a:r>
            <a:r>
              <a:rPr lang="zh-CN" altLang="en-US" sz="2400" dirty="0">
                <a:latin typeface="微软雅黑" panose="020B0503020204020204" pitchFamily="34" charset="-122"/>
                <a:ea typeface="微软雅黑" panose="020B0503020204020204" pitchFamily="34" charset="-122"/>
              </a:rPr>
              <a:t>出发，经过其他中转点绕一圈回到自己的最短路径，如果小于零，就存在负圈。</a:t>
            </a:r>
            <a:endParaRPr lang="zh-CN" altLang="en-US" sz="2400" dirty="0">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ransition spd="slow" advClick="0" advTm="50714">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animEffect transition="in" filter="fade">
                                      <p:cBhvr>
                                        <p:cTn id="7" dur="50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681165" y="69758"/>
            <a:ext cx="10454100" cy="88650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2800" dirty="0" smtClean="0">
                <a:solidFill>
                  <a:srgbClr val="C00000"/>
                </a:solidFill>
                <a:effectLst/>
                <a:latin typeface="微软雅黑" panose="020B0503020204020204" pitchFamily="34" charset="-122"/>
                <a:ea typeface="微软雅黑" panose="020B0503020204020204" pitchFamily="34" charset="-122"/>
              </a:rPr>
              <a:t>例题</a:t>
            </a:r>
            <a:r>
              <a:rPr lang="en-US" altLang="zh-CN" sz="2800" dirty="0" smtClean="0">
                <a:solidFill>
                  <a:srgbClr val="C00000"/>
                </a:solidFill>
                <a:effectLst/>
                <a:latin typeface="微软雅黑" panose="020B0503020204020204" pitchFamily="34" charset="-122"/>
                <a:ea typeface="微软雅黑" panose="020B0503020204020204" pitchFamily="34" charset="-122"/>
              </a:rPr>
              <a:t>9.2</a:t>
            </a:r>
            <a:r>
              <a:rPr lang="zh-CN" altLang="en-US" sz="2800" dirty="0" smtClean="0">
                <a:solidFill>
                  <a:srgbClr val="C00000"/>
                </a:solidFill>
                <a:effectLst/>
                <a:latin typeface="微软雅黑" panose="020B0503020204020204" pitchFamily="34" charset="-122"/>
                <a:ea typeface="微软雅黑" panose="020B0503020204020204" pitchFamily="34" charset="-122"/>
              </a:rPr>
              <a:t>：</a:t>
            </a:r>
            <a:r>
              <a:rPr lang="en-US" altLang="zh-CN" sz="2800" dirty="0">
                <a:solidFill>
                  <a:srgbClr val="C00000"/>
                </a:solidFill>
                <a:effectLst/>
                <a:latin typeface="微软雅黑" panose="020B0503020204020204" pitchFamily="34" charset="-122"/>
                <a:ea typeface="微软雅黑" panose="020B0503020204020204" pitchFamily="34" charset="-122"/>
              </a:rPr>
              <a:t>【</a:t>
            </a:r>
            <a:r>
              <a:rPr lang="zh-CN" altLang="en-US" sz="2800" dirty="0">
                <a:solidFill>
                  <a:srgbClr val="C00000"/>
                </a:solidFill>
                <a:effectLst/>
                <a:latin typeface="微软雅黑" panose="020B0503020204020204" pitchFamily="34" charset="-122"/>
                <a:ea typeface="微软雅黑" panose="020B0503020204020204" pitchFamily="34" charset="-122"/>
              </a:rPr>
              <a:t>模板</a:t>
            </a:r>
            <a:r>
              <a:rPr lang="en-US" altLang="zh-CN" sz="2800" dirty="0">
                <a:solidFill>
                  <a:srgbClr val="C00000"/>
                </a:solidFill>
                <a:effectLst/>
                <a:latin typeface="微软雅黑" panose="020B0503020204020204" pitchFamily="34" charset="-122"/>
                <a:ea typeface="微软雅黑" panose="020B0503020204020204" pitchFamily="34" charset="-122"/>
              </a:rPr>
              <a:t>】Floyd  </a:t>
            </a:r>
            <a:r>
              <a:rPr lang="en-US" altLang="zh-CN" sz="1800" dirty="0">
                <a:solidFill>
                  <a:srgbClr val="C00000"/>
                </a:solidFill>
                <a:effectLst/>
                <a:latin typeface="微软雅黑" panose="020B0503020204020204" pitchFamily="34" charset="-122"/>
                <a:ea typeface="微软雅黑" panose="020B0503020204020204" pitchFamily="34" charset="-122"/>
              </a:rPr>
              <a:t>https://www.luogu.com.cn/problem/B3647</a:t>
            </a:r>
            <a:endParaRPr lang="zh-CN" altLang="en-US" sz="1800" dirty="0">
              <a:solidFill>
                <a:srgbClr val="C00000"/>
              </a:solidFill>
              <a:effectLst/>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fld>
            <a:endParaRPr lang="en-US" altLang="zh-CN" b="0" dirty="0">
              <a:solidFill>
                <a:schemeClr val="tx1"/>
              </a:solidFill>
            </a:endParaRPr>
          </a:p>
        </p:txBody>
      </p:sp>
      <p:graphicFrame>
        <p:nvGraphicFramePr>
          <p:cNvPr id="4" name="表格 3"/>
          <p:cNvGraphicFramePr/>
          <p:nvPr>
            <p:custDataLst>
              <p:tags r:id="rId1"/>
            </p:custDataLst>
          </p:nvPr>
        </p:nvGraphicFramePr>
        <p:xfrm>
          <a:off x="579755" y="1139190"/>
          <a:ext cx="10656570" cy="5596255"/>
        </p:xfrm>
        <a:graphic>
          <a:graphicData uri="http://schemas.openxmlformats.org/drawingml/2006/table">
            <a:tbl>
              <a:tblPr/>
              <a:tblGrid>
                <a:gridCol w="5409565"/>
                <a:gridCol w="5247005"/>
              </a:tblGrid>
              <a:tr h="2837180">
                <a:tc gridSpan="2">
                  <a:txBody>
                    <a:bodyPr/>
                    <a:lstStyle/>
                    <a:p>
                      <a:pPr>
                        <a:lnSpc>
                          <a:spcPct val="150000"/>
                        </a:lnSpc>
                      </a:pP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问题描述：给出一张由</a:t>
                      </a:r>
                      <a:r>
                        <a:rPr lang="en-US"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n</a:t>
                      </a: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个点</a:t>
                      </a:r>
                      <a:r>
                        <a:rPr lang="en-US"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m</a:t>
                      </a: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条边组成的无向图。求出所有点对</a:t>
                      </a:r>
                      <a:r>
                        <a:rPr lang="en-US"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a:t>
                      </a:r>
                      <a:r>
                        <a:rPr lang="en-US" altLang="zh-CN" sz="2400" b="1" kern="1200" dirty="0" err="1" smtClean="0">
                          <a:solidFill>
                            <a:schemeClr val="tx1"/>
                          </a:solidFill>
                          <a:effectLst/>
                          <a:latin typeface="微软雅黑" panose="020B0503020204020204" pitchFamily="34" charset="-122"/>
                          <a:ea typeface="微软雅黑" panose="020B0503020204020204" pitchFamily="34" charset="-122"/>
                          <a:cs typeface="+mn-cs"/>
                        </a:rPr>
                        <a:t>i</a:t>
                      </a:r>
                      <a:r>
                        <a:rPr lang="en-US"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 j)</a:t>
                      </a: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之间的最短路径。</a:t>
                      </a:r>
                      <a:endPar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endParaRPr>
                    </a:p>
                    <a:p>
                      <a:pPr>
                        <a:lnSpc>
                          <a:spcPct val="150000"/>
                        </a:lnSpc>
                      </a:pP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输入：第一行为两个整数</a:t>
                      </a:r>
                      <a:r>
                        <a:rPr lang="en-US"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 </a:t>
                      </a:r>
                      <a:r>
                        <a:rPr lang="en-US" altLang="zh-CN" sz="2400" b="1" kern="1200" dirty="0" err="1" smtClean="0">
                          <a:solidFill>
                            <a:schemeClr val="tx1"/>
                          </a:solidFill>
                          <a:effectLst/>
                          <a:latin typeface="微软雅黑" panose="020B0503020204020204" pitchFamily="34" charset="-122"/>
                          <a:ea typeface="微软雅黑" panose="020B0503020204020204" pitchFamily="34" charset="-122"/>
                          <a:cs typeface="+mn-cs"/>
                        </a:rPr>
                        <a:t>n,m</a:t>
                      </a: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，分别代表点的个数和边的条数。接下来</a:t>
                      </a:r>
                      <a:r>
                        <a:rPr lang="en-US"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m</a:t>
                      </a: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行，每行三个整数</a:t>
                      </a:r>
                      <a:r>
                        <a:rPr lang="en-US"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u, v, w</a:t>
                      </a: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，代表</a:t>
                      </a:r>
                      <a:r>
                        <a:rPr lang="en-US"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u, v</a:t>
                      </a: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之间存在一条边权为</a:t>
                      </a:r>
                      <a:r>
                        <a:rPr lang="en-US"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w</a:t>
                      </a: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的边。 </a:t>
                      </a:r>
                      <a:endPar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endParaRPr>
                    </a:p>
                    <a:p>
                      <a:pPr>
                        <a:lnSpc>
                          <a:spcPct val="150000"/>
                        </a:lnSpc>
                      </a:pP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输出：输出</a:t>
                      </a:r>
                      <a:r>
                        <a:rPr lang="en-US"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n</a:t>
                      </a: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行每行</a:t>
                      </a:r>
                      <a:r>
                        <a:rPr lang="en-US"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n</a:t>
                      </a: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个整数。第</a:t>
                      </a:r>
                      <a:r>
                        <a:rPr lang="en-US" altLang="zh-CN" sz="2400" b="1" kern="1200" dirty="0" err="1" smtClean="0">
                          <a:solidFill>
                            <a:schemeClr val="tx1"/>
                          </a:solidFill>
                          <a:effectLst/>
                          <a:latin typeface="微软雅黑" panose="020B0503020204020204" pitchFamily="34" charset="-122"/>
                          <a:ea typeface="微软雅黑" panose="020B0503020204020204" pitchFamily="34" charset="-122"/>
                          <a:cs typeface="+mn-cs"/>
                        </a:rPr>
                        <a:t>i</a:t>
                      </a: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行的第</a:t>
                      </a:r>
                      <a:r>
                        <a:rPr lang="en-US"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j</a:t>
                      </a: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个整数代表从</a:t>
                      </a:r>
                      <a:r>
                        <a:rPr lang="en-US" altLang="zh-CN" sz="2400" b="1" kern="1200" dirty="0" err="1" smtClean="0">
                          <a:solidFill>
                            <a:schemeClr val="tx1"/>
                          </a:solidFill>
                          <a:effectLst/>
                          <a:latin typeface="微软雅黑" panose="020B0503020204020204" pitchFamily="34" charset="-122"/>
                          <a:ea typeface="微软雅黑" panose="020B0503020204020204" pitchFamily="34" charset="-122"/>
                          <a:cs typeface="+mn-cs"/>
                        </a:rPr>
                        <a:t>i</a:t>
                      </a: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到</a:t>
                      </a:r>
                      <a:r>
                        <a:rPr lang="en-US"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j</a:t>
                      </a: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的最短路径。</a:t>
                      </a:r>
                      <a:endParaRPr lang="zh-CN" altLang="en-US" sz="3200" b="1" dirty="0">
                        <a:latin typeface="微软雅黑" panose="020B0503020204020204" pitchFamily="34" charset="-122"/>
                        <a:ea typeface="微软雅黑" panose="020B0503020204020204" pitchFamily="34"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lgn="ctr">
                      <a:solidFill>
                        <a:srgbClr val="000008"/>
                      </a:solidFill>
                      <a:prstDash val="solid"/>
                      <a:round/>
                      <a:headEnd type="none" w="med" len="med"/>
                      <a:tailEnd type="none" w="med" len="med"/>
                    </a:lnB>
                    <a:noFill/>
                  </a:tcPr>
                </a:tc>
                <a:tc hMerge="1">
                  <a:tcPr>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r>
              <a:tr h="1828800">
                <a:tc>
                  <a:txBody>
                    <a:bodyPr/>
                    <a:lstStyle/>
                    <a:p>
                      <a:pPr algn="just">
                        <a:spcAft>
                          <a:spcPts val="0"/>
                        </a:spcAft>
                      </a:pPr>
                      <a:r>
                        <a:rPr lang="zh-CN" sz="2000" b="0" kern="2200" dirty="0">
                          <a:effectLst/>
                          <a:latin typeface="Times New Roman" panose="02020603050405020304" pitchFamily="18" charset="0"/>
                          <a:ea typeface="宋体" panose="02010600030101010101" pitchFamily="2" charset="-122"/>
                          <a:cs typeface="Times New Roman" panose="02020603050405020304" pitchFamily="18" charset="0"/>
                        </a:rPr>
                        <a:t>输入样例：</a:t>
                      </a:r>
                      <a:r>
                        <a:rPr lang="zh-CN" sz="2000" b="0" kern="2200" dirty="0">
                          <a:effectLst/>
                          <a:latin typeface="Calibri" panose="020F0502020204030204" charset="0"/>
                          <a:ea typeface="Times New Roman" panose="02020603050405020304" pitchFamily="18" charset="0"/>
                          <a:cs typeface="Times New Roman" panose="02020603050405020304" pitchFamily="18" charset="0"/>
                        </a:rPr>
                        <a:t> </a:t>
                      </a:r>
                      <a:endParaRPr lang="zh-CN" sz="2000" b="1" kern="2200" dirty="0">
                        <a:effectLst/>
                        <a:latin typeface="Calibri" panose="020F0502020204030204" charset="0"/>
                        <a:ea typeface="宋体" panose="02010600030101010101" pitchFamily="2" charset="-122"/>
                        <a:cs typeface="Times New Roman" panose="02020603050405020304" pitchFamily="18" charset="0"/>
                      </a:endParaRPr>
                    </a:p>
                    <a:p>
                      <a:pPr algn="just">
                        <a:spcAft>
                          <a:spcPts val="0"/>
                        </a:spcAft>
                      </a:pPr>
                      <a:r>
                        <a:rPr lang="en-US" sz="2000" b="0" kern="2200" dirty="0">
                          <a:effectLst/>
                          <a:latin typeface="Times New Roman" panose="02020603050405020304" pitchFamily="18" charset="0"/>
                          <a:ea typeface="宋体" panose="02010600030101010101" pitchFamily="2" charset="-122"/>
                          <a:cs typeface="Times New Roman" panose="02020603050405020304" pitchFamily="18" charset="0"/>
                        </a:rPr>
                        <a:t>4 4</a:t>
                      </a:r>
                      <a:endParaRPr lang="zh-CN" sz="2000" b="1" kern="2200" dirty="0">
                        <a:effectLst/>
                        <a:latin typeface="Calibri" panose="020F0502020204030204" charset="0"/>
                        <a:ea typeface="宋体" panose="02010600030101010101" pitchFamily="2" charset="-122"/>
                        <a:cs typeface="Times New Roman" panose="02020603050405020304" pitchFamily="18" charset="0"/>
                      </a:endParaRPr>
                    </a:p>
                    <a:p>
                      <a:pPr algn="just">
                        <a:spcAft>
                          <a:spcPts val="0"/>
                        </a:spcAft>
                      </a:pPr>
                      <a:r>
                        <a:rPr lang="en-US" sz="2000" b="0" kern="2200" dirty="0">
                          <a:effectLst/>
                          <a:latin typeface="Times New Roman" panose="02020603050405020304" pitchFamily="18" charset="0"/>
                          <a:ea typeface="宋体" panose="02010600030101010101" pitchFamily="2" charset="-122"/>
                          <a:cs typeface="Times New Roman" panose="02020603050405020304" pitchFamily="18" charset="0"/>
                        </a:rPr>
                        <a:t>1 2 1</a:t>
                      </a:r>
                      <a:endParaRPr lang="zh-CN" sz="2000" b="1" kern="2200" dirty="0">
                        <a:effectLst/>
                        <a:latin typeface="Calibri" panose="020F0502020204030204" charset="0"/>
                        <a:ea typeface="宋体" panose="02010600030101010101" pitchFamily="2" charset="-122"/>
                        <a:cs typeface="Times New Roman" panose="02020603050405020304" pitchFamily="18" charset="0"/>
                      </a:endParaRPr>
                    </a:p>
                    <a:p>
                      <a:pPr algn="just">
                        <a:spcAft>
                          <a:spcPts val="0"/>
                        </a:spcAft>
                      </a:pPr>
                      <a:r>
                        <a:rPr lang="en-US" sz="2000" b="0" kern="2200" dirty="0">
                          <a:effectLst/>
                          <a:latin typeface="Times New Roman" panose="02020603050405020304" pitchFamily="18" charset="0"/>
                          <a:ea typeface="宋体" panose="02010600030101010101" pitchFamily="2" charset="-122"/>
                          <a:cs typeface="Times New Roman" panose="02020603050405020304" pitchFamily="18" charset="0"/>
                        </a:rPr>
                        <a:t>2 3 1</a:t>
                      </a:r>
                      <a:endParaRPr lang="zh-CN" sz="2000" b="1" kern="2200" dirty="0">
                        <a:effectLst/>
                        <a:latin typeface="Calibri" panose="020F0502020204030204" charset="0"/>
                        <a:ea typeface="宋体" panose="02010600030101010101" pitchFamily="2" charset="-122"/>
                        <a:cs typeface="Times New Roman" panose="02020603050405020304" pitchFamily="18" charset="0"/>
                      </a:endParaRPr>
                    </a:p>
                    <a:p>
                      <a:pPr algn="just">
                        <a:spcAft>
                          <a:spcPts val="0"/>
                        </a:spcAft>
                      </a:pPr>
                      <a:r>
                        <a:rPr lang="en-US" sz="2000" b="0" kern="2200" dirty="0">
                          <a:effectLst/>
                          <a:latin typeface="Times New Roman" panose="02020603050405020304" pitchFamily="18" charset="0"/>
                          <a:ea typeface="宋体" panose="02010600030101010101" pitchFamily="2" charset="-122"/>
                          <a:cs typeface="Times New Roman" panose="02020603050405020304" pitchFamily="18" charset="0"/>
                        </a:rPr>
                        <a:t>3 4 1</a:t>
                      </a:r>
                      <a:endParaRPr lang="zh-CN" sz="2000" b="1" kern="2200" dirty="0">
                        <a:effectLst/>
                        <a:latin typeface="Calibri" panose="020F0502020204030204" charset="0"/>
                        <a:ea typeface="宋体" panose="02010600030101010101" pitchFamily="2" charset="-122"/>
                        <a:cs typeface="Times New Roman" panose="02020603050405020304" pitchFamily="18" charset="0"/>
                      </a:endParaRPr>
                    </a:p>
                    <a:p>
                      <a:pPr algn="just">
                        <a:spcAft>
                          <a:spcPts val="0"/>
                        </a:spcAft>
                      </a:pPr>
                      <a:r>
                        <a:rPr lang="en-US" sz="2000" b="0" kern="2200" dirty="0">
                          <a:effectLst/>
                          <a:latin typeface="Times New Roman" panose="02020603050405020304" pitchFamily="18" charset="0"/>
                          <a:ea typeface="宋体" panose="02010600030101010101" pitchFamily="2" charset="-122"/>
                          <a:cs typeface="Times New Roman" panose="02020603050405020304" pitchFamily="18" charset="0"/>
                        </a:rPr>
                        <a:t>4 1 1</a:t>
                      </a:r>
                      <a:endParaRPr lang="zh-CN" sz="2000" b="1" kern="22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gn="just">
                        <a:spcAft>
                          <a:spcPts val="0"/>
                        </a:spcAft>
                      </a:pPr>
                      <a:r>
                        <a:rPr lang="zh-CN" sz="2000" b="0" kern="2200" dirty="0">
                          <a:effectLst/>
                          <a:latin typeface="Times New Roman" panose="02020603050405020304" pitchFamily="18" charset="0"/>
                          <a:ea typeface="宋体" panose="02010600030101010101" pitchFamily="2" charset="-122"/>
                          <a:cs typeface="Times New Roman" panose="02020603050405020304" pitchFamily="18" charset="0"/>
                        </a:rPr>
                        <a:t>输出样例：</a:t>
                      </a:r>
                      <a:endParaRPr lang="zh-CN" sz="2000" b="1" kern="2200" dirty="0">
                        <a:effectLst/>
                        <a:latin typeface="Calibri" panose="020F0502020204030204" charset="0"/>
                        <a:ea typeface="宋体" panose="02010600030101010101" pitchFamily="2" charset="-122"/>
                        <a:cs typeface="Times New Roman" panose="02020603050405020304" pitchFamily="18" charset="0"/>
                      </a:endParaRPr>
                    </a:p>
                    <a:p>
                      <a:pPr algn="just">
                        <a:spcAft>
                          <a:spcPts val="0"/>
                        </a:spcAft>
                      </a:pPr>
                      <a:r>
                        <a:rPr lang="en-US" sz="2000" b="0" kern="2200" dirty="0">
                          <a:effectLst/>
                          <a:latin typeface="Times New Roman" panose="02020603050405020304" pitchFamily="18" charset="0"/>
                          <a:ea typeface="宋体" panose="02010600030101010101" pitchFamily="2" charset="-122"/>
                          <a:cs typeface="Times New Roman" panose="02020603050405020304" pitchFamily="18" charset="0"/>
                        </a:rPr>
                        <a:t>0 1 2 1</a:t>
                      </a:r>
                      <a:endParaRPr lang="zh-CN" sz="2000" b="1" kern="2200" dirty="0">
                        <a:effectLst/>
                        <a:latin typeface="Calibri" panose="020F0502020204030204" charset="0"/>
                        <a:ea typeface="宋体" panose="02010600030101010101" pitchFamily="2" charset="-122"/>
                        <a:cs typeface="Times New Roman" panose="02020603050405020304" pitchFamily="18" charset="0"/>
                      </a:endParaRPr>
                    </a:p>
                    <a:p>
                      <a:pPr algn="just">
                        <a:spcAft>
                          <a:spcPts val="0"/>
                        </a:spcAft>
                      </a:pPr>
                      <a:r>
                        <a:rPr lang="en-US" sz="2000" b="0" kern="2200" dirty="0">
                          <a:effectLst/>
                          <a:latin typeface="Times New Roman" panose="02020603050405020304" pitchFamily="18" charset="0"/>
                          <a:ea typeface="宋体" panose="02010600030101010101" pitchFamily="2" charset="-122"/>
                          <a:cs typeface="Times New Roman" panose="02020603050405020304" pitchFamily="18" charset="0"/>
                        </a:rPr>
                        <a:t>1 0 1 2</a:t>
                      </a:r>
                      <a:endParaRPr lang="zh-CN" sz="2000" b="1" kern="2200" dirty="0">
                        <a:effectLst/>
                        <a:latin typeface="Calibri" panose="020F0502020204030204" charset="0"/>
                        <a:ea typeface="宋体" panose="02010600030101010101" pitchFamily="2" charset="-122"/>
                        <a:cs typeface="Times New Roman" panose="02020603050405020304" pitchFamily="18" charset="0"/>
                      </a:endParaRPr>
                    </a:p>
                    <a:p>
                      <a:pPr algn="just">
                        <a:spcAft>
                          <a:spcPts val="0"/>
                        </a:spcAft>
                      </a:pPr>
                      <a:r>
                        <a:rPr lang="en-US" sz="2000" b="0" kern="2200" dirty="0">
                          <a:effectLst/>
                          <a:latin typeface="Times New Roman" panose="02020603050405020304" pitchFamily="18" charset="0"/>
                          <a:ea typeface="宋体" panose="02010600030101010101" pitchFamily="2" charset="-122"/>
                          <a:cs typeface="Times New Roman" panose="02020603050405020304" pitchFamily="18" charset="0"/>
                        </a:rPr>
                        <a:t>2 1 0 1</a:t>
                      </a:r>
                      <a:endParaRPr lang="zh-CN" sz="2000" b="1" kern="2200" dirty="0">
                        <a:effectLst/>
                        <a:latin typeface="Calibri" panose="020F0502020204030204" charset="0"/>
                        <a:ea typeface="宋体" panose="02010600030101010101" pitchFamily="2" charset="-122"/>
                        <a:cs typeface="Times New Roman" panose="02020603050405020304" pitchFamily="18" charset="0"/>
                      </a:endParaRPr>
                    </a:p>
                    <a:p>
                      <a:pPr algn="just">
                        <a:spcAft>
                          <a:spcPts val="0"/>
                        </a:spcAft>
                      </a:pPr>
                      <a:r>
                        <a:rPr lang="en-US" sz="2000" b="0" kern="2200" dirty="0">
                          <a:effectLst/>
                          <a:latin typeface="Times New Roman" panose="02020603050405020304" pitchFamily="18" charset="0"/>
                          <a:ea typeface="宋体" panose="02010600030101010101" pitchFamily="2" charset="-122"/>
                          <a:cs typeface="Times New Roman" panose="02020603050405020304" pitchFamily="18" charset="0"/>
                        </a:rPr>
                        <a:t>1 2 1 0</a:t>
                      </a:r>
                      <a:endParaRPr lang="zh-CN" sz="2000" b="1" kern="22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930275">
                <a:tc gridSpan="2">
                  <a:txBody>
                    <a:bodyPr/>
                    <a:lstStyle/>
                    <a:p>
                      <a:pPr algn="just">
                        <a:spcAft>
                          <a:spcPts val="0"/>
                        </a:spcAft>
                      </a:pPr>
                      <a:r>
                        <a:rPr lang="zh-CN" altLang="zh-CN" sz="2000" kern="1200" dirty="0" smtClean="0">
                          <a:solidFill>
                            <a:schemeClr val="tx1"/>
                          </a:solidFill>
                          <a:effectLst/>
                          <a:latin typeface="+mn-lt"/>
                          <a:ea typeface="+mn-ea"/>
                          <a:cs typeface="+mn-cs"/>
                        </a:rPr>
                        <a:t>对于</a:t>
                      </a:r>
                      <a:r>
                        <a:rPr lang="en-US" altLang="zh-CN" sz="2000" kern="1200" dirty="0" smtClean="0">
                          <a:solidFill>
                            <a:schemeClr val="tx1"/>
                          </a:solidFill>
                          <a:effectLst/>
                          <a:latin typeface="+mn-lt"/>
                          <a:ea typeface="+mn-ea"/>
                          <a:cs typeface="+mn-cs"/>
                        </a:rPr>
                        <a:t>100%</a:t>
                      </a:r>
                      <a:r>
                        <a:rPr lang="zh-CN" altLang="zh-CN" sz="2000" kern="1200" dirty="0" smtClean="0">
                          <a:solidFill>
                            <a:schemeClr val="tx1"/>
                          </a:solidFill>
                          <a:effectLst/>
                          <a:latin typeface="+mn-lt"/>
                          <a:ea typeface="+mn-ea"/>
                          <a:cs typeface="+mn-cs"/>
                        </a:rPr>
                        <a:t>的数据，</a:t>
                      </a:r>
                      <a:r>
                        <a:rPr lang="en-US" altLang="zh-CN" sz="2000" kern="1200" dirty="0" smtClean="0">
                          <a:solidFill>
                            <a:schemeClr val="tx1"/>
                          </a:solidFill>
                          <a:effectLst/>
                          <a:latin typeface="+mn-lt"/>
                          <a:ea typeface="+mn-ea"/>
                          <a:cs typeface="+mn-cs"/>
                        </a:rPr>
                        <a:t>n</a:t>
                      </a:r>
                      <a:r>
                        <a:rPr lang="zh-CN" altLang="zh-CN" sz="2000" kern="1200" dirty="0" smtClean="0">
                          <a:solidFill>
                            <a:schemeClr val="tx1"/>
                          </a:solidFill>
                          <a:effectLst/>
                          <a:latin typeface="+mn-lt"/>
                          <a:ea typeface="+mn-ea"/>
                          <a:cs typeface="+mn-cs"/>
                        </a:rPr>
                        <a:t>≤</a:t>
                      </a:r>
                      <a:r>
                        <a:rPr lang="en-US" altLang="zh-CN" sz="2000" kern="1200" dirty="0" smtClean="0">
                          <a:solidFill>
                            <a:schemeClr val="tx1"/>
                          </a:solidFill>
                          <a:effectLst/>
                          <a:latin typeface="+mn-lt"/>
                          <a:ea typeface="+mn-ea"/>
                          <a:cs typeface="+mn-cs"/>
                        </a:rPr>
                        <a:t>100</a:t>
                      </a:r>
                      <a:r>
                        <a:rPr lang="zh-CN" altLang="zh-CN" sz="2000" kern="1200" dirty="0" smtClean="0">
                          <a:solidFill>
                            <a:schemeClr val="tx1"/>
                          </a:solidFill>
                          <a:effectLst/>
                          <a:latin typeface="+mn-lt"/>
                          <a:ea typeface="+mn-ea"/>
                          <a:cs typeface="+mn-cs"/>
                        </a:rPr>
                        <a:t>，</a:t>
                      </a:r>
                      <a:r>
                        <a:rPr lang="en-US" altLang="zh-CN" sz="2000" kern="1200" dirty="0" smtClean="0">
                          <a:solidFill>
                            <a:schemeClr val="tx1"/>
                          </a:solidFill>
                          <a:effectLst/>
                          <a:latin typeface="+mn-lt"/>
                          <a:ea typeface="+mn-ea"/>
                          <a:cs typeface="+mn-cs"/>
                        </a:rPr>
                        <a:t>m</a:t>
                      </a:r>
                      <a:r>
                        <a:rPr lang="zh-CN" altLang="zh-CN" sz="2000" kern="1200" dirty="0" smtClean="0">
                          <a:solidFill>
                            <a:schemeClr val="tx1"/>
                          </a:solidFill>
                          <a:effectLst/>
                          <a:latin typeface="+mn-lt"/>
                          <a:ea typeface="+mn-ea"/>
                          <a:cs typeface="+mn-cs"/>
                        </a:rPr>
                        <a:t>≤</a:t>
                      </a:r>
                      <a:r>
                        <a:rPr lang="en-US" altLang="zh-CN" sz="2000" kern="1200" dirty="0" smtClean="0">
                          <a:solidFill>
                            <a:schemeClr val="tx1"/>
                          </a:solidFill>
                          <a:effectLst/>
                          <a:latin typeface="+mn-lt"/>
                          <a:ea typeface="+mn-ea"/>
                          <a:cs typeface="+mn-cs"/>
                        </a:rPr>
                        <a:t>4500</a:t>
                      </a:r>
                      <a:r>
                        <a:rPr lang="zh-CN" altLang="zh-CN" sz="2000" kern="1200" dirty="0" smtClean="0">
                          <a:solidFill>
                            <a:schemeClr val="tx1"/>
                          </a:solidFill>
                          <a:effectLst/>
                          <a:latin typeface="+mn-lt"/>
                          <a:ea typeface="+mn-ea"/>
                          <a:cs typeface="+mn-cs"/>
                        </a:rPr>
                        <a:t>，任意一条边的权值</a:t>
                      </a:r>
                      <a:r>
                        <a:rPr lang="en-US" altLang="zh-CN" sz="2000" kern="1200" dirty="0" smtClean="0">
                          <a:solidFill>
                            <a:schemeClr val="tx1"/>
                          </a:solidFill>
                          <a:effectLst/>
                          <a:latin typeface="+mn-lt"/>
                          <a:ea typeface="+mn-ea"/>
                          <a:cs typeface="+mn-cs"/>
                        </a:rPr>
                        <a:t>w</a:t>
                      </a:r>
                      <a:r>
                        <a:rPr lang="zh-CN" altLang="zh-CN" sz="2000" kern="1200" dirty="0" smtClean="0">
                          <a:solidFill>
                            <a:schemeClr val="tx1"/>
                          </a:solidFill>
                          <a:effectLst/>
                          <a:latin typeface="+mn-lt"/>
                          <a:ea typeface="+mn-ea"/>
                          <a:cs typeface="+mn-cs"/>
                        </a:rPr>
                        <a:t>是正整数且</a:t>
                      </a:r>
                      <a:r>
                        <a:rPr lang="en-US" altLang="zh-CN" sz="2000" kern="1200" dirty="0" smtClean="0">
                          <a:solidFill>
                            <a:schemeClr val="tx1"/>
                          </a:solidFill>
                          <a:effectLst/>
                          <a:latin typeface="+mn-lt"/>
                          <a:ea typeface="+mn-ea"/>
                          <a:cs typeface="+mn-cs"/>
                        </a:rPr>
                        <a:t>1⩽w⩽1000</a:t>
                      </a:r>
                      <a:r>
                        <a:rPr lang="zh-CN" altLang="zh-CN" sz="2000" kern="1200" dirty="0" smtClean="0">
                          <a:solidFill>
                            <a:schemeClr val="tx1"/>
                          </a:solidFill>
                          <a:effectLst/>
                          <a:latin typeface="+mn-lt"/>
                          <a:ea typeface="+mn-ea"/>
                          <a:cs typeface="+mn-cs"/>
                        </a:rPr>
                        <a:t>。</a:t>
                      </a:r>
                      <a:endParaRPr lang="zh-CN" sz="2000" b="1" kern="22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lgn="ctr">
                      <a:solidFill>
                        <a:srgbClr val="000008"/>
                      </a:solidFill>
                      <a:prstDash val="solid"/>
                      <a:round/>
                      <a:headEnd type="none" w="med" len="med"/>
                      <a:tailEnd type="none" w="med" len="med"/>
                    </a:lnT>
                    <a:lnB w="6350" cap="flat" cmpd="sng">
                      <a:solidFill>
                        <a:srgbClr val="000008"/>
                      </a:solidFill>
                      <a:prstDash val="solid"/>
                      <a:headEnd type="none" w="med" len="med"/>
                      <a:tailEnd type="none" w="med" len="med"/>
                    </a:lnB>
                    <a:noFill/>
                  </a:tcPr>
                </a:tc>
                <a:tc hMerge="1">
                  <a:tcPr>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80440"/>
    </mc:Choice>
    <mc:Fallback>
      <p:transition spd="slow" advTm="80440"/>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fld>
            <a:endParaRPr lang="en-US" altLang="zh-CN" b="0" dirty="0">
              <a:solidFill>
                <a:schemeClr val="tx1"/>
              </a:solidFill>
            </a:endParaRPr>
          </a:p>
        </p:txBody>
      </p:sp>
      <p:sp>
        <p:nvSpPr>
          <p:cNvPr id="21" name="内容占位符 2"/>
          <p:cNvSpPr txBox="1"/>
          <p:nvPr/>
        </p:nvSpPr>
        <p:spPr>
          <a:xfrm>
            <a:off x="3805425" y="-83215"/>
            <a:ext cx="8398775" cy="61167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zh-CN" sz="1800" b="0" dirty="0">
                <a:latin typeface="宋体" panose="02010600030101010101" pitchFamily="2" charset="-122"/>
                <a:ea typeface="宋体" panose="02010600030101010101" pitchFamily="2" charset="-122"/>
              </a:rPr>
              <a:t>#include &lt;bits/</a:t>
            </a:r>
            <a:r>
              <a:rPr lang="en-US" altLang="zh-CN" sz="1800" b="0" dirty="0" err="1">
                <a:latin typeface="宋体" panose="02010600030101010101" pitchFamily="2" charset="-122"/>
                <a:ea typeface="宋体" panose="02010600030101010101" pitchFamily="2" charset="-122"/>
              </a:rPr>
              <a:t>stdc</a:t>
            </a:r>
            <a:r>
              <a:rPr lang="en-US" altLang="zh-CN" sz="1800" b="0" dirty="0">
                <a:latin typeface="宋体" panose="02010600030101010101" pitchFamily="2" charset="-122"/>
                <a:ea typeface="宋体" panose="02010600030101010101" pitchFamily="2" charset="-122"/>
              </a:rPr>
              <a:t>++.h&gt;</a:t>
            </a:r>
            <a:endParaRPr lang="zh-CN" altLang="zh-CN" sz="1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800" b="0" dirty="0">
                <a:latin typeface="宋体" panose="02010600030101010101" pitchFamily="2" charset="-122"/>
                <a:ea typeface="宋体" panose="02010600030101010101" pitchFamily="2" charset="-122"/>
              </a:rPr>
              <a:t>using namespace </a:t>
            </a:r>
            <a:r>
              <a:rPr lang="en-US" altLang="zh-CN" sz="1800" b="0" dirty="0" err="1">
                <a:latin typeface="宋体" panose="02010600030101010101" pitchFamily="2" charset="-122"/>
                <a:ea typeface="宋体" panose="02010600030101010101" pitchFamily="2" charset="-122"/>
              </a:rPr>
              <a:t>std</a:t>
            </a:r>
            <a:r>
              <a:rPr lang="en-US" altLang="zh-CN" sz="1800" b="0" dirty="0">
                <a:latin typeface="宋体" panose="02010600030101010101" pitchFamily="2" charset="-122"/>
                <a:ea typeface="宋体" panose="02010600030101010101" pitchFamily="2" charset="-122"/>
              </a:rPr>
              <a:t>;</a:t>
            </a:r>
            <a:endParaRPr lang="zh-CN" altLang="zh-CN" sz="1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800" b="0" dirty="0" err="1">
                <a:latin typeface="宋体" panose="02010600030101010101" pitchFamily="2" charset="-122"/>
                <a:ea typeface="宋体" panose="02010600030101010101" pitchFamily="2" charset="-122"/>
              </a:rPr>
              <a:t>const</a:t>
            </a:r>
            <a:r>
              <a:rPr lang="en-US" altLang="zh-CN" sz="1800" b="0" dirty="0">
                <a:latin typeface="宋体" panose="02010600030101010101" pitchFamily="2" charset="-122"/>
                <a:ea typeface="宋体" panose="02010600030101010101" pitchFamily="2" charset="-122"/>
              </a:rPr>
              <a:t> </a:t>
            </a:r>
            <a:r>
              <a:rPr lang="en-US" altLang="zh-CN" sz="1800" b="0" dirty="0" err="1">
                <a:latin typeface="宋体" panose="02010600030101010101" pitchFamily="2" charset="-122"/>
                <a:ea typeface="宋体" panose="02010600030101010101" pitchFamily="2" charset="-122"/>
              </a:rPr>
              <a:t>int</a:t>
            </a:r>
            <a:r>
              <a:rPr lang="en-US" altLang="zh-CN" sz="1800" b="0" dirty="0">
                <a:latin typeface="宋体" panose="02010600030101010101" pitchFamily="2" charset="-122"/>
                <a:ea typeface="宋体" panose="02010600030101010101" pitchFamily="2" charset="-122"/>
              </a:rPr>
              <a:t> N = 101;</a:t>
            </a:r>
            <a:endParaRPr lang="zh-CN" altLang="zh-CN" sz="1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800" b="0" dirty="0" err="1">
                <a:latin typeface="宋体" panose="02010600030101010101" pitchFamily="2" charset="-122"/>
                <a:ea typeface="宋体" panose="02010600030101010101" pitchFamily="2" charset="-122"/>
              </a:rPr>
              <a:t>int</a:t>
            </a:r>
            <a:r>
              <a:rPr lang="en-US" altLang="zh-CN" sz="1800" b="0" dirty="0">
                <a:latin typeface="宋体" panose="02010600030101010101" pitchFamily="2" charset="-122"/>
                <a:ea typeface="宋体" panose="02010600030101010101" pitchFamily="2" charset="-122"/>
              </a:rPr>
              <a:t> e[N][N];</a:t>
            </a:r>
            <a:endParaRPr lang="zh-CN" altLang="zh-CN" sz="1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800" b="0" dirty="0" err="1">
                <a:latin typeface="宋体" panose="02010600030101010101" pitchFamily="2" charset="-122"/>
                <a:ea typeface="宋体" panose="02010600030101010101" pitchFamily="2" charset="-122"/>
              </a:rPr>
              <a:t>int</a:t>
            </a:r>
            <a:r>
              <a:rPr lang="en-US" altLang="zh-CN" sz="1800" b="0" dirty="0">
                <a:latin typeface="宋体" panose="02010600030101010101" pitchFamily="2" charset="-122"/>
                <a:ea typeface="宋体" panose="02010600030101010101" pitchFamily="2" charset="-122"/>
              </a:rPr>
              <a:t> main() {</a:t>
            </a:r>
            <a:endParaRPr lang="zh-CN" altLang="zh-CN" sz="1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800" b="0" dirty="0">
                <a:latin typeface="宋体" panose="02010600030101010101" pitchFamily="2" charset="-122"/>
                <a:ea typeface="宋体" panose="02010600030101010101" pitchFamily="2" charset="-122"/>
              </a:rPr>
              <a:t>    </a:t>
            </a:r>
            <a:r>
              <a:rPr lang="en-US" altLang="zh-CN" sz="1800" b="0" dirty="0" err="1">
                <a:latin typeface="宋体" panose="02010600030101010101" pitchFamily="2" charset="-122"/>
                <a:ea typeface="宋体" panose="02010600030101010101" pitchFamily="2" charset="-122"/>
              </a:rPr>
              <a:t>int</a:t>
            </a:r>
            <a:r>
              <a:rPr lang="en-US" altLang="zh-CN" sz="1800" b="0" dirty="0">
                <a:latin typeface="宋体" panose="02010600030101010101" pitchFamily="2" charset="-122"/>
                <a:ea typeface="宋体" panose="02010600030101010101" pitchFamily="2" charset="-122"/>
              </a:rPr>
              <a:t> </a:t>
            </a:r>
            <a:r>
              <a:rPr lang="en-US" altLang="zh-CN" sz="1800" b="0" dirty="0" err="1">
                <a:latin typeface="宋体" panose="02010600030101010101" pitchFamily="2" charset="-122"/>
                <a:ea typeface="宋体" panose="02010600030101010101" pitchFamily="2" charset="-122"/>
              </a:rPr>
              <a:t>n,m</a:t>
            </a:r>
            <a:r>
              <a:rPr lang="en-US" altLang="zh-CN" sz="1800" b="0" dirty="0">
                <a:latin typeface="宋体" panose="02010600030101010101" pitchFamily="2" charset="-122"/>
                <a:ea typeface="宋体" panose="02010600030101010101" pitchFamily="2" charset="-122"/>
              </a:rPr>
              <a:t>;  </a:t>
            </a:r>
            <a:r>
              <a:rPr lang="en-US" altLang="zh-CN" sz="1800" b="0" dirty="0" err="1">
                <a:latin typeface="宋体" panose="02010600030101010101" pitchFamily="2" charset="-122"/>
                <a:ea typeface="宋体" panose="02010600030101010101" pitchFamily="2" charset="-122"/>
              </a:rPr>
              <a:t>cin</a:t>
            </a:r>
            <a:r>
              <a:rPr lang="en-US" altLang="zh-CN" sz="1800" b="0" dirty="0">
                <a:latin typeface="宋体" panose="02010600030101010101" pitchFamily="2" charset="-122"/>
                <a:ea typeface="宋体" panose="02010600030101010101" pitchFamily="2" charset="-122"/>
              </a:rPr>
              <a:t>&gt;&gt;n&gt;&gt;m;</a:t>
            </a:r>
            <a:endParaRPr lang="zh-CN" altLang="zh-CN" sz="1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800" b="0" dirty="0">
                <a:latin typeface="宋体" panose="02010600030101010101" pitchFamily="2" charset="-122"/>
                <a:ea typeface="宋体" panose="02010600030101010101" pitchFamily="2" charset="-122"/>
              </a:rPr>
              <a:t>    </a:t>
            </a:r>
            <a:r>
              <a:rPr lang="en-US" altLang="zh-CN" sz="1800" b="0" dirty="0" err="1">
                <a:latin typeface="宋体" panose="02010600030101010101" pitchFamily="2" charset="-122"/>
                <a:ea typeface="宋体" panose="02010600030101010101" pitchFamily="2" charset="-122"/>
              </a:rPr>
              <a:t>memset</a:t>
            </a:r>
            <a:r>
              <a:rPr lang="en-US" altLang="zh-CN" sz="1800" b="0" dirty="0">
                <a:latin typeface="宋体" panose="02010600030101010101" pitchFamily="2" charset="-122"/>
                <a:ea typeface="宋体" panose="02010600030101010101" pitchFamily="2" charset="-122"/>
              </a:rPr>
              <a:t>(e, 0x3f, </a:t>
            </a:r>
            <a:r>
              <a:rPr lang="en-US" altLang="zh-CN" sz="1800" b="0" dirty="0" err="1">
                <a:latin typeface="宋体" panose="02010600030101010101" pitchFamily="2" charset="-122"/>
                <a:ea typeface="宋体" panose="02010600030101010101" pitchFamily="2" charset="-122"/>
              </a:rPr>
              <a:t>sizeof</a:t>
            </a:r>
            <a:r>
              <a:rPr lang="en-US" altLang="zh-CN" sz="1800" b="0" dirty="0">
                <a:latin typeface="宋体" panose="02010600030101010101" pitchFamily="2" charset="-122"/>
                <a:ea typeface="宋体" panose="02010600030101010101" pitchFamily="2" charset="-122"/>
              </a:rPr>
              <a:t>(e));      //</a:t>
            </a:r>
            <a:r>
              <a:rPr lang="zh-CN" altLang="zh-CN" sz="1800" b="0" dirty="0">
                <a:latin typeface="宋体" panose="02010600030101010101" pitchFamily="2" charset="-122"/>
                <a:ea typeface="宋体" panose="02010600030101010101" pitchFamily="2" charset="-122"/>
              </a:rPr>
              <a:t>把所有边长初始化为无穷大</a:t>
            </a:r>
            <a:endParaRPr lang="zh-CN" altLang="zh-CN" sz="1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800" b="0" dirty="0">
                <a:latin typeface="宋体" panose="02010600030101010101" pitchFamily="2" charset="-122"/>
                <a:ea typeface="宋体" panose="02010600030101010101" pitchFamily="2" charset="-122"/>
              </a:rPr>
              <a:t>    for (</a:t>
            </a:r>
            <a:r>
              <a:rPr lang="en-US" altLang="zh-CN" sz="1800" b="0" dirty="0" err="1">
                <a:latin typeface="宋体" panose="02010600030101010101" pitchFamily="2" charset="-122"/>
                <a:ea typeface="宋体" panose="02010600030101010101" pitchFamily="2" charset="-122"/>
              </a:rPr>
              <a:t>int</a:t>
            </a:r>
            <a:r>
              <a:rPr lang="en-US" altLang="zh-CN" sz="1800" b="0" dirty="0">
                <a:latin typeface="宋体" panose="02010600030101010101" pitchFamily="2" charset="-122"/>
                <a:ea typeface="宋体" panose="02010600030101010101" pitchFamily="2" charset="-122"/>
              </a:rPr>
              <a:t> </a:t>
            </a:r>
            <a:r>
              <a:rPr lang="en-US" altLang="zh-CN" sz="1800" b="0" dirty="0" err="1">
                <a:latin typeface="宋体" panose="02010600030101010101" pitchFamily="2" charset="-122"/>
                <a:ea typeface="宋体" panose="02010600030101010101" pitchFamily="2" charset="-122"/>
              </a:rPr>
              <a:t>i</a:t>
            </a:r>
            <a:r>
              <a:rPr lang="en-US" altLang="zh-CN" sz="1800" b="0" dirty="0">
                <a:latin typeface="宋体" panose="02010600030101010101" pitchFamily="2" charset="-122"/>
                <a:ea typeface="宋体" panose="02010600030101010101" pitchFamily="2" charset="-122"/>
              </a:rPr>
              <a:t> = 0; </a:t>
            </a:r>
            <a:r>
              <a:rPr lang="en-US" altLang="zh-CN" sz="1800" b="0" dirty="0" err="1">
                <a:latin typeface="宋体" panose="02010600030101010101" pitchFamily="2" charset="-122"/>
                <a:ea typeface="宋体" panose="02010600030101010101" pitchFamily="2" charset="-122"/>
              </a:rPr>
              <a:t>i</a:t>
            </a:r>
            <a:r>
              <a:rPr lang="en-US" altLang="zh-CN" sz="1800" b="0" dirty="0">
                <a:latin typeface="宋体" panose="02010600030101010101" pitchFamily="2" charset="-122"/>
                <a:ea typeface="宋体" panose="02010600030101010101" pitchFamily="2" charset="-122"/>
              </a:rPr>
              <a:t> &lt; m; </a:t>
            </a:r>
            <a:r>
              <a:rPr lang="en-US" altLang="zh-CN" sz="1800" b="0" dirty="0" err="1">
                <a:latin typeface="宋体" panose="02010600030101010101" pitchFamily="2" charset="-122"/>
                <a:ea typeface="宋体" panose="02010600030101010101" pitchFamily="2" charset="-122"/>
              </a:rPr>
              <a:t>i</a:t>
            </a:r>
            <a:r>
              <a:rPr lang="en-US" altLang="zh-CN" sz="1800" b="0" dirty="0">
                <a:latin typeface="宋体" panose="02010600030101010101" pitchFamily="2" charset="-122"/>
                <a:ea typeface="宋体" panose="02010600030101010101" pitchFamily="2" charset="-122"/>
              </a:rPr>
              <a:t>++) {    //</a:t>
            </a:r>
            <a:r>
              <a:rPr lang="zh-CN" altLang="zh-CN" sz="1800" b="0" dirty="0">
                <a:latin typeface="宋体" panose="02010600030101010101" pitchFamily="2" charset="-122"/>
                <a:ea typeface="宋体" panose="02010600030101010101" pitchFamily="2" charset="-122"/>
              </a:rPr>
              <a:t>输入</a:t>
            </a:r>
            <a:endParaRPr lang="zh-CN" altLang="zh-CN" sz="1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800" b="0" dirty="0">
                <a:latin typeface="宋体" panose="02010600030101010101" pitchFamily="2" charset="-122"/>
                <a:ea typeface="宋体" panose="02010600030101010101" pitchFamily="2" charset="-122"/>
              </a:rPr>
              <a:t>        </a:t>
            </a:r>
            <a:r>
              <a:rPr lang="en-US" altLang="zh-CN" sz="1800" b="0" dirty="0" err="1">
                <a:latin typeface="宋体" panose="02010600030101010101" pitchFamily="2" charset="-122"/>
                <a:ea typeface="宋体" panose="02010600030101010101" pitchFamily="2" charset="-122"/>
              </a:rPr>
              <a:t>int</a:t>
            </a:r>
            <a:r>
              <a:rPr lang="en-US" altLang="zh-CN" sz="1800" b="0" dirty="0">
                <a:latin typeface="宋体" panose="02010600030101010101" pitchFamily="2" charset="-122"/>
                <a:ea typeface="宋体" panose="02010600030101010101" pitchFamily="2" charset="-122"/>
              </a:rPr>
              <a:t> u, v, w;</a:t>
            </a:r>
            <a:endParaRPr lang="zh-CN" altLang="zh-CN" sz="1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800" b="0" dirty="0">
                <a:latin typeface="宋体" panose="02010600030101010101" pitchFamily="2" charset="-122"/>
                <a:ea typeface="宋体" panose="02010600030101010101" pitchFamily="2" charset="-122"/>
              </a:rPr>
              <a:t>        </a:t>
            </a:r>
            <a:r>
              <a:rPr lang="en-US" altLang="zh-CN" sz="1800" b="0" dirty="0" err="1">
                <a:latin typeface="宋体" panose="02010600030101010101" pitchFamily="2" charset="-122"/>
                <a:ea typeface="宋体" panose="02010600030101010101" pitchFamily="2" charset="-122"/>
              </a:rPr>
              <a:t>cin</a:t>
            </a:r>
            <a:r>
              <a:rPr lang="en-US" altLang="zh-CN" sz="1800" b="0" dirty="0">
                <a:latin typeface="宋体" panose="02010600030101010101" pitchFamily="2" charset="-122"/>
                <a:ea typeface="宋体" panose="02010600030101010101" pitchFamily="2" charset="-122"/>
              </a:rPr>
              <a:t> &gt;&gt; u &gt;&gt; v &gt;&gt; w;</a:t>
            </a:r>
            <a:endParaRPr lang="zh-CN" altLang="zh-CN" sz="1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800" b="0" dirty="0">
                <a:latin typeface="宋体" panose="02010600030101010101" pitchFamily="2" charset="-122"/>
                <a:ea typeface="宋体" panose="02010600030101010101" pitchFamily="2" charset="-122"/>
              </a:rPr>
              <a:t>        e[u][v] = min(e[u][v],w);   //</a:t>
            </a:r>
            <a:r>
              <a:rPr lang="zh-CN" altLang="zh-CN" sz="1800" b="0" dirty="0">
                <a:latin typeface="宋体" panose="02010600030101010101" pitchFamily="2" charset="-122"/>
                <a:ea typeface="宋体" panose="02010600030101010101" pitchFamily="2" charset="-122"/>
              </a:rPr>
              <a:t>防止重边</a:t>
            </a:r>
            <a:endParaRPr lang="zh-CN" altLang="zh-CN" sz="1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800" b="0" dirty="0">
                <a:latin typeface="宋体" panose="02010600030101010101" pitchFamily="2" charset="-122"/>
                <a:ea typeface="宋体" panose="02010600030101010101" pitchFamily="2" charset="-122"/>
              </a:rPr>
              <a:t>        e[v][u] = e[u][v];          //</a:t>
            </a:r>
            <a:r>
              <a:rPr lang="zh-CN" altLang="zh-CN" sz="1800" b="0" dirty="0">
                <a:latin typeface="宋体" panose="02010600030101010101" pitchFamily="2" charset="-122"/>
                <a:ea typeface="宋体" panose="02010600030101010101" pitchFamily="2" charset="-122"/>
              </a:rPr>
              <a:t>无向边</a:t>
            </a:r>
            <a:endParaRPr lang="zh-CN" altLang="zh-CN" sz="1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800" b="0" dirty="0">
                <a:latin typeface="宋体" panose="02010600030101010101" pitchFamily="2" charset="-122"/>
                <a:ea typeface="宋体" panose="02010600030101010101" pitchFamily="2" charset="-122"/>
              </a:rPr>
              <a:t>    }</a:t>
            </a:r>
            <a:endParaRPr lang="zh-CN" altLang="zh-CN" sz="1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800" b="0" dirty="0">
                <a:latin typeface="宋体" panose="02010600030101010101" pitchFamily="2" charset="-122"/>
                <a:ea typeface="宋体" panose="02010600030101010101" pitchFamily="2" charset="-122"/>
              </a:rPr>
              <a:t>    for (</a:t>
            </a:r>
            <a:r>
              <a:rPr lang="en-US" altLang="zh-CN" sz="1800" b="0" dirty="0" err="1">
                <a:latin typeface="宋体" panose="02010600030101010101" pitchFamily="2" charset="-122"/>
                <a:ea typeface="宋体" panose="02010600030101010101" pitchFamily="2" charset="-122"/>
              </a:rPr>
              <a:t>int</a:t>
            </a:r>
            <a:r>
              <a:rPr lang="en-US" altLang="zh-CN" sz="1800" b="0" dirty="0">
                <a:latin typeface="宋体" panose="02010600030101010101" pitchFamily="2" charset="-122"/>
                <a:ea typeface="宋体" panose="02010600030101010101" pitchFamily="2" charset="-122"/>
              </a:rPr>
              <a:t> k = 1; k &lt;= n; k++)     //Floyd</a:t>
            </a:r>
            <a:r>
              <a:rPr lang="zh-CN" altLang="zh-CN" sz="1800" b="0" dirty="0">
                <a:latin typeface="宋体" panose="02010600030101010101" pitchFamily="2" charset="-122"/>
                <a:ea typeface="宋体" panose="02010600030101010101" pitchFamily="2" charset="-122"/>
              </a:rPr>
              <a:t>计算最短路</a:t>
            </a:r>
            <a:endParaRPr lang="zh-CN" altLang="zh-CN" sz="1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800" b="0" dirty="0">
                <a:latin typeface="宋体" panose="02010600030101010101" pitchFamily="2" charset="-122"/>
                <a:ea typeface="宋体" panose="02010600030101010101" pitchFamily="2" charset="-122"/>
              </a:rPr>
              <a:t>        for (</a:t>
            </a:r>
            <a:r>
              <a:rPr lang="en-US" altLang="zh-CN" sz="1800" b="0" dirty="0" err="1">
                <a:latin typeface="宋体" panose="02010600030101010101" pitchFamily="2" charset="-122"/>
                <a:ea typeface="宋体" panose="02010600030101010101" pitchFamily="2" charset="-122"/>
              </a:rPr>
              <a:t>int</a:t>
            </a:r>
            <a:r>
              <a:rPr lang="en-US" altLang="zh-CN" sz="1800" b="0" dirty="0">
                <a:latin typeface="宋体" panose="02010600030101010101" pitchFamily="2" charset="-122"/>
                <a:ea typeface="宋体" panose="02010600030101010101" pitchFamily="2" charset="-122"/>
              </a:rPr>
              <a:t> </a:t>
            </a:r>
            <a:r>
              <a:rPr lang="en-US" altLang="zh-CN" sz="1800" b="0" dirty="0" err="1">
                <a:latin typeface="宋体" panose="02010600030101010101" pitchFamily="2" charset="-122"/>
                <a:ea typeface="宋体" panose="02010600030101010101" pitchFamily="2" charset="-122"/>
              </a:rPr>
              <a:t>i</a:t>
            </a:r>
            <a:r>
              <a:rPr lang="en-US" altLang="zh-CN" sz="1800" b="0" dirty="0">
                <a:latin typeface="宋体" panose="02010600030101010101" pitchFamily="2" charset="-122"/>
                <a:ea typeface="宋体" panose="02010600030101010101" pitchFamily="2" charset="-122"/>
              </a:rPr>
              <a:t> = 1; </a:t>
            </a:r>
            <a:r>
              <a:rPr lang="en-US" altLang="zh-CN" sz="1800" b="0" dirty="0" err="1">
                <a:latin typeface="宋体" panose="02010600030101010101" pitchFamily="2" charset="-122"/>
                <a:ea typeface="宋体" panose="02010600030101010101" pitchFamily="2" charset="-122"/>
              </a:rPr>
              <a:t>i</a:t>
            </a:r>
            <a:r>
              <a:rPr lang="en-US" altLang="zh-CN" sz="1800" b="0" dirty="0">
                <a:latin typeface="宋体" panose="02010600030101010101" pitchFamily="2" charset="-122"/>
                <a:ea typeface="宋体" panose="02010600030101010101" pitchFamily="2" charset="-122"/>
              </a:rPr>
              <a:t> &lt;= n; </a:t>
            </a:r>
            <a:r>
              <a:rPr lang="en-US" altLang="zh-CN" sz="1800" b="0" dirty="0" err="1">
                <a:latin typeface="宋体" panose="02010600030101010101" pitchFamily="2" charset="-122"/>
                <a:ea typeface="宋体" panose="02010600030101010101" pitchFamily="2" charset="-122"/>
              </a:rPr>
              <a:t>i</a:t>
            </a:r>
            <a:r>
              <a:rPr lang="en-US" altLang="zh-CN" sz="1800" b="0" dirty="0">
                <a:latin typeface="宋体" panose="02010600030101010101" pitchFamily="2" charset="-122"/>
                <a:ea typeface="宋体" panose="02010600030101010101" pitchFamily="2" charset="-122"/>
              </a:rPr>
              <a:t>++)</a:t>
            </a:r>
            <a:endParaRPr lang="zh-CN" altLang="zh-CN" sz="1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800" b="0" dirty="0">
                <a:latin typeface="宋体" panose="02010600030101010101" pitchFamily="2" charset="-122"/>
                <a:ea typeface="宋体" panose="02010600030101010101" pitchFamily="2" charset="-122"/>
              </a:rPr>
              <a:t>            for (</a:t>
            </a:r>
            <a:r>
              <a:rPr lang="en-US" altLang="zh-CN" sz="1800" b="0" dirty="0" err="1">
                <a:latin typeface="宋体" panose="02010600030101010101" pitchFamily="2" charset="-122"/>
                <a:ea typeface="宋体" panose="02010600030101010101" pitchFamily="2" charset="-122"/>
              </a:rPr>
              <a:t>int</a:t>
            </a:r>
            <a:r>
              <a:rPr lang="en-US" altLang="zh-CN" sz="1800" b="0" dirty="0">
                <a:latin typeface="宋体" panose="02010600030101010101" pitchFamily="2" charset="-122"/>
                <a:ea typeface="宋体" panose="02010600030101010101" pitchFamily="2" charset="-122"/>
              </a:rPr>
              <a:t> j = 1; j &lt;= n; </a:t>
            </a:r>
            <a:r>
              <a:rPr lang="en-US" altLang="zh-CN" sz="1800" b="0" dirty="0" err="1">
                <a:latin typeface="宋体" panose="02010600030101010101" pitchFamily="2" charset="-122"/>
                <a:ea typeface="宋体" panose="02010600030101010101" pitchFamily="2" charset="-122"/>
              </a:rPr>
              <a:t>j++</a:t>
            </a:r>
            <a:r>
              <a:rPr lang="en-US" altLang="zh-CN" sz="1800" b="0" dirty="0">
                <a:latin typeface="宋体" panose="02010600030101010101" pitchFamily="2" charset="-122"/>
                <a:ea typeface="宋体" panose="02010600030101010101" pitchFamily="2" charset="-122"/>
              </a:rPr>
              <a:t>)</a:t>
            </a:r>
            <a:endParaRPr lang="zh-CN" altLang="zh-CN" sz="1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800" b="0" dirty="0">
                <a:latin typeface="宋体" panose="02010600030101010101" pitchFamily="2" charset="-122"/>
                <a:ea typeface="宋体" panose="02010600030101010101" pitchFamily="2" charset="-122"/>
              </a:rPr>
              <a:t>                e[</a:t>
            </a:r>
            <a:r>
              <a:rPr lang="en-US" altLang="zh-CN" sz="1800" b="0" dirty="0" err="1">
                <a:latin typeface="宋体" panose="02010600030101010101" pitchFamily="2" charset="-122"/>
                <a:ea typeface="宋体" panose="02010600030101010101" pitchFamily="2" charset="-122"/>
              </a:rPr>
              <a:t>i</a:t>
            </a:r>
            <a:r>
              <a:rPr lang="en-US" altLang="zh-CN" sz="1800" b="0" dirty="0">
                <a:latin typeface="宋体" panose="02010600030101010101" pitchFamily="2" charset="-122"/>
                <a:ea typeface="宋体" panose="02010600030101010101" pitchFamily="2" charset="-122"/>
              </a:rPr>
              <a:t>][j] = min(e[</a:t>
            </a:r>
            <a:r>
              <a:rPr lang="en-US" altLang="zh-CN" sz="1800" b="0" dirty="0" err="1">
                <a:latin typeface="宋体" panose="02010600030101010101" pitchFamily="2" charset="-122"/>
                <a:ea typeface="宋体" panose="02010600030101010101" pitchFamily="2" charset="-122"/>
              </a:rPr>
              <a:t>i</a:t>
            </a:r>
            <a:r>
              <a:rPr lang="en-US" altLang="zh-CN" sz="1800" b="0" dirty="0">
                <a:latin typeface="宋体" panose="02010600030101010101" pitchFamily="2" charset="-122"/>
                <a:ea typeface="宋体" panose="02010600030101010101" pitchFamily="2" charset="-122"/>
              </a:rPr>
              <a:t>][j], e[</a:t>
            </a:r>
            <a:r>
              <a:rPr lang="en-US" altLang="zh-CN" sz="1800" b="0" dirty="0" err="1">
                <a:latin typeface="宋体" panose="02010600030101010101" pitchFamily="2" charset="-122"/>
                <a:ea typeface="宋体" panose="02010600030101010101" pitchFamily="2" charset="-122"/>
              </a:rPr>
              <a:t>i</a:t>
            </a:r>
            <a:r>
              <a:rPr lang="en-US" altLang="zh-CN" sz="1800" b="0" dirty="0">
                <a:latin typeface="宋体" panose="02010600030101010101" pitchFamily="2" charset="-122"/>
                <a:ea typeface="宋体" panose="02010600030101010101" pitchFamily="2" charset="-122"/>
              </a:rPr>
              <a:t>][k] + e[k][j]);</a:t>
            </a:r>
            <a:endParaRPr lang="zh-CN" altLang="zh-CN" sz="1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800" b="0" dirty="0">
                <a:latin typeface="宋体" panose="02010600030101010101" pitchFamily="2" charset="-122"/>
                <a:ea typeface="宋体" panose="02010600030101010101" pitchFamily="2" charset="-122"/>
              </a:rPr>
              <a:t>    for (</a:t>
            </a:r>
            <a:r>
              <a:rPr lang="en-US" altLang="zh-CN" sz="1800" b="0" dirty="0" err="1">
                <a:latin typeface="宋体" panose="02010600030101010101" pitchFamily="2" charset="-122"/>
                <a:ea typeface="宋体" panose="02010600030101010101" pitchFamily="2" charset="-122"/>
              </a:rPr>
              <a:t>int</a:t>
            </a:r>
            <a:r>
              <a:rPr lang="en-US" altLang="zh-CN" sz="1800" b="0" dirty="0">
                <a:latin typeface="宋体" panose="02010600030101010101" pitchFamily="2" charset="-122"/>
                <a:ea typeface="宋体" panose="02010600030101010101" pitchFamily="2" charset="-122"/>
              </a:rPr>
              <a:t> </a:t>
            </a:r>
            <a:r>
              <a:rPr lang="en-US" altLang="zh-CN" sz="1800" b="0" dirty="0" err="1">
                <a:latin typeface="宋体" panose="02010600030101010101" pitchFamily="2" charset="-122"/>
                <a:ea typeface="宋体" panose="02010600030101010101" pitchFamily="2" charset="-122"/>
              </a:rPr>
              <a:t>i</a:t>
            </a:r>
            <a:r>
              <a:rPr lang="en-US" altLang="zh-CN" sz="1800" b="0" dirty="0">
                <a:latin typeface="宋体" panose="02010600030101010101" pitchFamily="2" charset="-122"/>
                <a:ea typeface="宋体" panose="02010600030101010101" pitchFamily="2" charset="-122"/>
              </a:rPr>
              <a:t> = 1; </a:t>
            </a:r>
            <a:r>
              <a:rPr lang="en-US" altLang="zh-CN" sz="1800" b="0" dirty="0" err="1">
                <a:latin typeface="宋体" panose="02010600030101010101" pitchFamily="2" charset="-122"/>
                <a:ea typeface="宋体" panose="02010600030101010101" pitchFamily="2" charset="-122"/>
              </a:rPr>
              <a:t>i</a:t>
            </a:r>
            <a:r>
              <a:rPr lang="en-US" altLang="zh-CN" sz="1800" b="0" dirty="0">
                <a:latin typeface="宋体" panose="02010600030101010101" pitchFamily="2" charset="-122"/>
                <a:ea typeface="宋体" panose="02010600030101010101" pitchFamily="2" charset="-122"/>
              </a:rPr>
              <a:t> &lt;= n; </a:t>
            </a:r>
            <a:r>
              <a:rPr lang="en-US" altLang="zh-CN" sz="1800" b="0" dirty="0" err="1">
                <a:latin typeface="宋体" panose="02010600030101010101" pitchFamily="2" charset="-122"/>
                <a:ea typeface="宋体" panose="02010600030101010101" pitchFamily="2" charset="-122"/>
              </a:rPr>
              <a:t>i</a:t>
            </a:r>
            <a:r>
              <a:rPr lang="en-US" altLang="zh-CN" sz="1800" b="0" dirty="0">
                <a:latin typeface="宋体" panose="02010600030101010101" pitchFamily="2" charset="-122"/>
                <a:ea typeface="宋体" panose="02010600030101010101" pitchFamily="2" charset="-122"/>
              </a:rPr>
              <a:t>++)    //</a:t>
            </a:r>
            <a:r>
              <a:rPr lang="zh-CN" altLang="zh-CN" sz="1800" b="0" dirty="0">
                <a:latin typeface="宋体" panose="02010600030101010101" pitchFamily="2" charset="-122"/>
                <a:ea typeface="宋体" panose="02010600030101010101" pitchFamily="2" charset="-122"/>
              </a:rPr>
              <a:t>计算结束后，把</a:t>
            </a:r>
            <a:r>
              <a:rPr lang="en-US" altLang="zh-CN" sz="1800" b="0" dirty="0">
                <a:latin typeface="宋体" panose="02010600030101010101" pitchFamily="2" charset="-122"/>
                <a:ea typeface="宋体" panose="02010600030101010101" pitchFamily="2" charset="-122"/>
              </a:rPr>
              <a:t>e[</a:t>
            </a:r>
            <a:r>
              <a:rPr lang="en-US" altLang="zh-CN" sz="1800" b="0" dirty="0" err="1">
                <a:latin typeface="宋体" panose="02010600030101010101" pitchFamily="2" charset="-122"/>
                <a:ea typeface="宋体" panose="02010600030101010101" pitchFamily="2" charset="-122"/>
              </a:rPr>
              <a:t>i</a:t>
            </a:r>
            <a:r>
              <a:rPr lang="en-US" altLang="zh-CN" sz="1800" b="0" dirty="0">
                <a:latin typeface="宋体" panose="02010600030101010101" pitchFamily="2" charset="-122"/>
                <a:ea typeface="宋体" panose="02010600030101010101" pitchFamily="2" charset="-122"/>
              </a:rPr>
              <a:t>][</a:t>
            </a:r>
            <a:r>
              <a:rPr lang="en-US" altLang="zh-CN" sz="1800" b="0" dirty="0" err="1">
                <a:latin typeface="宋体" panose="02010600030101010101" pitchFamily="2" charset="-122"/>
                <a:ea typeface="宋体" panose="02010600030101010101" pitchFamily="2" charset="-122"/>
              </a:rPr>
              <a:t>i</a:t>
            </a:r>
            <a:r>
              <a:rPr lang="en-US" altLang="zh-CN" sz="1800" b="0" dirty="0">
                <a:latin typeface="宋体" panose="02010600030101010101" pitchFamily="2" charset="-122"/>
                <a:ea typeface="宋体" panose="02010600030101010101" pitchFamily="2" charset="-122"/>
              </a:rPr>
              <a:t>]</a:t>
            </a:r>
            <a:r>
              <a:rPr lang="zh-CN" altLang="zh-CN" sz="1800" b="0" dirty="0">
                <a:latin typeface="宋体" panose="02010600030101010101" pitchFamily="2" charset="-122"/>
                <a:ea typeface="宋体" panose="02010600030101010101" pitchFamily="2" charset="-122"/>
              </a:rPr>
              <a:t>改为</a:t>
            </a:r>
            <a:r>
              <a:rPr lang="en-US" altLang="zh-CN" sz="1800" b="0" dirty="0">
                <a:latin typeface="宋体" panose="02010600030101010101" pitchFamily="2" charset="-122"/>
                <a:ea typeface="宋体" panose="02010600030101010101" pitchFamily="2" charset="-122"/>
              </a:rPr>
              <a:t>0</a:t>
            </a:r>
            <a:endParaRPr lang="zh-CN" altLang="zh-CN" sz="1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800" b="0" dirty="0">
                <a:latin typeface="宋体" panose="02010600030101010101" pitchFamily="2" charset="-122"/>
                <a:ea typeface="宋体" panose="02010600030101010101" pitchFamily="2" charset="-122"/>
              </a:rPr>
              <a:t>        e[</a:t>
            </a:r>
            <a:r>
              <a:rPr lang="en-US" altLang="zh-CN" sz="1800" b="0" dirty="0" err="1">
                <a:latin typeface="宋体" panose="02010600030101010101" pitchFamily="2" charset="-122"/>
                <a:ea typeface="宋体" panose="02010600030101010101" pitchFamily="2" charset="-122"/>
              </a:rPr>
              <a:t>i</a:t>
            </a:r>
            <a:r>
              <a:rPr lang="en-US" altLang="zh-CN" sz="1800" b="0" dirty="0">
                <a:latin typeface="宋体" panose="02010600030101010101" pitchFamily="2" charset="-122"/>
                <a:ea typeface="宋体" panose="02010600030101010101" pitchFamily="2" charset="-122"/>
              </a:rPr>
              <a:t>][</a:t>
            </a:r>
            <a:r>
              <a:rPr lang="en-US" altLang="zh-CN" sz="1800" b="0" dirty="0" err="1">
                <a:latin typeface="宋体" panose="02010600030101010101" pitchFamily="2" charset="-122"/>
                <a:ea typeface="宋体" panose="02010600030101010101" pitchFamily="2" charset="-122"/>
              </a:rPr>
              <a:t>i</a:t>
            </a:r>
            <a:r>
              <a:rPr lang="en-US" altLang="zh-CN" sz="1800" b="0" dirty="0">
                <a:latin typeface="宋体" panose="02010600030101010101" pitchFamily="2" charset="-122"/>
                <a:ea typeface="宋体" panose="02010600030101010101" pitchFamily="2" charset="-122"/>
              </a:rPr>
              <a:t>] = 0;</a:t>
            </a:r>
            <a:endParaRPr lang="zh-CN" altLang="zh-CN" sz="1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800" b="0" dirty="0">
                <a:latin typeface="宋体" panose="02010600030101010101" pitchFamily="2" charset="-122"/>
                <a:ea typeface="宋体" panose="02010600030101010101" pitchFamily="2" charset="-122"/>
              </a:rPr>
              <a:t>    for (</a:t>
            </a:r>
            <a:r>
              <a:rPr lang="en-US" altLang="zh-CN" sz="1800" b="0" dirty="0" err="1">
                <a:latin typeface="宋体" panose="02010600030101010101" pitchFamily="2" charset="-122"/>
                <a:ea typeface="宋体" panose="02010600030101010101" pitchFamily="2" charset="-122"/>
              </a:rPr>
              <a:t>int</a:t>
            </a:r>
            <a:r>
              <a:rPr lang="en-US" altLang="zh-CN" sz="1800" b="0" dirty="0">
                <a:latin typeface="宋体" panose="02010600030101010101" pitchFamily="2" charset="-122"/>
                <a:ea typeface="宋体" panose="02010600030101010101" pitchFamily="2" charset="-122"/>
              </a:rPr>
              <a:t> </a:t>
            </a:r>
            <a:r>
              <a:rPr lang="en-US" altLang="zh-CN" sz="1800" b="0" dirty="0" err="1">
                <a:latin typeface="宋体" panose="02010600030101010101" pitchFamily="2" charset="-122"/>
                <a:ea typeface="宋体" panose="02010600030101010101" pitchFamily="2" charset="-122"/>
              </a:rPr>
              <a:t>i</a:t>
            </a:r>
            <a:r>
              <a:rPr lang="en-US" altLang="zh-CN" sz="1800" b="0" dirty="0">
                <a:latin typeface="宋体" panose="02010600030101010101" pitchFamily="2" charset="-122"/>
                <a:ea typeface="宋体" panose="02010600030101010101" pitchFamily="2" charset="-122"/>
              </a:rPr>
              <a:t> = 1; </a:t>
            </a:r>
            <a:r>
              <a:rPr lang="en-US" altLang="zh-CN" sz="1800" b="0" dirty="0" err="1">
                <a:latin typeface="宋体" panose="02010600030101010101" pitchFamily="2" charset="-122"/>
                <a:ea typeface="宋体" panose="02010600030101010101" pitchFamily="2" charset="-122"/>
              </a:rPr>
              <a:t>i</a:t>
            </a:r>
            <a:r>
              <a:rPr lang="en-US" altLang="zh-CN" sz="1800" b="0" dirty="0">
                <a:latin typeface="宋体" panose="02010600030101010101" pitchFamily="2" charset="-122"/>
                <a:ea typeface="宋体" panose="02010600030101010101" pitchFamily="2" charset="-122"/>
              </a:rPr>
              <a:t> &lt;= n; </a:t>
            </a:r>
            <a:r>
              <a:rPr lang="en-US" altLang="zh-CN" sz="1800" b="0" dirty="0" err="1">
                <a:latin typeface="宋体" panose="02010600030101010101" pitchFamily="2" charset="-122"/>
                <a:ea typeface="宋体" panose="02010600030101010101" pitchFamily="2" charset="-122"/>
              </a:rPr>
              <a:t>i</a:t>
            </a:r>
            <a:r>
              <a:rPr lang="en-US" altLang="zh-CN" sz="1800" b="0" dirty="0">
                <a:latin typeface="宋体" panose="02010600030101010101" pitchFamily="2" charset="-122"/>
                <a:ea typeface="宋体" panose="02010600030101010101" pitchFamily="2" charset="-122"/>
              </a:rPr>
              <a:t>++) {</a:t>
            </a:r>
            <a:endParaRPr lang="zh-CN" altLang="zh-CN" sz="1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800" b="0" dirty="0">
                <a:latin typeface="宋体" panose="02010600030101010101" pitchFamily="2" charset="-122"/>
                <a:ea typeface="宋体" panose="02010600030101010101" pitchFamily="2" charset="-122"/>
              </a:rPr>
              <a:t>        for (</a:t>
            </a:r>
            <a:r>
              <a:rPr lang="en-US" altLang="zh-CN" sz="1800" b="0" dirty="0" err="1">
                <a:latin typeface="宋体" panose="02010600030101010101" pitchFamily="2" charset="-122"/>
                <a:ea typeface="宋体" panose="02010600030101010101" pitchFamily="2" charset="-122"/>
              </a:rPr>
              <a:t>int</a:t>
            </a:r>
            <a:r>
              <a:rPr lang="en-US" altLang="zh-CN" sz="1800" b="0" dirty="0">
                <a:latin typeface="宋体" panose="02010600030101010101" pitchFamily="2" charset="-122"/>
                <a:ea typeface="宋体" panose="02010600030101010101" pitchFamily="2" charset="-122"/>
              </a:rPr>
              <a:t> j = 1; j &lt;= n; </a:t>
            </a:r>
            <a:r>
              <a:rPr lang="en-US" altLang="zh-CN" sz="1800" b="0" dirty="0" err="1">
                <a:latin typeface="宋体" panose="02010600030101010101" pitchFamily="2" charset="-122"/>
                <a:ea typeface="宋体" panose="02010600030101010101" pitchFamily="2" charset="-122"/>
              </a:rPr>
              <a:t>j++</a:t>
            </a:r>
            <a:r>
              <a:rPr lang="en-US" altLang="zh-CN" sz="1800" b="0" dirty="0">
                <a:latin typeface="宋体" panose="02010600030101010101" pitchFamily="2" charset="-122"/>
                <a:ea typeface="宋体" panose="02010600030101010101" pitchFamily="2" charset="-122"/>
              </a:rPr>
              <a:t>)</a:t>
            </a:r>
            <a:endParaRPr lang="zh-CN" altLang="zh-CN" sz="1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800" b="0" dirty="0">
                <a:latin typeface="宋体" panose="02010600030101010101" pitchFamily="2" charset="-122"/>
                <a:ea typeface="宋体" panose="02010600030101010101" pitchFamily="2" charset="-122"/>
              </a:rPr>
              <a:t>            </a:t>
            </a:r>
            <a:r>
              <a:rPr lang="en-US" altLang="zh-CN" sz="1800" b="0" dirty="0" err="1">
                <a:latin typeface="宋体" panose="02010600030101010101" pitchFamily="2" charset="-122"/>
                <a:ea typeface="宋体" panose="02010600030101010101" pitchFamily="2" charset="-122"/>
              </a:rPr>
              <a:t>cout</a:t>
            </a:r>
            <a:r>
              <a:rPr lang="en-US" altLang="zh-CN" sz="1800" b="0" dirty="0">
                <a:latin typeface="宋体" panose="02010600030101010101" pitchFamily="2" charset="-122"/>
                <a:ea typeface="宋体" panose="02010600030101010101" pitchFamily="2" charset="-122"/>
              </a:rPr>
              <a:t>&lt;&lt;e[</a:t>
            </a:r>
            <a:r>
              <a:rPr lang="en-US" altLang="zh-CN" sz="1800" b="0" dirty="0" err="1">
                <a:latin typeface="宋体" panose="02010600030101010101" pitchFamily="2" charset="-122"/>
                <a:ea typeface="宋体" panose="02010600030101010101" pitchFamily="2" charset="-122"/>
              </a:rPr>
              <a:t>i</a:t>
            </a:r>
            <a:r>
              <a:rPr lang="en-US" altLang="zh-CN" sz="1800" b="0" dirty="0">
                <a:latin typeface="宋体" panose="02010600030101010101" pitchFamily="2" charset="-122"/>
                <a:ea typeface="宋体" panose="02010600030101010101" pitchFamily="2" charset="-122"/>
              </a:rPr>
              <a:t>][j]&lt;&lt;" ";</a:t>
            </a:r>
            <a:endParaRPr lang="zh-CN" altLang="zh-CN" sz="1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800" b="0" dirty="0">
                <a:latin typeface="宋体" panose="02010600030101010101" pitchFamily="2" charset="-122"/>
                <a:ea typeface="宋体" panose="02010600030101010101" pitchFamily="2" charset="-122"/>
              </a:rPr>
              <a:t>        </a:t>
            </a:r>
            <a:r>
              <a:rPr lang="en-US" altLang="zh-CN" sz="1800" b="0" dirty="0" err="1">
                <a:latin typeface="宋体" panose="02010600030101010101" pitchFamily="2" charset="-122"/>
                <a:ea typeface="宋体" panose="02010600030101010101" pitchFamily="2" charset="-122"/>
              </a:rPr>
              <a:t>cout</a:t>
            </a:r>
            <a:r>
              <a:rPr lang="en-US" altLang="zh-CN" sz="1800" b="0" dirty="0">
                <a:latin typeface="宋体" panose="02010600030101010101" pitchFamily="2" charset="-122"/>
                <a:ea typeface="宋体" panose="02010600030101010101" pitchFamily="2" charset="-122"/>
              </a:rPr>
              <a:t> &lt;&lt; </a:t>
            </a:r>
            <a:r>
              <a:rPr lang="en-US" altLang="zh-CN" sz="1800" b="0" dirty="0" err="1">
                <a:latin typeface="宋体" panose="02010600030101010101" pitchFamily="2" charset="-122"/>
                <a:ea typeface="宋体" panose="02010600030101010101" pitchFamily="2" charset="-122"/>
              </a:rPr>
              <a:t>endl</a:t>
            </a:r>
            <a:r>
              <a:rPr lang="en-US" altLang="zh-CN" sz="1800" b="0" dirty="0">
                <a:latin typeface="宋体" panose="02010600030101010101" pitchFamily="2" charset="-122"/>
                <a:ea typeface="宋体" panose="02010600030101010101" pitchFamily="2" charset="-122"/>
              </a:rPr>
              <a:t>;              //</a:t>
            </a:r>
            <a:r>
              <a:rPr lang="zh-CN" altLang="zh-CN" sz="1800" b="0" dirty="0">
                <a:latin typeface="宋体" panose="02010600030101010101" pitchFamily="2" charset="-122"/>
                <a:ea typeface="宋体" panose="02010600030101010101" pitchFamily="2" charset="-122"/>
              </a:rPr>
              <a:t>换行</a:t>
            </a:r>
            <a:endParaRPr lang="zh-CN" altLang="zh-CN" sz="1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800" b="0" dirty="0">
                <a:latin typeface="宋体" panose="02010600030101010101" pitchFamily="2" charset="-122"/>
                <a:ea typeface="宋体" panose="02010600030101010101" pitchFamily="2" charset="-122"/>
              </a:rPr>
              <a:t>    }</a:t>
            </a:r>
            <a:endParaRPr lang="zh-CN" altLang="zh-CN" sz="1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800" b="0" dirty="0">
                <a:latin typeface="宋体" panose="02010600030101010101" pitchFamily="2" charset="-122"/>
                <a:ea typeface="宋体" panose="02010600030101010101" pitchFamily="2" charset="-122"/>
              </a:rPr>
              <a:t>    return 0;</a:t>
            </a:r>
            <a:endParaRPr lang="zh-CN" altLang="zh-CN" sz="18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800" dirty="0">
                <a:latin typeface="宋体" panose="02010600030101010101" pitchFamily="2" charset="-122"/>
                <a:ea typeface="宋体" panose="02010600030101010101" pitchFamily="2" charset="-122"/>
              </a:rPr>
              <a:t>}</a:t>
            </a:r>
            <a:endParaRPr lang="en-US" altLang="zh-CN" sz="1400" b="0" dirty="0">
              <a:latin typeface="宋体" panose="02010600030101010101" pitchFamily="2" charset="-122"/>
              <a:ea typeface="宋体" panose="02010600030101010101" pitchFamily="2" charset="-122"/>
            </a:endParaRPr>
          </a:p>
        </p:txBody>
      </p:sp>
      <p:sp>
        <p:nvSpPr>
          <p:cNvPr id="4" name="内容占位符 4"/>
          <p:cNvSpPr txBox="1"/>
          <p:nvPr/>
        </p:nvSpPr>
        <p:spPr>
          <a:xfrm>
            <a:off x="729306" y="985720"/>
            <a:ext cx="2770709" cy="436919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auto">
              <a:lnSpc>
                <a:spcPct val="140000"/>
              </a:lnSpc>
              <a:spcBef>
                <a:spcPts val="0"/>
              </a:spcBef>
              <a:spcAft>
                <a:spcPts val="0"/>
              </a:spcAft>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用数组</a:t>
            </a:r>
            <a:r>
              <a:rPr lang="en-US" altLang="zh-CN" sz="2000" dirty="0">
                <a:latin typeface="微软雅黑" panose="020B0503020204020204" pitchFamily="34" charset="-122"/>
                <a:ea typeface="微软雅黑" panose="020B0503020204020204" pitchFamily="34" charset="-122"/>
              </a:rPr>
              <a:t>e[</a:t>
            </a:r>
            <a:r>
              <a:rPr lang="en-US" altLang="zh-CN" sz="2000" dirty="0" err="1">
                <a:latin typeface="微软雅黑" panose="020B0503020204020204" pitchFamily="34" charset="-122"/>
                <a:ea typeface="微软雅黑" panose="020B0503020204020204" pitchFamily="34" charset="-122"/>
              </a:rPr>
              <a:t>i</a:t>
            </a:r>
            <a:r>
              <a:rPr lang="en-US" altLang="zh-CN" sz="2000" dirty="0">
                <a:latin typeface="微软雅黑" panose="020B0503020204020204" pitchFamily="34" charset="-122"/>
                <a:ea typeface="微软雅黑" panose="020B0503020204020204" pitchFamily="34" charset="-122"/>
              </a:rPr>
              <a:t>][j]</a:t>
            </a:r>
            <a:r>
              <a:rPr lang="zh-CN" altLang="en-US" sz="2000" dirty="0">
                <a:latin typeface="微软雅黑" panose="020B0503020204020204" pitchFamily="34" charset="-122"/>
                <a:ea typeface="微软雅黑" panose="020B0503020204020204" pitchFamily="34" charset="-122"/>
              </a:rPr>
              <a:t>记录点</a:t>
            </a:r>
            <a:r>
              <a:rPr lang="en-US" altLang="zh-CN" sz="2000" dirty="0" err="1">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j</a:t>
            </a:r>
            <a:r>
              <a:rPr lang="zh-CN" altLang="en-US" sz="2000" dirty="0">
                <a:latin typeface="微软雅黑" panose="020B0503020204020204" pitchFamily="34" charset="-122"/>
                <a:ea typeface="微软雅黑" panose="020B0503020204020204" pitchFamily="34" charset="-122"/>
              </a:rPr>
              <a:t>之间的最短距离。初始时，把所有点之间的边长都设为无穷大，包括</a:t>
            </a:r>
            <a:r>
              <a:rPr lang="en-US" altLang="zh-CN" sz="2000" dirty="0">
                <a:latin typeface="微软雅黑" panose="020B0503020204020204" pitchFamily="34" charset="-122"/>
                <a:ea typeface="微软雅黑" panose="020B0503020204020204" pitchFamily="34" charset="-122"/>
              </a:rPr>
              <a:t>e[</a:t>
            </a:r>
            <a:r>
              <a:rPr lang="en-US" altLang="zh-CN" sz="2000" dirty="0" err="1">
                <a:latin typeface="微软雅黑" panose="020B0503020204020204" pitchFamily="34" charset="-122"/>
                <a:ea typeface="微软雅黑" panose="020B0503020204020204" pitchFamily="34" charset="-122"/>
              </a:rPr>
              <a:t>i</a:t>
            </a:r>
            <a:r>
              <a:rPr lang="en-US" altLang="zh-CN"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i</a:t>
            </a:r>
            <a:r>
              <a:rPr lang="en-US" altLang="zh-CN" sz="2000" dirty="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pPr algn="just" fontAlgn="auto">
              <a:lnSpc>
                <a:spcPct val="140000"/>
              </a:lnSpc>
              <a:spcBef>
                <a:spcPts val="0"/>
              </a:spcBef>
              <a:spcAft>
                <a:spcPts val="0"/>
              </a:spcAft>
              <a:buFont typeface="Wingdings" panose="05000000000000000000" pitchFamily="2" charset="2"/>
              <a:buChar char="Ø"/>
            </a:pPr>
            <a:r>
              <a:rPr lang="en-US" altLang="zh-CN" sz="2000" dirty="0" smtClean="0">
                <a:latin typeface="微软雅黑" panose="020B0503020204020204" pitchFamily="34" charset="-122"/>
                <a:ea typeface="微软雅黑" panose="020B0503020204020204" pitchFamily="34" charset="-122"/>
              </a:rPr>
              <a:t>Floyd</a:t>
            </a:r>
            <a:r>
              <a:rPr lang="zh-CN" altLang="en-US" sz="2000" dirty="0">
                <a:latin typeface="微软雅黑" panose="020B0503020204020204" pitchFamily="34" charset="-122"/>
                <a:ea typeface="微软雅黑" panose="020B0503020204020204" pitchFamily="34" charset="-122"/>
              </a:rPr>
              <a:t>计算结束后，</a:t>
            </a:r>
            <a:r>
              <a:rPr lang="en-US" altLang="zh-CN" sz="2000" dirty="0">
                <a:latin typeface="微软雅黑" panose="020B0503020204020204" pitchFamily="34" charset="-122"/>
                <a:ea typeface="微软雅黑" panose="020B0503020204020204" pitchFamily="34" charset="-122"/>
              </a:rPr>
              <a:t>e[]</a:t>
            </a:r>
            <a:r>
              <a:rPr lang="en-US" altLang="zh-CN" sz="2000" dirty="0" err="1">
                <a:latin typeface="微软雅黑" panose="020B0503020204020204" pitchFamily="34" charset="-122"/>
                <a:ea typeface="微软雅黑" panose="020B0503020204020204" pitchFamily="34" charset="-122"/>
              </a:rPr>
              <a:t>i</a:t>
            </a:r>
            <a:r>
              <a:rPr lang="en-US" altLang="zh-CN"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i</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不等于零，而是</a:t>
            </a:r>
            <a:r>
              <a:rPr lang="en-US" altLang="zh-CN" sz="2000" dirty="0" err="1">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出发绕一圈回来的最短路。</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116383"/>
    </mc:Choice>
    <mc:Fallback>
      <p:transition spd="slow" advTm="11638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553299" y="949615"/>
            <a:ext cx="7659923" cy="584775"/>
          </a:xfrm>
          <a:prstGeom prst="rect">
            <a:avLst/>
          </a:prstGeom>
          <a:noFill/>
        </p:spPr>
        <p:txBody>
          <a:bodyPr wrap="square">
            <a:spAutoFit/>
          </a:bodyPr>
          <a:lstStyle>
            <a:defPPr>
              <a:defRPr lang="en-US"/>
            </a:defPPr>
            <a:lvl1pPr marL="457200" indent="-457200">
              <a:buFont typeface="Wingdings" panose="05000000000000000000" pitchFamily="2" charset="2"/>
              <a:buChar char="p"/>
              <a:defRPr sz="3200" spc="300">
                <a:solidFill>
                  <a:srgbClr val="FF0000"/>
                </a:solidFill>
                <a:latin typeface="微软雅黑" panose="020B0503020204020204" pitchFamily="34" charset="-122"/>
                <a:ea typeface="微软雅黑" panose="020B0503020204020204" pitchFamily="34" charset="-122"/>
              </a:defRPr>
            </a:lvl1pPr>
          </a:lstStyle>
          <a:p>
            <a:r>
              <a:rPr lang="en-US" altLang="zh-CN" dirty="0" smtClean="0"/>
              <a:t>Bellman-ford</a:t>
            </a:r>
            <a:r>
              <a:rPr lang="zh-CN" altLang="en-US" dirty="0"/>
              <a:t>算法</a:t>
            </a:r>
            <a:endParaRPr lang="zh-CN" altLang="en-US" dirty="0"/>
          </a:p>
        </p:txBody>
      </p:sp>
      <p:sp>
        <p:nvSpPr>
          <p:cNvPr id="2" name="文本框 1" descr="7b0a202020202262756c6c6574223a20227b5c2263617465676f727949645c223a31303030352c5c2274656d706c61746549645c223a32303233313332387d220a7d0a"/>
          <p:cNvSpPr txBox="1"/>
          <p:nvPr/>
        </p:nvSpPr>
        <p:spPr>
          <a:xfrm>
            <a:off x="553299" y="1648236"/>
            <a:ext cx="10954523" cy="646331"/>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sz="2400" dirty="0">
                <a:solidFill>
                  <a:schemeClr val="tx1"/>
                </a:solidFill>
                <a:latin typeface="微软雅黑" panose="020B0503020204020204" pitchFamily="34" charset="-122"/>
                <a:ea typeface="微软雅黑" panose="020B0503020204020204" pitchFamily="34" charset="-122"/>
              </a:rPr>
              <a:t>单源最短路径问题：给定一个起点</a:t>
            </a:r>
            <a:r>
              <a:rPr lang="en-US" altLang="zh-CN" sz="2400" dirty="0">
                <a:solidFill>
                  <a:schemeClr val="tx1"/>
                </a:solidFill>
                <a:latin typeface="微软雅黑" panose="020B0503020204020204" pitchFamily="34" charset="-122"/>
                <a:ea typeface="微软雅黑" panose="020B0503020204020204" pitchFamily="34" charset="-122"/>
              </a:rPr>
              <a:t>s</a:t>
            </a:r>
            <a:r>
              <a:rPr lang="zh-CN" altLang="en-US" sz="2400" dirty="0">
                <a:solidFill>
                  <a:schemeClr val="tx1"/>
                </a:solidFill>
                <a:latin typeface="微软雅黑" panose="020B0503020204020204" pitchFamily="34" charset="-122"/>
                <a:ea typeface="微软雅黑" panose="020B0503020204020204" pitchFamily="34" charset="-122"/>
              </a:rPr>
              <a:t>，求它到图中所有</a:t>
            </a:r>
            <a:r>
              <a:rPr lang="en-US" altLang="zh-CN" sz="2400" dirty="0">
                <a:solidFill>
                  <a:schemeClr val="tx1"/>
                </a:solidFill>
                <a:latin typeface="微软雅黑" panose="020B0503020204020204" pitchFamily="34" charset="-122"/>
                <a:ea typeface="微软雅黑" panose="020B0503020204020204" pitchFamily="34" charset="-122"/>
              </a:rPr>
              <a:t>n</a:t>
            </a:r>
            <a:r>
              <a:rPr lang="zh-CN" altLang="en-US" sz="2400" dirty="0">
                <a:solidFill>
                  <a:schemeClr val="tx1"/>
                </a:solidFill>
                <a:latin typeface="微软雅黑" panose="020B0503020204020204" pitchFamily="34" charset="-122"/>
                <a:ea typeface="微软雅黑" panose="020B0503020204020204" pitchFamily="34" charset="-122"/>
              </a:rPr>
              <a:t>个结点的最短路径。</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ransition spd="slow" advClick="0" advTm="17092">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1063780" y="948997"/>
            <a:ext cx="10069306" cy="584775"/>
          </a:xfrm>
          <a:prstGeom prst="rect">
            <a:avLst/>
          </a:prstGeom>
          <a:noFill/>
        </p:spPr>
        <p:txBody>
          <a:bodyPr wrap="square">
            <a:spAutoFit/>
          </a:bodyPr>
          <a:lstStyle>
            <a:defPPr>
              <a:defRPr lang="en-US"/>
            </a:defPPr>
            <a:lvl1pPr marL="0" indent="0">
              <a:buFont typeface="Wingdings" panose="05000000000000000000" pitchFamily="2" charset="2"/>
              <a:buNone/>
              <a:defRPr sz="3200" spc="300">
                <a:solidFill>
                  <a:srgbClr val="FF0000"/>
                </a:solidFill>
                <a:latin typeface="微软雅黑" panose="020B0503020204020204" pitchFamily="34" charset="-122"/>
                <a:ea typeface="微软雅黑" panose="020B0503020204020204" pitchFamily="34" charset="-122"/>
              </a:defRPr>
            </a:lvl1pPr>
          </a:lstStyle>
          <a:p>
            <a:r>
              <a:rPr lang="zh-CN" altLang="en-US" dirty="0"/>
              <a:t>算法思想</a:t>
            </a:r>
            <a:endParaRPr lang="zh-CN" altLang="en-US" dirty="0"/>
          </a:p>
        </p:txBody>
      </p:sp>
      <p:sp>
        <p:nvSpPr>
          <p:cNvPr id="10" name="标题 1"/>
          <p:cNvSpPr txBox="1">
            <a:spLocks noChangeArrowheads="1"/>
          </p:cNvSpPr>
          <p:nvPr/>
        </p:nvSpPr>
        <p:spPr>
          <a:xfrm>
            <a:off x="1072625" y="1679575"/>
            <a:ext cx="4032250" cy="4699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endParaRPr lang="zh-CN" altLang="en-US" sz="1400" dirty="0">
              <a:solidFill>
                <a:srgbClr val="FF0000"/>
              </a:solidFill>
            </a:endParaRPr>
          </a:p>
        </p:txBody>
      </p:sp>
      <p:sp>
        <p:nvSpPr>
          <p:cNvPr id="12" name="内容占位符 2"/>
          <p:cNvSpPr txBox="1">
            <a:spLocks noChangeArrowheads="1"/>
          </p:cNvSpPr>
          <p:nvPr/>
        </p:nvSpPr>
        <p:spPr>
          <a:xfrm>
            <a:off x="1282024" y="2295278"/>
            <a:ext cx="8819049" cy="1754326"/>
          </a:xfrm>
          <a:prstGeom prst="rect">
            <a:avLst/>
          </a:prstGeom>
          <a:noFill/>
        </p:spPr>
        <p:txBody>
          <a:bodyPr wrap="square" rtlCol="0">
            <a:spAutoFit/>
          </a:bodyPr>
          <a:lstStyle>
            <a:defPPr>
              <a:defRPr lang="en-US"/>
            </a:defPPr>
            <a:lvl1pPr marL="342900" indent="-342900">
              <a:lnSpc>
                <a:spcPct val="150000"/>
              </a:lnSpc>
              <a:buFont typeface="Wingdings" panose="05000000000000000000" pitchFamily="2" charset="2"/>
              <a:buChar char="Ø"/>
              <a:defRPr sz="2400">
                <a:solidFill>
                  <a:schemeClr val="tx1"/>
                </a:solidFill>
                <a:latin typeface="微软雅黑" panose="020B0503020204020204" pitchFamily="34" charset="-122"/>
                <a:ea typeface="微软雅黑" panose="020B0503020204020204" pitchFamily="34" charset="-122"/>
              </a:defRPr>
            </a:lvl1pPr>
          </a:lstStyle>
          <a:p>
            <a:r>
              <a:rPr lang="zh-CN" altLang="en-US" dirty="0"/>
              <a:t>图中每个点上站着一个“警察”。</a:t>
            </a:r>
            <a:endParaRPr lang="zh-CN" altLang="en-US" dirty="0"/>
          </a:p>
          <a:p>
            <a:r>
              <a:rPr lang="zh-CN" altLang="en-US" dirty="0"/>
              <a:t>每个警察问邻居：走你这条路能到</a:t>
            </a:r>
            <a:r>
              <a:rPr lang="en-US" altLang="zh-CN" dirty="0"/>
              <a:t>s</a:t>
            </a:r>
            <a:r>
              <a:rPr lang="zh-CN" altLang="en-US" dirty="0"/>
              <a:t>吗？有多远？</a:t>
            </a:r>
            <a:endParaRPr lang="zh-CN" altLang="en-US" dirty="0"/>
          </a:p>
          <a:p>
            <a:r>
              <a:rPr lang="zh-CN" altLang="en-US" dirty="0"/>
              <a:t>反复问多次，最后所有警察都能得到最短路。</a:t>
            </a:r>
            <a:endParaRPr lang="zh-CN" altLang="en-US" dirty="0"/>
          </a:p>
        </p:txBody>
      </p:sp>
    </p:spTree>
    <p:custDataLst>
      <p:tags r:id="rId1"/>
    </p:custDataLst>
  </p:cSld>
  <p:clrMapOvr>
    <a:masterClrMapping/>
  </p:clrMapOvr>
  <p:transition spd="slow" advClick="0" advTm="18371">
    <p:push dir="u"/>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598620" y="688012"/>
            <a:ext cx="7659924" cy="584775"/>
          </a:xfrm>
          <a:prstGeom prst="rect">
            <a:avLst/>
          </a:prstGeom>
          <a:noFill/>
        </p:spPr>
        <p:txBody>
          <a:bodyPr wrap="square">
            <a:spAutoFit/>
          </a:bodyPr>
          <a:lstStyle>
            <a:defPPr>
              <a:defRPr lang="en-US"/>
            </a:defPPr>
            <a:lvl1pPr marL="0" indent="0">
              <a:buFont typeface="Wingdings" panose="05000000000000000000" pitchFamily="2" charset="2"/>
              <a:buNone/>
              <a:defRPr sz="3200" spc="300">
                <a:solidFill>
                  <a:srgbClr val="FF0000"/>
                </a:solidFill>
                <a:latin typeface="微软雅黑" panose="020B0503020204020204" pitchFamily="34" charset="-122"/>
                <a:ea typeface="微软雅黑" panose="020B0503020204020204" pitchFamily="34" charset="-122"/>
              </a:defRPr>
            </a:lvl1pPr>
          </a:lstStyle>
          <a:p>
            <a:r>
              <a:rPr lang="zh-CN" altLang="en-US" dirty="0"/>
              <a:t>问路</a:t>
            </a:r>
            <a:endParaRPr lang="zh-CN" altLang="en-US" dirty="0"/>
          </a:p>
        </p:txBody>
      </p:sp>
      <p:sp>
        <p:nvSpPr>
          <p:cNvPr id="10" name="内容占位符 2"/>
          <p:cNvSpPr txBox="1"/>
          <p:nvPr/>
        </p:nvSpPr>
        <p:spPr>
          <a:xfrm>
            <a:off x="990601" y="1372915"/>
            <a:ext cx="10342123" cy="4356517"/>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457200" indent="-457200" algn="l" defTabSz="1828800" eaLnBrk="1" hangingPunct="1">
              <a:lnSpc>
                <a:spcPct val="90000"/>
              </a:lnSpc>
              <a:spcBef>
                <a:spcPct val="401000"/>
              </a:spcBef>
              <a:buFont typeface="Arial" panose="020B0604020202020204" pitchFamily="34" charset="0"/>
              <a:buChar char="•"/>
              <a:defRPr sz="4800" kern="1200">
                <a:solidFill>
                  <a:schemeClr val="tx1"/>
                </a:solidFill>
                <a:latin typeface="宋体" panose="02010600030101010101" pitchFamily="2" charset="-122"/>
                <a:ea typeface="宋体" panose="02010600030101010101" pitchFamily="2" charset="-122"/>
              </a:defRPr>
            </a:lvl1pPr>
            <a:lvl2pPr marL="400050" lvl="1" indent="0" algn="l" defTabSz="1828800" eaLnBrk="1" hangingPunct="1">
              <a:lnSpc>
                <a:spcPct val="90000"/>
              </a:lnSpc>
              <a:spcBef>
                <a:spcPct val="201000"/>
              </a:spcBef>
              <a:buFont typeface="Arial" panose="020B0604020202020204" pitchFamily="34" charset="0"/>
              <a:defRPr sz="4800" kern="1200">
                <a:solidFill>
                  <a:schemeClr val="tx1"/>
                </a:solidFill>
                <a:latin typeface="宋体" panose="02010600030101010101" pitchFamily="2" charset="-122"/>
                <a:ea typeface="宋体" panose="02010600030101010101" pitchFamily="2" charset="-122"/>
              </a:defRPr>
            </a:lvl2pPr>
            <a:lvl3pPr marL="2286000" indent="-457200" algn="l" defTabSz="1828800" eaLnBrk="1" hangingPunct="1">
              <a:lnSpc>
                <a:spcPct val="90000"/>
              </a:lnSpc>
              <a:spcBef>
                <a:spcPct val="201000"/>
              </a:spcBef>
              <a:buFont typeface="Arial" panose="020B0604020202020204" pitchFamily="34" charset="0"/>
              <a:buChar char="•"/>
              <a:defRPr sz="4000" kern="1200">
                <a:solidFill>
                  <a:schemeClr val="tx1"/>
                </a:solidFill>
              </a:defRPr>
            </a:lvl3pPr>
            <a:lvl4pPr marL="32004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4pPr>
            <a:lvl5pPr marL="41148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5pPr>
            <a:lvl6pPr marL="50292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6pPr>
            <a:lvl7pPr marL="59436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7pPr>
            <a:lvl8pPr marL="6857365"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8pPr>
            <a:lvl9pPr marL="7771765"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9pPr>
          </a:lstStyle>
          <a:p>
            <a:pPr>
              <a:lnSpc>
                <a:spcPct val="150000"/>
              </a:lnSpc>
              <a:spcBef>
                <a:spcPts val="0"/>
              </a:spcBef>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第</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轮，给所有</a:t>
            </a:r>
            <a:r>
              <a:rPr lang="en-US" altLang="zh-CN" sz="2400" dirty="0">
                <a:latin typeface="微软雅黑" panose="020B0503020204020204" pitchFamily="34" charset="-122"/>
                <a:ea typeface="微软雅黑" panose="020B0503020204020204" pitchFamily="34" charset="-122"/>
              </a:rPr>
              <a:t>n</a:t>
            </a:r>
            <a:r>
              <a:rPr lang="zh-CN" altLang="en-US" sz="2400" dirty="0">
                <a:latin typeface="微软雅黑" panose="020B0503020204020204" pitchFamily="34" charset="-122"/>
                <a:ea typeface="微软雅黑" panose="020B0503020204020204" pitchFamily="34" charset="-122"/>
              </a:rPr>
              <a:t>个人每人一次机会，问他的邻居，到</a:t>
            </a:r>
            <a:r>
              <a:rPr lang="en-US" altLang="zh-CN" sz="2400" dirty="0">
                <a:latin typeface="微软雅黑" panose="020B0503020204020204" pitchFamily="34" charset="-122"/>
                <a:ea typeface="微软雅黑" panose="020B0503020204020204" pitchFamily="34" charset="-122"/>
              </a:rPr>
              <a:t>s</a:t>
            </a:r>
            <a:r>
              <a:rPr lang="zh-CN" altLang="en-US" sz="2400" dirty="0">
                <a:latin typeface="微软雅黑" panose="020B0503020204020204" pitchFamily="34" charset="-122"/>
                <a:ea typeface="微软雅黑" panose="020B0503020204020204" pitchFamily="34" charset="-122"/>
              </a:rPr>
              <a:t>的最短距离是多少？</a:t>
            </a:r>
            <a:endParaRPr lang="zh-CN" altLang="en-US" sz="2400" dirty="0">
              <a:latin typeface="微软雅黑" panose="020B0503020204020204" pitchFamily="34" charset="-122"/>
              <a:ea typeface="微软雅黑" panose="020B0503020204020204" pitchFamily="34" charset="-122"/>
            </a:endParaRPr>
          </a:p>
          <a:p>
            <a:pPr marL="600075" indent="-342900">
              <a:lnSpc>
                <a:spcPct val="150000"/>
              </a:lnSpc>
              <a:spcBef>
                <a:spcPts val="0"/>
              </a:spcBef>
              <a:buFont typeface="Wingdings" panose="05000000000000000000" pitchFamily="2" charset="2"/>
              <a:buChar char="ü"/>
            </a:pPr>
            <a:r>
              <a:rPr lang="zh-CN" altLang="en-US" sz="2400" dirty="0" smtClean="0">
                <a:latin typeface="微软雅黑" panose="020B0503020204020204" pitchFamily="34" charset="-122"/>
                <a:ea typeface="微软雅黑" panose="020B0503020204020204" pitchFamily="34" charset="-122"/>
              </a:rPr>
              <a:t>更新</a:t>
            </a:r>
            <a:r>
              <a:rPr lang="zh-CN" altLang="en-US" sz="2400" dirty="0">
                <a:latin typeface="微软雅黑" panose="020B0503020204020204" pitchFamily="34" charset="-122"/>
                <a:ea typeface="微软雅黑" panose="020B0503020204020204" pitchFamily="34" charset="-122"/>
              </a:rPr>
              <a:t>每人到</a:t>
            </a:r>
            <a:r>
              <a:rPr lang="en-US" altLang="zh-CN" sz="2400" dirty="0">
                <a:latin typeface="微软雅黑" panose="020B0503020204020204" pitchFamily="34" charset="-122"/>
                <a:ea typeface="微软雅黑" panose="020B0503020204020204" pitchFamily="34" charset="-122"/>
              </a:rPr>
              <a:t>s</a:t>
            </a:r>
            <a:r>
              <a:rPr lang="zh-CN" altLang="en-US" sz="2400" dirty="0">
                <a:latin typeface="微软雅黑" panose="020B0503020204020204" pitchFamily="34" charset="-122"/>
                <a:ea typeface="微软雅黑" panose="020B0503020204020204" pitchFamily="34" charset="-122"/>
              </a:rPr>
              <a:t>的最短距离。</a:t>
            </a:r>
            <a:endParaRPr lang="zh-CN" altLang="en-US" sz="2400" dirty="0">
              <a:latin typeface="微软雅黑" panose="020B0503020204020204" pitchFamily="34" charset="-122"/>
              <a:ea typeface="微软雅黑" panose="020B0503020204020204" pitchFamily="34" charset="-122"/>
            </a:endParaRPr>
          </a:p>
          <a:p>
            <a:pPr marL="542925" lvl="1" indent="-342900">
              <a:lnSpc>
                <a:spcPct val="150000"/>
              </a:lnSpc>
              <a:spcBef>
                <a:spcPts val="0"/>
              </a:spcBef>
              <a:buFont typeface="Wingdings" panose="05000000000000000000" pitchFamily="2" charset="2"/>
              <a:buChar char="ü"/>
            </a:pPr>
            <a:r>
              <a:rPr lang="zh-CN" altLang="en-US" sz="2400" dirty="0" smtClean="0">
                <a:latin typeface="微软雅黑" panose="020B0503020204020204" pitchFamily="34" charset="-122"/>
                <a:ea typeface="微软雅黑" panose="020B0503020204020204" pitchFamily="34" charset="-122"/>
              </a:rPr>
              <a:t>特别</a:t>
            </a:r>
            <a:r>
              <a:rPr lang="zh-CN" altLang="en-US" sz="2400" dirty="0">
                <a:latin typeface="微软雅黑" panose="020B0503020204020204" pitchFamily="34" charset="-122"/>
                <a:ea typeface="微软雅黑" panose="020B0503020204020204" pitchFamily="34" charset="-122"/>
              </a:rPr>
              <a:t>地，在</a:t>
            </a:r>
            <a:r>
              <a:rPr lang="en-US" altLang="zh-CN" sz="2400" dirty="0">
                <a:latin typeface="微软雅黑" panose="020B0503020204020204" pitchFamily="34" charset="-122"/>
                <a:ea typeface="微软雅黑" panose="020B0503020204020204" pitchFamily="34" charset="-122"/>
              </a:rPr>
              <a:t>s</a:t>
            </a:r>
            <a:r>
              <a:rPr lang="zh-CN" altLang="en-US" sz="2400" dirty="0">
                <a:latin typeface="微软雅黑" panose="020B0503020204020204" pitchFamily="34" charset="-122"/>
                <a:ea typeface="微软雅黑" panose="020B0503020204020204" pitchFamily="34" charset="-122"/>
              </a:rPr>
              <a:t>的直连邻居中，有个</a:t>
            </a:r>
            <a:r>
              <a:rPr lang="en-US" altLang="zh-CN" sz="2400" dirty="0">
                <a:latin typeface="微软雅黑" panose="020B0503020204020204" pitchFamily="34" charset="-122"/>
                <a:ea typeface="微软雅黑" panose="020B0503020204020204" pitchFamily="34" charset="-122"/>
              </a:rPr>
              <a:t>t</a:t>
            </a:r>
            <a:r>
              <a:rPr lang="zh-CN" altLang="en-US" sz="2400" dirty="0">
                <a:latin typeface="微软雅黑" panose="020B0503020204020204" pitchFamily="34" charset="-122"/>
                <a:ea typeface="微软雅黑" panose="020B0503020204020204" pitchFamily="34" charset="-122"/>
              </a:rPr>
              <a:t>，得到了到</a:t>
            </a:r>
            <a:r>
              <a:rPr lang="en-US" altLang="zh-CN" sz="2400" dirty="0">
                <a:latin typeface="微软雅黑" panose="020B0503020204020204" pitchFamily="34" charset="-122"/>
                <a:ea typeface="微软雅黑" panose="020B0503020204020204" pitchFamily="34" charset="-122"/>
              </a:rPr>
              <a:t>s</a:t>
            </a:r>
            <a:r>
              <a:rPr lang="zh-CN" altLang="en-US" sz="2400" dirty="0">
                <a:latin typeface="微软雅黑" panose="020B0503020204020204" pitchFamily="34" charset="-122"/>
                <a:ea typeface="微软雅黑" panose="020B0503020204020204" pitchFamily="34" charset="-122"/>
              </a:rPr>
              <a:t>的最短距离。（注意，算法并没有查找是哪个</a:t>
            </a:r>
            <a:r>
              <a:rPr lang="en-US" altLang="zh-CN" sz="2400" dirty="0">
                <a:latin typeface="微软雅黑" panose="020B0503020204020204" pitchFamily="34" charset="-122"/>
                <a:ea typeface="微软雅黑" panose="020B0503020204020204" pitchFamily="34" charset="-122"/>
              </a:rPr>
              <a:t>t</a:t>
            </a:r>
            <a:r>
              <a:rPr lang="zh-CN" altLang="en-US"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第</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轮，重复第</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轮的操作。</a:t>
            </a:r>
            <a:endParaRPr lang="zh-CN" altLang="en-US" sz="2400" dirty="0">
              <a:latin typeface="微软雅黑" panose="020B0503020204020204" pitchFamily="34" charset="-122"/>
              <a:ea typeface="微软雅黑" panose="020B0503020204020204" pitchFamily="34" charset="-122"/>
            </a:endParaRPr>
          </a:p>
          <a:p>
            <a:pPr marL="542925" lvl="1" indent="-342900">
              <a:lnSpc>
                <a:spcPct val="150000"/>
              </a:lnSpc>
              <a:spcBef>
                <a:spcPts val="0"/>
              </a:spcBef>
              <a:buFont typeface="Wingdings" panose="05000000000000000000" pitchFamily="2" charset="2"/>
              <a:buChar char="ü"/>
            </a:pPr>
            <a:r>
              <a:rPr lang="zh-CN" altLang="en-US" sz="2400" dirty="0" smtClean="0">
                <a:latin typeface="微软雅黑" panose="020B0503020204020204" pitchFamily="34" charset="-122"/>
                <a:ea typeface="微软雅黑" panose="020B0503020204020204" pitchFamily="34" charset="-122"/>
              </a:rPr>
              <a:t>更新</a:t>
            </a:r>
            <a:r>
              <a:rPr lang="zh-CN" altLang="en-US" sz="2400" dirty="0">
                <a:latin typeface="微软雅黑" panose="020B0503020204020204" pitchFamily="34" charset="-122"/>
                <a:ea typeface="微软雅黑" panose="020B0503020204020204" pitchFamily="34" charset="-122"/>
              </a:rPr>
              <a:t>每人到</a:t>
            </a:r>
            <a:r>
              <a:rPr lang="en-US" altLang="zh-CN" sz="2400" dirty="0">
                <a:latin typeface="微软雅黑" panose="020B0503020204020204" pitchFamily="34" charset="-122"/>
                <a:ea typeface="微软雅黑" panose="020B0503020204020204" pitchFamily="34" charset="-122"/>
              </a:rPr>
              <a:t>s</a:t>
            </a:r>
            <a:r>
              <a:rPr lang="zh-CN" altLang="en-US" sz="2400" dirty="0">
                <a:latin typeface="微软雅黑" panose="020B0503020204020204" pitchFamily="34" charset="-122"/>
                <a:ea typeface="微软雅黑" panose="020B0503020204020204" pitchFamily="34" charset="-122"/>
              </a:rPr>
              <a:t>的最短距离。</a:t>
            </a:r>
            <a:endParaRPr lang="zh-CN" altLang="en-US" sz="2400" dirty="0">
              <a:latin typeface="微软雅黑" panose="020B0503020204020204" pitchFamily="34" charset="-122"/>
              <a:ea typeface="微软雅黑" panose="020B0503020204020204" pitchFamily="34" charset="-122"/>
            </a:endParaRPr>
          </a:p>
          <a:p>
            <a:pPr marL="542925" lvl="1" indent="-342900">
              <a:lnSpc>
                <a:spcPct val="150000"/>
              </a:lnSpc>
              <a:spcBef>
                <a:spcPts val="0"/>
              </a:spcBef>
              <a:buFont typeface="Wingdings" panose="05000000000000000000" pitchFamily="2" charset="2"/>
              <a:buChar char="ü"/>
            </a:pPr>
            <a:r>
              <a:rPr lang="zh-CN" altLang="en-US" sz="2400" dirty="0" smtClean="0">
                <a:latin typeface="微软雅黑" panose="020B0503020204020204" pitchFamily="34" charset="-122"/>
                <a:ea typeface="微软雅黑" panose="020B0503020204020204" pitchFamily="34" charset="-122"/>
              </a:rPr>
              <a:t>特别</a:t>
            </a:r>
            <a:r>
              <a:rPr lang="zh-CN" altLang="en-US" sz="2400" dirty="0">
                <a:latin typeface="微软雅黑" panose="020B0503020204020204" pitchFamily="34" charset="-122"/>
                <a:ea typeface="微软雅黑" panose="020B0503020204020204" pitchFamily="34" charset="-122"/>
              </a:rPr>
              <a:t>地，在</a:t>
            </a:r>
            <a:r>
              <a:rPr lang="en-US" altLang="zh-CN" sz="2400" dirty="0">
                <a:latin typeface="微软雅黑" panose="020B0503020204020204" pitchFamily="34" charset="-122"/>
                <a:ea typeface="微软雅黑" panose="020B0503020204020204" pitchFamily="34" charset="-122"/>
              </a:rPr>
              <a:t>s</a:t>
            </a:r>
            <a:r>
              <a:rPr lang="zh-CN" altLang="en-US" sz="2400" dirty="0">
                <a:latin typeface="微软雅黑" panose="020B0503020204020204" pitchFamily="34" charset="-122"/>
                <a:ea typeface="微软雅黑" panose="020B0503020204020204" pitchFamily="34" charset="-122"/>
              </a:rPr>
              <a:t>和</a:t>
            </a:r>
            <a:r>
              <a:rPr lang="en-US" altLang="zh-CN" sz="2400" dirty="0">
                <a:latin typeface="微软雅黑" panose="020B0503020204020204" pitchFamily="34" charset="-122"/>
                <a:ea typeface="微软雅黑" panose="020B0503020204020204" pitchFamily="34" charset="-122"/>
              </a:rPr>
              <a:t>t</a:t>
            </a:r>
            <a:r>
              <a:rPr lang="zh-CN" altLang="en-US" sz="2400" dirty="0">
                <a:latin typeface="微软雅黑" panose="020B0503020204020204" pitchFamily="34" charset="-122"/>
                <a:ea typeface="微软雅黑" panose="020B0503020204020204" pitchFamily="34" charset="-122"/>
              </a:rPr>
              <a:t>的直连邻居中，有个</a:t>
            </a:r>
            <a:r>
              <a:rPr lang="en-US" altLang="zh-CN" sz="2400" dirty="0">
                <a:latin typeface="微软雅黑" panose="020B0503020204020204" pitchFamily="34" charset="-122"/>
                <a:ea typeface="微软雅黑" panose="020B0503020204020204" pitchFamily="34" charset="-122"/>
              </a:rPr>
              <a:t>v</a:t>
            </a:r>
            <a:r>
              <a:rPr lang="zh-CN" altLang="en-US" sz="2400" dirty="0">
                <a:latin typeface="微软雅黑" panose="020B0503020204020204" pitchFamily="34" charset="-122"/>
                <a:ea typeface="微软雅黑" panose="020B0503020204020204" pitchFamily="34" charset="-122"/>
              </a:rPr>
              <a:t>，得到了到</a:t>
            </a:r>
            <a:r>
              <a:rPr lang="en-US" altLang="zh-CN" sz="2400" dirty="0">
                <a:latin typeface="微软雅黑" panose="020B0503020204020204" pitchFamily="34" charset="-122"/>
                <a:ea typeface="微软雅黑" panose="020B0503020204020204" pitchFamily="34" charset="-122"/>
              </a:rPr>
              <a:t>s</a:t>
            </a:r>
            <a:r>
              <a:rPr lang="zh-CN" altLang="en-US" sz="2400" dirty="0">
                <a:latin typeface="微软雅黑" panose="020B0503020204020204" pitchFamily="34" charset="-122"/>
                <a:ea typeface="微软雅黑" panose="020B0503020204020204" pitchFamily="34" charset="-122"/>
              </a:rPr>
              <a:t>的最短距离。</a:t>
            </a:r>
            <a:endParaRPr lang="zh-CN" altLang="en-US"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第</a:t>
            </a: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轮，</a:t>
            </a:r>
            <a:r>
              <a:rPr lang="en-US" altLang="zh-CN"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a:lnSpc>
                <a:spcPct val="150000"/>
              </a:lnSpc>
              <a:spcBef>
                <a:spcPts val="0"/>
              </a:spcBef>
            </a:pPr>
            <a:endParaRPr lang="en-US" altLang="zh-CN" sz="2400" dirty="0">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ransition spd="slow" advClick="0" advTm="6306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3" end="3"/>
                                            </p:txEl>
                                          </p:spTgt>
                                        </p:tgtEl>
                                        <p:attrNameLst>
                                          <p:attrName>style.visibility</p:attrName>
                                        </p:attrNameLst>
                                      </p:cBhvr>
                                      <p:to>
                                        <p:strVal val="visible"/>
                                      </p:to>
                                    </p:set>
                                    <p:animEffect transition="in" filter="fade">
                                      <p:cBhvr>
                                        <p:cTn id="7" dur="500"/>
                                        <p:tgtEl>
                                          <p:spTgt spid="10">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
                                            <p:txEl>
                                              <p:pRg st="4" end="4"/>
                                            </p:txEl>
                                          </p:spTgt>
                                        </p:tgtEl>
                                        <p:attrNameLst>
                                          <p:attrName>style.visibility</p:attrName>
                                        </p:attrNameLst>
                                      </p:cBhvr>
                                      <p:to>
                                        <p:strVal val="visible"/>
                                      </p:to>
                                    </p:set>
                                    <p:animEffect transition="in" filter="fade">
                                      <p:cBhvr>
                                        <p:cTn id="10" dur="500"/>
                                        <p:tgtEl>
                                          <p:spTgt spid="10">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xEl>
                                              <p:pRg st="5" end="5"/>
                                            </p:txEl>
                                          </p:spTgt>
                                        </p:tgtEl>
                                        <p:attrNameLst>
                                          <p:attrName>style.visibility</p:attrName>
                                        </p:attrNameLst>
                                      </p:cBhvr>
                                      <p:to>
                                        <p:strVal val="visible"/>
                                      </p:to>
                                    </p:set>
                                    <p:animEffect transition="in" filter="fade">
                                      <p:cBhvr>
                                        <p:cTn id="13" dur="500"/>
                                        <p:tgtEl>
                                          <p:spTgt spid="10">
                                            <p:txEl>
                                              <p:pRg st="5" end="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0">
                                            <p:txEl>
                                              <p:pRg st="6" end="6"/>
                                            </p:txEl>
                                          </p:spTgt>
                                        </p:tgtEl>
                                        <p:attrNameLst>
                                          <p:attrName>style.visibility</p:attrName>
                                        </p:attrNameLst>
                                      </p:cBhvr>
                                      <p:to>
                                        <p:strVal val="visible"/>
                                      </p:to>
                                    </p:set>
                                    <p:animEffect transition="in" filter="fade">
                                      <p:cBhvr>
                                        <p:cTn id="18" dur="500"/>
                                        <p:tgtEl>
                                          <p:spTgt spid="1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598620" y="647534"/>
            <a:ext cx="7659924" cy="584775"/>
          </a:xfrm>
          <a:prstGeom prst="rect">
            <a:avLst/>
          </a:prstGeom>
          <a:noFill/>
        </p:spPr>
        <p:txBody>
          <a:bodyPr wrap="square">
            <a:spAutoFit/>
          </a:bodyPr>
          <a:lstStyle>
            <a:defPPr>
              <a:defRPr lang="en-US"/>
            </a:defPPr>
            <a:lvl1pPr marL="0" indent="0">
              <a:buFont typeface="Wingdings" panose="05000000000000000000" pitchFamily="2" charset="2"/>
              <a:buNone/>
              <a:defRPr sz="3200" spc="300">
                <a:solidFill>
                  <a:srgbClr val="FF0000"/>
                </a:solidFill>
                <a:latin typeface="微软雅黑" panose="020B0503020204020204" pitchFamily="34" charset="-122"/>
                <a:ea typeface="微软雅黑" panose="020B0503020204020204" pitchFamily="34" charset="-122"/>
              </a:defRPr>
            </a:lvl1pPr>
          </a:lstStyle>
          <a:p>
            <a:r>
              <a:rPr lang="zh-CN" altLang="en-US" dirty="0"/>
              <a:t>复杂度</a:t>
            </a:r>
            <a:endParaRPr lang="zh-CN" altLang="en-US" dirty="0"/>
          </a:p>
        </p:txBody>
      </p:sp>
      <p:sp>
        <p:nvSpPr>
          <p:cNvPr id="10" name="内容占位符 2"/>
          <p:cNvSpPr txBox="1"/>
          <p:nvPr/>
        </p:nvSpPr>
        <p:spPr>
          <a:xfrm>
            <a:off x="924939" y="1808344"/>
            <a:ext cx="10342123" cy="4356517"/>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457200" indent="-457200" algn="l" defTabSz="1828800" eaLnBrk="1" hangingPunct="1">
              <a:lnSpc>
                <a:spcPct val="90000"/>
              </a:lnSpc>
              <a:spcBef>
                <a:spcPct val="401000"/>
              </a:spcBef>
              <a:buFont typeface="Arial" panose="020B0604020202020204" pitchFamily="34" charset="0"/>
              <a:buChar char="•"/>
              <a:defRPr sz="4800" kern="1200">
                <a:solidFill>
                  <a:schemeClr val="tx1"/>
                </a:solidFill>
                <a:latin typeface="宋体" panose="02010600030101010101" pitchFamily="2" charset="-122"/>
                <a:ea typeface="宋体" panose="02010600030101010101" pitchFamily="2" charset="-122"/>
              </a:defRPr>
            </a:lvl1pPr>
            <a:lvl2pPr marL="400050" lvl="1" indent="0" algn="l" defTabSz="1828800" eaLnBrk="1" hangingPunct="1">
              <a:lnSpc>
                <a:spcPct val="90000"/>
              </a:lnSpc>
              <a:spcBef>
                <a:spcPct val="201000"/>
              </a:spcBef>
              <a:buFont typeface="Arial" panose="020B0604020202020204" pitchFamily="34" charset="0"/>
              <a:defRPr sz="4800" kern="1200">
                <a:solidFill>
                  <a:schemeClr val="tx1"/>
                </a:solidFill>
                <a:latin typeface="宋体" panose="02010600030101010101" pitchFamily="2" charset="-122"/>
                <a:ea typeface="宋体" panose="02010600030101010101" pitchFamily="2" charset="-122"/>
              </a:defRPr>
            </a:lvl2pPr>
            <a:lvl3pPr marL="2286000" indent="-457200" algn="l" defTabSz="1828800" eaLnBrk="1" hangingPunct="1">
              <a:lnSpc>
                <a:spcPct val="90000"/>
              </a:lnSpc>
              <a:spcBef>
                <a:spcPct val="201000"/>
              </a:spcBef>
              <a:buFont typeface="Arial" panose="020B0604020202020204" pitchFamily="34" charset="0"/>
              <a:buChar char="•"/>
              <a:defRPr sz="4000" kern="1200">
                <a:solidFill>
                  <a:schemeClr val="tx1"/>
                </a:solidFill>
              </a:defRPr>
            </a:lvl3pPr>
            <a:lvl4pPr marL="32004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4pPr>
            <a:lvl5pPr marL="41148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5pPr>
            <a:lvl6pPr marL="50292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6pPr>
            <a:lvl7pPr marL="59436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7pPr>
            <a:lvl8pPr marL="6857365"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8pPr>
            <a:lvl9pPr marL="7771765"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9pPr>
          </a:lstStyle>
          <a:p>
            <a:pPr>
              <a:lnSpc>
                <a:spcPct val="150000"/>
              </a:lnSpc>
              <a:spcBef>
                <a:spcPts val="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一共需要几轮操作？每一轮操作，都至少有一个新的结点得到了到</a:t>
            </a:r>
            <a:r>
              <a:rPr lang="en-US" altLang="zh-CN" sz="2400" dirty="0">
                <a:latin typeface="微软雅黑" panose="020B0503020204020204" pitchFamily="34" charset="-122"/>
                <a:ea typeface="微软雅黑" panose="020B0503020204020204" pitchFamily="34" charset="-122"/>
              </a:rPr>
              <a:t>s</a:t>
            </a:r>
            <a:r>
              <a:rPr lang="zh-CN" altLang="en-US" sz="2400" dirty="0">
                <a:latin typeface="微软雅黑" panose="020B0503020204020204" pitchFamily="34" charset="-122"/>
                <a:ea typeface="微软雅黑" panose="020B0503020204020204" pitchFamily="34" charset="-122"/>
              </a:rPr>
              <a:t>的最短路径。所以，最多只需要</a:t>
            </a:r>
            <a:r>
              <a:rPr lang="en-US" altLang="zh-CN" sz="2400" dirty="0">
                <a:latin typeface="微软雅黑" panose="020B0503020204020204" pitchFamily="34" charset="-122"/>
                <a:ea typeface="微软雅黑" panose="020B0503020204020204" pitchFamily="34" charset="-122"/>
              </a:rPr>
              <a:t>n</a:t>
            </a:r>
            <a:r>
              <a:rPr lang="zh-CN" altLang="en-US" sz="2400" dirty="0">
                <a:latin typeface="微软雅黑" panose="020B0503020204020204" pitchFamily="34" charset="-122"/>
                <a:ea typeface="微软雅黑" panose="020B0503020204020204" pitchFamily="34" charset="-122"/>
              </a:rPr>
              <a:t>轮操作，就能完成</a:t>
            </a:r>
            <a:r>
              <a:rPr lang="en-US" altLang="zh-CN" sz="2400" dirty="0">
                <a:latin typeface="微软雅黑" panose="020B0503020204020204" pitchFamily="34" charset="-122"/>
                <a:ea typeface="微软雅黑" panose="020B0503020204020204" pitchFamily="34" charset="-122"/>
              </a:rPr>
              <a:t>n</a:t>
            </a:r>
            <a:r>
              <a:rPr lang="zh-CN" altLang="en-US" sz="2400" dirty="0">
                <a:latin typeface="微软雅黑" panose="020B0503020204020204" pitchFamily="34" charset="-122"/>
                <a:ea typeface="微软雅黑" panose="020B0503020204020204" pitchFamily="34" charset="-122"/>
              </a:rPr>
              <a:t>个结点。</a:t>
            </a:r>
            <a:endParaRPr lang="zh-CN" altLang="en-US"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在每一轮操作中，需要检查所有</a:t>
            </a:r>
            <a:r>
              <a:rPr lang="en-US" altLang="zh-CN" sz="2400" dirty="0">
                <a:latin typeface="微软雅黑" panose="020B0503020204020204" pitchFamily="34" charset="-122"/>
                <a:ea typeface="微软雅黑" panose="020B0503020204020204" pitchFamily="34" charset="-122"/>
              </a:rPr>
              <a:t>m</a:t>
            </a:r>
            <a:r>
              <a:rPr lang="zh-CN" altLang="en-US" sz="2400" dirty="0">
                <a:latin typeface="微软雅黑" panose="020B0503020204020204" pitchFamily="34" charset="-122"/>
                <a:ea typeface="微软雅黑" panose="020B0503020204020204" pitchFamily="34" charset="-122"/>
              </a:rPr>
              <a:t>个边，更新最短距离。</a:t>
            </a:r>
            <a:endParaRPr lang="zh-CN" altLang="en-US"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r>
              <a:rPr lang="en-US" altLang="zh-CN" sz="2400" dirty="0">
                <a:latin typeface="微软雅黑" panose="020B0503020204020204" pitchFamily="34" charset="-122"/>
                <a:ea typeface="微软雅黑" panose="020B0503020204020204" pitchFamily="34" charset="-122"/>
              </a:rPr>
              <a:t>Bellman-Ford</a:t>
            </a:r>
            <a:r>
              <a:rPr lang="zh-CN" altLang="en-US" sz="2400" dirty="0">
                <a:latin typeface="微软雅黑" panose="020B0503020204020204" pitchFamily="34" charset="-122"/>
                <a:ea typeface="微软雅黑" panose="020B0503020204020204" pitchFamily="34" charset="-122"/>
              </a:rPr>
              <a:t>算法的复杂度：</a:t>
            </a:r>
            <a:r>
              <a:rPr lang="en-US" altLang="zh-CN" sz="2400" dirty="0">
                <a:latin typeface="微软雅黑" panose="020B0503020204020204" pitchFamily="34" charset="-122"/>
                <a:ea typeface="微软雅黑" panose="020B0503020204020204" pitchFamily="34" charset="-122"/>
              </a:rPr>
              <a:t>O(nm)</a:t>
            </a:r>
            <a:r>
              <a:rPr lang="zh-CN" altLang="en-US"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endParaRPr lang="zh-CN" altLang="en-US" sz="2400" dirty="0">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ransition spd="slow" advClick="0" advTm="37681">
    <p:push dir="u"/>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598620" y="637212"/>
            <a:ext cx="7659924" cy="584775"/>
          </a:xfrm>
          <a:prstGeom prst="rect">
            <a:avLst/>
          </a:prstGeom>
          <a:noFill/>
        </p:spPr>
        <p:txBody>
          <a:bodyPr wrap="square">
            <a:spAutoFit/>
          </a:bodyPr>
          <a:lstStyle>
            <a:defPPr>
              <a:defRPr lang="en-US"/>
            </a:defPPr>
            <a:lvl1pPr marL="0" indent="0">
              <a:buFont typeface="Wingdings" panose="05000000000000000000" pitchFamily="2" charset="2"/>
              <a:buNone/>
              <a:defRPr sz="3200" spc="300">
                <a:solidFill>
                  <a:srgbClr val="FF0000"/>
                </a:solidFill>
                <a:latin typeface="微软雅黑" panose="020B0503020204020204" pitchFamily="34" charset="-122"/>
                <a:ea typeface="微软雅黑" panose="020B0503020204020204" pitchFamily="34" charset="-122"/>
              </a:defRPr>
            </a:lvl1pPr>
          </a:lstStyle>
          <a:p>
            <a:r>
              <a:rPr lang="zh-CN" altLang="en-US" dirty="0"/>
              <a:t>判断负圈</a:t>
            </a:r>
            <a:endParaRPr lang="zh-CN" altLang="en-US" dirty="0"/>
          </a:p>
        </p:txBody>
      </p:sp>
      <p:sp>
        <p:nvSpPr>
          <p:cNvPr id="10" name="内容占位符 2"/>
          <p:cNvSpPr txBox="1"/>
          <p:nvPr/>
        </p:nvSpPr>
        <p:spPr>
          <a:xfrm>
            <a:off x="990601" y="1372915"/>
            <a:ext cx="10342123" cy="4356517"/>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defRPr kumimoji="0" lang="en-US" sz="1800" b="0" i="0" u="none" strike="noStrike" cap="none" spc="0" normalizeH="0" baseline="0">
                <a:ln>
                  <a:noFill/>
                </a:ln>
                <a:solidFill>
                  <a:srgbClr val="000000"/>
                </a:solidFill>
                <a:effectLst/>
                <a:uFillTx/>
              </a:defRPr>
            </a:defPPr>
            <a:lvl1pPr marL="457200" indent="-457200" defTabSz="1828800" eaLnBrk="1" hangingPunct="1">
              <a:lnSpc>
                <a:spcPct val="150000"/>
              </a:lnSpc>
              <a:spcBef>
                <a:spcPts val="0"/>
              </a:spcBef>
              <a:buFont typeface="Wingdings" panose="05000000000000000000" pitchFamily="2" charset="2"/>
              <a:buChar char="ü"/>
              <a:defRPr sz="2400">
                <a:solidFill>
                  <a:schemeClr val="tx1"/>
                </a:solidFill>
                <a:latin typeface="微软雅黑" panose="020B0503020204020204" pitchFamily="34" charset="-122"/>
                <a:ea typeface="微软雅黑" panose="020B0503020204020204" pitchFamily="34" charset="-122"/>
              </a:defRPr>
            </a:lvl1pPr>
            <a:lvl2pPr marL="400050" lvl="1" indent="0" defTabSz="1828800" eaLnBrk="1" hangingPunct="1">
              <a:lnSpc>
                <a:spcPct val="90000"/>
              </a:lnSpc>
              <a:spcBef>
                <a:spcPct val="201000"/>
              </a:spcBef>
              <a:buFont typeface="Arial" panose="020B0604020202020204" pitchFamily="34" charset="0"/>
              <a:defRPr sz="4800">
                <a:solidFill>
                  <a:schemeClr val="tx1"/>
                </a:solidFill>
                <a:latin typeface="宋体" panose="02010600030101010101" pitchFamily="2" charset="-122"/>
                <a:ea typeface="宋体" panose="02010600030101010101" pitchFamily="2" charset="-122"/>
              </a:defRPr>
            </a:lvl2pPr>
            <a:lvl3pPr marL="2286000" indent="-457200" defTabSz="1828800" eaLnBrk="1" hangingPunct="1">
              <a:lnSpc>
                <a:spcPct val="90000"/>
              </a:lnSpc>
              <a:spcBef>
                <a:spcPct val="201000"/>
              </a:spcBef>
              <a:buFont typeface="Arial" panose="020B0604020202020204" pitchFamily="34" charset="0"/>
              <a:buChar char="•"/>
              <a:defRPr sz="4000">
                <a:solidFill>
                  <a:schemeClr val="tx1"/>
                </a:solidFill>
              </a:defRPr>
            </a:lvl3pPr>
            <a:lvl4pPr marL="3200400" indent="-457200" defTabSz="1828800" eaLnBrk="1" hangingPunct="1">
              <a:lnSpc>
                <a:spcPct val="90000"/>
              </a:lnSpc>
              <a:spcBef>
                <a:spcPct val="201000"/>
              </a:spcBef>
              <a:buFont typeface="Arial" panose="020B0604020202020204" pitchFamily="34" charset="0"/>
              <a:buChar char="•"/>
              <a:defRPr sz="3600">
                <a:solidFill>
                  <a:schemeClr val="tx1"/>
                </a:solidFill>
              </a:defRPr>
            </a:lvl4pPr>
            <a:lvl5pPr marL="4114800" indent="-457200" defTabSz="1828800" eaLnBrk="1" hangingPunct="1">
              <a:lnSpc>
                <a:spcPct val="90000"/>
              </a:lnSpc>
              <a:spcBef>
                <a:spcPct val="201000"/>
              </a:spcBef>
              <a:buFont typeface="Arial" panose="020B0604020202020204" pitchFamily="34" charset="0"/>
              <a:buChar char="•"/>
              <a:defRPr sz="3600">
                <a:solidFill>
                  <a:schemeClr val="tx1"/>
                </a:solidFill>
              </a:defRPr>
            </a:lvl5pPr>
            <a:lvl6pPr marL="5029200" indent="-457200" defTabSz="1828800">
              <a:lnSpc>
                <a:spcPct val="90000"/>
              </a:lnSpc>
              <a:spcBef>
                <a:spcPct val="201000"/>
              </a:spcBef>
              <a:buFont typeface="Arial" panose="020B0604020202020204" pitchFamily="34" charset="0"/>
              <a:buChar char="•"/>
              <a:defRPr sz="3600">
                <a:solidFill>
                  <a:schemeClr val="tx1"/>
                </a:solidFill>
              </a:defRPr>
            </a:lvl6pPr>
            <a:lvl7pPr marL="5943600" indent="-457200" defTabSz="1828800">
              <a:lnSpc>
                <a:spcPct val="90000"/>
              </a:lnSpc>
              <a:spcBef>
                <a:spcPct val="201000"/>
              </a:spcBef>
              <a:buFont typeface="Arial" panose="020B0604020202020204" pitchFamily="34" charset="0"/>
              <a:buChar char="•"/>
              <a:defRPr sz="3600">
                <a:solidFill>
                  <a:schemeClr val="tx1"/>
                </a:solidFill>
              </a:defRPr>
            </a:lvl7pPr>
            <a:lvl8pPr marL="6857365" indent="-457200" defTabSz="1828800">
              <a:lnSpc>
                <a:spcPct val="90000"/>
              </a:lnSpc>
              <a:spcBef>
                <a:spcPct val="201000"/>
              </a:spcBef>
              <a:buFont typeface="Arial" panose="020B0604020202020204" pitchFamily="34" charset="0"/>
              <a:buChar char="•"/>
              <a:defRPr sz="3600">
                <a:solidFill>
                  <a:schemeClr val="tx1"/>
                </a:solidFill>
              </a:defRPr>
            </a:lvl8pPr>
            <a:lvl9pPr marL="7771765" indent="-457200" defTabSz="1828800">
              <a:lnSpc>
                <a:spcPct val="90000"/>
              </a:lnSpc>
              <a:spcBef>
                <a:spcPct val="201000"/>
              </a:spcBef>
              <a:buFont typeface="Arial" panose="020B0604020202020204" pitchFamily="34" charset="0"/>
              <a:buChar char="•"/>
              <a:defRPr sz="3600">
                <a:solidFill>
                  <a:schemeClr val="tx1"/>
                </a:solidFill>
              </a:defRPr>
            </a:lvl9pPr>
          </a:lstStyle>
          <a:p>
            <a:r>
              <a:rPr lang="en-US" altLang="zh-CN" dirty="0"/>
              <a:t>Bellman-Ford</a:t>
            </a:r>
            <a:r>
              <a:rPr lang="zh-CN" altLang="en-US" dirty="0"/>
              <a:t>能判断负圈。</a:t>
            </a:r>
            <a:endParaRPr lang="zh-CN" altLang="en-US" dirty="0"/>
          </a:p>
          <a:p>
            <a:r>
              <a:rPr lang="zh-CN" altLang="en-US" dirty="0"/>
              <a:t>没有负圈时，只需要</a:t>
            </a:r>
            <a:r>
              <a:rPr lang="en-US" altLang="zh-CN" dirty="0"/>
              <a:t>n</a:t>
            </a:r>
            <a:r>
              <a:rPr lang="zh-CN" altLang="en-US" dirty="0"/>
              <a:t>轮就结束。</a:t>
            </a:r>
            <a:endParaRPr lang="zh-CN" altLang="en-US" dirty="0"/>
          </a:p>
          <a:p>
            <a:r>
              <a:rPr lang="zh-CN" altLang="en-US" dirty="0"/>
              <a:t>如果超过</a:t>
            </a:r>
            <a:r>
              <a:rPr lang="en-US" altLang="zh-CN" dirty="0"/>
              <a:t>n</a:t>
            </a:r>
            <a:r>
              <a:rPr lang="zh-CN" altLang="en-US" dirty="0"/>
              <a:t>轮，最短路径还有变化，那么肯定有负圈。</a:t>
            </a:r>
            <a:endParaRPr lang="zh-CN" altLang="en-US" dirty="0"/>
          </a:p>
          <a:p>
            <a:endParaRPr lang="zh-CN" altLang="en-US" dirty="0"/>
          </a:p>
        </p:txBody>
      </p:sp>
    </p:spTree>
    <p:custDataLst>
      <p:tags r:id="rId1"/>
    </p:custDataLst>
  </p:cSld>
  <p:clrMapOvr>
    <a:masterClrMapping/>
  </p:clrMapOvr>
  <p:transition spd="slow" advClick="0" advTm="24397">
    <p:push dir="u"/>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681165" y="222158"/>
            <a:ext cx="10454100" cy="61055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2800" dirty="0" smtClean="0">
                <a:solidFill>
                  <a:srgbClr val="C00000"/>
                </a:solidFill>
                <a:effectLst/>
                <a:latin typeface="微软雅黑" panose="020B0503020204020204" pitchFamily="34" charset="-122"/>
                <a:ea typeface="微软雅黑" panose="020B0503020204020204" pitchFamily="34" charset="-122"/>
              </a:rPr>
              <a:t>例题</a:t>
            </a:r>
            <a:r>
              <a:rPr lang="en-US" altLang="zh-CN" sz="2800" dirty="0" smtClean="0">
                <a:solidFill>
                  <a:srgbClr val="C00000"/>
                </a:solidFill>
                <a:effectLst/>
                <a:latin typeface="微软雅黑" panose="020B0503020204020204" pitchFamily="34" charset="-122"/>
                <a:ea typeface="微软雅黑" panose="020B0503020204020204" pitchFamily="34" charset="-122"/>
              </a:rPr>
              <a:t>9.4</a:t>
            </a:r>
            <a:r>
              <a:rPr lang="zh-CN" altLang="en-US" sz="2800" dirty="0" smtClean="0">
                <a:solidFill>
                  <a:srgbClr val="C00000"/>
                </a:solidFill>
                <a:effectLst/>
                <a:latin typeface="微软雅黑" panose="020B0503020204020204" pitchFamily="34" charset="-122"/>
                <a:ea typeface="微软雅黑" panose="020B0503020204020204" pitchFamily="34" charset="-122"/>
              </a:rPr>
              <a:t>：</a:t>
            </a:r>
            <a:r>
              <a:rPr lang="zh-CN" altLang="en-US" sz="2800" dirty="0" smtClean="0">
                <a:solidFill>
                  <a:srgbClr val="C00000"/>
                </a:solidFill>
                <a:effectLst/>
                <a:latin typeface="微软雅黑" panose="020B0503020204020204" pitchFamily="34" charset="-122"/>
                <a:ea typeface="微软雅黑" panose="020B0503020204020204" pitchFamily="34" charset="-122"/>
              </a:rPr>
              <a:t>出差 </a:t>
            </a:r>
            <a:r>
              <a:rPr lang="en-US" altLang="zh-CN" sz="2800" dirty="0">
                <a:solidFill>
                  <a:srgbClr val="C00000"/>
                </a:solidFill>
                <a:effectLst/>
                <a:latin typeface="微软雅黑" panose="020B0503020204020204" pitchFamily="34" charset="-122"/>
                <a:ea typeface="微软雅黑" panose="020B0503020204020204" pitchFamily="34" charset="-122"/>
              </a:rPr>
              <a:t> </a:t>
            </a:r>
            <a:r>
              <a:rPr lang="en-US" altLang="zh-CN" sz="2800" dirty="0" err="1">
                <a:solidFill>
                  <a:srgbClr val="C00000"/>
                </a:solidFill>
                <a:effectLst/>
                <a:latin typeface="微软雅黑" panose="020B0503020204020204" pitchFamily="34" charset="-122"/>
                <a:ea typeface="微软雅黑" panose="020B0503020204020204" pitchFamily="34" charset="-122"/>
              </a:rPr>
              <a:t>lanqiaoOJ</a:t>
            </a:r>
            <a:r>
              <a:rPr lang="en-US" altLang="zh-CN" sz="2800" dirty="0">
                <a:solidFill>
                  <a:srgbClr val="C00000"/>
                </a:solidFill>
                <a:effectLst/>
                <a:latin typeface="微软雅黑" panose="020B0503020204020204" pitchFamily="34" charset="-122"/>
                <a:ea typeface="微软雅黑" panose="020B0503020204020204" pitchFamily="34" charset="-122"/>
              </a:rPr>
              <a:t> 2194</a:t>
            </a:r>
            <a:r>
              <a:rPr lang="zh-CN" altLang="en-US" sz="2800" dirty="0" smtClean="0">
                <a:solidFill>
                  <a:srgbClr val="C00000"/>
                </a:solidFill>
                <a:effectLst/>
                <a:latin typeface="微软雅黑" panose="020B0503020204020204" pitchFamily="34" charset="-122"/>
                <a:ea typeface="微软雅黑" panose="020B0503020204020204" pitchFamily="34" charset="-122"/>
              </a:rPr>
              <a:t> </a:t>
            </a:r>
            <a:endParaRPr lang="zh-CN" altLang="en-US" sz="1800" dirty="0">
              <a:solidFill>
                <a:srgbClr val="C00000"/>
              </a:solidFill>
              <a:effectLst/>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fld>
            <a:endParaRPr lang="en-US" altLang="zh-CN" b="0" dirty="0">
              <a:solidFill>
                <a:schemeClr val="tx1"/>
              </a:solidFill>
            </a:endParaRPr>
          </a:p>
        </p:txBody>
      </p:sp>
      <p:graphicFrame>
        <p:nvGraphicFramePr>
          <p:cNvPr id="4" name="表格 3"/>
          <p:cNvGraphicFramePr/>
          <p:nvPr>
            <p:custDataLst>
              <p:tags r:id="rId1"/>
            </p:custDataLst>
          </p:nvPr>
        </p:nvGraphicFramePr>
        <p:xfrm>
          <a:off x="681165" y="985415"/>
          <a:ext cx="10656570" cy="5151120"/>
        </p:xfrm>
        <a:graphic>
          <a:graphicData uri="http://schemas.openxmlformats.org/drawingml/2006/table">
            <a:tbl>
              <a:tblPr/>
              <a:tblGrid>
                <a:gridCol w="10656570"/>
              </a:tblGrid>
              <a:tr h="2900630">
                <a:tc>
                  <a:txBody>
                    <a:bodyPr/>
                    <a:lstStyle/>
                    <a:p>
                      <a:pPr>
                        <a:lnSpc>
                          <a:spcPct val="130000"/>
                        </a:lnSpc>
                      </a:pPr>
                      <a:r>
                        <a:rPr lang="zh-CN" altLang="en-US" sz="2000" b="1" kern="1200" dirty="0" smtClean="0">
                          <a:solidFill>
                            <a:schemeClr val="tx1"/>
                          </a:solidFill>
                          <a:effectLst/>
                          <a:latin typeface="微软雅黑" panose="020B0503020204020204" pitchFamily="34" charset="-122"/>
                          <a:ea typeface="微软雅黑" panose="020B0503020204020204" pitchFamily="34" charset="-122"/>
                          <a:cs typeface="+mn-cs"/>
                        </a:rPr>
                        <a:t>问题描述：</a:t>
                      </a:r>
                      <a:r>
                        <a:rPr lang="en-US" altLang="zh-CN" sz="2000" b="1" kern="1200" dirty="0" smtClean="0">
                          <a:solidFill>
                            <a:schemeClr val="tx1"/>
                          </a:solidFill>
                          <a:effectLst/>
                          <a:latin typeface="微软雅黑" panose="020B0503020204020204" pitchFamily="34" charset="-122"/>
                          <a:ea typeface="微软雅黑" panose="020B0503020204020204" pitchFamily="34" charset="-122"/>
                          <a:cs typeface="+mn-cs"/>
                        </a:rPr>
                        <a:t>A</a:t>
                      </a:r>
                      <a:r>
                        <a:rPr lang="zh-CN" altLang="en-US" sz="2000" b="1" kern="1200" dirty="0" smtClean="0">
                          <a:solidFill>
                            <a:schemeClr val="tx1"/>
                          </a:solidFill>
                          <a:effectLst/>
                          <a:latin typeface="微软雅黑" panose="020B0503020204020204" pitchFamily="34" charset="-122"/>
                          <a:ea typeface="微软雅黑" panose="020B0503020204020204" pitchFamily="34" charset="-122"/>
                          <a:cs typeface="+mn-cs"/>
                        </a:rPr>
                        <a:t>国有</a:t>
                      </a:r>
                      <a:r>
                        <a:rPr lang="en-US" altLang="zh-CN" sz="2000" b="1" kern="1200" dirty="0" smtClean="0">
                          <a:solidFill>
                            <a:schemeClr val="tx1"/>
                          </a:solidFill>
                          <a:effectLst/>
                          <a:latin typeface="微软雅黑" panose="020B0503020204020204" pitchFamily="34" charset="-122"/>
                          <a:ea typeface="微软雅黑" panose="020B0503020204020204" pitchFamily="34" charset="-122"/>
                          <a:cs typeface="+mn-cs"/>
                        </a:rPr>
                        <a:t>N</a:t>
                      </a:r>
                      <a:r>
                        <a:rPr lang="zh-CN" altLang="en-US" sz="2000" b="1" kern="1200" dirty="0" smtClean="0">
                          <a:solidFill>
                            <a:schemeClr val="tx1"/>
                          </a:solidFill>
                          <a:effectLst/>
                          <a:latin typeface="微软雅黑" panose="020B0503020204020204" pitchFamily="34" charset="-122"/>
                          <a:ea typeface="微软雅黑" panose="020B0503020204020204" pitchFamily="34" charset="-122"/>
                          <a:cs typeface="+mn-cs"/>
                        </a:rPr>
                        <a:t>个城市，编号为</a:t>
                      </a:r>
                      <a:r>
                        <a:rPr lang="en-US" altLang="zh-CN" sz="2000" b="1" kern="1200" dirty="0" smtClean="0">
                          <a:solidFill>
                            <a:schemeClr val="tx1"/>
                          </a:solidFill>
                          <a:effectLst/>
                          <a:latin typeface="微软雅黑" panose="020B0503020204020204" pitchFamily="34" charset="-122"/>
                          <a:ea typeface="微软雅黑" panose="020B0503020204020204" pitchFamily="34" charset="-122"/>
                          <a:cs typeface="+mn-cs"/>
                        </a:rPr>
                        <a:t>1 . . . N</a:t>
                      </a:r>
                      <a:r>
                        <a:rPr lang="zh-CN" altLang="en-US" sz="2000" b="1" kern="1200" dirty="0" smtClean="0">
                          <a:solidFill>
                            <a:schemeClr val="tx1"/>
                          </a:solidFill>
                          <a:effectLst/>
                          <a:latin typeface="微软雅黑" panose="020B0503020204020204" pitchFamily="34" charset="-122"/>
                          <a:ea typeface="微软雅黑" panose="020B0503020204020204" pitchFamily="34" charset="-122"/>
                          <a:cs typeface="+mn-cs"/>
                        </a:rPr>
                        <a:t>。小明是编号为</a:t>
                      </a:r>
                      <a:r>
                        <a:rPr lang="en-US" altLang="zh-CN" sz="2000" b="1" kern="1200" dirty="0" smtClean="0">
                          <a:solidFill>
                            <a:schemeClr val="tx1"/>
                          </a:solidFill>
                          <a:effectLst/>
                          <a:latin typeface="微软雅黑" panose="020B0503020204020204" pitchFamily="34" charset="-122"/>
                          <a:ea typeface="微软雅黑" panose="020B0503020204020204" pitchFamily="34" charset="-122"/>
                          <a:cs typeface="+mn-cs"/>
                        </a:rPr>
                        <a:t>1</a:t>
                      </a:r>
                      <a:r>
                        <a:rPr lang="zh-CN" altLang="en-US" sz="2000" b="1" kern="1200" dirty="0" smtClean="0">
                          <a:solidFill>
                            <a:schemeClr val="tx1"/>
                          </a:solidFill>
                          <a:effectLst/>
                          <a:latin typeface="微软雅黑" panose="020B0503020204020204" pitchFamily="34" charset="-122"/>
                          <a:ea typeface="微软雅黑" panose="020B0503020204020204" pitchFamily="34" charset="-122"/>
                          <a:cs typeface="+mn-cs"/>
                        </a:rPr>
                        <a:t>的城市中一家公司的员工，今天突然接到了上级通知需要去编号为</a:t>
                      </a:r>
                      <a:r>
                        <a:rPr lang="en-US" altLang="zh-CN" sz="2000" b="1" kern="1200" dirty="0" smtClean="0">
                          <a:solidFill>
                            <a:schemeClr val="tx1"/>
                          </a:solidFill>
                          <a:effectLst/>
                          <a:latin typeface="微软雅黑" panose="020B0503020204020204" pitchFamily="34" charset="-122"/>
                          <a:ea typeface="微软雅黑" panose="020B0503020204020204" pitchFamily="34" charset="-122"/>
                          <a:cs typeface="+mn-cs"/>
                        </a:rPr>
                        <a:t>N</a:t>
                      </a:r>
                      <a:r>
                        <a:rPr lang="zh-CN" altLang="en-US" sz="2000" b="1" kern="1200" dirty="0" smtClean="0">
                          <a:solidFill>
                            <a:schemeClr val="tx1"/>
                          </a:solidFill>
                          <a:effectLst/>
                          <a:latin typeface="微软雅黑" panose="020B0503020204020204" pitchFamily="34" charset="-122"/>
                          <a:ea typeface="微软雅黑" panose="020B0503020204020204" pitchFamily="34" charset="-122"/>
                          <a:cs typeface="+mn-cs"/>
                        </a:rPr>
                        <a:t>的城市出差。由于疫情原因，很多直达的交通方式暂时关闭，小明无法乘坐飞机直接从城市</a:t>
                      </a:r>
                      <a:r>
                        <a:rPr lang="en-US" altLang="zh-CN" sz="2000" b="1" kern="1200" dirty="0" smtClean="0">
                          <a:solidFill>
                            <a:schemeClr val="tx1"/>
                          </a:solidFill>
                          <a:effectLst/>
                          <a:latin typeface="微软雅黑" panose="020B0503020204020204" pitchFamily="34" charset="-122"/>
                          <a:ea typeface="微软雅黑" panose="020B0503020204020204" pitchFamily="34" charset="-122"/>
                          <a:cs typeface="+mn-cs"/>
                        </a:rPr>
                        <a:t>1</a:t>
                      </a:r>
                      <a:r>
                        <a:rPr lang="zh-CN" altLang="en-US" sz="2000" b="1" kern="1200" dirty="0" smtClean="0">
                          <a:solidFill>
                            <a:schemeClr val="tx1"/>
                          </a:solidFill>
                          <a:effectLst/>
                          <a:latin typeface="微软雅黑" panose="020B0503020204020204" pitchFamily="34" charset="-122"/>
                          <a:ea typeface="微软雅黑" panose="020B0503020204020204" pitchFamily="34" charset="-122"/>
                          <a:cs typeface="+mn-cs"/>
                        </a:rPr>
                        <a:t>到达城市</a:t>
                      </a:r>
                      <a:r>
                        <a:rPr lang="en-US" altLang="zh-CN" sz="2000" b="1" kern="1200" dirty="0" smtClean="0">
                          <a:solidFill>
                            <a:schemeClr val="tx1"/>
                          </a:solidFill>
                          <a:effectLst/>
                          <a:latin typeface="微软雅黑" panose="020B0503020204020204" pitchFamily="34" charset="-122"/>
                          <a:ea typeface="微软雅黑" panose="020B0503020204020204" pitchFamily="34" charset="-122"/>
                          <a:cs typeface="+mn-cs"/>
                        </a:rPr>
                        <a:t>N</a:t>
                      </a:r>
                      <a:r>
                        <a:rPr lang="zh-CN" altLang="en-US" sz="2000" b="1" kern="1200" dirty="0" smtClean="0">
                          <a:solidFill>
                            <a:schemeClr val="tx1"/>
                          </a:solidFill>
                          <a:effectLst/>
                          <a:latin typeface="微软雅黑" panose="020B0503020204020204" pitchFamily="34" charset="-122"/>
                          <a:ea typeface="微软雅黑" panose="020B0503020204020204" pitchFamily="34" charset="-122"/>
                          <a:cs typeface="+mn-cs"/>
                        </a:rPr>
                        <a:t>，需要通过其他城市进行陆路交通中转。小明通过交通信息网，查询到了</a:t>
                      </a:r>
                      <a:r>
                        <a:rPr lang="en-US" altLang="zh-CN" sz="2000" b="1" kern="1200" dirty="0" smtClean="0">
                          <a:solidFill>
                            <a:schemeClr val="tx1"/>
                          </a:solidFill>
                          <a:effectLst/>
                          <a:latin typeface="微软雅黑" panose="020B0503020204020204" pitchFamily="34" charset="-122"/>
                          <a:ea typeface="微软雅黑" panose="020B0503020204020204" pitchFamily="34" charset="-122"/>
                          <a:cs typeface="+mn-cs"/>
                        </a:rPr>
                        <a:t>M</a:t>
                      </a:r>
                      <a:r>
                        <a:rPr lang="zh-CN" altLang="en-US" sz="2000" b="1" kern="1200" dirty="0" smtClean="0">
                          <a:solidFill>
                            <a:schemeClr val="tx1"/>
                          </a:solidFill>
                          <a:effectLst/>
                          <a:latin typeface="微软雅黑" panose="020B0503020204020204" pitchFamily="34" charset="-122"/>
                          <a:ea typeface="微软雅黑" panose="020B0503020204020204" pitchFamily="34" charset="-122"/>
                          <a:cs typeface="+mn-cs"/>
                        </a:rPr>
                        <a:t>条城市之间仍然还开通的路线信息以及每一条路线需要花费的时间。同样由于疫情原因，小明到达一个城市后需要隔离观察一段时间才能离开该城市前往其他城市。通过网络，小明也查询到了各个城市的隔离信息。（由于小明之前在城市</a:t>
                      </a:r>
                      <a:r>
                        <a:rPr lang="en-US" altLang="zh-CN" sz="2000" b="1" kern="1200" dirty="0" smtClean="0">
                          <a:solidFill>
                            <a:schemeClr val="tx1"/>
                          </a:solidFill>
                          <a:effectLst/>
                          <a:latin typeface="微软雅黑" panose="020B0503020204020204" pitchFamily="34" charset="-122"/>
                          <a:ea typeface="微软雅黑" panose="020B0503020204020204" pitchFamily="34" charset="-122"/>
                          <a:cs typeface="+mn-cs"/>
                        </a:rPr>
                        <a:t>1</a:t>
                      </a:r>
                      <a:r>
                        <a:rPr lang="zh-CN" altLang="en-US" sz="2000" b="1" kern="1200" dirty="0" smtClean="0">
                          <a:solidFill>
                            <a:schemeClr val="tx1"/>
                          </a:solidFill>
                          <a:effectLst/>
                          <a:latin typeface="微软雅黑" panose="020B0503020204020204" pitchFamily="34" charset="-122"/>
                          <a:ea typeface="微软雅黑" panose="020B0503020204020204" pitchFamily="34" charset="-122"/>
                          <a:cs typeface="+mn-cs"/>
                        </a:rPr>
                        <a:t>，因此可以直接离开城市</a:t>
                      </a:r>
                      <a:r>
                        <a:rPr lang="en-US" altLang="zh-CN" sz="2000" b="1" kern="1200" dirty="0" smtClean="0">
                          <a:solidFill>
                            <a:schemeClr val="tx1"/>
                          </a:solidFill>
                          <a:effectLst/>
                          <a:latin typeface="微软雅黑" panose="020B0503020204020204" pitchFamily="34" charset="-122"/>
                          <a:ea typeface="微软雅黑" panose="020B0503020204020204" pitchFamily="34" charset="-122"/>
                          <a:cs typeface="+mn-cs"/>
                        </a:rPr>
                        <a:t>1</a:t>
                      </a:r>
                      <a:r>
                        <a:rPr lang="zh-CN" altLang="en-US" sz="2000" b="1" kern="1200" dirty="0" smtClean="0">
                          <a:solidFill>
                            <a:schemeClr val="tx1"/>
                          </a:solidFill>
                          <a:effectLst/>
                          <a:latin typeface="微软雅黑" panose="020B0503020204020204" pitchFamily="34" charset="-122"/>
                          <a:ea typeface="微软雅黑" panose="020B0503020204020204" pitchFamily="34" charset="-122"/>
                          <a:cs typeface="+mn-cs"/>
                        </a:rPr>
                        <a:t>，不需要隔离）由于上级要求，小明希望能够尽快赶到城市</a:t>
                      </a:r>
                      <a:r>
                        <a:rPr lang="en-US" altLang="zh-CN" sz="2000" b="1" kern="1200" dirty="0" smtClean="0">
                          <a:solidFill>
                            <a:schemeClr val="tx1"/>
                          </a:solidFill>
                          <a:effectLst/>
                          <a:latin typeface="微软雅黑" panose="020B0503020204020204" pitchFamily="34" charset="-122"/>
                          <a:ea typeface="微软雅黑" panose="020B0503020204020204" pitchFamily="34" charset="-122"/>
                          <a:cs typeface="+mn-cs"/>
                        </a:rPr>
                        <a:t>N</a:t>
                      </a:r>
                      <a:r>
                        <a:rPr lang="zh-CN" altLang="en-US" sz="2000" b="1" kern="1200" dirty="0" smtClean="0">
                          <a:solidFill>
                            <a:schemeClr val="tx1"/>
                          </a:solidFill>
                          <a:effectLst/>
                          <a:latin typeface="微软雅黑" panose="020B0503020204020204" pitchFamily="34" charset="-122"/>
                          <a:ea typeface="微软雅黑" panose="020B0503020204020204" pitchFamily="34" charset="-122"/>
                          <a:cs typeface="+mn-cs"/>
                        </a:rPr>
                        <a:t>，因此他求助于你，希望你能帮他规划一条路线，能够在最短时间内到达城市</a:t>
                      </a:r>
                      <a:r>
                        <a:rPr lang="en-US" altLang="zh-CN" sz="2000" b="1" kern="1200" dirty="0" smtClean="0">
                          <a:solidFill>
                            <a:schemeClr val="tx1"/>
                          </a:solidFill>
                          <a:effectLst/>
                          <a:latin typeface="微软雅黑" panose="020B0503020204020204" pitchFamily="34" charset="-122"/>
                          <a:ea typeface="微软雅黑" panose="020B0503020204020204" pitchFamily="34" charset="-122"/>
                          <a:cs typeface="+mn-cs"/>
                        </a:rPr>
                        <a:t>N</a:t>
                      </a:r>
                      <a:r>
                        <a:rPr lang="zh-CN" altLang="en-US" sz="2000" b="1" kern="1200" dirty="0" smtClean="0">
                          <a:solidFill>
                            <a:schemeClr val="tx1"/>
                          </a:solidFill>
                          <a:effectLst/>
                          <a:latin typeface="微软雅黑" panose="020B0503020204020204" pitchFamily="34" charset="-122"/>
                          <a:ea typeface="微软雅黑" panose="020B0503020204020204" pitchFamily="34" charset="-122"/>
                          <a:cs typeface="+mn-cs"/>
                        </a:rPr>
                        <a:t>。 </a:t>
                      </a:r>
                      <a:endParaRPr lang="zh-CN" altLang="en-US" sz="2000" b="1" kern="1200" dirty="0" smtClean="0">
                        <a:solidFill>
                          <a:schemeClr val="tx1"/>
                        </a:solidFill>
                        <a:effectLst/>
                        <a:latin typeface="微软雅黑" panose="020B0503020204020204" pitchFamily="34" charset="-122"/>
                        <a:ea typeface="微软雅黑" panose="020B0503020204020204" pitchFamily="34" charset="-122"/>
                        <a:cs typeface="+mn-cs"/>
                      </a:endParaRPr>
                    </a:p>
                    <a:p>
                      <a:pPr>
                        <a:lnSpc>
                          <a:spcPct val="130000"/>
                        </a:lnSpc>
                      </a:pPr>
                      <a:r>
                        <a:rPr lang="zh-CN" altLang="en-US" sz="2000" b="1" kern="1200" dirty="0" smtClean="0">
                          <a:solidFill>
                            <a:schemeClr val="tx1"/>
                          </a:solidFill>
                          <a:effectLst/>
                          <a:latin typeface="微软雅黑" panose="020B0503020204020204" pitchFamily="34" charset="-122"/>
                          <a:ea typeface="微软雅黑" panose="020B0503020204020204" pitchFamily="34" charset="-122"/>
                          <a:cs typeface="+mn-cs"/>
                        </a:rPr>
                        <a:t>输入：第</a:t>
                      </a:r>
                      <a:r>
                        <a:rPr lang="en-US" altLang="zh-CN" sz="2000" b="1" kern="1200" dirty="0" smtClean="0">
                          <a:solidFill>
                            <a:schemeClr val="tx1"/>
                          </a:solidFill>
                          <a:effectLst/>
                          <a:latin typeface="微软雅黑" panose="020B0503020204020204" pitchFamily="34" charset="-122"/>
                          <a:ea typeface="微软雅黑" panose="020B0503020204020204" pitchFamily="34" charset="-122"/>
                          <a:cs typeface="+mn-cs"/>
                        </a:rPr>
                        <a:t>1</a:t>
                      </a:r>
                      <a:r>
                        <a:rPr lang="zh-CN" altLang="en-US" sz="2000" b="1" kern="1200" dirty="0" smtClean="0">
                          <a:solidFill>
                            <a:schemeClr val="tx1"/>
                          </a:solidFill>
                          <a:effectLst/>
                          <a:latin typeface="微软雅黑" panose="020B0503020204020204" pitchFamily="34" charset="-122"/>
                          <a:ea typeface="微软雅黑" panose="020B0503020204020204" pitchFamily="34" charset="-122"/>
                          <a:cs typeface="+mn-cs"/>
                        </a:rPr>
                        <a:t>行：两个正整数</a:t>
                      </a:r>
                      <a:r>
                        <a:rPr lang="en-US" altLang="zh-CN" sz="2000" b="1" kern="1200" dirty="0" smtClean="0">
                          <a:solidFill>
                            <a:schemeClr val="tx1"/>
                          </a:solidFill>
                          <a:effectLst/>
                          <a:latin typeface="微软雅黑" panose="020B0503020204020204" pitchFamily="34" charset="-122"/>
                          <a:ea typeface="微软雅黑" panose="020B0503020204020204" pitchFamily="34" charset="-122"/>
                          <a:cs typeface="+mn-cs"/>
                        </a:rPr>
                        <a:t>N, M, N</a:t>
                      </a:r>
                      <a:r>
                        <a:rPr lang="zh-CN" altLang="en-US" sz="2000" b="1" kern="1200" dirty="0" smtClean="0">
                          <a:solidFill>
                            <a:schemeClr val="tx1"/>
                          </a:solidFill>
                          <a:effectLst/>
                          <a:latin typeface="微软雅黑" panose="020B0503020204020204" pitchFamily="34" charset="-122"/>
                          <a:ea typeface="微软雅黑" panose="020B0503020204020204" pitchFamily="34" charset="-122"/>
                          <a:cs typeface="+mn-cs"/>
                        </a:rPr>
                        <a:t>表示</a:t>
                      </a:r>
                      <a:r>
                        <a:rPr lang="en-US" altLang="zh-CN" sz="2000" b="1" kern="1200" dirty="0" smtClean="0">
                          <a:solidFill>
                            <a:schemeClr val="tx1"/>
                          </a:solidFill>
                          <a:effectLst/>
                          <a:latin typeface="微软雅黑" panose="020B0503020204020204" pitchFamily="34" charset="-122"/>
                          <a:ea typeface="微软雅黑" panose="020B0503020204020204" pitchFamily="34" charset="-122"/>
                          <a:cs typeface="+mn-cs"/>
                        </a:rPr>
                        <a:t>A</a:t>
                      </a:r>
                      <a:r>
                        <a:rPr lang="zh-CN" altLang="en-US" sz="2000" b="1" kern="1200" dirty="0" smtClean="0">
                          <a:solidFill>
                            <a:schemeClr val="tx1"/>
                          </a:solidFill>
                          <a:effectLst/>
                          <a:latin typeface="微软雅黑" panose="020B0503020204020204" pitchFamily="34" charset="-122"/>
                          <a:ea typeface="微软雅黑" panose="020B0503020204020204" pitchFamily="34" charset="-122"/>
                          <a:cs typeface="+mn-cs"/>
                        </a:rPr>
                        <a:t>国的城市数量，</a:t>
                      </a:r>
                      <a:r>
                        <a:rPr lang="en-US" altLang="zh-CN" sz="2000" b="1" kern="1200" dirty="0" smtClean="0">
                          <a:solidFill>
                            <a:schemeClr val="tx1"/>
                          </a:solidFill>
                          <a:effectLst/>
                          <a:latin typeface="微软雅黑" panose="020B0503020204020204" pitchFamily="34" charset="-122"/>
                          <a:ea typeface="微软雅黑" panose="020B0503020204020204" pitchFamily="34" charset="-122"/>
                          <a:cs typeface="+mn-cs"/>
                        </a:rPr>
                        <a:t>M</a:t>
                      </a:r>
                      <a:r>
                        <a:rPr lang="zh-CN" altLang="en-US" sz="2000" b="1" kern="1200" dirty="0" smtClean="0">
                          <a:solidFill>
                            <a:schemeClr val="tx1"/>
                          </a:solidFill>
                          <a:effectLst/>
                          <a:latin typeface="微软雅黑" panose="020B0503020204020204" pitchFamily="34" charset="-122"/>
                          <a:ea typeface="微软雅黑" panose="020B0503020204020204" pitchFamily="34" charset="-122"/>
                          <a:cs typeface="+mn-cs"/>
                        </a:rPr>
                        <a:t>表示未关闭的路线数量。第</a:t>
                      </a:r>
                      <a:r>
                        <a:rPr lang="en-US" altLang="zh-CN" sz="2000" b="1" kern="1200" dirty="0" smtClean="0">
                          <a:solidFill>
                            <a:schemeClr val="tx1"/>
                          </a:solidFill>
                          <a:effectLst/>
                          <a:latin typeface="微软雅黑" panose="020B0503020204020204" pitchFamily="34" charset="-122"/>
                          <a:ea typeface="微软雅黑" panose="020B0503020204020204" pitchFamily="34" charset="-122"/>
                          <a:cs typeface="+mn-cs"/>
                        </a:rPr>
                        <a:t>2</a:t>
                      </a:r>
                      <a:r>
                        <a:rPr lang="zh-CN" altLang="en-US" sz="2000" b="1" kern="1200" dirty="0" smtClean="0">
                          <a:solidFill>
                            <a:schemeClr val="tx1"/>
                          </a:solidFill>
                          <a:effectLst/>
                          <a:latin typeface="微软雅黑" panose="020B0503020204020204" pitchFamily="34" charset="-122"/>
                          <a:ea typeface="微软雅黑" panose="020B0503020204020204" pitchFamily="34" charset="-122"/>
                          <a:cs typeface="+mn-cs"/>
                        </a:rPr>
                        <a:t>行：</a:t>
                      </a:r>
                      <a:r>
                        <a:rPr lang="en-US" altLang="zh-CN" sz="2000" b="1" kern="1200" dirty="0" smtClean="0">
                          <a:solidFill>
                            <a:schemeClr val="tx1"/>
                          </a:solidFill>
                          <a:effectLst/>
                          <a:latin typeface="微软雅黑" panose="020B0503020204020204" pitchFamily="34" charset="-122"/>
                          <a:ea typeface="微软雅黑" panose="020B0503020204020204" pitchFamily="34" charset="-122"/>
                          <a:cs typeface="+mn-cs"/>
                        </a:rPr>
                        <a:t>N</a:t>
                      </a:r>
                      <a:r>
                        <a:rPr lang="zh-CN" altLang="en-US" sz="2000" b="1" kern="1200" dirty="0" smtClean="0">
                          <a:solidFill>
                            <a:schemeClr val="tx1"/>
                          </a:solidFill>
                          <a:effectLst/>
                          <a:latin typeface="微软雅黑" panose="020B0503020204020204" pitchFamily="34" charset="-122"/>
                          <a:ea typeface="微软雅黑" panose="020B0503020204020204" pitchFamily="34" charset="-122"/>
                          <a:cs typeface="+mn-cs"/>
                        </a:rPr>
                        <a:t>个正整数，第</a:t>
                      </a:r>
                      <a:r>
                        <a:rPr lang="en-US" altLang="zh-CN" sz="2000" b="1" kern="1200" dirty="0" err="1" smtClean="0">
                          <a:solidFill>
                            <a:schemeClr val="tx1"/>
                          </a:solidFill>
                          <a:effectLst/>
                          <a:latin typeface="微软雅黑" panose="020B0503020204020204" pitchFamily="34" charset="-122"/>
                          <a:ea typeface="微软雅黑" panose="020B0503020204020204" pitchFamily="34" charset="-122"/>
                          <a:cs typeface="+mn-cs"/>
                        </a:rPr>
                        <a:t>i</a:t>
                      </a:r>
                      <a:r>
                        <a:rPr lang="zh-CN" altLang="en-US" sz="2000" b="1" kern="1200" dirty="0" smtClean="0">
                          <a:solidFill>
                            <a:schemeClr val="tx1"/>
                          </a:solidFill>
                          <a:effectLst/>
                          <a:latin typeface="微软雅黑" panose="020B0503020204020204" pitchFamily="34" charset="-122"/>
                          <a:ea typeface="微软雅黑" panose="020B0503020204020204" pitchFamily="34" charset="-122"/>
                          <a:cs typeface="+mn-cs"/>
                        </a:rPr>
                        <a:t>个整数</a:t>
                      </a:r>
                      <a:r>
                        <a:rPr lang="en-US" altLang="zh-CN" sz="2000" b="1" kern="1200" dirty="0" smtClean="0">
                          <a:solidFill>
                            <a:schemeClr val="tx1"/>
                          </a:solidFill>
                          <a:effectLst/>
                          <a:latin typeface="微软雅黑" panose="020B0503020204020204" pitchFamily="34" charset="-122"/>
                          <a:ea typeface="微软雅黑" panose="020B0503020204020204" pitchFamily="34" charset="-122"/>
                          <a:cs typeface="+mn-cs"/>
                        </a:rPr>
                        <a:t>Ci</a:t>
                      </a:r>
                      <a:r>
                        <a:rPr lang="zh-CN" altLang="en-US" sz="2000" b="1" kern="1200" dirty="0" smtClean="0">
                          <a:solidFill>
                            <a:schemeClr val="tx1"/>
                          </a:solidFill>
                          <a:effectLst/>
                          <a:latin typeface="微软雅黑" panose="020B0503020204020204" pitchFamily="34" charset="-122"/>
                          <a:ea typeface="微软雅黑" panose="020B0503020204020204" pitchFamily="34" charset="-122"/>
                          <a:cs typeface="+mn-cs"/>
                        </a:rPr>
                        <a:t>表示到达编号为</a:t>
                      </a:r>
                      <a:r>
                        <a:rPr lang="en-US" altLang="zh-CN" sz="2000" b="1" kern="1200" dirty="0" err="1" smtClean="0">
                          <a:solidFill>
                            <a:schemeClr val="tx1"/>
                          </a:solidFill>
                          <a:effectLst/>
                          <a:latin typeface="微软雅黑" panose="020B0503020204020204" pitchFamily="34" charset="-122"/>
                          <a:ea typeface="微软雅黑" panose="020B0503020204020204" pitchFamily="34" charset="-122"/>
                          <a:cs typeface="+mn-cs"/>
                        </a:rPr>
                        <a:t>i</a:t>
                      </a:r>
                      <a:r>
                        <a:rPr lang="zh-CN" altLang="en-US" sz="2000" b="1" kern="1200" dirty="0" smtClean="0">
                          <a:solidFill>
                            <a:schemeClr val="tx1"/>
                          </a:solidFill>
                          <a:effectLst/>
                          <a:latin typeface="微软雅黑" panose="020B0503020204020204" pitchFamily="34" charset="-122"/>
                          <a:ea typeface="微软雅黑" panose="020B0503020204020204" pitchFamily="34" charset="-122"/>
                          <a:cs typeface="+mn-cs"/>
                        </a:rPr>
                        <a:t>的城市后需要隔离的时间。第</a:t>
                      </a:r>
                      <a:r>
                        <a:rPr lang="en-US" altLang="zh-CN" sz="2000" b="1" kern="1200" dirty="0" smtClean="0">
                          <a:solidFill>
                            <a:schemeClr val="tx1"/>
                          </a:solidFill>
                          <a:effectLst/>
                          <a:latin typeface="微软雅黑" panose="020B0503020204020204" pitchFamily="34" charset="-122"/>
                          <a:ea typeface="微软雅黑" panose="020B0503020204020204" pitchFamily="34" charset="-122"/>
                          <a:cs typeface="+mn-cs"/>
                        </a:rPr>
                        <a:t>3 . . . M + 2</a:t>
                      </a:r>
                      <a:r>
                        <a:rPr lang="zh-CN" altLang="en-US" sz="2000" b="1" kern="1200" dirty="0" smtClean="0">
                          <a:solidFill>
                            <a:schemeClr val="tx1"/>
                          </a:solidFill>
                          <a:effectLst/>
                          <a:latin typeface="微软雅黑" panose="020B0503020204020204" pitchFamily="34" charset="-122"/>
                          <a:ea typeface="微软雅黑" panose="020B0503020204020204" pitchFamily="34" charset="-122"/>
                          <a:cs typeface="+mn-cs"/>
                        </a:rPr>
                        <a:t>行：每行</a:t>
                      </a:r>
                      <a:r>
                        <a:rPr lang="en-US" altLang="zh-CN" sz="2000" b="1" kern="1200" dirty="0" smtClean="0">
                          <a:solidFill>
                            <a:schemeClr val="tx1"/>
                          </a:solidFill>
                          <a:effectLst/>
                          <a:latin typeface="微软雅黑" panose="020B0503020204020204" pitchFamily="34" charset="-122"/>
                          <a:ea typeface="微软雅黑" panose="020B0503020204020204" pitchFamily="34" charset="-122"/>
                          <a:cs typeface="+mn-cs"/>
                        </a:rPr>
                        <a:t>3</a:t>
                      </a:r>
                      <a:r>
                        <a:rPr lang="zh-CN" altLang="en-US" sz="2000" b="1" kern="1200" dirty="0" smtClean="0">
                          <a:solidFill>
                            <a:schemeClr val="tx1"/>
                          </a:solidFill>
                          <a:effectLst/>
                          <a:latin typeface="微软雅黑" panose="020B0503020204020204" pitchFamily="34" charset="-122"/>
                          <a:ea typeface="微软雅黑" panose="020B0503020204020204" pitchFamily="34" charset="-122"/>
                          <a:cs typeface="+mn-cs"/>
                        </a:rPr>
                        <a:t>个正整数，</a:t>
                      </a:r>
                      <a:r>
                        <a:rPr lang="en-US" altLang="zh-CN" sz="2000" b="1" kern="1200" dirty="0" smtClean="0">
                          <a:solidFill>
                            <a:schemeClr val="tx1"/>
                          </a:solidFill>
                          <a:effectLst/>
                          <a:latin typeface="微软雅黑" panose="020B0503020204020204" pitchFamily="34" charset="-122"/>
                          <a:ea typeface="微软雅黑" panose="020B0503020204020204" pitchFamily="34" charset="-122"/>
                          <a:cs typeface="+mn-cs"/>
                        </a:rPr>
                        <a:t>u, v, c</a:t>
                      </a:r>
                      <a:r>
                        <a:rPr lang="zh-CN" altLang="en-US" sz="2000" b="1" kern="1200" dirty="0" smtClean="0">
                          <a:solidFill>
                            <a:schemeClr val="tx1"/>
                          </a:solidFill>
                          <a:effectLst/>
                          <a:latin typeface="微软雅黑" panose="020B0503020204020204" pitchFamily="34" charset="-122"/>
                          <a:ea typeface="微软雅黑" panose="020B0503020204020204" pitchFamily="34" charset="-122"/>
                          <a:cs typeface="+mn-cs"/>
                        </a:rPr>
                        <a:t>，表示有一条城市</a:t>
                      </a:r>
                      <a:r>
                        <a:rPr lang="en-US" altLang="zh-CN" sz="2000" b="1" kern="1200" dirty="0" smtClean="0">
                          <a:solidFill>
                            <a:schemeClr val="tx1"/>
                          </a:solidFill>
                          <a:effectLst/>
                          <a:latin typeface="微软雅黑" panose="020B0503020204020204" pitchFamily="34" charset="-122"/>
                          <a:ea typeface="微软雅黑" panose="020B0503020204020204" pitchFamily="34" charset="-122"/>
                          <a:cs typeface="+mn-cs"/>
                        </a:rPr>
                        <a:t>u</a:t>
                      </a:r>
                      <a:r>
                        <a:rPr lang="zh-CN" altLang="en-US" sz="2000" b="1" kern="1200" dirty="0" smtClean="0">
                          <a:solidFill>
                            <a:schemeClr val="tx1"/>
                          </a:solidFill>
                          <a:effectLst/>
                          <a:latin typeface="微软雅黑" panose="020B0503020204020204" pitchFamily="34" charset="-122"/>
                          <a:ea typeface="微软雅黑" panose="020B0503020204020204" pitchFamily="34" charset="-122"/>
                          <a:cs typeface="+mn-cs"/>
                        </a:rPr>
                        <a:t>到城市</a:t>
                      </a:r>
                      <a:r>
                        <a:rPr lang="en-US" altLang="zh-CN" sz="2000" b="1" kern="1200" dirty="0" smtClean="0">
                          <a:solidFill>
                            <a:schemeClr val="tx1"/>
                          </a:solidFill>
                          <a:effectLst/>
                          <a:latin typeface="微软雅黑" panose="020B0503020204020204" pitchFamily="34" charset="-122"/>
                          <a:ea typeface="微软雅黑" panose="020B0503020204020204" pitchFamily="34" charset="-122"/>
                          <a:cs typeface="+mn-cs"/>
                        </a:rPr>
                        <a:t>v</a:t>
                      </a:r>
                      <a:r>
                        <a:rPr lang="zh-CN" altLang="en-US" sz="2000" b="1" kern="1200" dirty="0" smtClean="0">
                          <a:solidFill>
                            <a:schemeClr val="tx1"/>
                          </a:solidFill>
                          <a:effectLst/>
                          <a:latin typeface="微软雅黑" panose="020B0503020204020204" pitchFamily="34" charset="-122"/>
                          <a:ea typeface="微软雅黑" panose="020B0503020204020204" pitchFamily="34" charset="-122"/>
                          <a:cs typeface="+mn-cs"/>
                        </a:rPr>
                        <a:t>的双向路线仍然开通着，通过该路线的时间为</a:t>
                      </a:r>
                      <a:r>
                        <a:rPr lang="en-US" altLang="zh-CN" sz="2000" b="1" kern="1200" dirty="0" smtClean="0">
                          <a:solidFill>
                            <a:schemeClr val="tx1"/>
                          </a:solidFill>
                          <a:effectLst/>
                          <a:latin typeface="微软雅黑" panose="020B0503020204020204" pitchFamily="34" charset="-122"/>
                          <a:ea typeface="微软雅黑" panose="020B0503020204020204" pitchFamily="34" charset="-122"/>
                          <a:cs typeface="+mn-cs"/>
                        </a:rPr>
                        <a:t>c</a:t>
                      </a:r>
                      <a:r>
                        <a:rPr lang="zh-CN" altLang="en-US" sz="2000" b="1" kern="1200" dirty="0" smtClean="0">
                          <a:solidFill>
                            <a:schemeClr val="tx1"/>
                          </a:solidFill>
                          <a:effectLst/>
                          <a:latin typeface="微软雅黑" panose="020B0503020204020204" pitchFamily="34" charset="-122"/>
                          <a:ea typeface="微软雅黑" panose="020B0503020204020204" pitchFamily="34" charset="-122"/>
                          <a:cs typeface="+mn-cs"/>
                        </a:rPr>
                        <a:t>。</a:t>
                      </a:r>
                      <a:endParaRPr lang="zh-CN" altLang="en-US" sz="2000" b="1" kern="1200" dirty="0" smtClean="0">
                        <a:solidFill>
                          <a:schemeClr val="tx1"/>
                        </a:solidFill>
                        <a:effectLst/>
                        <a:latin typeface="微软雅黑" panose="020B0503020204020204" pitchFamily="34" charset="-122"/>
                        <a:ea typeface="微软雅黑" panose="020B0503020204020204" pitchFamily="34" charset="-122"/>
                        <a:cs typeface="+mn-cs"/>
                      </a:endParaRPr>
                    </a:p>
                    <a:p>
                      <a:pPr>
                        <a:lnSpc>
                          <a:spcPct val="130000"/>
                        </a:lnSpc>
                      </a:pPr>
                      <a:r>
                        <a:rPr lang="zh-CN" altLang="en-US" sz="2000" b="1" kern="1200" dirty="0" smtClean="0">
                          <a:solidFill>
                            <a:schemeClr val="tx1"/>
                          </a:solidFill>
                          <a:effectLst/>
                          <a:latin typeface="微软雅黑" panose="020B0503020204020204" pitchFamily="34" charset="-122"/>
                          <a:ea typeface="微软雅黑" panose="020B0503020204020204" pitchFamily="34" charset="-122"/>
                          <a:cs typeface="+mn-cs"/>
                        </a:rPr>
                        <a:t>输出：第</a:t>
                      </a:r>
                      <a:r>
                        <a:rPr lang="en-US" altLang="zh-CN" sz="2000" b="1" kern="1200" dirty="0" smtClean="0">
                          <a:solidFill>
                            <a:schemeClr val="tx1"/>
                          </a:solidFill>
                          <a:effectLst/>
                          <a:latin typeface="微软雅黑" panose="020B0503020204020204" pitchFamily="34" charset="-122"/>
                          <a:ea typeface="微软雅黑" panose="020B0503020204020204" pitchFamily="34" charset="-122"/>
                          <a:cs typeface="+mn-cs"/>
                        </a:rPr>
                        <a:t>1</a:t>
                      </a:r>
                      <a:r>
                        <a:rPr lang="zh-CN" altLang="en-US" sz="2000" b="1" kern="1200" dirty="0" smtClean="0">
                          <a:solidFill>
                            <a:schemeClr val="tx1"/>
                          </a:solidFill>
                          <a:effectLst/>
                          <a:latin typeface="微软雅黑" panose="020B0503020204020204" pitchFamily="34" charset="-122"/>
                          <a:ea typeface="微软雅黑" panose="020B0503020204020204" pitchFamily="34" charset="-122"/>
                          <a:cs typeface="+mn-cs"/>
                        </a:rPr>
                        <a:t>行：</a:t>
                      </a:r>
                      <a:r>
                        <a:rPr lang="en-US" altLang="zh-CN" sz="2000" b="1" kern="1200" dirty="0" smtClean="0">
                          <a:solidFill>
                            <a:schemeClr val="tx1"/>
                          </a:solidFill>
                          <a:effectLst/>
                          <a:latin typeface="微软雅黑" panose="020B0503020204020204" pitchFamily="34" charset="-122"/>
                          <a:ea typeface="微软雅黑" panose="020B0503020204020204" pitchFamily="34" charset="-122"/>
                          <a:cs typeface="+mn-cs"/>
                        </a:rPr>
                        <a:t>1</a:t>
                      </a:r>
                      <a:r>
                        <a:rPr lang="zh-CN" altLang="en-US" sz="2000" b="1" kern="1200" dirty="0" smtClean="0">
                          <a:solidFill>
                            <a:schemeClr val="tx1"/>
                          </a:solidFill>
                          <a:effectLst/>
                          <a:latin typeface="微软雅黑" panose="020B0503020204020204" pitchFamily="34" charset="-122"/>
                          <a:ea typeface="微软雅黑" panose="020B0503020204020204" pitchFamily="34" charset="-122"/>
                          <a:cs typeface="+mn-cs"/>
                        </a:rPr>
                        <a:t>个正整数，表示小明从城市</a:t>
                      </a:r>
                      <a:r>
                        <a:rPr lang="en-US" altLang="zh-CN" sz="2000" b="1" kern="1200" dirty="0" smtClean="0">
                          <a:solidFill>
                            <a:schemeClr val="tx1"/>
                          </a:solidFill>
                          <a:effectLst/>
                          <a:latin typeface="微软雅黑" panose="020B0503020204020204" pitchFamily="34" charset="-122"/>
                          <a:ea typeface="微软雅黑" panose="020B0503020204020204" pitchFamily="34" charset="-122"/>
                          <a:cs typeface="+mn-cs"/>
                        </a:rPr>
                        <a:t>1</a:t>
                      </a:r>
                      <a:r>
                        <a:rPr lang="zh-CN" altLang="en-US" sz="2000" b="1" kern="1200" dirty="0" smtClean="0">
                          <a:solidFill>
                            <a:schemeClr val="tx1"/>
                          </a:solidFill>
                          <a:effectLst/>
                          <a:latin typeface="微软雅黑" panose="020B0503020204020204" pitchFamily="34" charset="-122"/>
                          <a:ea typeface="微软雅黑" panose="020B0503020204020204" pitchFamily="34" charset="-122"/>
                          <a:cs typeface="+mn-cs"/>
                        </a:rPr>
                        <a:t>出发到达城市</a:t>
                      </a:r>
                      <a:r>
                        <a:rPr lang="en-US" altLang="zh-CN" sz="2000" b="1" kern="1200" dirty="0" smtClean="0">
                          <a:solidFill>
                            <a:schemeClr val="tx1"/>
                          </a:solidFill>
                          <a:effectLst/>
                          <a:latin typeface="微软雅黑" panose="020B0503020204020204" pitchFamily="34" charset="-122"/>
                          <a:ea typeface="微软雅黑" panose="020B0503020204020204" pitchFamily="34" charset="-122"/>
                          <a:cs typeface="+mn-cs"/>
                        </a:rPr>
                        <a:t>N</a:t>
                      </a:r>
                      <a:r>
                        <a:rPr lang="zh-CN" altLang="en-US" sz="2000" b="1" kern="1200" dirty="0" smtClean="0">
                          <a:solidFill>
                            <a:schemeClr val="tx1"/>
                          </a:solidFill>
                          <a:effectLst/>
                          <a:latin typeface="微软雅黑" panose="020B0503020204020204" pitchFamily="34" charset="-122"/>
                          <a:ea typeface="微软雅黑" panose="020B0503020204020204" pitchFamily="34" charset="-122"/>
                          <a:cs typeface="+mn-cs"/>
                        </a:rPr>
                        <a:t>的最短时间（到达城市</a:t>
                      </a:r>
                      <a:r>
                        <a:rPr lang="en-US" altLang="zh-CN" sz="2000" b="1" kern="1200" dirty="0" smtClean="0">
                          <a:solidFill>
                            <a:schemeClr val="tx1"/>
                          </a:solidFill>
                          <a:effectLst/>
                          <a:latin typeface="微软雅黑" panose="020B0503020204020204" pitchFamily="34" charset="-122"/>
                          <a:ea typeface="微软雅黑" panose="020B0503020204020204" pitchFamily="34" charset="-122"/>
                          <a:cs typeface="+mn-cs"/>
                        </a:rPr>
                        <a:t>N</a:t>
                      </a:r>
                      <a:r>
                        <a:rPr lang="zh-CN" altLang="en-US" sz="2000" b="1" kern="1200" dirty="0" smtClean="0">
                          <a:solidFill>
                            <a:schemeClr val="tx1"/>
                          </a:solidFill>
                          <a:effectLst/>
                          <a:latin typeface="微软雅黑" panose="020B0503020204020204" pitchFamily="34" charset="-122"/>
                          <a:ea typeface="微软雅黑" panose="020B0503020204020204" pitchFamily="34" charset="-122"/>
                          <a:cs typeface="+mn-cs"/>
                        </a:rPr>
                        <a:t>，不需要计算城市</a:t>
                      </a:r>
                      <a:r>
                        <a:rPr lang="en-US" altLang="zh-CN" sz="2000" b="1" kern="1200" dirty="0" smtClean="0">
                          <a:solidFill>
                            <a:schemeClr val="tx1"/>
                          </a:solidFill>
                          <a:effectLst/>
                          <a:latin typeface="微软雅黑" panose="020B0503020204020204" pitchFamily="34" charset="-122"/>
                          <a:ea typeface="微软雅黑" panose="020B0503020204020204" pitchFamily="34" charset="-122"/>
                          <a:cs typeface="+mn-cs"/>
                        </a:rPr>
                        <a:t>N</a:t>
                      </a:r>
                      <a:r>
                        <a:rPr lang="zh-CN" altLang="en-US" sz="2000" b="1" kern="1200" dirty="0" smtClean="0">
                          <a:solidFill>
                            <a:schemeClr val="tx1"/>
                          </a:solidFill>
                          <a:effectLst/>
                          <a:latin typeface="微软雅黑" panose="020B0503020204020204" pitchFamily="34" charset="-122"/>
                          <a:ea typeface="微软雅黑" panose="020B0503020204020204" pitchFamily="34" charset="-122"/>
                          <a:cs typeface="+mn-cs"/>
                        </a:rPr>
                        <a:t>的隔离时间）。</a:t>
                      </a:r>
                      <a:endParaRPr lang="zh-CN" altLang="en-US" sz="2000" b="1" kern="1200" dirty="0" smtClean="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lgn="ctr">
                      <a:solidFill>
                        <a:srgbClr val="000008"/>
                      </a:solidFill>
                      <a:prstDash val="solid"/>
                      <a:round/>
                      <a:headEnd type="none" w="med" len="med"/>
                      <a:tailEnd type="none" w="med" len="me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80440"/>
    </mc:Choice>
    <mc:Fallback>
      <p:transition spd="slow" advTm="80440"/>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598620" y="637212"/>
            <a:ext cx="7659924" cy="584775"/>
          </a:xfrm>
          <a:prstGeom prst="rect">
            <a:avLst/>
          </a:prstGeom>
          <a:noFill/>
        </p:spPr>
        <p:txBody>
          <a:bodyPr wrap="square">
            <a:spAutoFit/>
          </a:bodyPr>
          <a:lstStyle>
            <a:defPPr>
              <a:defRPr lang="en-US"/>
            </a:defPPr>
            <a:lvl1pPr marL="0" indent="0">
              <a:buFont typeface="Wingdings" panose="05000000000000000000" pitchFamily="2" charset="2"/>
              <a:buNone/>
              <a:defRPr sz="3200" spc="300">
                <a:solidFill>
                  <a:srgbClr val="FF0000"/>
                </a:solidFill>
                <a:latin typeface="微软雅黑" panose="020B0503020204020204" pitchFamily="34" charset="-122"/>
                <a:ea typeface="微软雅黑" panose="020B0503020204020204" pitchFamily="34" charset="-122"/>
              </a:defRPr>
            </a:lvl1pPr>
          </a:lstStyle>
          <a:p>
            <a:r>
              <a:rPr lang="zh-CN" altLang="en-US" dirty="0" smtClean="0"/>
              <a:t>题解</a:t>
            </a:r>
            <a:endParaRPr lang="zh-CN" altLang="en-US" dirty="0"/>
          </a:p>
        </p:txBody>
      </p:sp>
      <p:sp>
        <p:nvSpPr>
          <p:cNvPr id="10" name="内容占位符 2"/>
          <p:cNvSpPr txBox="1"/>
          <p:nvPr/>
        </p:nvSpPr>
        <p:spPr>
          <a:xfrm>
            <a:off x="990601" y="1372915"/>
            <a:ext cx="10342123" cy="4356517"/>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defRPr kumimoji="0" lang="en-US" sz="1800" b="0" i="0" u="none" strike="noStrike" cap="none" spc="0" normalizeH="0" baseline="0">
                <a:ln>
                  <a:noFill/>
                </a:ln>
                <a:solidFill>
                  <a:srgbClr val="000000"/>
                </a:solidFill>
                <a:effectLst/>
                <a:uFillTx/>
              </a:defRPr>
            </a:defPPr>
            <a:lvl1pPr marL="457200" indent="-457200" defTabSz="1828800" eaLnBrk="1" hangingPunct="1">
              <a:lnSpc>
                <a:spcPct val="150000"/>
              </a:lnSpc>
              <a:spcBef>
                <a:spcPts val="0"/>
              </a:spcBef>
              <a:buFont typeface="Wingdings" panose="05000000000000000000" pitchFamily="2" charset="2"/>
              <a:buChar char="ü"/>
              <a:defRPr sz="2400">
                <a:solidFill>
                  <a:schemeClr val="tx1"/>
                </a:solidFill>
                <a:latin typeface="微软雅黑" panose="020B0503020204020204" pitchFamily="34" charset="-122"/>
                <a:ea typeface="微软雅黑" panose="020B0503020204020204" pitchFamily="34" charset="-122"/>
              </a:defRPr>
            </a:lvl1pPr>
            <a:lvl2pPr marL="400050" lvl="1" indent="0" defTabSz="1828800" eaLnBrk="1" hangingPunct="1">
              <a:lnSpc>
                <a:spcPct val="90000"/>
              </a:lnSpc>
              <a:spcBef>
                <a:spcPct val="201000"/>
              </a:spcBef>
              <a:buFont typeface="Arial" panose="020B0604020202020204" pitchFamily="34" charset="0"/>
              <a:defRPr sz="4800">
                <a:solidFill>
                  <a:schemeClr val="tx1"/>
                </a:solidFill>
                <a:latin typeface="宋体" panose="02010600030101010101" pitchFamily="2" charset="-122"/>
                <a:ea typeface="宋体" panose="02010600030101010101" pitchFamily="2" charset="-122"/>
              </a:defRPr>
            </a:lvl2pPr>
            <a:lvl3pPr marL="2286000" indent="-457200" defTabSz="1828800" eaLnBrk="1" hangingPunct="1">
              <a:lnSpc>
                <a:spcPct val="90000"/>
              </a:lnSpc>
              <a:spcBef>
                <a:spcPct val="201000"/>
              </a:spcBef>
              <a:buFont typeface="Arial" panose="020B0604020202020204" pitchFamily="34" charset="0"/>
              <a:buChar char="•"/>
              <a:defRPr sz="4000">
                <a:solidFill>
                  <a:schemeClr val="tx1"/>
                </a:solidFill>
              </a:defRPr>
            </a:lvl3pPr>
            <a:lvl4pPr marL="3200400" indent="-457200" defTabSz="1828800" eaLnBrk="1" hangingPunct="1">
              <a:lnSpc>
                <a:spcPct val="90000"/>
              </a:lnSpc>
              <a:spcBef>
                <a:spcPct val="201000"/>
              </a:spcBef>
              <a:buFont typeface="Arial" panose="020B0604020202020204" pitchFamily="34" charset="0"/>
              <a:buChar char="•"/>
              <a:defRPr sz="3600">
                <a:solidFill>
                  <a:schemeClr val="tx1"/>
                </a:solidFill>
              </a:defRPr>
            </a:lvl4pPr>
            <a:lvl5pPr marL="4114800" indent="-457200" defTabSz="1828800" eaLnBrk="1" hangingPunct="1">
              <a:lnSpc>
                <a:spcPct val="90000"/>
              </a:lnSpc>
              <a:spcBef>
                <a:spcPct val="201000"/>
              </a:spcBef>
              <a:buFont typeface="Arial" panose="020B0604020202020204" pitchFamily="34" charset="0"/>
              <a:buChar char="•"/>
              <a:defRPr sz="3600">
                <a:solidFill>
                  <a:schemeClr val="tx1"/>
                </a:solidFill>
              </a:defRPr>
            </a:lvl5pPr>
            <a:lvl6pPr marL="5029200" indent="-457200" defTabSz="1828800">
              <a:lnSpc>
                <a:spcPct val="90000"/>
              </a:lnSpc>
              <a:spcBef>
                <a:spcPct val="201000"/>
              </a:spcBef>
              <a:buFont typeface="Arial" panose="020B0604020202020204" pitchFamily="34" charset="0"/>
              <a:buChar char="•"/>
              <a:defRPr sz="3600">
                <a:solidFill>
                  <a:schemeClr val="tx1"/>
                </a:solidFill>
              </a:defRPr>
            </a:lvl6pPr>
            <a:lvl7pPr marL="5943600" indent="-457200" defTabSz="1828800">
              <a:lnSpc>
                <a:spcPct val="90000"/>
              </a:lnSpc>
              <a:spcBef>
                <a:spcPct val="201000"/>
              </a:spcBef>
              <a:buFont typeface="Arial" panose="020B0604020202020204" pitchFamily="34" charset="0"/>
              <a:buChar char="•"/>
              <a:defRPr sz="3600">
                <a:solidFill>
                  <a:schemeClr val="tx1"/>
                </a:solidFill>
              </a:defRPr>
            </a:lvl7pPr>
            <a:lvl8pPr marL="6857365" indent="-457200" defTabSz="1828800">
              <a:lnSpc>
                <a:spcPct val="90000"/>
              </a:lnSpc>
              <a:spcBef>
                <a:spcPct val="201000"/>
              </a:spcBef>
              <a:buFont typeface="Arial" panose="020B0604020202020204" pitchFamily="34" charset="0"/>
              <a:buChar char="•"/>
              <a:defRPr sz="3600">
                <a:solidFill>
                  <a:schemeClr val="tx1"/>
                </a:solidFill>
              </a:defRPr>
            </a:lvl8pPr>
            <a:lvl9pPr marL="7771765" indent="-457200" defTabSz="1828800">
              <a:lnSpc>
                <a:spcPct val="90000"/>
              </a:lnSpc>
              <a:spcBef>
                <a:spcPct val="201000"/>
              </a:spcBef>
              <a:buFont typeface="Arial" panose="020B0604020202020204" pitchFamily="34" charset="0"/>
              <a:buChar char="•"/>
              <a:defRPr sz="3600">
                <a:solidFill>
                  <a:schemeClr val="tx1"/>
                </a:solidFill>
              </a:defRPr>
            </a:lvl9pPr>
          </a:lstStyle>
          <a:p>
            <a:r>
              <a:rPr lang="zh-CN" altLang="zh-CN" dirty="0"/>
              <a:t>本题求最短路径，数据规模</a:t>
            </a:r>
            <a:r>
              <a:rPr lang="en-US" altLang="zh-CN" dirty="0"/>
              <a:t>1≤N≤1000 </a:t>
            </a:r>
            <a:r>
              <a:rPr lang="zh-CN" altLang="zh-CN" dirty="0"/>
              <a:t>，</a:t>
            </a:r>
            <a:r>
              <a:rPr lang="en-US" altLang="zh-CN" dirty="0"/>
              <a:t>1≤M≤10000</a:t>
            </a:r>
            <a:r>
              <a:rPr lang="zh-CN" altLang="zh-CN" dirty="0"/>
              <a:t>不算大。用哪种算法？用复杂度</a:t>
            </a:r>
            <a:r>
              <a:rPr lang="en-US" altLang="zh-CN" dirty="0"/>
              <a:t>O(n</a:t>
            </a:r>
            <a:r>
              <a:rPr lang="en-US" altLang="zh-CN" baseline="30000" dirty="0"/>
              <a:t>3</a:t>
            </a:r>
            <a:r>
              <a:rPr lang="en-US" altLang="zh-CN" dirty="0"/>
              <a:t>)</a:t>
            </a:r>
            <a:r>
              <a:rPr lang="zh-CN" altLang="zh-CN" dirty="0"/>
              <a:t>的</a:t>
            </a:r>
            <a:r>
              <a:rPr lang="en-US" altLang="zh-CN" dirty="0" err="1"/>
              <a:t>floyd</a:t>
            </a:r>
            <a:r>
              <a:rPr lang="zh-CN" altLang="zh-CN" dirty="0"/>
              <a:t>算法超时；用复杂度</a:t>
            </a:r>
            <a:r>
              <a:rPr lang="en-US" altLang="zh-CN" dirty="0"/>
              <a:t>O(</a:t>
            </a:r>
            <a:r>
              <a:rPr lang="en-US" altLang="zh-CN" dirty="0" err="1"/>
              <a:t>mn</a:t>
            </a:r>
            <a:r>
              <a:rPr lang="en-US" altLang="zh-CN" dirty="0"/>
              <a:t>)</a:t>
            </a:r>
            <a:r>
              <a:rPr lang="zh-CN" altLang="zh-CN" dirty="0"/>
              <a:t>的</a:t>
            </a:r>
            <a:r>
              <a:rPr lang="en-US" altLang="zh-CN" dirty="0"/>
              <a:t>Bellman-ford</a:t>
            </a:r>
            <a:r>
              <a:rPr lang="zh-CN" altLang="zh-CN" dirty="0"/>
              <a:t>算法正好；没有必要使用更好的</a:t>
            </a:r>
            <a:r>
              <a:rPr lang="en-US" altLang="zh-CN" dirty="0" err="1" smtClean="0"/>
              <a:t>Dijkstra</a:t>
            </a:r>
            <a:r>
              <a:rPr lang="zh-CN" altLang="zh-CN" dirty="0" smtClean="0"/>
              <a:t>算法</a:t>
            </a:r>
            <a:r>
              <a:rPr lang="zh-CN" altLang="zh-CN" dirty="0"/>
              <a:t>。</a:t>
            </a:r>
            <a:endParaRPr lang="zh-CN" altLang="zh-CN" dirty="0"/>
          </a:p>
          <a:p>
            <a:r>
              <a:rPr lang="zh-CN" altLang="zh-CN" dirty="0"/>
              <a:t>两点之间的边长，除了路线时间</a:t>
            </a:r>
            <a:r>
              <a:rPr lang="en-US" altLang="zh-CN" dirty="0"/>
              <a:t>c</a:t>
            </a:r>
            <a:r>
              <a:rPr lang="zh-CN" altLang="zh-CN" dirty="0"/>
              <a:t>，还要加上隔离时间。经过这个转化后，本题是一道简单的</a:t>
            </a:r>
            <a:r>
              <a:rPr lang="en-US" altLang="zh-CN" dirty="0"/>
              <a:t>Bellman-ford</a:t>
            </a:r>
            <a:r>
              <a:rPr lang="zh-CN" altLang="zh-CN" dirty="0"/>
              <a:t>算法模板题。</a:t>
            </a:r>
            <a:endParaRPr lang="zh-CN" altLang="zh-CN" dirty="0"/>
          </a:p>
        </p:txBody>
      </p:sp>
    </p:spTree>
    <p:custDataLst>
      <p:tags r:id="rId1"/>
    </p:custDataLst>
  </p:cSld>
  <p:clrMapOvr>
    <a:masterClrMapping/>
  </p:clrMapOvr>
  <p:transition spd="slow" advClick="0" advTm="24397">
    <p:push dir="u"/>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fld>
            <a:endParaRPr lang="en-US" altLang="zh-CN" b="0" dirty="0">
              <a:solidFill>
                <a:schemeClr val="tx1"/>
              </a:solidFill>
            </a:endParaRPr>
          </a:p>
        </p:txBody>
      </p:sp>
      <p:sp>
        <p:nvSpPr>
          <p:cNvPr id="21" name="内容占位符 2"/>
          <p:cNvSpPr txBox="1"/>
          <p:nvPr/>
        </p:nvSpPr>
        <p:spPr>
          <a:xfrm>
            <a:off x="3652721" y="-83215"/>
            <a:ext cx="8551480" cy="61167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#include&lt;bits/</a:t>
            </a:r>
            <a:r>
              <a:rPr lang="en-US" altLang="zh-CN" sz="1600" b="0" dirty="0" err="1">
                <a:latin typeface="宋体" panose="02010600030101010101" pitchFamily="2" charset="-122"/>
                <a:ea typeface="宋体" panose="02010600030101010101" pitchFamily="2" charset="-122"/>
              </a:rPr>
              <a:t>stdc</a:t>
            </a:r>
            <a:r>
              <a:rPr lang="en-US" altLang="zh-CN" sz="1600" b="0" dirty="0">
                <a:latin typeface="宋体" panose="02010600030101010101" pitchFamily="2" charset="-122"/>
                <a:ea typeface="宋体" panose="02010600030101010101" pitchFamily="2" charset="-122"/>
              </a:rPr>
              <a:t>++.h&gt;</a:t>
            </a:r>
            <a:endParaRPr lang="en-US" altLang="zh-CN" sz="1600" b="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using namespace </a:t>
            </a:r>
            <a:r>
              <a:rPr lang="en-US" altLang="zh-CN" sz="1600" b="0" dirty="0" err="1">
                <a:latin typeface="宋体" panose="02010600030101010101" pitchFamily="2" charset="-122"/>
                <a:ea typeface="宋体" panose="02010600030101010101" pitchFamily="2" charset="-122"/>
              </a:rPr>
              <a:t>std</a:t>
            </a:r>
            <a:r>
              <a:rPr lang="en-US" altLang="zh-CN" sz="1600" b="0" dirty="0">
                <a:latin typeface="宋体" panose="02010600030101010101" pitchFamily="2" charset="-122"/>
                <a:ea typeface="宋体" panose="02010600030101010101" pitchFamily="2" charset="-122"/>
              </a:rPr>
              <a:t>;</a:t>
            </a:r>
            <a:endParaRPr lang="en-US" altLang="zh-CN" sz="1600" b="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600" b="0" dirty="0" err="1">
                <a:latin typeface="宋体" panose="02010600030101010101" pitchFamily="2" charset="-122"/>
                <a:ea typeface="宋体" panose="02010600030101010101" pitchFamily="2" charset="-122"/>
              </a:rPr>
              <a:t>const</a:t>
            </a:r>
            <a:r>
              <a:rPr lang="en-US" altLang="zh-CN" sz="1600" b="0" dirty="0">
                <a:latin typeface="宋体" panose="02010600030101010101" pitchFamily="2" charset="-122"/>
                <a:ea typeface="宋体" panose="02010600030101010101" pitchFamily="2" charset="-122"/>
              </a:rPr>
              <a:t> </a:t>
            </a:r>
            <a:r>
              <a:rPr lang="en-US" altLang="zh-CN" sz="1600" b="0" dirty="0" err="1">
                <a:latin typeface="宋体" panose="02010600030101010101" pitchFamily="2" charset="-122"/>
                <a:ea typeface="宋体" panose="02010600030101010101" pitchFamily="2" charset="-122"/>
              </a:rPr>
              <a:t>int</a:t>
            </a:r>
            <a:r>
              <a:rPr lang="en-US" altLang="zh-CN" sz="1600" b="0" dirty="0">
                <a:latin typeface="宋体" panose="02010600030101010101" pitchFamily="2" charset="-122"/>
                <a:ea typeface="宋体" panose="02010600030101010101" pitchFamily="2" charset="-122"/>
              </a:rPr>
              <a:t> M = 20010;            //</a:t>
            </a:r>
            <a:r>
              <a:rPr lang="zh-CN" altLang="en-US" sz="1600" b="0" dirty="0">
                <a:latin typeface="宋体" panose="02010600030101010101" pitchFamily="2" charset="-122"/>
                <a:ea typeface="宋体" panose="02010600030101010101" pitchFamily="2" charset="-122"/>
              </a:rPr>
              <a:t>双向边的最大数量</a:t>
            </a:r>
            <a:endParaRPr lang="zh-CN" altLang="en-US" sz="1600" b="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600" b="0" dirty="0" err="1">
                <a:latin typeface="宋体" panose="02010600030101010101" pitchFamily="2" charset="-122"/>
                <a:ea typeface="宋体" panose="02010600030101010101" pitchFamily="2" charset="-122"/>
              </a:rPr>
              <a:t>int</a:t>
            </a:r>
            <a:r>
              <a:rPr lang="en-US" altLang="zh-CN" sz="1600" b="0" dirty="0">
                <a:latin typeface="宋体" panose="02010600030101010101" pitchFamily="2" charset="-122"/>
                <a:ea typeface="宋体" panose="02010600030101010101" pitchFamily="2" charset="-122"/>
              </a:rPr>
              <a:t> t[M];</a:t>
            </a:r>
            <a:endParaRPr lang="en-US" altLang="zh-CN" sz="1600" b="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600" b="0" dirty="0" err="1">
                <a:latin typeface="宋体" panose="02010600030101010101" pitchFamily="2" charset="-122"/>
                <a:ea typeface="宋体" panose="02010600030101010101" pitchFamily="2" charset="-122"/>
              </a:rPr>
              <a:t>int</a:t>
            </a:r>
            <a:r>
              <a:rPr lang="en-US" altLang="zh-CN" sz="1600" b="0" dirty="0">
                <a:latin typeface="宋体" panose="02010600030101010101" pitchFamily="2" charset="-122"/>
                <a:ea typeface="宋体" panose="02010600030101010101" pitchFamily="2" charset="-122"/>
              </a:rPr>
              <a:t> </a:t>
            </a:r>
            <a:r>
              <a:rPr lang="en-US" altLang="zh-CN" sz="1600" b="0" dirty="0" err="1">
                <a:latin typeface="宋体" panose="02010600030101010101" pitchFamily="2" charset="-122"/>
                <a:ea typeface="宋体" panose="02010600030101010101" pitchFamily="2" charset="-122"/>
              </a:rPr>
              <a:t>dist</a:t>
            </a:r>
            <a:r>
              <a:rPr lang="en-US" altLang="zh-CN" sz="1600" b="0" dirty="0">
                <a:latin typeface="宋体" panose="02010600030101010101" pitchFamily="2" charset="-122"/>
                <a:ea typeface="宋体" panose="02010600030101010101" pitchFamily="2" charset="-122"/>
              </a:rPr>
              <a:t>[M];                    //</a:t>
            </a:r>
            <a:r>
              <a:rPr lang="en-US" altLang="zh-CN" sz="1600" b="0" dirty="0" err="1">
                <a:latin typeface="宋体" panose="02010600030101010101" pitchFamily="2" charset="-122"/>
                <a:ea typeface="宋体" panose="02010600030101010101" pitchFamily="2" charset="-122"/>
              </a:rPr>
              <a:t>dist</a:t>
            </a:r>
            <a:r>
              <a:rPr lang="en-US" altLang="zh-CN" sz="1600" b="0" dirty="0">
                <a:latin typeface="宋体" panose="02010600030101010101" pitchFamily="2" charset="-122"/>
                <a:ea typeface="宋体" panose="02010600030101010101" pitchFamily="2" charset="-122"/>
              </a:rPr>
              <a:t>[</a:t>
            </a:r>
            <a:r>
              <a:rPr lang="en-US" altLang="zh-CN" sz="1600" b="0" dirty="0" err="1">
                <a:latin typeface="宋体" panose="02010600030101010101" pitchFamily="2" charset="-122"/>
                <a:ea typeface="宋体" panose="02010600030101010101" pitchFamily="2" charset="-122"/>
              </a:rPr>
              <a:t>i</a:t>
            </a:r>
            <a:r>
              <a:rPr lang="en-US" altLang="zh-CN" sz="1600" b="0" dirty="0">
                <a:latin typeface="宋体" panose="02010600030101010101" pitchFamily="2" charset="-122"/>
                <a:ea typeface="宋体" panose="02010600030101010101" pitchFamily="2" charset="-122"/>
              </a:rPr>
              <a:t>]: </a:t>
            </a:r>
            <a:r>
              <a:rPr lang="zh-CN" altLang="en-US" sz="1600" b="0" dirty="0">
                <a:latin typeface="宋体" panose="02010600030101010101" pitchFamily="2" charset="-122"/>
                <a:ea typeface="宋体" panose="02010600030101010101" pitchFamily="2" charset="-122"/>
              </a:rPr>
              <a:t>从起点到第</a:t>
            </a:r>
            <a:r>
              <a:rPr lang="en-US" altLang="zh-CN" sz="1600" b="0" dirty="0" err="1">
                <a:latin typeface="宋体" panose="02010600030101010101" pitchFamily="2" charset="-122"/>
                <a:ea typeface="宋体" panose="02010600030101010101" pitchFamily="2" charset="-122"/>
              </a:rPr>
              <a:t>i</a:t>
            </a:r>
            <a:r>
              <a:rPr lang="zh-CN" altLang="en-US" sz="1600" b="0" dirty="0">
                <a:latin typeface="宋体" panose="02010600030101010101" pitchFamily="2" charset="-122"/>
                <a:ea typeface="宋体" panose="02010600030101010101" pitchFamily="2" charset="-122"/>
              </a:rPr>
              <a:t>点的最短路</a:t>
            </a:r>
            <a:endParaRPr lang="zh-CN" altLang="en-US" sz="1600" b="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600" b="0" dirty="0" err="1">
                <a:latin typeface="宋体" panose="02010600030101010101" pitchFamily="2" charset="-122"/>
                <a:ea typeface="宋体" panose="02010600030101010101" pitchFamily="2" charset="-122"/>
              </a:rPr>
              <a:t>struct</a:t>
            </a:r>
            <a:r>
              <a:rPr lang="en-US" altLang="zh-CN" sz="1600" b="0" dirty="0">
                <a:latin typeface="宋体" panose="02010600030101010101" pitchFamily="2" charset="-122"/>
                <a:ea typeface="宋体" panose="02010600030101010101" pitchFamily="2" charset="-122"/>
              </a:rPr>
              <a:t> edge{</a:t>
            </a:r>
            <a:r>
              <a:rPr lang="en-US" altLang="zh-CN" sz="1600" b="0" dirty="0" err="1">
                <a:latin typeface="宋体" panose="02010600030101010101" pitchFamily="2" charset="-122"/>
                <a:ea typeface="宋体" panose="02010600030101010101" pitchFamily="2" charset="-122"/>
              </a:rPr>
              <a:t>int</a:t>
            </a:r>
            <a:r>
              <a:rPr lang="en-US" altLang="zh-CN" sz="1600" b="0" dirty="0">
                <a:latin typeface="宋体" panose="02010600030101010101" pitchFamily="2" charset="-122"/>
                <a:ea typeface="宋体" panose="02010600030101010101" pitchFamily="2" charset="-122"/>
              </a:rPr>
              <a:t> </a:t>
            </a:r>
            <a:r>
              <a:rPr lang="en-US" altLang="zh-CN" sz="1600" b="0" dirty="0" err="1">
                <a:latin typeface="宋体" panose="02010600030101010101" pitchFamily="2" charset="-122"/>
                <a:ea typeface="宋体" panose="02010600030101010101" pitchFamily="2" charset="-122"/>
              </a:rPr>
              <a:t>a,b,c</a:t>
            </a:r>
            <a:r>
              <a:rPr lang="en-US" altLang="zh-CN" sz="1600" b="0" dirty="0">
                <a:latin typeface="宋体" panose="02010600030101010101" pitchFamily="2" charset="-122"/>
                <a:ea typeface="宋体" panose="02010600030101010101" pitchFamily="2" charset="-122"/>
              </a:rPr>
              <a:t>;}e[M];    //</a:t>
            </a:r>
            <a:r>
              <a:rPr lang="zh-CN" altLang="en-US" sz="1600" b="0" dirty="0">
                <a:latin typeface="宋体" panose="02010600030101010101" pitchFamily="2" charset="-122"/>
                <a:ea typeface="宋体" panose="02010600030101010101" pitchFamily="2" charset="-122"/>
              </a:rPr>
              <a:t>分开也行：</a:t>
            </a:r>
            <a:r>
              <a:rPr lang="en-US" altLang="zh-CN" sz="1600" b="0" dirty="0" err="1">
                <a:latin typeface="宋体" panose="02010600030101010101" pitchFamily="2" charset="-122"/>
                <a:ea typeface="宋体" panose="02010600030101010101" pitchFamily="2" charset="-122"/>
              </a:rPr>
              <a:t>int</a:t>
            </a:r>
            <a:r>
              <a:rPr lang="en-US" altLang="zh-CN" sz="1600" b="0" dirty="0">
                <a:latin typeface="宋体" panose="02010600030101010101" pitchFamily="2" charset="-122"/>
                <a:ea typeface="宋体" panose="02010600030101010101" pitchFamily="2" charset="-122"/>
              </a:rPr>
              <a:t> a[M],b[M],c[M];</a:t>
            </a:r>
            <a:endParaRPr lang="en-US" altLang="zh-CN" sz="1600" b="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600" b="0" dirty="0" err="1">
                <a:latin typeface="宋体" panose="02010600030101010101" pitchFamily="2" charset="-122"/>
                <a:ea typeface="宋体" panose="02010600030101010101" pitchFamily="2" charset="-122"/>
              </a:rPr>
              <a:t>int</a:t>
            </a:r>
            <a:r>
              <a:rPr lang="en-US" altLang="zh-CN" sz="1600" b="0" dirty="0">
                <a:latin typeface="宋体" panose="02010600030101010101" pitchFamily="2" charset="-122"/>
                <a:ea typeface="宋体" panose="02010600030101010101" pitchFamily="2" charset="-122"/>
              </a:rPr>
              <a:t> main(){</a:t>
            </a:r>
            <a:endParaRPr lang="en-US" altLang="zh-CN" sz="1600" b="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    </a:t>
            </a:r>
            <a:r>
              <a:rPr lang="en-US" altLang="zh-CN" sz="1600" b="0" dirty="0" err="1">
                <a:latin typeface="宋体" panose="02010600030101010101" pitchFamily="2" charset="-122"/>
                <a:ea typeface="宋体" panose="02010600030101010101" pitchFamily="2" charset="-122"/>
              </a:rPr>
              <a:t>int</a:t>
            </a:r>
            <a:r>
              <a:rPr lang="en-US" altLang="zh-CN" sz="1600" b="0" dirty="0">
                <a:latin typeface="宋体" panose="02010600030101010101" pitchFamily="2" charset="-122"/>
                <a:ea typeface="宋体" panose="02010600030101010101" pitchFamily="2" charset="-122"/>
              </a:rPr>
              <a:t> </a:t>
            </a:r>
            <a:r>
              <a:rPr lang="en-US" altLang="zh-CN" sz="1600" b="0" dirty="0" err="1">
                <a:latin typeface="宋体" panose="02010600030101010101" pitchFamily="2" charset="-122"/>
                <a:ea typeface="宋体" panose="02010600030101010101" pitchFamily="2" charset="-122"/>
              </a:rPr>
              <a:t>n,m</a:t>
            </a:r>
            <a:r>
              <a:rPr lang="en-US" altLang="zh-CN" sz="1600" b="0" dirty="0">
                <a:latin typeface="宋体" panose="02010600030101010101" pitchFamily="2" charset="-122"/>
                <a:ea typeface="宋体" panose="02010600030101010101" pitchFamily="2" charset="-122"/>
              </a:rPr>
              <a:t>; </a:t>
            </a:r>
            <a:r>
              <a:rPr lang="en-US" altLang="zh-CN" sz="1600" b="0" dirty="0" err="1">
                <a:latin typeface="宋体" panose="02010600030101010101" pitchFamily="2" charset="-122"/>
                <a:ea typeface="宋体" panose="02010600030101010101" pitchFamily="2" charset="-122"/>
              </a:rPr>
              <a:t>cin</a:t>
            </a:r>
            <a:r>
              <a:rPr lang="en-US" altLang="zh-CN" sz="1600" b="0" dirty="0">
                <a:latin typeface="宋体" panose="02010600030101010101" pitchFamily="2" charset="-122"/>
                <a:ea typeface="宋体" panose="02010600030101010101" pitchFamily="2" charset="-122"/>
              </a:rPr>
              <a:t>&gt;&gt;n&gt;&gt;m;</a:t>
            </a:r>
            <a:endParaRPr lang="en-US" altLang="zh-CN" sz="1600" b="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    for(</a:t>
            </a:r>
            <a:r>
              <a:rPr lang="en-US" altLang="zh-CN" sz="1600" b="0" dirty="0" err="1">
                <a:latin typeface="宋体" panose="02010600030101010101" pitchFamily="2" charset="-122"/>
                <a:ea typeface="宋体" panose="02010600030101010101" pitchFamily="2" charset="-122"/>
              </a:rPr>
              <a:t>int</a:t>
            </a:r>
            <a:r>
              <a:rPr lang="en-US" altLang="zh-CN" sz="1600" b="0" dirty="0">
                <a:latin typeface="宋体" panose="02010600030101010101" pitchFamily="2" charset="-122"/>
                <a:ea typeface="宋体" panose="02010600030101010101" pitchFamily="2" charset="-122"/>
              </a:rPr>
              <a:t> </a:t>
            </a:r>
            <a:r>
              <a:rPr lang="en-US" altLang="zh-CN" sz="1600" b="0" dirty="0" err="1">
                <a:latin typeface="宋体" panose="02010600030101010101" pitchFamily="2" charset="-122"/>
                <a:ea typeface="宋体" panose="02010600030101010101" pitchFamily="2" charset="-122"/>
              </a:rPr>
              <a:t>i</a:t>
            </a:r>
            <a:r>
              <a:rPr lang="en-US" altLang="zh-CN" sz="1600" b="0" dirty="0">
                <a:latin typeface="宋体" panose="02010600030101010101" pitchFamily="2" charset="-122"/>
                <a:ea typeface="宋体" panose="02010600030101010101" pitchFamily="2" charset="-122"/>
              </a:rPr>
              <a:t>=1;i&lt;=</a:t>
            </a:r>
            <a:r>
              <a:rPr lang="en-US" altLang="zh-CN" sz="1600" b="0" dirty="0" err="1">
                <a:latin typeface="宋体" panose="02010600030101010101" pitchFamily="2" charset="-122"/>
                <a:ea typeface="宋体" panose="02010600030101010101" pitchFamily="2" charset="-122"/>
              </a:rPr>
              <a:t>n;i</a:t>
            </a:r>
            <a:r>
              <a:rPr lang="en-US" altLang="zh-CN" sz="1600" b="0" dirty="0">
                <a:latin typeface="宋体" panose="02010600030101010101" pitchFamily="2" charset="-122"/>
                <a:ea typeface="宋体" panose="02010600030101010101" pitchFamily="2" charset="-122"/>
              </a:rPr>
              <a:t>++) </a:t>
            </a:r>
            <a:r>
              <a:rPr lang="en-US" altLang="zh-CN" sz="1600" b="0" dirty="0" err="1">
                <a:latin typeface="宋体" panose="02010600030101010101" pitchFamily="2" charset="-122"/>
                <a:ea typeface="宋体" panose="02010600030101010101" pitchFamily="2" charset="-122"/>
              </a:rPr>
              <a:t>cin</a:t>
            </a:r>
            <a:r>
              <a:rPr lang="en-US" altLang="zh-CN" sz="1600" b="0" dirty="0">
                <a:latin typeface="宋体" panose="02010600030101010101" pitchFamily="2" charset="-122"/>
                <a:ea typeface="宋体" panose="02010600030101010101" pitchFamily="2" charset="-122"/>
              </a:rPr>
              <a:t>&gt;&gt;t[</a:t>
            </a:r>
            <a:r>
              <a:rPr lang="en-US" altLang="zh-CN" sz="1600" b="0" dirty="0" err="1">
                <a:latin typeface="宋体" panose="02010600030101010101" pitchFamily="2" charset="-122"/>
                <a:ea typeface="宋体" panose="02010600030101010101" pitchFamily="2" charset="-122"/>
              </a:rPr>
              <a:t>i</a:t>
            </a:r>
            <a:r>
              <a:rPr lang="en-US" altLang="zh-CN" sz="1600" b="0" dirty="0">
                <a:latin typeface="宋体" panose="02010600030101010101" pitchFamily="2" charset="-122"/>
                <a:ea typeface="宋体" panose="02010600030101010101" pitchFamily="2" charset="-122"/>
              </a:rPr>
              <a:t>];</a:t>
            </a:r>
            <a:endParaRPr lang="en-US" altLang="zh-CN" sz="1600" b="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    for(</a:t>
            </a:r>
            <a:r>
              <a:rPr lang="en-US" altLang="zh-CN" sz="1600" b="0" dirty="0" err="1">
                <a:latin typeface="宋体" panose="02010600030101010101" pitchFamily="2" charset="-122"/>
                <a:ea typeface="宋体" panose="02010600030101010101" pitchFamily="2" charset="-122"/>
              </a:rPr>
              <a:t>int</a:t>
            </a:r>
            <a:r>
              <a:rPr lang="en-US" altLang="zh-CN" sz="1600" b="0" dirty="0">
                <a:latin typeface="宋体" panose="02010600030101010101" pitchFamily="2" charset="-122"/>
                <a:ea typeface="宋体" panose="02010600030101010101" pitchFamily="2" charset="-122"/>
              </a:rPr>
              <a:t> </a:t>
            </a:r>
            <a:r>
              <a:rPr lang="en-US" altLang="zh-CN" sz="1600" b="0" dirty="0" err="1">
                <a:latin typeface="宋体" panose="02010600030101010101" pitchFamily="2" charset="-122"/>
                <a:ea typeface="宋体" panose="02010600030101010101" pitchFamily="2" charset="-122"/>
              </a:rPr>
              <a:t>i</a:t>
            </a:r>
            <a:r>
              <a:rPr lang="en-US" altLang="zh-CN" sz="1600" b="0" dirty="0">
                <a:latin typeface="宋体" panose="02010600030101010101" pitchFamily="2" charset="-122"/>
                <a:ea typeface="宋体" panose="02010600030101010101" pitchFamily="2" charset="-122"/>
              </a:rPr>
              <a:t>=1;i&lt;=</a:t>
            </a:r>
            <a:r>
              <a:rPr lang="en-US" altLang="zh-CN" sz="1600" b="0" dirty="0" err="1">
                <a:latin typeface="宋体" panose="02010600030101010101" pitchFamily="2" charset="-122"/>
                <a:ea typeface="宋体" panose="02010600030101010101" pitchFamily="2" charset="-122"/>
              </a:rPr>
              <a:t>m;i</a:t>
            </a:r>
            <a:r>
              <a:rPr lang="en-US" altLang="zh-CN" sz="1600" b="0" dirty="0">
                <a:latin typeface="宋体" panose="02010600030101010101" pitchFamily="2" charset="-122"/>
                <a:ea typeface="宋体" panose="02010600030101010101" pitchFamily="2" charset="-122"/>
              </a:rPr>
              <a:t>++){</a:t>
            </a:r>
            <a:endParaRPr lang="en-US" altLang="zh-CN" sz="1600" b="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        </a:t>
            </a:r>
            <a:r>
              <a:rPr lang="en-US" altLang="zh-CN" sz="1600" b="0" dirty="0" err="1">
                <a:latin typeface="宋体" panose="02010600030101010101" pitchFamily="2" charset="-122"/>
                <a:ea typeface="宋体" panose="02010600030101010101" pitchFamily="2" charset="-122"/>
              </a:rPr>
              <a:t>int</a:t>
            </a:r>
            <a:r>
              <a:rPr lang="en-US" altLang="zh-CN" sz="1600" b="0" dirty="0">
                <a:latin typeface="宋体" panose="02010600030101010101" pitchFamily="2" charset="-122"/>
                <a:ea typeface="宋体" panose="02010600030101010101" pitchFamily="2" charset="-122"/>
              </a:rPr>
              <a:t> </a:t>
            </a:r>
            <a:r>
              <a:rPr lang="en-US" altLang="zh-CN" sz="1600" b="0" dirty="0" err="1">
                <a:latin typeface="宋体" panose="02010600030101010101" pitchFamily="2" charset="-122"/>
                <a:ea typeface="宋体" panose="02010600030101010101" pitchFamily="2" charset="-122"/>
              </a:rPr>
              <a:t>a,b,c</a:t>
            </a:r>
            <a:r>
              <a:rPr lang="en-US" altLang="zh-CN" sz="1600" b="0" dirty="0">
                <a:latin typeface="宋体" panose="02010600030101010101" pitchFamily="2" charset="-122"/>
                <a:ea typeface="宋体" panose="02010600030101010101" pitchFamily="2" charset="-122"/>
              </a:rPr>
              <a:t>;  </a:t>
            </a:r>
            <a:r>
              <a:rPr lang="en-US" altLang="zh-CN" sz="1600" b="0" dirty="0" err="1">
                <a:latin typeface="宋体" panose="02010600030101010101" pitchFamily="2" charset="-122"/>
                <a:ea typeface="宋体" panose="02010600030101010101" pitchFamily="2" charset="-122"/>
              </a:rPr>
              <a:t>cin</a:t>
            </a:r>
            <a:r>
              <a:rPr lang="en-US" altLang="zh-CN" sz="1600" b="0" dirty="0">
                <a:latin typeface="宋体" panose="02010600030101010101" pitchFamily="2" charset="-122"/>
                <a:ea typeface="宋体" panose="02010600030101010101" pitchFamily="2" charset="-122"/>
              </a:rPr>
              <a:t> &gt;&gt;a&gt;&gt;b&gt;&gt;c;</a:t>
            </a:r>
            <a:endParaRPr lang="en-US" altLang="zh-CN" sz="1600" b="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        e[</a:t>
            </a:r>
            <a:r>
              <a:rPr lang="en-US" altLang="zh-CN" sz="1600" b="0" dirty="0" err="1">
                <a:latin typeface="宋体" panose="02010600030101010101" pitchFamily="2" charset="-122"/>
                <a:ea typeface="宋体" panose="02010600030101010101" pitchFamily="2" charset="-122"/>
              </a:rPr>
              <a:t>i</a:t>
            </a:r>
            <a:r>
              <a:rPr lang="en-US" altLang="zh-CN" sz="1600" b="0" dirty="0">
                <a:latin typeface="宋体" panose="02010600030101010101" pitchFamily="2" charset="-122"/>
                <a:ea typeface="宋体" panose="02010600030101010101" pitchFamily="2" charset="-122"/>
              </a:rPr>
              <a:t>].a=a;   e[</a:t>
            </a:r>
            <a:r>
              <a:rPr lang="en-US" altLang="zh-CN" sz="1600" b="0" dirty="0" err="1">
                <a:latin typeface="宋体" panose="02010600030101010101" pitchFamily="2" charset="-122"/>
                <a:ea typeface="宋体" panose="02010600030101010101" pitchFamily="2" charset="-122"/>
              </a:rPr>
              <a:t>i</a:t>
            </a:r>
            <a:r>
              <a:rPr lang="en-US" altLang="zh-CN" sz="1600" b="0" dirty="0">
                <a:latin typeface="宋体" panose="02010600030101010101" pitchFamily="2" charset="-122"/>
                <a:ea typeface="宋体" panose="02010600030101010101" pitchFamily="2" charset="-122"/>
              </a:rPr>
              <a:t>].b=b;   e[</a:t>
            </a:r>
            <a:r>
              <a:rPr lang="en-US" altLang="zh-CN" sz="1600" b="0" dirty="0" err="1">
                <a:latin typeface="宋体" panose="02010600030101010101" pitchFamily="2" charset="-122"/>
                <a:ea typeface="宋体" panose="02010600030101010101" pitchFamily="2" charset="-122"/>
              </a:rPr>
              <a:t>i</a:t>
            </a:r>
            <a:r>
              <a:rPr lang="en-US" altLang="zh-CN" sz="1600" b="0" dirty="0">
                <a:latin typeface="宋体" panose="02010600030101010101" pitchFamily="2" charset="-122"/>
                <a:ea typeface="宋体" panose="02010600030101010101" pitchFamily="2" charset="-122"/>
              </a:rPr>
              <a:t>].c=c;    //</a:t>
            </a:r>
            <a:r>
              <a:rPr lang="zh-CN" altLang="en-US" sz="1600" b="0" dirty="0">
                <a:latin typeface="宋体" panose="02010600030101010101" pitchFamily="2" charset="-122"/>
                <a:ea typeface="宋体" panose="02010600030101010101" pitchFamily="2" charset="-122"/>
              </a:rPr>
              <a:t>双向边，</a:t>
            </a:r>
            <a:r>
              <a:rPr lang="en-US" altLang="zh-CN" sz="1600" b="0" dirty="0">
                <a:latin typeface="宋体" panose="02010600030101010101" pitchFamily="2" charset="-122"/>
                <a:ea typeface="宋体" panose="02010600030101010101" pitchFamily="2" charset="-122"/>
              </a:rPr>
              <a:t>a-&gt;b</a:t>
            </a:r>
            <a:endParaRPr lang="en-US" altLang="zh-CN" sz="1600" b="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        e[</a:t>
            </a:r>
            <a:r>
              <a:rPr lang="en-US" altLang="zh-CN" sz="1600" b="0" dirty="0" err="1">
                <a:latin typeface="宋体" panose="02010600030101010101" pitchFamily="2" charset="-122"/>
                <a:ea typeface="宋体" panose="02010600030101010101" pitchFamily="2" charset="-122"/>
              </a:rPr>
              <a:t>m+i</a:t>
            </a:r>
            <a:r>
              <a:rPr lang="en-US" altLang="zh-CN" sz="1600" b="0" dirty="0">
                <a:latin typeface="宋体" panose="02010600030101010101" pitchFamily="2" charset="-122"/>
                <a:ea typeface="宋体" panose="02010600030101010101" pitchFamily="2" charset="-122"/>
              </a:rPr>
              <a:t>].a=b; e[</a:t>
            </a:r>
            <a:r>
              <a:rPr lang="en-US" altLang="zh-CN" sz="1600" b="0" dirty="0" err="1">
                <a:latin typeface="宋体" panose="02010600030101010101" pitchFamily="2" charset="-122"/>
                <a:ea typeface="宋体" panose="02010600030101010101" pitchFamily="2" charset="-122"/>
              </a:rPr>
              <a:t>m+i</a:t>
            </a:r>
            <a:r>
              <a:rPr lang="en-US" altLang="zh-CN" sz="1600" b="0" dirty="0">
                <a:latin typeface="宋体" panose="02010600030101010101" pitchFamily="2" charset="-122"/>
                <a:ea typeface="宋体" panose="02010600030101010101" pitchFamily="2" charset="-122"/>
              </a:rPr>
              <a:t>].b=a; e[</a:t>
            </a:r>
            <a:r>
              <a:rPr lang="en-US" altLang="zh-CN" sz="1600" b="0" dirty="0" err="1">
                <a:latin typeface="宋体" panose="02010600030101010101" pitchFamily="2" charset="-122"/>
                <a:ea typeface="宋体" panose="02010600030101010101" pitchFamily="2" charset="-122"/>
              </a:rPr>
              <a:t>m+i</a:t>
            </a:r>
            <a:r>
              <a:rPr lang="en-US" altLang="zh-CN" sz="1600" b="0" dirty="0">
                <a:latin typeface="宋体" panose="02010600030101010101" pitchFamily="2" charset="-122"/>
                <a:ea typeface="宋体" panose="02010600030101010101" pitchFamily="2" charset="-122"/>
              </a:rPr>
              <a:t>].c=c;  //</a:t>
            </a:r>
            <a:r>
              <a:rPr lang="zh-CN" altLang="en-US" sz="1600" b="0" dirty="0">
                <a:latin typeface="宋体" panose="02010600030101010101" pitchFamily="2" charset="-122"/>
                <a:ea typeface="宋体" panose="02010600030101010101" pitchFamily="2" charset="-122"/>
              </a:rPr>
              <a:t>双向边</a:t>
            </a:r>
            <a:r>
              <a:rPr lang="en-US" altLang="zh-CN" sz="1600" b="0" dirty="0">
                <a:latin typeface="宋体" panose="02010600030101010101" pitchFamily="2" charset="-122"/>
                <a:ea typeface="宋体" panose="02010600030101010101" pitchFamily="2" charset="-122"/>
              </a:rPr>
              <a:t>: b-&gt;a</a:t>
            </a:r>
            <a:endParaRPr lang="en-US" altLang="zh-CN" sz="1600" b="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    }</a:t>
            </a:r>
            <a:endParaRPr lang="en-US" altLang="zh-CN" sz="1600" b="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    //</a:t>
            </a:r>
            <a:r>
              <a:rPr lang="zh-CN" altLang="en-US" sz="1600" b="0" dirty="0">
                <a:latin typeface="宋体" panose="02010600030101010101" pitchFamily="2" charset="-122"/>
                <a:ea typeface="宋体" panose="02010600030101010101" pitchFamily="2" charset="-122"/>
              </a:rPr>
              <a:t>下面是</a:t>
            </a:r>
            <a:r>
              <a:rPr lang="en-US" altLang="zh-CN" sz="1600" b="0" dirty="0">
                <a:latin typeface="宋体" panose="02010600030101010101" pitchFamily="2" charset="-122"/>
                <a:ea typeface="宋体" panose="02010600030101010101" pitchFamily="2" charset="-122"/>
              </a:rPr>
              <a:t>bellman-ford</a:t>
            </a:r>
            <a:endParaRPr lang="en-US" altLang="zh-CN" sz="1600" b="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    </a:t>
            </a:r>
            <a:r>
              <a:rPr lang="en-US" altLang="zh-CN" sz="1600" b="0" dirty="0" err="1">
                <a:latin typeface="宋体" panose="02010600030101010101" pitchFamily="2" charset="-122"/>
                <a:ea typeface="宋体" panose="02010600030101010101" pitchFamily="2" charset="-122"/>
              </a:rPr>
              <a:t>memset</a:t>
            </a:r>
            <a:r>
              <a:rPr lang="en-US" altLang="zh-CN" sz="1600" b="0" dirty="0">
                <a:latin typeface="宋体" panose="02010600030101010101" pitchFamily="2" charset="-122"/>
                <a:ea typeface="宋体" panose="02010600030101010101" pitchFamily="2" charset="-122"/>
              </a:rPr>
              <a:t>(dist,0x3f,sizeof(</a:t>
            </a:r>
            <a:r>
              <a:rPr lang="en-US" altLang="zh-CN" sz="1600" b="0" dirty="0" err="1">
                <a:latin typeface="宋体" panose="02010600030101010101" pitchFamily="2" charset="-122"/>
                <a:ea typeface="宋体" panose="02010600030101010101" pitchFamily="2" charset="-122"/>
              </a:rPr>
              <a:t>dist</a:t>
            </a:r>
            <a:r>
              <a:rPr lang="en-US" altLang="zh-CN" sz="1600" b="0" dirty="0">
                <a:latin typeface="宋体" panose="02010600030101010101" pitchFamily="2" charset="-122"/>
                <a:ea typeface="宋体" panose="02010600030101010101" pitchFamily="2" charset="-122"/>
              </a:rPr>
              <a:t>));  //</a:t>
            </a:r>
            <a:r>
              <a:rPr lang="zh-CN" altLang="en-US" sz="1600" b="0" dirty="0">
                <a:latin typeface="宋体" panose="02010600030101010101" pitchFamily="2" charset="-122"/>
                <a:ea typeface="宋体" panose="02010600030101010101" pitchFamily="2" charset="-122"/>
              </a:rPr>
              <a:t>初始化为无穷大</a:t>
            </a:r>
            <a:endParaRPr lang="zh-CN" altLang="en-US" sz="1600" b="0" dirty="0">
              <a:latin typeface="宋体" panose="02010600030101010101" pitchFamily="2" charset="-122"/>
              <a:ea typeface="宋体" panose="02010600030101010101" pitchFamily="2" charset="-122"/>
            </a:endParaRPr>
          </a:p>
          <a:p>
            <a:pPr marL="0" indent="0">
              <a:lnSpc>
                <a:spcPct val="100000"/>
              </a:lnSpc>
              <a:spcBef>
                <a:spcPts val="0"/>
              </a:spcBef>
              <a:buNone/>
            </a:pPr>
            <a:r>
              <a:rPr lang="zh-CN" altLang="en-US" sz="1600" b="0" dirty="0">
                <a:latin typeface="宋体" panose="02010600030101010101" pitchFamily="2" charset="-122"/>
                <a:ea typeface="宋体" panose="02010600030101010101" pitchFamily="2" charset="-122"/>
              </a:rPr>
              <a:t>    </a:t>
            </a:r>
            <a:r>
              <a:rPr lang="en-US" altLang="zh-CN" sz="1600" b="0" dirty="0" err="1">
                <a:latin typeface="宋体" panose="02010600030101010101" pitchFamily="2" charset="-122"/>
                <a:ea typeface="宋体" panose="02010600030101010101" pitchFamily="2" charset="-122"/>
              </a:rPr>
              <a:t>dist</a:t>
            </a:r>
            <a:r>
              <a:rPr lang="en-US" altLang="zh-CN" sz="1600" b="0" dirty="0">
                <a:latin typeface="宋体" panose="02010600030101010101" pitchFamily="2" charset="-122"/>
                <a:ea typeface="宋体" panose="02010600030101010101" pitchFamily="2" charset="-122"/>
              </a:rPr>
              <a:t>[1]=0;                       //</a:t>
            </a:r>
            <a:r>
              <a:rPr lang="zh-CN" altLang="en-US" sz="1600" b="0" dirty="0">
                <a:latin typeface="宋体" panose="02010600030101010101" pitchFamily="2" charset="-122"/>
                <a:ea typeface="宋体" panose="02010600030101010101" pitchFamily="2" charset="-122"/>
              </a:rPr>
              <a:t>起点是</a:t>
            </a:r>
            <a:r>
              <a:rPr lang="en-US" altLang="zh-CN" sz="1600" b="0" dirty="0">
                <a:latin typeface="宋体" panose="02010600030101010101" pitchFamily="2" charset="-122"/>
                <a:ea typeface="宋体" panose="02010600030101010101" pitchFamily="2" charset="-122"/>
              </a:rPr>
              <a:t>1</a:t>
            </a:r>
            <a:r>
              <a:rPr lang="zh-CN" altLang="en-US" sz="1600" b="0" dirty="0">
                <a:latin typeface="宋体" panose="02010600030101010101" pitchFamily="2" charset="-122"/>
                <a:ea typeface="宋体" panose="02010600030101010101" pitchFamily="2" charset="-122"/>
              </a:rPr>
              <a:t>，</a:t>
            </a:r>
            <a:r>
              <a:rPr lang="en-US" altLang="zh-CN" sz="1600" b="0" dirty="0">
                <a:latin typeface="宋体" panose="02010600030101010101" pitchFamily="2" charset="-122"/>
                <a:ea typeface="宋体" panose="02010600030101010101" pitchFamily="2" charset="-122"/>
              </a:rPr>
              <a:t>1</a:t>
            </a:r>
            <a:r>
              <a:rPr lang="zh-CN" altLang="en-US" sz="1600" b="0" dirty="0">
                <a:latin typeface="宋体" panose="02010600030101010101" pitchFamily="2" charset="-122"/>
                <a:ea typeface="宋体" panose="02010600030101010101" pitchFamily="2" charset="-122"/>
              </a:rPr>
              <a:t>到自己距离为</a:t>
            </a:r>
            <a:r>
              <a:rPr lang="en-US" altLang="zh-CN" sz="1600" b="0" dirty="0">
                <a:latin typeface="宋体" panose="02010600030101010101" pitchFamily="2" charset="-122"/>
                <a:ea typeface="宋体" panose="02010600030101010101" pitchFamily="2" charset="-122"/>
              </a:rPr>
              <a:t>0</a:t>
            </a:r>
            <a:endParaRPr lang="en-US" altLang="zh-CN" sz="1600" b="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    for(</a:t>
            </a:r>
            <a:r>
              <a:rPr lang="en-US" altLang="zh-CN" sz="1600" b="0" dirty="0" err="1">
                <a:latin typeface="宋体" panose="02010600030101010101" pitchFamily="2" charset="-122"/>
                <a:ea typeface="宋体" panose="02010600030101010101" pitchFamily="2" charset="-122"/>
              </a:rPr>
              <a:t>int</a:t>
            </a:r>
            <a:r>
              <a:rPr lang="en-US" altLang="zh-CN" sz="1600" b="0" dirty="0">
                <a:latin typeface="宋体" panose="02010600030101010101" pitchFamily="2" charset="-122"/>
                <a:ea typeface="宋体" panose="02010600030101010101" pitchFamily="2" charset="-122"/>
              </a:rPr>
              <a:t> k=1;k&lt;=</a:t>
            </a:r>
            <a:r>
              <a:rPr lang="en-US" altLang="zh-CN" sz="1600" b="0" dirty="0" err="1">
                <a:latin typeface="宋体" panose="02010600030101010101" pitchFamily="2" charset="-122"/>
                <a:ea typeface="宋体" panose="02010600030101010101" pitchFamily="2" charset="-122"/>
              </a:rPr>
              <a:t>n;k</a:t>
            </a:r>
            <a:r>
              <a:rPr lang="en-US" altLang="zh-CN" sz="1600" b="0" dirty="0">
                <a:latin typeface="宋体" panose="02010600030101010101" pitchFamily="2" charset="-122"/>
                <a:ea typeface="宋体" panose="02010600030101010101" pitchFamily="2" charset="-122"/>
              </a:rPr>
              <a:t>++){           //</a:t>
            </a:r>
            <a:r>
              <a:rPr lang="zh-CN" altLang="en-US" sz="1600" b="0" dirty="0">
                <a:latin typeface="宋体" panose="02010600030101010101" pitchFamily="2" charset="-122"/>
                <a:ea typeface="宋体" panose="02010600030101010101" pitchFamily="2" charset="-122"/>
              </a:rPr>
              <a:t>一共有</a:t>
            </a:r>
            <a:r>
              <a:rPr lang="en-US" altLang="zh-CN" sz="1600" b="0" dirty="0">
                <a:latin typeface="宋体" panose="02010600030101010101" pitchFamily="2" charset="-122"/>
                <a:ea typeface="宋体" panose="02010600030101010101" pitchFamily="2" charset="-122"/>
              </a:rPr>
              <a:t>n</a:t>
            </a:r>
            <a:r>
              <a:rPr lang="zh-CN" altLang="en-US" sz="1600" b="0" dirty="0">
                <a:latin typeface="宋体" panose="02010600030101010101" pitchFamily="2" charset="-122"/>
                <a:ea typeface="宋体" panose="02010600030101010101" pitchFamily="2" charset="-122"/>
              </a:rPr>
              <a:t>轮操作</a:t>
            </a:r>
            <a:endParaRPr lang="zh-CN" altLang="en-US" sz="1600" b="0" dirty="0">
              <a:latin typeface="宋体" panose="02010600030101010101" pitchFamily="2" charset="-122"/>
              <a:ea typeface="宋体" panose="02010600030101010101" pitchFamily="2" charset="-122"/>
            </a:endParaRPr>
          </a:p>
          <a:p>
            <a:pPr marL="0" indent="0">
              <a:lnSpc>
                <a:spcPct val="100000"/>
              </a:lnSpc>
              <a:spcBef>
                <a:spcPts val="0"/>
              </a:spcBef>
              <a:buNone/>
            </a:pPr>
            <a:r>
              <a:rPr lang="zh-CN" altLang="en-US" sz="1600" b="0" dirty="0">
                <a:latin typeface="宋体" panose="02010600030101010101" pitchFamily="2" charset="-122"/>
                <a:ea typeface="宋体" panose="02010600030101010101" pitchFamily="2" charset="-122"/>
              </a:rPr>
              <a:t>        </a:t>
            </a:r>
            <a:r>
              <a:rPr lang="en-US" altLang="zh-CN" sz="1600" b="0" dirty="0">
                <a:latin typeface="宋体" panose="02010600030101010101" pitchFamily="2" charset="-122"/>
                <a:ea typeface="宋体" panose="02010600030101010101" pitchFamily="2" charset="-122"/>
              </a:rPr>
              <a:t>for(</a:t>
            </a:r>
            <a:r>
              <a:rPr lang="en-US" altLang="zh-CN" sz="1600" b="0" dirty="0" err="1">
                <a:latin typeface="宋体" panose="02010600030101010101" pitchFamily="2" charset="-122"/>
                <a:ea typeface="宋体" panose="02010600030101010101" pitchFamily="2" charset="-122"/>
              </a:rPr>
              <a:t>int</a:t>
            </a:r>
            <a:r>
              <a:rPr lang="en-US" altLang="zh-CN" sz="1600" b="0" dirty="0">
                <a:latin typeface="宋体" panose="02010600030101010101" pitchFamily="2" charset="-122"/>
                <a:ea typeface="宋体" panose="02010600030101010101" pitchFamily="2" charset="-122"/>
              </a:rPr>
              <a:t> </a:t>
            </a:r>
            <a:r>
              <a:rPr lang="en-US" altLang="zh-CN" sz="1600" b="0" dirty="0" err="1">
                <a:latin typeface="宋体" panose="02010600030101010101" pitchFamily="2" charset="-122"/>
                <a:ea typeface="宋体" panose="02010600030101010101" pitchFamily="2" charset="-122"/>
              </a:rPr>
              <a:t>i</a:t>
            </a:r>
            <a:r>
              <a:rPr lang="en-US" altLang="zh-CN" sz="1600" b="0" dirty="0">
                <a:latin typeface="宋体" panose="02010600030101010101" pitchFamily="2" charset="-122"/>
                <a:ea typeface="宋体" panose="02010600030101010101" pitchFamily="2" charset="-122"/>
              </a:rPr>
              <a:t>=1;i&lt;=2*</a:t>
            </a:r>
            <a:r>
              <a:rPr lang="en-US" altLang="zh-CN" sz="1600" b="0" dirty="0" err="1">
                <a:latin typeface="宋体" panose="02010600030101010101" pitchFamily="2" charset="-122"/>
                <a:ea typeface="宋体" panose="02010600030101010101" pitchFamily="2" charset="-122"/>
              </a:rPr>
              <a:t>m;i</a:t>
            </a:r>
            <a:r>
              <a:rPr lang="en-US" altLang="zh-CN" sz="1600" b="0" dirty="0">
                <a:latin typeface="宋体" panose="02010600030101010101" pitchFamily="2" charset="-122"/>
                <a:ea typeface="宋体" panose="02010600030101010101" pitchFamily="2" charset="-122"/>
              </a:rPr>
              <a:t>++){     //</a:t>
            </a:r>
            <a:r>
              <a:rPr lang="zh-CN" altLang="en-US" sz="1600" b="0" dirty="0">
                <a:latin typeface="宋体" panose="02010600030101010101" pitchFamily="2" charset="-122"/>
                <a:ea typeface="宋体" panose="02010600030101010101" pitchFamily="2" charset="-122"/>
              </a:rPr>
              <a:t>检查每条边</a:t>
            </a:r>
            <a:endParaRPr lang="zh-CN" altLang="en-US" sz="1600" b="0" dirty="0">
              <a:latin typeface="宋体" panose="02010600030101010101" pitchFamily="2" charset="-122"/>
              <a:ea typeface="宋体" panose="02010600030101010101" pitchFamily="2" charset="-122"/>
            </a:endParaRPr>
          </a:p>
          <a:p>
            <a:pPr marL="0" indent="0">
              <a:lnSpc>
                <a:spcPct val="100000"/>
              </a:lnSpc>
              <a:spcBef>
                <a:spcPts val="0"/>
              </a:spcBef>
              <a:buNone/>
            </a:pPr>
            <a:r>
              <a:rPr lang="zh-CN" altLang="en-US" sz="1600" b="0" dirty="0">
                <a:latin typeface="宋体" panose="02010600030101010101" pitchFamily="2" charset="-122"/>
                <a:ea typeface="宋体" panose="02010600030101010101" pitchFamily="2" charset="-122"/>
              </a:rPr>
              <a:t>            </a:t>
            </a:r>
            <a:r>
              <a:rPr lang="en-US" altLang="zh-CN" sz="1600" b="0" dirty="0" err="1">
                <a:latin typeface="宋体" panose="02010600030101010101" pitchFamily="2" charset="-122"/>
                <a:ea typeface="宋体" panose="02010600030101010101" pitchFamily="2" charset="-122"/>
              </a:rPr>
              <a:t>int</a:t>
            </a:r>
            <a:r>
              <a:rPr lang="en-US" altLang="zh-CN" sz="1600" b="0" dirty="0">
                <a:latin typeface="宋体" panose="02010600030101010101" pitchFamily="2" charset="-122"/>
                <a:ea typeface="宋体" panose="02010600030101010101" pitchFamily="2" charset="-122"/>
              </a:rPr>
              <a:t> u = e[</a:t>
            </a:r>
            <a:r>
              <a:rPr lang="en-US" altLang="zh-CN" sz="1600" b="0" dirty="0" err="1">
                <a:latin typeface="宋体" panose="02010600030101010101" pitchFamily="2" charset="-122"/>
                <a:ea typeface="宋体" panose="02010600030101010101" pitchFamily="2" charset="-122"/>
              </a:rPr>
              <a:t>i</a:t>
            </a:r>
            <a:r>
              <a:rPr lang="en-US" altLang="zh-CN" sz="1600" b="0" dirty="0">
                <a:latin typeface="宋体" panose="02010600030101010101" pitchFamily="2" charset="-122"/>
                <a:ea typeface="宋体" panose="02010600030101010101" pitchFamily="2" charset="-122"/>
              </a:rPr>
              <a:t>].a, v = e[</a:t>
            </a:r>
            <a:r>
              <a:rPr lang="en-US" altLang="zh-CN" sz="1600" b="0" dirty="0" err="1">
                <a:latin typeface="宋体" panose="02010600030101010101" pitchFamily="2" charset="-122"/>
                <a:ea typeface="宋体" panose="02010600030101010101" pitchFamily="2" charset="-122"/>
              </a:rPr>
              <a:t>i</a:t>
            </a:r>
            <a:r>
              <a:rPr lang="en-US" altLang="zh-CN" sz="1600" b="0" dirty="0">
                <a:latin typeface="宋体" panose="02010600030101010101" pitchFamily="2" charset="-122"/>
                <a:ea typeface="宋体" panose="02010600030101010101" pitchFamily="2" charset="-122"/>
              </a:rPr>
              <a:t>].b;     //</a:t>
            </a:r>
            <a:r>
              <a:rPr lang="zh-CN" altLang="en-US" sz="1600" b="0" dirty="0">
                <a:latin typeface="宋体" panose="02010600030101010101" pitchFamily="2" charset="-122"/>
                <a:ea typeface="宋体" panose="02010600030101010101" pitchFamily="2" charset="-122"/>
              </a:rPr>
              <a:t>边</a:t>
            </a:r>
            <a:r>
              <a:rPr lang="en-US" altLang="zh-CN" sz="1600" b="0" dirty="0">
                <a:latin typeface="宋体" panose="02010600030101010101" pitchFamily="2" charset="-122"/>
                <a:ea typeface="宋体" panose="02010600030101010101" pitchFamily="2" charset="-122"/>
              </a:rPr>
              <a:t>u-&gt;v,  u</a:t>
            </a:r>
            <a:r>
              <a:rPr lang="zh-CN" altLang="en-US" sz="1600" b="0" dirty="0">
                <a:latin typeface="宋体" panose="02010600030101010101" pitchFamily="2" charset="-122"/>
                <a:ea typeface="宋体" panose="02010600030101010101" pitchFamily="2" charset="-122"/>
              </a:rPr>
              <a:t>的邻居是</a:t>
            </a:r>
            <a:r>
              <a:rPr lang="en-US" altLang="zh-CN" sz="1600" b="0" dirty="0">
                <a:latin typeface="宋体" panose="02010600030101010101" pitchFamily="2" charset="-122"/>
                <a:ea typeface="宋体" panose="02010600030101010101" pitchFamily="2" charset="-122"/>
              </a:rPr>
              <a:t>v</a:t>
            </a:r>
            <a:endParaRPr lang="en-US" altLang="zh-CN" sz="1600" b="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            </a:t>
            </a:r>
            <a:r>
              <a:rPr lang="en-US" altLang="zh-CN" sz="1600" b="0" dirty="0" err="1">
                <a:latin typeface="宋体" panose="02010600030101010101" pitchFamily="2" charset="-122"/>
                <a:ea typeface="宋体" panose="02010600030101010101" pitchFamily="2" charset="-122"/>
              </a:rPr>
              <a:t>int</a:t>
            </a:r>
            <a:r>
              <a:rPr lang="en-US" altLang="zh-CN" sz="1600" b="0" dirty="0">
                <a:latin typeface="宋体" panose="02010600030101010101" pitchFamily="2" charset="-122"/>
                <a:ea typeface="宋体" panose="02010600030101010101" pitchFamily="2" charset="-122"/>
              </a:rPr>
              <a:t> res = t[v];          //</a:t>
            </a:r>
            <a:r>
              <a:rPr lang="zh-CN" altLang="en-US" sz="1600" b="0" dirty="0">
                <a:latin typeface="宋体" panose="02010600030101010101" pitchFamily="2" charset="-122"/>
                <a:ea typeface="宋体" panose="02010600030101010101" pitchFamily="2" charset="-122"/>
              </a:rPr>
              <a:t>隔离时间</a:t>
            </a:r>
            <a:endParaRPr lang="zh-CN" altLang="en-US" sz="1600" b="0" dirty="0">
              <a:latin typeface="宋体" panose="02010600030101010101" pitchFamily="2" charset="-122"/>
              <a:ea typeface="宋体" panose="02010600030101010101" pitchFamily="2" charset="-122"/>
            </a:endParaRPr>
          </a:p>
          <a:p>
            <a:pPr marL="0" indent="0">
              <a:lnSpc>
                <a:spcPct val="100000"/>
              </a:lnSpc>
              <a:spcBef>
                <a:spcPts val="0"/>
              </a:spcBef>
              <a:buNone/>
            </a:pPr>
            <a:r>
              <a:rPr lang="zh-CN" altLang="en-US" sz="1600" b="0" dirty="0">
                <a:latin typeface="宋体" panose="02010600030101010101" pitchFamily="2" charset="-122"/>
                <a:ea typeface="宋体" panose="02010600030101010101" pitchFamily="2" charset="-122"/>
              </a:rPr>
              <a:t>            </a:t>
            </a:r>
            <a:r>
              <a:rPr lang="en-US" altLang="zh-CN" sz="1600" b="0" dirty="0">
                <a:latin typeface="宋体" panose="02010600030101010101" pitchFamily="2" charset="-122"/>
                <a:ea typeface="宋体" panose="02010600030101010101" pitchFamily="2" charset="-122"/>
              </a:rPr>
              <a:t>if(v==n) res = 0;        //</a:t>
            </a:r>
            <a:r>
              <a:rPr lang="zh-CN" altLang="en-US" sz="1600" b="0" dirty="0">
                <a:latin typeface="宋体" panose="02010600030101010101" pitchFamily="2" charset="-122"/>
                <a:ea typeface="宋体" panose="02010600030101010101" pitchFamily="2" charset="-122"/>
              </a:rPr>
              <a:t>终点不用隔离</a:t>
            </a:r>
            <a:endParaRPr lang="zh-CN" altLang="en-US" sz="1600" b="0" dirty="0">
              <a:latin typeface="宋体" panose="02010600030101010101" pitchFamily="2" charset="-122"/>
              <a:ea typeface="宋体" panose="02010600030101010101" pitchFamily="2" charset="-122"/>
            </a:endParaRPr>
          </a:p>
          <a:p>
            <a:pPr marL="0" indent="0">
              <a:lnSpc>
                <a:spcPct val="100000"/>
              </a:lnSpc>
              <a:spcBef>
                <a:spcPts val="0"/>
              </a:spcBef>
              <a:buNone/>
            </a:pPr>
            <a:r>
              <a:rPr lang="zh-CN" altLang="en-US" sz="1600" b="0" dirty="0">
                <a:latin typeface="宋体" panose="02010600030101010101" pitchFamily="2" charset="-122"/>
                <a:ea typeface="宋体" panose="02010600030101010101" pitchFamily="2" charset="-122"/>
              </a:rPr>
              <a:t>            </a:t>
            </a:r>
            <a:r>
              <a:rPr lang="en-US" altLang="zh-CN" sz="1600" b="0" dirty="0" err="1">
                <a:latin typeface="宋体" panose="02010600030101010101" pitchFamily="2" charset="-122"/>
                <a:ea typeface="宋体" panose="02010600030101010101" pitchFamily="2" charset="-122"/>
              </a:rPr>
              <a:t>dist</a:t>
            </a:r>
            <a:r>
              <a:rPr lang="en-US" altLang="zh-CN" sz="1600" b="0" dirty="0">
                <a:latin typeface="宋体" panose="02010600030101010101" pitchFamily="2" charset="-122"/>
                <a:ea typeface="宋体" panose="02010600030101010101" pitchFamily="2" charset="-122"/>
              </a:rPr>
              <a:t>[v] = min(</a:t>
            </a:r>
            <a:r>
              <a:rPr lang="en-US" altLang="zh-CN" sz="1600" b="0" dirty="0" err="1">
                <a:latin typeface="宋体" panose="02010600030101010101" pitchFamily="2" charset="-122"/>
                <a:ea typeface="宋体" panose="02010600030101010101" pitchFamily="2" charset="-122"/>
              </a:rPr>
              <a:t>dist</a:t>
            </a:r>
            <a:r>
              <a:rPr lang="en-US" altLang="zh-CN" sz="1600" b="0" dirty="0">
                <a:latin typeface="宋体" panose="02010600030101010101" pitchFamily="2" charset="-122"/>
                <a:ea typeface="宋体" panose="02010600030101010101" pitchFamily="2" charset="-122"/>
              </a:rPr>
              <a:t>[v],</a:t>
            </a:r>
            <a:r>
              <a:rPr lang="en-US" altLang="zh-CN" sz="1600" b="0" dirty="0" err="1">
                <a:latin typeface="宋体" panose="02010600030101010101" pitchFamily="2" charset="-122"/>
                <a:ea typeface="宋体" panose="02010600030101010101" pitchFamily="2" charset="-122"/>
              </a:rPr>
              <a:t>dist</a:t>
            </a:r>
            <a:r>
              <a:rPr lang="en-US" altLang="zh-CN" sz="1600" b="0" dirty="0">
                <a:latin typeface="宋体" panose="02010600030101010101" pitchFamily="2" charset="-122"/>
                <a:ea typeface="宋体" panose="02010600030101010101" pitchFamily="2" charset="-122"/>
              </a:rPr>
              <a:t>[u]+e[</a:t>
            </a:r>
            <a:r>
              <a:rPr lang="en-US" altLang="zh-CN" sz="1600" b="0" dirty="0" err="1">
                <a:latin typeface="宋体" panose="02010600030101010101" pitchFamily="2" charset="-122"/>
                <a:ea typeface="宋体" panose="02010600030101010101" pitchFamily="2" charset="-122"/>
              </a:rPr>
              <a:t>i</a:t>
            </a:r>
            <a:r>
              <a:rPr lang="en-US" altLang="zh-CN" sz="1600" b="0" dirty="0">
                <a:latin typeface="宋体" panose="02010600030101010101" pitchFamily="2" charset="-122"/>
                <a:ea typeface="宋体" panose="02010600030101010101" pitchFamily="2" charset="-122"/>
              </a:rPr>
              <a:t>].</a:t>
            </a:r>
            <a:r>
              <a:rPr lang="en-US" altLang="zh-CN" sz="1600" b="0" dirty="0" err="1">
                <a:latin typeface="宋体" panose="02010600030101010101" pitchFamily="2" charset="-122"/>
                <a:ea typeface="宋体" panose="02010600030101010101" pitchFamily="2" charset="-122"/>
              </a:rPr>
              <a:t>c+res</a:t>
            </a:r>
            <a:r>
              <a:rPr lang="en-US" altLang="zh-CN" sz="1600" b="0" dirty="0">
                <a:latin typeface="宋体" panose="02010600030101010101" pitchFamily="2" charset="-122"/>
                <a:ea typeface="宋体" panose="02010600030101010101" pitchFamily="2" charset="-122"/>
              </a:rPr>
              <a:t>);  </a:t>
            </a:r>
            <a:endParaRPr lang="en-US" altLang="zh-CN" sz="1600" b="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//u</a:t>
            </a:r>
            <a:r>
              <a:rPr lang="zh-CN" altLang="en-US" sz="1600" b="0" dirty="0">
                <a:latin typeface="宋体" panose="02010600030101010101" pitchFamily="2" charset="-122"/>
                <a:ea typeface="宋体" panose="02010600030101010101" pitchFamily="2" charset="-122"/>
              </a:rPr>
              <a:t>通过</a:t>
            </a:r>
            <a:r>
              <a:rPr lang="en-US" altLang="zh-CN" sz="1600" b="0" dirty="0">
                <a:latin typeface="宋体" panose="02010600030101010101" pitchFamily="2" charset="-122"/>
                <a:ea typeface="宋体" panose="02010600030101010101" pitchFamily="2" charset="-122"/>
              </a:rPr>
              <a:t>v</a:t>
            </a:r>
            <a:r>
              <a:rPr lang="zh-CN" altLang="en-US" sz="1600" b="0" dirty="0">
                <a:latin typeface="宋体" panose="02010600030101010101" pitchFamily="2" charset="-122"/>
                <a:ea typeface="宋体" panose="02010600030101010101" pitchFamily="2" charset="-122"/>
              </a:rPr>
              <a:t>到起点的距离更短，更新距离</a:t>
            </a:r>
            <a:endParaRPr lang="zh-CN" altLang="en-US" sz="1600" b="0" dirty="0">
              <a:latin typeface="宋体" panose="02010600030101010101" pitchFamily="2" charset="-122"/>
              <a:ea typeface="宋体" panose="02010600030101010101" pitchFamily="2" charset="-122"/>
            </a:endParaRPr>
          </a:p>
          <a:p>
            <a:pPr marL="0" indent="0">
              <a:lnSpc>
                <a:spcPct val="100000"/>
              </a:lnSpc>
              <a:spcBef>
                <a:spcPts val="0"/>
              </a:spcBef>
              <a:buNone/>
            </a:pPr>
            <a:r>
              <a:rPr lang="zh-CN" altLang="en-US" sz="1600" b="0" dirty="0">
                <a:latin typeface="宋体" panose="02010600030101010101" pitchFamily="2" charset="-122"/>
                <a:ea typeface="宋体" panose="02010600030101010101" pitchFamily="2" charset="-122"/>
              </a:rPr>
              <a:t>        </a:t>
            </a:r>
            <a:r>
              <a:rPr lang="en-US" altLang="zh-CN" sz="1600" b="0" dirty="0">
                <a:latin typeface="宋体" panose="02010600030101010101" pitchFamily="2" charset="-122"/>
                <a:ea typeface="宋体" panose="02010600030101010101" pitchFamily="2" charset="-122"/>
              </a:rPr>
              <a:t>}</a:t>
            </a:r>
            <a:endParaRPr lang="en-US" altLang="zh-CN" sz="1600" b="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    }</a:t>
            </a:r>
            <a:endParaRPr lang="en-US" altLang="zh-CN" sz="1600" b="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    </a:t>
            </a:r>
            <a:r>
              <a:rPr lang="en-US" altLang="zh-CN" sz="1600" b="0" dirty="0" err="1">
                <a:latin typeface="宋体" panose="02010600030101010101" pitchFamily="2" charset="-122"/>
                <a:ea typeface="宋体" panose="02010600030101010101" pitchFamily="2" charset="-122"/>
              </a:rPr>
              <a:t>cout</a:t>
            </a:r>
            <a:r>
              <a:rPr lang="en-US" altLang="zh-CN" sz="1600" b="0" dirty="0">
                <a:latin typeface="宋体" panose="02010600030101010101" pitchFamily="2" charset="-122"/>
                <a:ea typeface="宋体" panose="02010600030101010101" pitchFamily="2" charset="-122"/>
              </a:rPr>
              <a:t>&lt;&lt;</a:t>
            </a:r>
            <a:r>
              <a:rPr lang="en-US" altLang="zh-CN" sz="1600" b="0" dirty="0" err="1">
                <a:latin typeface="宋体" panose="02010600030101010101" pitchFamily="2" charset="-122"/>
                <a:ea typeface="宋体" panose="02010600030101010101" pitchFamily="2" charset="-122"/>
              </a:rPr>
              <a:t>dist</a:t>
            </a:r>
            <a:r>
              <a:rPr lang="en-US" altLang="zh-CN" sz="1600" b="0" dirty="0">
                <a:latin typeface="宋体" panose="02010600030101010101" pitchFamily="2" charset="-122"/>
                <a:ea typeface="宋体" panose="02010600030101010101" pitchFamily="2" charset="-122"/>
              </a:rPr>
              <a:t>[n];</a:t>
            </a:r>
            <a:endParaRPr lang="en-US" altLang="zh-CN" sz="1600" b="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    return 0;</a:t>
            </a:r>
            <a:endParaRPr lang="en-US" altLang="zh-CN" sz="1600" b="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a:t>
            </a:r>
            <a:endParaRPr lang="en-US" altLang="zh-CN" sz="1600" b="0" dirty="0">
              <a:latin typeface="宋体" panose="02010600030101010101" pitchFamily="2" charset="-122"/>
              <a:ea typeface="宋体" panose="02010600030101010101" pitchFamily="2" charset="-122"/>
            </a:endParaRPr>
          </a:p>
        </p:txBody>
      </p:sp>
      <p:sp>
        <p:nvSpPr>
          <p:cNvPr id="4" name="内容占位符 4"/>
          <p:cNvSpPr txBox="1"/>
          <p:nvPr/>
        </p:nvSpPr>
        <p:spPr>
          <a:xfrm>
            <a:off x="140505" y="1291130"/>
            <a:ext cx="2770709" cy="436919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auto">
              <a:lnSpc>
                <a:spcPct val="140000"/>
              </a:lnSpc>
              <a:spcBef>
                <a:spcPts val="0"/>
              </a:spcBef>
              <a:spcAft>
                <a:spcPts val="0"/>
              </a:spcAft>
              <a:buFont typeface="Wingdings" panose="05000000000000000000" pitchFamily="2" charset="2"/>
              <a:buChar char="Ø"/>
            </a:pPr>
            <a:r>
              <a:rPr lang="en-US" altLang="zh-CN" sz="2400" dirty="0"/>
              <a:t>Bellman-ford</a:t>
            </a:r>
            <a:r>
              <a:rPr lang="zh-CN" altLang="zh-CN" sz="2400" dirty="0"/>
              <a:t>算法的代码相当简单，几乎和</a:t>
            </a:r>
            <a:r>
              <a:rPr lang="en-US" altLang="zh-CN" sz="2400" dirty="0"/>
              <a:t>Floyd</a:t>
            </a:r>
            <a:r>
              <a:rPr lang="zh-CN" altLang="zh-CN" sz="2400" dirty="0"/>
              <a:t>的代码一样短。</a:t>
            </a:r>
            <a:endParaRPr lang="zh-CN" altLang="en-US" sz="18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116383"/>
    </mc:Choice>
    <mc:Fallback>
      <p:transition spd="slow" advTm="11638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410982" y="755475"/>
            <a:ext cx="7659924" cy="584775"/>
          </a:xfrm>
          <a:prstGeom prst="rect">
            <a:avLst/>
          </a:prstGeom>
          <a:noFill/>
        </p:spPr>
        <p:txBody>
          <a:bodyPr wrap="square">
            <a:spAutoFit/>
          </a:bodyPr>
          <a:lstStyle>
            <a:defPPr>
              <a:defRPr lang="en-US"/>
            </a:defPPr>
            <a:lvl1pPr marL="457200" indent="-457200">
              <a:buFont typeface="Wingdings" panose="05000000000000000000" pitchFamily="2" charset="2"/>
              <a:buChar char="p"/>
              <a:defRPr sz="3200" spc="300">
                <a:solidFill>
                  <a:srgbClr val="FF0000"/>
                </a:solidFill>
                <a:latin typeface="微软雅黑" panose="020B0503020204020204" pitchFamily="34" charset="-122"/>
                <a:ea typeface="微软雅黑" panose="020B0503020204020204" pitchFamily="34" charset="-122"/>
              </a:defRPr>
            </a:lvl1pPr>
          </a:lstStyle>
          <a:p>
            <a:r>
              <a:rPr lang="en-US" altLang="zh-CN" dirty="0" err="1" smtClean="0"/>
              <a:t>Dijkstra</a:t>
            </a:r>
            <a:endParaRPr lang="zh-CN" altLang="en-US" dirty="0"/>
          </a:p>
        </p:txBody>
      </p:sp>
      <p:sp>
        <p:nvSpPr>
          <p:cNvPr id="2" name="文本框 1" descr="7b0a202020202262756c6c6574223a20227b5c2263617465676f727949645c223a31303030352c5c2274656d706c61746549645c223a32303233313332387d220a7d0a"/>
          <p:cNvSpPr txBox="1"/>
          <p:nvPr/>
        </p:nvSpPr>
        <p:spPr>
          <a:xfrm>
            <a:off x="751325" y="1670872"/>
            <a:ext cx="10954523" cy="3351046"/>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altLang="zh-CN" sz="2400" dirty="0" err="1">
                <a:solidFill>
                  <a:schemeClr val="tx1"/>
                </a:solidFill>
                <a:latin typeface="微软雅黑" panose="020B0503020204020204" pitchFamily="34" charset="-122"/>
                <a:ea typeface="微软雅黑" panose="020B0503020204020204" pitchFamily="34" charset="-122"/>
              </a:rPr>
              <a:t>Dijkstra</a:t>
            </a:r>
            <a:r>
              <a:rPr lang="zh-CN" altLang="en-US" sz="2400" dirty="0">
                <a:solidFill>
                  <a:schemeClr val="tx1"/>
                </a:solidFill>
                <a:latin typeface="微软雅黑" panose="020B0503020204020204" pitchFamily="34" charset="-122"/>
                <a:ea typeface="微软雅黑" panose="020B0503020204020204" pitchFamily="34" charset="-122"/>
              </a:rPr>
              <a:t>：单源最短路径问题。</a:t>
            </a:r>
            <a:endParaRPr lang="zh-CN" altLang="en-US" sz="24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2400" dirty="0">
                <a:solidFill>
                  <a:schemeClr val="tx1"/>
                </a:solidFill>
                <a:latin typeface="微软雅黑" panose="020B0503020204020204" pitchFamily="34" charset="-122"/>
                <a:ea typeface="微软雅黑" panose="020B0503020204020204" pitchFamily="34" charset="-122"/>
              </a:rPr>
              <a:t>优点：非常高效而且稳定。</a:t>
            </a:r>
            <a:endParaRPr lang="zh-CN" altLang="en-US" sz="24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2400" dirty="0">
                <a:solidFill>
                  <a:schemeClr val="tx1"/>
                </a:solidFill>
                <a:latin typeface="微软雅黑" panose="020B0503020204020204" pitchFamily="34" charset="-122"/>
                <a:ea typeface="微软雅黑" panose="020B0503020204020204" pitchFamily="34" charset="-122"/>
              </a:rPr>
              <a:t>缺点：只能处理不含有负权边的图。</a:t>
            </a:r>
            <a:endParaRPr lang="zh-CN" altLang="en-US" sz="24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endParaRPr lang="zh-CN" altLang="en-US" sz="24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2400" dirty="0">
                <a:solidFill>
                  <a:schemeClr val="tx1"/>
                </a:solidFill>
                <a:latin typeface="微软雅黑" panose="020B0503020204020204" pitchFamily="34" charset="-122"/>
                <a:ea typeface="微软雅黑" panose="020B0503020204020204" pitchFamily="34" charset="-122"/>
              </a:rPr>
              <a:t>思路：贪心思想</a:t>
            </a:r>
            <a:r>
              <a:rPr lang="en-US" altLang="zh-CN" sz="2400" dirty="0">
                <a:solidFill>
                  <a:schemeClr val="tx1"/>
                </a:solidFill>
                <a:latin typeface="微软雅黑" panose="020B0503020204020204" pitchFamily="34" charset="-122"/>
                <a:ea typeface="微软雅黑" panose="020B0503020204020204" pitchFamily="34" charset="-122"/>
              </a:rPr>
              <a:t>+</a:t>
            </a:r>
            <a:r>
              <a:rPr lang="zh-CN" altLang="en-US" sz="2400" dirty="0">
                <a:solidFill>
                  <a:schemeClr val="tx1"/>
                </a:solidFill>
                <a:latin typeface="微软雅黑" panose="020B0503020204020204" pitchFamily="34" charset="-122"/>
                <a:ea typeface="微软雅黑" panose="020B0503020204020204" pitchFamily="34" charset="-122"/>
              </a:rPr>
              <a:t>优先队列。</a:t>
            </a:r>
            <a:endParaRPr lang="zh-CN" altLang="en-US" sz="24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endParaRPr lang="zh-CN" altLang="en-US" sz="2400" dirty="0">
              <a:solidFill>
                <a:schemeClr val="tx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ransition spd="slow" advClick="0" advTm="30875">
    <p:push dir="u"/>
  </p:transition>
  <p:timing>
    <p:tnLst>
      <p:par>
        <p:cTn id="1" dur="indefinite" restart="never" nodeType="tmRoot"/>
      </p:par>
    </p:tnLst>
    <p:bldLst>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448811" y="426405"/>
            <a:ext cx="10069306" cy="584775"/>
          </a:xfrm>
          <a:prstGeom prst="rect">
            <a:avLst/>
          </a:prstGeom>
          <a:noFill/>
        </p:spPr>
        <p:txBody>
          <a:bodyPr wrap="square">
            <a:spAutoFit/>
          </a:bodyPr>
          <a:lstStyle>
            <a:defPPr>
              <a:defRPr lang="en-US"/>
            </a:defPPr>
            <a:lvl1pPr marL="0" indent="0">
              <a:buFont typeface="Wingdings" panose="05000000000000000000" pitchFamily="2" charset="2"/>
              <a:buNone/>
              <a:defRPr sz="3200" spc="300">
                <a:solidFill>
                  <a:srgbClr val="FF0000"/>
                </a:solidFill>
                <a:latin typeface="微软雅黑" panose="020B0503020204020204" pitchFamily="34" charset="-122"/>
                <a:ea typeface="微软雅黑" panose="020B0503020204020204" pitchFamily="34" charset="-122"/>
              </a:defRPr>
            </a:lvl1pPr>
          </a:lstStyle>
          <a:p>
            <a:r>
              <a:rPr lang="zh-CN" altLang="en-US" dirty="0"/>
              <a:t>算法思想</a:t>
            </a:r>
            <a:endParaRPr lang="zh-CN" altLang="en-US" dirty="0"/>
          </a:p>
        </p:txBody>
      </p:sp>
      <p:sp>
        <p:nvSpPr>
          <p:cNvPr id="10" name="标题 1"/>
          <p:cNvSpPr txBox="1">
            <a:spLocks noChangeArrowheads="1"/>
          </p:cNvSpPr>
          <p:nvPr/>
        </p:nvSpPr>
        <p:spPr>
          <a:xfrm>
            <a:off x="1072625" y="1679575"/>
            <a:ext cx="4032250" cy="4699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endParaRPr lang="zh-CN" altLang="en-US" sz="1400" dirty="0">
              <a:solidFill>
                <a:srgbClr val="FF0000"/>
              </a:solidFill>
            </a:endParaRPr>
          </a:p>
        </p:txBody>
      </p:sp>
      <p:sp>
        <p:nvSpPr>
          <p:cNvPr id="12" name="内容占位符 2"/>
          <p:cNvSpPr txBox="1">
            <a:spLocks noChangeArrowheads="1"/>
          </p:cNvSpPr>
          <p:nvPr/>
        </p:nvSpPr>
        <p:spPr>
          <a:xfrm>
            <a:off x="1072625" y="1452316"/>
            <a:ext cx="9909935" cy="3071201"/>
          </a:xfrm>
          <a:prstGeom prst="rect">
            <a:avLst/>
          </a:prstGeom>
        </p:spPr>
        <p:txBody>
          <a:bodyPr/>
          <a:lstStyle>
            <a:lvl1pPr marL="457200" indent="-457200" algn="l" defTabSz="1828800" rtl="0" eaLnBrk="1" latinLnBrk="0" hangingPunct="1">
              <a:lnSpc>
                <a:spcPct val="90000"/>
              </a:lnSpc>
              <a:spcBef>
                <a:spcPct val="401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ct val="20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ct val="20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7365"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1765"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a:lstStyle>
          <a:p>
            <a:pPr>
              <a:lnSpc>
                <a:spcPct val="150000"/>
              </a:lnSpc>
              <a:spcBef>
                <a:spcPts val="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在图中所有的边上，排满多米诺骨牌。</a:t>
            </a:r>
            <a:endParaRPr lang="zh-CN" altLang="en-US"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一条边上的多米诺骨牌数量，等于边的权值。</a:t>
            </a:r>
            <a:endParaRPr lang="zh-CN" altLang="en-US"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规定所有骨牌倒下的速度都一样。在一个结点上推倒骨牌，会导致这个结点上的所有骨牌都往后面倒下去。</a:t>
            </a:r>
            <a:endParaRPr lang="zh-CN" altLang="en-US"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endParaRPr lang="zh-CN" altLang="en-US" sz="2400" dirty="0">
              <a:latin typeface="微软雅黑" panose="020B0503020204020204" pitchFamily="34" charset="-122"/>
              <a:ea typeface="微软雅黑" panose="020B0503020204020204" pitchFamily="34" charset="-122"/>
            </a:endParaRPr>
          </a:p>
        </p:txBody>
      </p:sp>
      <p:pic>
        <p:nvPicPr>
          <p:cNvPr id="13" name="Picture 2" descr="https://timgsa.baidu.com/timg?image&amp;quality=80&amp;size=b9999_10000&amp;sec=1559647296344&amp;di=f1d90e1bd7fc899d4cb68ac17409729e&amp;imgtype=0&amp;src=http%3A%2F%2Fcbu01.alicdn.com%2Fimg%2Fibank%2F2016%2F282%2F448%2F2954844282_783871151.jpg"/>
          <p:cNvPicPr>
            <a:picLocks noChangeAspect="1" noChangeArrowheads="1" noCrop="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180440" y="4245718"/>
            <a:ext cx="2893245" cy="1927587"/>
          </a:xfrm>
          <a:prstGeom prst="rect">
            <a:avLst/>
          </a:prstGeom>
          <a:noFill/>
          <a:extLst>
            <a:ext uri="{909E8E84-426E-40DD-AFC4-6F175D3DCCD1}">
              <a14:hiddenFill xmlns:a14="http://schemas.microsoft.com/office/drawing/2010/main">
                <a:solidFill>
                  <a:srgbClr val="FFFFFF"/>
                </a:solidFill>
              </a14:hiddenFill>
            </a:ext>
          </a:extLst>
        </p:spPr>
      </p:pic>
    </p:spTree>
    <p:custDataLst>
      <p:tags r:id="rId2"/>
    </p:custDataLst>
  </p:cSld>
  <p:clrMapOvr>
    <a:masterClrMapping/>
  </p:clrMapOvr>
  <p:transition spd="slow" advClick="0" advTm="26261">
    <p:push dir="u"/>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内容占位符 2"/>
          <p:cNvSpPr txBox="1">
            <a:spLocks noChangeArrowheads="1"/>
          </p:cNvSpPr>
          <p:nvPr/>
        </p:nvSpPr>
        <p:spPr>
          <a:xfrm>
            <a:off x="1267737" y="1596540"/>
            <a:ext cx="9714823" cy="3071201"/>
          </a:xfrm>
          <a:prstGeom prst="rect">
            <a:avLst/>
          </a:prstGeom>
        </p:spPr>
        <p:txBody>
          <a:bodyPr/>
          <a:lstStyle>
            <a:lvl1pPr marL="457200" indent="-457200" algn="l" defTabSz="1828800" rtl="0" eaLnBrk="1" latinLnBrk="0" hangingPunct="1">
              <a:lnSpc>
                <a:spcPct val="90000"/>
              </a:lnSpc>
              <a:spcBef>
                <a:spcPct val="401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ct val="20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ct val="20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7365"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1765"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a:lstStyle>
          <a:p>
            <a:pPr>
              <a:lnSpc>
                <a:spcPct val="150000"/>
              </a:lnSpc>
              <a:spcBef>
                <a:spcPts val="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在起点</a:t>
            </a:r>
            <a:r>
              <a:rPr lang="en-US" altLang="zh-CN" sz="2400" dirty="0">
                <a:latin typeface="微软雅黑" panose="020B0503020204020204" pitchFamily="34" charset="-122"/>
                <a:ea typeface="微软雅黑" panose="020B0503020204020204" pitchFamily="34" charset="-122"/>
              </a:rPr>
              <a:t>s</a:t>
            </a:r>
            <a:r>
              <a:rPr lang="zh-CN" altLang="en-US" sz="2400" dirty="0">
                <a:latin typeface="微软雅黑" panose="020B0503020204020204" pitchFamily="34" charset="-122"/>
                <a:ea typeface="微软雅黑" panose="020B0503020204020204" pitchFamily="34" charset="-122"/>
              </a:rPr>
              <a:t>推倒骨牌，从</a:t>
            </a:r>
            <a:r>
              <a:rPr lang="en-US" altLang="zh-CN" sz="2400" dirty="0">
                <a:latin typeface="微软雅黑" panose="020B0503020204020204" pitchFamily="34" charset="-122"/>
                <a:ea typeface="微软雅黑" panose="020B0503020204020204" pitchFamily="34" charset="-122"/>
              </a:rPr>
              <a:t>s</a:t>
            </a:r>
            <a:r>
              <a:rPr lang="zh-CN" altLang="en-US" sz="2400" dirty="0">
                <a:latin typeface="微软雅黑" panose="020B0503020204020204" pitchFamily="34" charset="-122"/>
                <a:ea typeface="微软雅黑" panose="020B0503020204020204" pitchFamily="34" charset="-122"/>
              </a:rPr>
              <a:t>开始，它连接的边上的骨牌都逐渐倒下，并到达所有能达到的结点。</a:t>
            </a:r>
            <a:endParaRPr lang="zh-CN" altLang="en-US"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在某个结点</a:t>
            </a:r>
            <a:r>
              <a:rPr lang="en-US" altLang="zh-CN" sz="2400" dirty="0">
                <a:latin typeface="微软雅黑" panose="020B0503020204020204" pitchFamily="34" charset="-122"/>
                <a:ea typeface="微软雅黑" panose="020B0503020204020204" pitchFamily="34" charset="-122"/>
              </a:rPr>
              <a:t>t</a:t>
            </a:r>
            <a:r>
              <a:rPr lang="zh-CN" altLang="en-US" sz="2400" dirty="0">
                <a:latin typeface="微软雅黑" panose="020B0503020204020204" pitchFamily="34" charset="-122"/>
                <a:ea typeface="微软雅黑" panose="020B0503020204020204" pitchFamily="34" charset="-122"/>
              </a:rPr>
              <a:t>，可能先后从不同的线路倒骨牌过来</a:t>
            </a:r>
            <a:endParaRPr lang="zh-CN" altLang="en-US"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先倒过来的骨牌，其经过的路径，肯定就是从</a:t>
            </a:r>
            <a:r>
              <a:rPr lang="en-US" altLang="zh-CN" sz="2400" dirty="0">
                <a:latin typeface="微软雅黑" panose="020B0503020204020204" pitchFamily="34" charset="-122"/>
                <a:ea typeface="微软雅黑" panose="020B0503020204020204" pitchFamily="34" charset="-122"/>
              </a:rPr>
              <a:t>s</a:t>
            </a:r>
            <a:r>
              <a:rPr lang="zh-CN" altLang="en-US" sz="2400" dirty="0">
                <a:latin typeface="微软雅黑" panose="020B0503020204020204" pitchFamily="34" charset="-122"/>
                <a:ea typeface="微软雅黑" panose="020B0503020204020204" pitchFamily="34" charset="-122"/>
              </a:rPr>
              <a:t>到达</a:t>
            </a:r>
            <a:r>
              <a:rPr lang="en-US" altLang="zh-CN" sz="2400" dirty="0">
                <a:latin typeface="微软雅黑" panose="020B0503020204020204" pitchFamily="34" charset="-122"/>
                <a:ea typeface="微软雅黑" panose="020B0503020204020204" pitchFamily="34" charset="-122"/>
              </a:rPr>
              <a:t>t</a:t>
            </a:r>
            <a:r>
              <a:rPr lang="zh-CN" altLang="en-US" sz="2400" dirty="0">
                <a:latin typeface="微软雅黑" panose="020B0503020204020204" pitchFamily="34" charset="-122"/>
                <a:ea typeface="微软雅黑" panose="020B0503020204020204" pitchFamily="34" charset="-122"/>
              </a:rPr>
              <a:t>的最短路；</a:t>
            </a:r>
            <a:endParaRPr lang="zh-CN" altLang="en-US"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后倒过来的骨牌，对确定结点</a:t>
            </a:r>
            <a:r>
              <a:rPr lang="en-US" altLang="zh-CN" sz="2400" dirty="0">
                <a:latin typeface="微软雅黑" panose="020B0503020204020204" pitchFamily="34" charset="-122"/>
                <a:ea typeface="微软雅黑" panose="020B0503020204020204" pitchFamily="34" charset="-122"/>
              </a:rPr>
              <a:t>t</a:t>
            </a:r>
            <a:r>
              <a:rPr lang="zh-CN" altLang="en-US" sz="2400" dirty="0">
                <a:latin typeface="微软雅黑" panose="020B0503020204020204" pitchFamily="34" charset="-122"/>
                <a:ea typeface="微软雅黑" panose="020B0503020204020204" pitchFamily="34" charset="-122"/>
              </a:rPr>
              <a:t>的最短路没有贡献，不用管它。</a:t>
            </a:r>
            <a:endParaRPr lang="zh-CN" altLang="en-US"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endParaRPr lang="zh-CN" altLang="en-US" sz="2400" dirty="0">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ransition spd="slow" advClick="0" advTm="40931">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animEffect transition="in" filter="fade">
                                      <p:cBhvr>
                                        <p:cTn id="7" dur="500"/>
                                        <p:tgtEl>
                                          <p:spTgt spid="1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xEl>
                                              <p:pRg st="2" end="2"/>
                                            </p:txEl>
                                          </p:spTgt>
                                        </p:tgtEl>
                                        <p:attrNameLst>
                                          <p:attrName>style.visibility</p:attrName>
                                        </p:attrNameLst>
                                      </p:cBhvr>
                                      <p:to>
                                        <p:strVal val="visible"/>
                                      </p:to>
                                    </p:set>
                                    <p:animEffect transition="in" filter="fade">
                                      <p:cBhvr>
                                        <p:cTn id="12" dur="500"/>
                                        <p:tgtEl>
                                          <p:spTgt spid="1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xEl>
                                              <p:pRg st="3" end="3"/>
                                            </p:txEl>
                                          </p:spTgt>
                                        </p:tgtEl>
                                        <p:attrNameLst>
                                          <p:attrName>style.visibility</p:attrName>
                                        </p:attrNameLst>
                                      </p:cBhvr>
                                      <p:to>
                                        <p:strVal val="visible"/>
                                      </p:to>
                                    </p:set>
                                    <p:animEffect transition="in" filter="fade">
                                      <p:cBhvr>
                                        <p:cTn id="17" dur="500"/>
                                        <p:tgtEl>
                                          <p:spTgt spid="1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a:spLocks noChangeArrowheads="1"/>
          </p:cNvSpPr>
          <p:nvPr/>
        </p:nvSpPr>
        <p:spPr>
          <a:xfrm>
            <a:off x="1072625" y="1679575"/>
            <a:ext cx="4032250" cy="4699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endParaRPr lang="zh-CN" altLang="en-US" sz="1400" dirty="0">
              <a:solidFill>
                <a:srgbClr val="FF0000"/>
              </a:solidFill>
            </a:endParaRPr>
          </a:p>
        </p:txBody>
      </p:sp>
      <p:sp>
        <p:nvSpPr>
          <p:cNvPr id="12" name="内容占位符 2"/>
          <p:cNvSpPr txBox="1">
            <a:spLocks noChangeArrowheads="1"/>
          </p:cNvSpPr>
          <p:nvPr/>
        </p:nvSpPr>
        <p:spPr>
          <a:xfrm>
            <a:off x="904030" y="1138425"/>
            <a:ext cx="10196751" cy="3071201"/>
          </a:xfrm>
          <a:prstGeom prst="rect">
            <a:avLst/>
          </a:prstGeom>
        </p:spPr>
        <p:txBody>
          <a:bodyPr/>
          <a:lstStyle>
            <a:lvl1pPr marL="457200" indent="-457200" algn="l" defTabSz="1828800" rtl="0" eaLnBrk="1" latinLnBrk="0" hangingPunct="1">
              <a:lnSpc>
                <a:spcPct val="90000"/>
              </a:lnSpc>
              <a:spcBef>
                <a:spcPct val="401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ct val="20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ct val="20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7365"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1765"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a:lstStyle>
          <a:p>
            <a:pPr>
              <a:lnSpc>
                <a:spcPct val="150000"/>
              </a:lnSpc>
              <a:spcBef>
                <a:spcPts val="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在</a:t>
            </a:r>
            <a:r>
              <a:rPr lang="en-US" altLang="zh-CN" sz="2400" dirty="0">
                <a:latin typeface="微软雅黑" panose="020B0503020204020204" pitchFamily="34" charset="-122"/>
                <a:ea typeface="微软雅黑" panose="020B0503020204020204" pitchFamily="34" charset="-122"/>
              </a:rPr>
              <a:t>s</a:t>
            </a:r>
            <a:r>
              <a:rPr lang="zh-CN" altLang="en-US" sz="2400" dirty="0">
                <a:latin typeface="微软雅黑" panose="020B0503020204020204" pitchFamily="34" charset="-122"/>
                <a:ea typeface="微软雅黑" panose="020B0503020204020204" pitchFamily="34" charset="-122"/>
              </a:rPr>
              <a:t>的所有直连邻居中，最近的邻居</a:t>
            </a:r>
            <a:r>
              <a:rPr lang="en-US" altLang="zh-CN" sz="2400" dirty="0">
                <a:latin typeface="微软雅黑" panose="020B0503020204020204" pitchFamily="34" charset="-122"/>
                <a:ea typeface="微软雅黑" panose="020B0503020204020204" pitchFamily="34" charset="-122"/>
              </a:rPr>
              <a:t>u</a:t>
            </a:r>
            <a:r>
              <a:rPr lang="zh-CN" altLang="en-US" sz="2400" dirty="0">
                <a:latin typeface="微软雅黑" panose="020B0503020204020204" pitchFamily="34" charset="-122"/>
                <a:ea typeface="微软雅黑" panose="020B0503020204020204" pitchFamily="34" charset="-122"/>
              </a:rPr>
              <a:t>，骨牌首先到达。</a:t>
            </a:r>
            <a:r>
              <a:rPr lang="en-US" altLang="zh-CN" sz="2400" dirty="0">
                <a:latin typeface="微软雅黑" panose="020B0503020204020204" pitchFamily="34" charset="-122"/>
                <a:ea typeface="微软雅黑" panose="020B0503020204020204" pitchFamily="34" charset="-122"/>
              </a:rPr>
              <a:t>u</a:t>
            </a:r>
            <a:r>
              <a:rPr lang="zh-CN" altLang="en-US" sz="2400" dirty="0">
                <a:latin typeface="微软雅黑" panose="020B0503020204020204" pitchFamily="34" charset="-122"/>
                <a:ea typeface="微软雅黑" panose="020B0503020204020204" pitchFamily="34" charset="-122"/>
              </a:rPr>
              <a:t>是第一个确定最短路径的结点。从</a:t>
            </a:r>
            <a:r>
              <a:rPr lang="en-US" altLang="zh-CN" sz="2400" dirty="0">
                <a:latin typeface="微软雅黑" panose="020B0503020204020204" pitchFamily="34" charset="-122"/>
                <a:ea typeface="微软雅黑" panose="020B0503020204020204" pitchFamily="34" charset="-122"/>
              </a:rPr>
              <a:t>u</a:t>
            </a:r>
            <a:r>
              <a:rPr lang="zh-CN" altLang="en-US" sz="2400" dirty="0">
                <a:latin typeface="微软雅黑" panose="020B0503020204020204" pitchFamily="34" charset="-122"/>
                <a:ea typeface="微软雅黑" panose="020B0503020204020204" pitchFamily="34" charset="-122"/>
              </a:rPr>
              <a:t>直连到</a:t>
            </a:r>
            <a:r>
              <a:rPr lang="en-US" altLang="zh-CN" sz="2400" dirty="0">
                <a:latin typeface="微软雅黑" panose="020B0503020204020204" pitchFamily="34" charset="-122"/>
                <a:ea typeface="微软雅黑" panose="020B0503020204020204" pitchFamily="34" charset="-122"/>
              </a:rPr>
              <a:t>s</a:t>
            </a:r>
            <a:r>
              <a:rPr lang="zh-CN" altLang="en-US" sz="2400" dirty="0">
                <a:latin typeface="微软雅黑" panose="020B0503020204020204" pitchFamily="34" charset="-122"/>
                <a:ea typeface="微软雅黑" panose="020B0503020204020204" pitchFamily="34" charset="-122"/>
              </a:rPr>
              <a:t>的路径肯定是最短的，因为如果</a:t>
            </a:r>
            <a:r>
              <a:rPr lang="en-US" altLang="zh-CN" sz="2400" dirty="0">
                <a:latin typeface="微软雅黑" panose="020B0503020204020204" pitchFamily="34" charset="-122"/>
                <a:ea typeface="微软雅黑" panose="020B0503020204020204" pitchFamily="34" charset="-122"/>
              </a:rPr>
              <a:t>u</a:t>
            </a:r>
            <a:r>
              <a:rPr lang="zh-CN" altLang="en-US" sz="2400" dirty="0">
                <a:latin typeface="微软雅黑" panose="020B0503020204020204" pitchFamily="34" charset="-122"/>
                <a:ea typeface="微软雅黑" panose="020B0503020204020204" pitchFamily="34" charset="-122"/>
              </a:rPr>
              <a:t>绕道别的结点到</a:t>
            </a:r>
            <a:r>
              <a:rPr lang="en-US" altLang="zh-CN" sz="2400" dirty="0">
                <a:latin typeface="微软雅黑" panose="020B0503020204020204" pitchFamily="34" charset="-122"/>
                <a:ea typeface="微软雅黑" panose="020B0503020204020204" pitchFamily="34" charset="-122"/>
              </a:rPr>
              <a:t>s</a:t>
            </a:r>
            <a:r>
              <a:rPr lang="zh-CN" altLang="en-US" sz="2400" dirty="0">
                <a:latin typeface="微软雅黑" panose="020B0503020204020204" pitchFamily="34" charset="-122"/>
                <a:ea typeface="微软雅黑" panose="020B0503020204020204" pitchFamily="34" charset="-122"/>
              </a:rPr>
              <a:t>，必然更远。</a:t>
            </a:r>
            <a:endParaRPr lang="zh-CN" altLang="en-US"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然后，把后面骨牌的倒下分成</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部分，一部分是从</a:t>
            </a:r>
            <a:r>
              <a:rPr lang="en-US" altLang="zh-CN" sz="2400" dirty="0">
                <a:latin typeface="微软雅黑" panose="020B0503020204020204" pitchFamily="34" charset="-122"/>
                <a:ea typeface="微软雅黑" panose="020B0503020204020204" pitchFamily="34" charset="-122"/>
              </a:rPr>
              <a:t>s</a:t>
            </a:r>
            <a:r>
              <a:rPr lang="zh-CN" altLang="en-US" sz="2400" dirty="0">
                <a:latin typeface="微软雅黑" panose="020B0503020204020204" pitchFamily="34" charset="-122"/>
                <a:ea typeface="微软雅黑" panose="020B0503020204020204" pitchFamily="34" charset="-122"/>
              </a:rPr>
              <a:t>继续倒下到</a:t>
            </a:r>
            <a:r>
              <a:rPr lang="en-US" altLang="zh-CN" sz="2400" dirty="0">
                <a:latin typeface="微软雅黑" panose="020B0503020204020204" pitchFamily="34" charset="-122"/>
                <a:ea typeface="微软雅黑" panose="020B0503020204020204" pitchFamily="34" charset="-122"/>
              </a:rPr>
              <a:t>s</a:t>
            </a:r>
            <a:r>
              <a:rPr lang="zh-CN" altLang="en-US" sz="2400" dirty="0">
                <a:latin typeface="微软雅黑" panose="020B0503020204020204" pitchFamily="34" charset="-122"/>
                <a:ea typeface="微软雅黑" panose="020B0503020204020204" pitchFamily="34" charset="-122"/>
              </a:rPr>
              <a:t>的其它的直连邻居，另一部分从</a:t>
            </a:r>
            <a:r>
              <a:rPr lang="en-US" altLang="zh-CN" sz="2400" dirty="0">
                <a:latin typeface="微软雅黑" panose="020B0503020204020204" pitchFamily="34" charset="-122"/>
                <a:ea typeface="微软雅黑" panose="020B0503020204020204" pitchFamily="34" charset="-122"/>
              </a:rPr>
              <a:t>u</a:t>
            </a:r>
            <a:r>
              <a:rPr lang="zh-CN" altLang="en-US" sz="2400" dirty="0">
                <a:latin typeface="微软雅黑" panose="020B0503020204020204" pitchFamily="34" charset="-122"/>
                <a:ea typeface="微软雅黑" panose="020B0503020204020204" pitchFamily="34" charset="-122"/>
              </a:rPr>
              <a:t>出发倒下到</a:t>
            </a:r>
            <a:r>
              <a:rPr lang="en-US" altLang="zh-CN" sz="2400" dirty="0">
                <a:latin typeface="微软雅黑" panose="020B0503020204020204" pitchFamily="34" charset="-122"/>
                <a:ea typeface="微软雅黑" panose="020B0503020204020204" pitchFamily="34" charset="-122"/>
              </a:rPr>
              <a:t>u</a:t>
            </a:r>
            <a:r>
              <a:rPr lang="zh-CN" altLang="en-US" sz="2400" dirty="0">
                <a:latin typeface="微软雅黑" panose="020B0503020204020204" pitchFamily="34" charset="-122"/>
                <a:ea typeface="微软雅黑" panose="020B0503020204020204" pitchFamily="34" charset="-122"/>
              </a:rPr>
              <a:t>的直连邻居。那么下一个到达的结点</a:t>
            </a:r>
            <a:r>
              <a:rPr lang="en-US" altLang="zh-CN" sz="2400" dirty="0">
                <a:latin typeface="微软雅黑" panose="020B0503020204020204" pitchFamily="34" charset="-122"/>
                <a:ea typeface="微软雅黑" panose="020B0503020204020204" pitchFamily="34" charset="-122"/>
              </a:rPr>
              <a:t>v</a:t>
            </a:r>
            <a:r>
              <a:rPr lang="zh-CN" altLang="en-US" sz="2400" dirty="0">
                <a:latin typeface="微软雅黑" panose="020B0503020204020204" pitchFamily="34" charset="-122"/>
                <a:ea typeface="微软雅黑" panose="020B0503020204020204" pitchFamily="34" charset="-122"/>
              </a:rPr>
              <a:t>，必然是</a:t>
            </a:r>
            <a:r>
              <a:rPr lang="en-US" altLang="zh-CN" sz="2400" dirty="0">
                <a:latin typeface="微软雅黑" panose="020B0503020204020204" pitchFamily="34" charset="-122"/>
                <a:ea typeface="微软雅黑" panose="020B0503020204020204" pitchFamily="34" charset="-122"/>
              </a:rPr>
              <a:t>s</a:t>
            </a:r>
            <a:r>
              <a:rPr lang="zh-CN" altLang="en-US" sz="2400" dirty="0">
                <a:latin typeface="微软雅黑" panose="020B0503020204020204" pitchFamily="34" charset="-122"/>
                <a:ea typeface="微软雅黑" panose="020B0503020204020204" pitchFamily="34" charset="-122"/>
              </a:rPr>
              <a:t>或者</a:t>
            </a:r>
            <a:r>
              <a:rPr lang="en-US" altLang="zh-CN" sz="2400" dirty="0">
                <a:latin typeface="微软雅黑" panose="020B0503020204020204" pitchFamily="34" charset="-122"/>
                <a:ea typeface="微软雅黑" panose="020B0503020204020204" pitchFamily="34" charset="-122"/>
              </a:rPr>
              <a:t>u</a:t>
            </a:r>
            <a:r>
              <a:rPr lang="zh-CN" altLang="en-US" sz="2400" dirty="0">
                <a:latin typeface="微软雅黑" panose="020B0503020204020204" pitchFamily="34" charset="-122"/>
                <a:ea typeface="微软雅黑" panose="020B0503020204020204" pitchFamily="34" charset="-122"/>
              </a:rPr>
              <a:t>的一个直连邻居。</a:t>
            </a:r>
            <a:r>
              <a:rPr lang="en-US" altLang="zh-CN" sz="2400" dirty="0">
                <a:latin typeface="微软雅黑" panose="020B0503020204020204" pitchFamily="34" charset="-122"/>
                <a:ea typeface="微软雅黑" panose="020B0503020204020204" pitchFamily="34" charset="-122"/>
              </a:rPr>
              <a:t>v</a:t>
            </a:r>
            <a:r>
              <a:rPr lang="zh-CN" altLang="en-US" sz="2400" dirty="0">
                <a:latin typeface="微软雅黑" panose="020B0503020204020204" pitchFamily="34" charset="-122"/>
                <a:ea typeface="微软雅黑" panose="020B0503020204020204" pitchFamily="34" charset="-122"/>
              </a:rPr>
              <a:t>是第二个确定最短路径的结点。</a:t>
            </a:r>
            <a:endParaRPr lang="zh-CN" altLang="en-US"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继续以上步骤，在每一次迭代过程中，都能确定一个结点的最短路径。</a:t>
            </a:r>
            <a:endParaRPr lang="zh-CN" altLang="en-US"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endParaRPr lang="zh-CN" altLang="en-US" sz="2400" dirty="0">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ransition spd="slow" advClick="0" advTm="57142">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animEffect transition="in" filter="fade">
                                      <p:cBhvr>
                                        <p:cTn id="7" dur="500"/>
                                        <p:tgtEl>
                                          <p:spTgt spid="1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xEl>
                                              <p:pRg st="2" end="2"/>
                                            </p:txEl>
                                          </p:spTgt>
                                        </p:tgtEl>
                                        <p:attrNameLst>
                                          <p:attrName>style.visibility</p:attrName>
                                        </p:attrNameLst>
                                      </p:cBhvr>
                                      <p:to>
                                        <p:strVal val="visible"/>
                                      </p:to>
                                    </p:set>
                                    <p:animEffect transition="in" filter="fade">
                                      <p:cBhvr>
                                        <p:cTn id="12" dur="5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561645" y="771144"/>
            <a:ext cx="10069306" cy="584775"/>
          </a:xfrm>
          <a:prstGeom prst="rect">
            <a:avLst/>
          </a:prstGeom>
          <a:noFill/>
        </p:spPr>
        <p:txBody>
          <a:bodyPr wrap="square">
            <a:spAutoFit/>
          </a:bodyPr>
          <a:lstStyle>
            <a:defPPr>
              <a:defRPr lang="en-US"/>
            </a:defPPr>
            <a:lvl1pPr marL="0" indent="0">
              <a:buFont typeface="Wingdings" panose="05000000000000000000" pitchFamily="2" charset="2"/>
              <a:buNone/>
              <a:defRPr sz="3200" spc="300">
                <a:solidFill>
                  <a:srgbClr val="FF0000"/>
                </a:solidFill>
                <a:latin typeface="微软雅黑" panose="020B0503020204020204" pitchFamily="34" charset="-122"/>
                <a:ea typeface="微软雅黑" panose="020B0503020204020204" pitchFamily="34" charset="-122"/>
              </a:defRPr>
            </a:lvl1pPr>
          </a:lstStyle>
          <a:p>
            <a:r>
              <a:rPr lang="zh-CN" altLang="en-US" dirty="0"/>
              <a:t>特点</a:t>
            </a:r>
            <a:endParaRPr lang="zh-CN" altLang="en-US" dirty="0"/>
          </a:p>
        </p:txBody>
      </p:sp>
      <p:sp>
        <p:nvSpPr>
          <p:cNvPr id="10" name="标题 1"/>
          <p:cNvSpPr txBox="1">
            <a:spLocks noChangeArrowheads="1"/>
          </p:cNvSpPr>
          <p:nvPr/>
        </p:nvSpPr>
        <p:spPr>
          <a:xfrm>
            <a:off x="1072625" y="1679575"/>
            <a:ext cx="4032250" cy="4699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endParaRPr lang="zh-CN" altLang="en-US" sz="1400" dirty="0">
              <a:solidFill>
                <a:srgbClr val="FF0000"/>
              </a:solidFill>
            </a:endParaRPr>
          </a:p>
        </p:txBody>
      </p:sp>
      <p:sp>
        <p:nvSpPr>
          <p:cNvPr id="12" name="内容占位符 2"/>
          <p:cNvSpPr txBox="1">
            <a:spLocks noChangeArrowheads="1"/>
          </p:cNvSpPr>
          <p:nvPr/>
        </p:nvSpPr>
        <p:spPr>
          <a:xfrm>
            <a:off x="904030" y="1692663"/>
            <a:ext cx="10712016" cy="3071201"/>
          </a:xfrm>
          <a:prstGeom prst="rect">
            <a:avLst/>
          </a:prstGeom>
        </p:spPr>
        <p:txBody>
          <a:bodyPr/>
          <a:lstStyle>
            <a:lvl1pPr marL="457200" indent="-457200" algn="l" defTabSz="1828800" rtl="0" eaLnBrk="1" latinLnBrk="0" hangingPunct="1">
              <a:lnSpc>
                <a:spcPct val="90000"/>
              </a:lnSpc>
              <a:spcBef>
                <a:spcPct val="401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ct val="20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ct val="20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7365"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1765"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a:lstStyle>
          <a:p>
            <a:pPr>
              <a:lnSpc>
                <a:spcPct val="150000"/>
              </a:lnSpc>
              <a:spcBef>
                <a:spcPts val="0"/>
              </a:spcBef>
              <a:buFont typeface="Wingdings" panose="05000000000000000000" pitchFamily="2" charset="2"/>
              <a:buChar char="Ø"/>
            </a:pPr>
            <a:r>
              <a:rPr lang="en-US" altLang="zh-CN" sz="2400" dirty="0" err="1">
                <a:latin typeface="微软雅黑" panose="020B0503020204020204" pitchFamily="34" charset="-122"/>
                <a:ea typeface="微软雅黑" panose="020B0503020204020204" pitchFamily="34" charset="-122"/>
              </a:rPr>
              <a:t>Dijkstra</a:t>
            </a:r>
            <a:r>
              <a:rPr lang="zh-CN" altLang="en-US" sz="2400" dirty="0">
                <a:latin typeface="微软雅黑" panose="020B0503020204020204" pitchFamily="34" charset="-122"/>
                <a:ea typeface="微软雅黑" panose="020B0503020204020204" pitchFamily="34" charset="-122"/>
              </a:rPr>
              <a:t>算法应用了贪心法的思想，即“抄近路走，肯定能找到最短路径”。</a:t>
            </a:r>
            <a:endParaRPr lang="zh-CN" altLang="en-US"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算法高效稳定：</a:t>
            </a:r>
            <a:endParaRPr lang="zh-CN" altLang="en-US" sz="2400" dirty="0">
              <a:latin typeface="微软雅黑" panose="020B0503020204020204" pitchFamily="34" charset="-122"/>
              <a:ea typeface="微软雅黑" panose="020B0503020204020204" pitchFamily="34" charset="-122"/>
            </a:endParaRPr>
          </a:p>
          <a:p>
            <a:pPr lvl="1">
              <a:lnSpc>
                <a:spcPct val="150000"/>
              </a:lnSpc>
              <a:spcBef>
                <a:spcPts val="0"/>
              </a:spcBef>
              <a:buFont typeface="Wingdings" panose="05000000000000000000" pitchFamily="2" charset="2"/>
              <a:buChar char="ü"/>
            </a:pPr>
            <a:r>
              <a:rPr lang="en-US" altLang="zh-CN" sz="2400" dirty="0" err="1">
                <a:latin typeface="微软雅黑" panose="020B0503020204020204" pitchFamily="34" charset="-122"/>
                <a:ea typeface="微软雅黑" panose="020B0503020204020204" pitchFamily="34" charset="-122"/>
              </a:rPr>
              <a:t>Dijkstra</a:t>
            </a:r>
            <a:r>
              <a:rPr lang="zh-CN" altLang="en-US" sz="2400" dirty="0">
                <a:latin typeface="微软雅黑" panose="020B0503020204020204" pitchFamily="34" charset="-122"/>
                <a:ea typeface="微软雅黑" panose="020B0503020204020204" pitchFamily="34" charset="-122"/>
              </a:rPr>
              <a:t>的每次迭代，只需要检查上次已经确定最短路径的那些结点的邻居，检查范围很小，算法是高效的；</a:t>
            </a:r>
            <a:endParaRPr lang="zh-CN" altLang="en-US" sz="2400" dirty="0">
              <a:latin typeface="微软雅黑" panose="020B0503020204020204" pitchFamily="34" charset="-122"/>
              <a:ea typeface="微软雅黑" panose="020B0503020204020204" pitchFamily="34" charset="-122"/>
            </a:endParaRPr>
          </a:p>
          <a:p>
            <a:pPr lvl="1">
              <a:lnSpc>
                <a:spcPct val="150000"/>
              </a:lnSpc>
              <a:spcBef>
                <a:spcPts val="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每次迭代，都能得到至少一个结点的最短路径，算法是稳定的</a:t>
            </a:r>
            <a:endParaRPr lang="zh-CN" altLang="en-US" sz="2400" dirty="0">
              <a:latin typeface="微软雅黑" panose="020B0503020204020204" pitchFamily="34" charset="-122"/>
              <a:ea typeface="微软雅黑" panose="020B0503020204020204" pitchFamily="34" charset="-122"/>
            </a:endParaRPr>
          </a:p>
          <a:p>
            <a:pPr>
              <a:lnSpc>
                <a:spcPct val="150000"/>
              </a:lnSpc>
              <a:spcBef>
                <a:spcPts val="0"/>
              </a:spcBef>
            </a:pPr>
            <a:endParaRPr lang="zh-CN" altLang="en-US" sz="2400" dirty="0">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ransition spd="slow" advClick="0" advTm="37292">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animEffect transition="in" filter="fade">
                                      <p:cBhvr>
                                        <p:cTn id="7" dur="500"/>
                                        <p:tgtEl>
                                          <p:spTgt spid="12">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2">
                                            <p:txEl>
                                              <p:pRg st="2" end="2"/>
                                            </p:txEl>
                                          </p:spTgt>
                                        </p:tgtEl>
                                        <p:attrNameLst>
                                          <p:attrName>style.visibility</p:attrName>
                                        </p:attrNameLst>
                                      </p:cBhvr>
                                      <p:to>
                                        <p:strVal val="visible"/>
                                      </p:to>
                                    </p:set>
                                    <p:animEffect transition="in" filter="fade">
                                      <p:cBhvr>
                                        <p:cTn id="10" dur="500"/>
                                        <p:tgtEl>
                                          <p:spTgt spid="12">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xEl>
                                              <p:pRg st="3" end="3"/>
                                            </p:txEl>
                                          </p:spTgt>
                                        </p:tgtEl>
                                        <p:attrNameLst>
                                          <p:attrName>style.visibility</p:attrName>
                                        </p:attrNameLst>
                                      </p:cBhvr>
                                      <p:to>
                                        <p:strVal val="visible"/>
                                      </p:to>
                                    </p:set>
                                    <p:animEffect transition="in" filter="fade">
                                      <p:cBhvr>
                                        <p:cTn id="13" dur="500"/>
                                        <p:tgtEl>
                                          <p:spTgt spid="1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1056735" y="487751"/>
            <a:ext cx="10069305" cy="584775"/>
          </a:xfrm>
          <a:prstGeom prst="rect">
            <a:avLst/>
          </a:prstGeom>
          <a:noFill/>
        </p:spPr>
        <p:txBody>
          <a:bodyPr wrap="square">
            <a:spAutoFit/>
          </a:bodyPr>
          <a:lstStyle>
            <a:defPPr>
              <a:defRPr lang="en-US"/>
            </a:defPPr>
            <a:lvl1pPr marL="0" indent="0">
              <a:buFont typeface="Wingdings" panose="05000000000000000000" pitchFamily="2" charset="2"/>
              <a:buNone/>
              <a:defRPr sz="3200" spc="300">
                <a:solidFill>
                  <a:srgbClr val="FF0000"/>
                </a:solidFill>
                <a:latin typeface="微软雅黑" panose="020B0503020204020204" pitchFamily="34" charset="-122"/>
                <a:ea typeface="微软雅黑" panose="020B0503020204020204" pitchFamily="34" charset="-122"/>
              </a:defRPr>
            </a:lvl1pPr>
          </a:lstStyle>
          <a:p>
            <a:r>
              <a:rPr lang="zh-CN" altLang="en-US" dirty="0"/>
              <a:t>算法实现</a:t>
            </a:r>
            <a:endParaRPr lang="zh-CN" altLang="en-US" dirty="0"/>
          </a:p>
        </p:txBody>
      </p:sp>
      <p:sp>
        <p:nvSpPr>
          <p:cNvPr id="10" name="标题 1"/>
          <p:cNvSpPr txBox="1">
            <a:spLocks noChangeArrowheads="1"/>
          </p:cNvSpPr>
          <p:nvPr/>
        </p:nvSpPr>
        <p:spPr>
          <a:xfrm>
            <a:off x="1072625" y="1679575"/>
            <a:ext cx="4032250" cy="4699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endParaRPr lang="zh-CN" altLang="en-US" sz="1400" dirty="0">
              <a:solidFill>
                <a:srgbClr val="FF0000"/>
              </a:solidFill>
            </a:endParaRPr>
          </a:p>
        </p:txBody>
      </p:sp>
      <p:sp>
        <p:nvSpPr>
          <p:cNvPr id="12" name="内容占位符 2"/>
          <p:cNvSpPr txBox="1">
            <a:spLocks noChangeArrowheads="1"/>
          </p:cNvSpPr>
          <p:nvPr/>
        </p:nvSpPr>
        <p:spPr>
          <a:xfrm>
            <a:off x="904030" y="1408536"/>
            <a:ext cx="10689350" cy="5227269"/>
          </a:xfrm>
          <a:prstGeom prst="rect">
            <a:avLst/>
          </a:prstGeom>
        </p:spPr>
        <p:txBody>
          <a:bodyPr/>
          <a:lstStyle>
            <a:lvl1pPr marL="457200" indent="-457200" algn="l" defTabSz="1828800" rtl="0" eaLnBrk="1" latinLnBrk="0" hangingPunct="1">
              <a:lnSpc>
                <a:spcPct val="90000"/>
              </a:lnSpc>
              <a:spcBef>
                <a:spcPct val="401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ct val="20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ct val="20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7365"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1765"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a:lstStyle>
          <a:p>
            <a:pPr>
              <a:lnSpc>
                <a:spcPct val="150000"/>
              </a:lnSpc>
              <a:spcBef>
                <a:spcPts val="0"/>
              </a:spcBef>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维护两个集合：已确定最短路径的结点集合</a:t>
            </a:r>
            <a:r>
              <a:rPr lang="en-US" altLang="zh-CN" sz="2400" dirty="0">
                <a:latin typeface="微软雅黑" panose="020B0503020204020204" pitchFamily="34" charset="-122"/>
                <a:ea typeface="微软雅黑" panose="020B0503020204020204" pitchFamily="34" charset="-122"/>
              </a:rPr>
              <a:t>A</a:t>
            </a:r>
            <a:r>
              <a:rPr lang="zh-CN" altLang="en-US" sz="2400" dirty="0">
                <a:latin typeface="微软雅黑" panose="020B0503020204020204" pitchFamily="34" charset="-122"/>
                <a:ea typeface="微软雅黑" panose="020B0503020204020204" pitchFamily="34" charset="-122"/>
              </a:rPr>
              <a:t>、这些结点向外扩散的邻居结点集合</a:t>
            </a:r>
            <a:r>
              <a:rPr lang="en-US" altLang="zh-CN" sz="2400" dirty="0">
                <a:latin typeface="微软雅黑" panose="020B0503020204020204" pitchFamily="34" charset="-122"/>
                <a:ea typeface="微软雅黑" panose="020B0503020204020204" pitchFamily="34" charset="-122"/>
              </a:rPr>
              <a:t>B</a:t>
            </a:r>
            <a:r>
              <a:rPr lang="zh-CN" altLang="en-US"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）把起点</a:t>
            </a:r>
            <a:r>
              <a:rPr lang="en-US" altLang="zh-CN" sz="2400" dirty="0">
                <a:latin typeface="微软雅黑" panose="020B0503020204020204" pitchFamily="34" charset="-122"/>
                <a:ea typeface="微软雅黑" panose="020B0503020204020204" pitchFamily="34" charset="-122"/>
              </a:rPr>
              <a:t>s</a:t>
            </a:r>
            <a:r>
              <a:rPr lang="zh-CN" altLang="en-US" sz="2400" dirty="0">
                <a:latin typeface="微软雅黑" panose="020B0503020204020204" pitchFamily="34" charset="-122"/>
                <a:ea typeface="微软雅黑" panose="020B0503020204020204" pitchFamily="34" charset="-122"/>
              </a:rPr>
              <a:t>放到</a:t>
            </a:r>
            <a:r>
              <a:rPr lang="en-US" altLang="zh-CN" sz="2400" dirty="0">
                <a:latin typeface="微软雅黑" panose="020B0503020204020204" pitchFamily="34" charset="-122"/>
                <a:ea typeface="微软雅黑" panose="020B0503020204020204" pitchFamily="34" charset="-122"/>
              </a:rPr>
              <a:t>A</a:t>
            </a:r>
            <a:r>
              <a:rPr lang="zh-CN" altLang="en-US" sz="2400" dirty="0">
                <a:latin typeface="微软雅黑" panose="020B0503020204020204" pitchFamily="34" charset="-122"/>
                <a:ea typeface="微软雅黑" panose="020B0503020204020204" pitchFamily="34" charset="-122"/>
              </a:rPr>
              <a:t>中，把</a:t>
            </a:r>
            <a:r>
              <a:rPr lang="en-US" altLang="zh-CN" sz="2400" dirty="0">
                <a:latin typeface="微软雅黑" panose="020B0503020204020204" pitchFamily="34" charset="-122"/>
                <a:ea typeface="微软雅黑" panose="020B0503020204020204" pitchFamily="34" charset="-122"/>
              </a:rPr>
              <a:t>s</a:t>
            </a:r>
            <a:r>
              <a:rPr lang="zh-CN" altLang="en-US" sz="2400" dirty="0">
                <a:latin typeface="微软雅黑" panose="020B0503020204020204" pitchFamily="34" charset="-122"/>
                <a:ea typeface="微软雅黑" panose="020B0503020204020204" pitchFamily="34" charset="-122"/>
              </a:rPr>
              <a:t>所有的邻居放到</a:t>
            </a:r>
            <a:r>
              <a:rPr lang="en-US" altLang="zh-CN" sz="2400" dirty="0">
                <a:latin typeface="微软雅黑" panose="020B0503020204020204" pitchFamily="34" charset="-122"/>
                <a:ea typeface="微软雅黑" panose="020B0503020204020204" pitchFamily="34" charset="-122"/>
              </a:rPr>
              <a:t>B</a:t>
            </a:r>
            <a:r>
              <a:rPr lang="zh-CN" altLang="en-US" sz="2400" dirty="0">
                <a:latin typeface="微软雅黑" panose="020B0503020204020204" pitchFamily="34" charset="-122"/>
                <a:ea typeface="微软雅黑" panose="020B0503020204020204" pitchFamily="34" charset="-122"/>
              </a:rPr>
              <a:t>中。此时，邻居到</a:t>
            </a:r>
            <a:r>
              <a:rPr lang="en-US" altLang="zh-CN" sz="2400" dirty="0">
                <a:latin typeface="微软雅黑" panose="020B0503020204020204" pitchFamily="34" charset="-122"/>
                <a:ea typeface="微软雅黑" panose="020B0503020204020204" pitchFamily="34" charset="-122"/>
              </a:rPr>
              <a:t>s</a:t>
            </a:r>
            <a:r>
              <a:rPr lang="zh-CN" altLang="en-US" sz="2400" dirty="0">
                <a:latin typeface="微软雅黑" panose="020B0503020204020204" pitchFamily="34" charset="-122"/>
                <a:ea typeface="微软雅黑" panose="020B0503020204020204" pitchFamily="34" charset="-122"/>
              </a:rPr>
              <a:t>的距离就是直连距离。</a:t>
            </a:r>
            <a:endParaRPr lang="zh-CN" altLang="en-US" sz="2400" dirty="0">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）从</a:t>
            </a:r>
            <a:r>
              <a:rPr lang="en-US" altLang="zh-CN" sz="2400" dirty="0">
                <a:latin typeface="微软雅黑" panose="020B0503020204020204" pitchFamily="34" charset="-122"/>
                <a:ea typeface="微软雅黑" panose="020B0503020204020204" pitchFamily="34" charset="-122"/>
              </a:rPr>
              <a:t>B</a:t>
            </a:r>
            <a:r>
              <a:rPr lang="zh-CN" altLang="en-US" sz="2400" dirty="0">
                <a:latin typeface="微软雅黑" panose="020B0503020204020204" pitchFamily="34" charset="-122"/>
                <a:ea typeface="微软雅黑" panose="020B0503020204020204" pitchFamily="34" charset="-122"/>
              </a:rPr>
              <a:t>中找出距离起点</a:t>
            </a:r>
            <a:r>
              <a:rPr lang="en-US" altLang="zh-CN" sz="2400" dirty="0">
                <a:latin typeface="微软雅黑" panose="020B0503020204020204" pitchFamily="34" charset="-122"/>
                <a:ea typeface="微软雅黑" panose="020B0503020204020204" pitchFamily="34" charset="-122"/>
              </a:rPr>
              <a:t>s</a:t>
            </a:r>
            <a:r>
              <a:rPr lang="zh-CN" altLang="en-US" sz="2400" dirty="0">
                <a:latin typeface="微软雅黑" panose="020B0503020204020204" pitchFamily="34" charset="-122"/>
                <a:ea typeface="微软雅黑" panose="020B0503020204020204" pitchFamily="34" charset="-122"/>
              </a:rPr>
              <a:t>最短的结点</a:t>
            </a:r>
            <a:r>
              <a:rPr lang="en-US" altLang="zh-CN" sz="2400" dirty="0">
                <a:latin typeface="微软雅黑" panose="020B0503020204020204" pitchFamily="34" charset="-122"/>
                <a:ea typeface="微软雅黑" panose="020B0503020204020204" pitchFamily="34" charset="-122"/>
              </a:rPr>
              <a:t>u</a:t>
            </a:r>
            <a:r>
              <a:rPr lang="zh-CN" altLang="en-US" sz="2400" dirty="0">
                <a:latin typeface="微软雅黑" panose="020B0503020204020204" pitchFamily="34" charset="-122"/>
                <a:ea typeface="微软雅黑" panose="020B0503020204020204" pitchFamily="34" charset="-122"/>
              </a:rPr>
              <a:t>，放到</a:t>
            </a:r>
            <a:r>
              <a:rPr lang="en-US" altLang="zh-CN" sz="2400" dirty="0">
                <a:latin typeface="微软雅黑" panose="020B0503020204020204" pitchFamily="34" charset="-122"/>
                <a:ea typeface="微软雅黑" panose="020B0503020204020204" pitchFamily="34" charset="-122"/>
              </a:rPr>
              <a:t>A</a:t>
            </a:r>
            <a:r>
              <a:rPr lang="zh-CN" altLang="en-US" sz="2400" dirty="0">
                <a:latin typeface="微软雅黑" panose="020B0503020204020204" pitchFamily="34" charset="-122"/>
                <a:ea typeface="微软雅黑" panose="020B0503020204020204" pitchFamily="34" charset="-122"/>
              </a:rPr>
              <a:t>中。</a:t>
            </a:r>
            <a:endParaRPr lang="zh-CN" altLang="en-US" sz="2400" dirty="0">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）把</a:t>
            </a:r>
            <a:r>
              <a:rPr lang="en-US" altLang="zh-CN" sz="2400" dirty="0">
                <a:latin typeface="微软雅黑" panose="020B0503020204020204" pitchFamily="34" charset="-122"/>
                <a:ea typeface="微软雅黑" panose="020B0503020204020204" pitchFamily="34" charset="-122"/>
              </a:rPr>
              <a:t>u</a:t>
            </a:r>
            <a:r>
              <a:rPr lang="zh-CN" altLang="en-US" sz="2400" dirty="0">
                <a:latin typeface="微软雅黑" panose="020B0503020204020204" pitchFamily="34" charset="-122"/>
                <a:ea typeface="微软雅黑" panose="020B0503020204020204" pitchFamily="34" charset="-122"/>
              </a:rPr>
              <a:t>所有的新邻居放到</a:t>
            </a:r>
            <a:r>
              <a:rPr lang="en-US" altLang="zh-CN" sz="2400" dirty="0">
                <a:latin typeface="微软雅黑" panose="020B0503020204020204" pitchFamily="34" charset="-122"/>
                <a:ea typeface="微软雅黑" panose="020B0503020204020204" pitchFamily="34" charset="-122"/>
              </a:rPr>
              <a:t>B</a:t>
            </a:r>
            <a:r>
              <a:rPr lang="zh-CN" altLang="en-US" sz="2400" dirty="0">
                <a:latin typeface="微软雅黑" panose="020B0503020204020204" pitchFamily="34" charset="-122"/>
                <a:ea typeface="微软雅黑" panose="020B0503020204020204" pitchFamily="34" charset="-122"/>
              </a:rPr>
              <a:t>中。显然，</a:t>
            </a:r>
            <a:r>
              <a:rPr lang="en-US" altLang="zh-CN" sz="2400" dirty="0">
                <a:latin typeface="微软雅黑" panose="020B0503020204020204" pitchFamily="34" charset="-122"/>
                <a:ea typeface="微软雅黑" panose="020B0503020204020204" pitchFamily="34" charset="-122"/>
              </a:rPr>
              <a:t>u</a:t>
            </a:r>
            <a:r>
              <a:rPr lang="zh-CN" altLang="en-US" sz="2400" dirty="0">
                <a:latin typeface="微软雅黑" panose="020B0503020204020204" pitchFamily="34" charset="-122"/>
                <a:ea typeface="微软雅黑" panose="020B0503020204020204" pitchFamily="34" charset="-122"/>
              </a:rPr>
              <a:t>的每一条边都连接了一个邻居，每个新邻居都要加进去。其中</a:t>
            </a:r>
            <a:r>
              <a:rPr lang="en-US" altLang="zh-CN" sz="2400" dirty="0">
                <a:latin typeface="微软雅黑" panose="020B0503020204020204" pitchFamily="34" charset="-122"/>
                <a:ea typeface="微软雅黑" panose="020B0503020204020204" pitchFamily="34" charset="-122"/>
              </a:rPr>
              <a:t>u</a:t>
            </a:r>
            <a:r>
              <a:rPr lang="zh-CN" altLang="en-US" sz="2400" dirty="0">
                <a:latin typeface="微软雅黑" panose="020B0503020204020204" pitchFamily="34" charset="-122"/>
                <a:ea typeface="微软雅黑" panose="020B0503020204020204" pitchFamily="34" charset="-122"/>
              </a:rPr>
              <a:t>的一个新邻居</a:t>
            </a:r>
            <a:r>
              <a:rPr lang="en-US" altLang="zh-CN" sz="2400" dirty="0">
                <a:latin typeface="微软雅黑" panose="020B0503020204020204" pitchFamily="34" charset="-122"/>
                <a:ea typeface="微软雅黑" panose="020B0503020204020204" pitchFamily="34" charset="-122"/>
              </a:rPr>
              <a:t>v</a:t>
            </a:r>
            <a:r>
              <a:rPr lang="zh-CN" altLang="en-US" sz="2400" dirty="0">
                <a:latin typeface="微软雅黑" panose="020B0503020204020204" pitchFamily="34" charset="-122"/>
                <a:ea typeface="微软雅黑" panose="020B0503020204020204" pitchFamily="34" charset="-122"/>
              </a:rPr>
              <a:t>，它到</a:t>
            </a:r>
            <a:r>
              <a:rPr lang="en-US" altLang="zh-CN" sz="2400" dirty="0">
                <a:latin typeface="微软雅黑" panose="020B0503020204020204" pitchFamily="34" charset="-122"/>
                <a:ea typeface="微软雅黑" panose="020B0503020204020204" pitchFamily="34" charset="-122"/>
              </a:rPr>
              <a:t>s</a:t>
            </a:r>
            <a:r>
              <a:rPr lang="zh-CN" altLang="en-US" sz="2400" dirty="0">
                <a:latin typeface="微软雅黑" panose="020B0503020204020204" pitchFamily="34" charset="-122"/>
                <a:ea typeface="微软雅黑" panose="020B0503020204020204" pitchFamily="34" charset="-122"/>
              </a:rPr>
              <a:t>的距离</a:t>
            </a:r>
            <a:r>
              <a:rPr lang="en-US" altLang="zh-CN" sz="2400" dirty="0">
                <a:latin typeface="微软雅黑" panose="020B0503020204020204" pitchFamily="34" charset="-122"/>
                <a:ea typeface="微软雅黑" panose="020B0503020204020204" pitchFamily="34" charset="-122"/>
              </a:rPr>
              <a:t>dis(s, v)</a:t>
            </a:r>
            <a:r>
              <a:rPr lang="zh-CN" altLang="en-US" sz="2400" dirty="0">
                <a:latin typeface="微软雅黑" panose="020B0503020204020204" pitchFamily="34" charset="-122"/>
                <a:ea typeface="微软雅黑" panose="020B0503020204020204" pitchFamily="34" charset="-122"/>
              </a:rPr>
              <a:t>等于</a:t>
            </a:r>
            <a:r>
              <a:rPr lang="en-US" altLang="zh-CN" sz="2400" dirty="0">
                <a:latin typeface="微软雅黑" panose="020B0503020204020204" pitchFamily="34" charset="-122"/>
                <a:ea typeface="微软雅黑" panose="020B0503020204020204" pitchFamily="34" charset="-122"/>
              </a:rPr>
              <a:t>dis(s, u) + dis(u, v)</a:t>
            </a:r>
            <a:r>
              <a:rPr lang="zh-CN" altLang="en-US"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rPr>
              <a:t>）重复</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，直到</a:t>
            </a:r>
            <a:r>
              <a:rPr lang="en-US" altLang="zh-CN" sz="2400" dirty="0">
                <a:latin typeface="微软雅黑" panose="020B0503020204020204" pitchFamily="34" charset="-122"/>
                <a:ea typeface="微软雅黑" panose="020B0503020204020204" pitchFamily="34" charset="-122"/>
              </a:rPr>
              <a:t>B</a:t>
            </a:r>
            <a:r>
              <a:rPr lang="zh-CN" altLang="en-US" sz="2400" dirty="0">
                <a:latin typeface="微软雅黑" panose="020B0503020204020204" pitchFamily="34" charset="-122"/>
                <a:ea typeface="微软雅黑" panose="020B0503020204020204" pitchFamily="34" charset="-122"/>
              </a:rPr>
              <a:t>为空时，结束。</a:t>
            </a:r>
            <a:endParaRPr lang="zh-CN" altLang="en-US" sz="2400" dirty="0">
              <a:latin typeface="微软雅黑" panose="020B0503020204020204" pitchFamily="34" charset="-122"/>
              <a:ea typeface="微软雅黑" panose="020B0503020204020204" pitchFamily="34" charset="-122"/>
            </a:endParaRPr>
          </a:p>
          <a:p>
            <a:pPr>
              <a:lnSpc>
                <a:spcPct val="150000"/>
              </a:lnSpc>
              <a:spcBef>
                <a:spcPts val="0"/>
              </a:spcBef>
            </a:pPr>
            <a:endParaRPr lang="zh-CN" altLang="en-US" sz="2400" dirty="0">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ransition spd="slow" advClick="0" advTm="62225">
    <p:push dir="u"/>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533070" y="763175"/>
            <a:ext cx="10069306" cy="584775"/>
          </a:xfrm>
          <a:prstGeom prst="rect">
            <a:avLst/>
          </a:prstGeom>
          <a:noFill/>
        </p:spPr>
        <p:txBody>
          <a:bodyPr wrap="square">
            <a:spAutoFit/>
          </a:bodyPr>
          <a:lstStyle>
            <a:defPPr>
              <a:defRPr lang="en-US"/>
            </a:defPPr>
            <a:lvl1pPr marL="0" indent="0">
              <a:buFont typeface="Wingdings" panose="05000000000000000000" pitchFamily="2" charset="2"/>
              <a:buNone/>
              <a:defRPr sz="3200" spc="300">
                <a:solidFill>
                  <a:srgbClr val="FF0000"/>
                </a:solidFill>
                <a:latin typeface="微软雅黑" panose="020B0503020204020204" pitchFamily="34" charset="-122"/>
                <a:ea typeface="微软雅黑" panose="020B0503020204020204" pitchFamily="34" charset="-122"/>
              </a:defRPr>
            </a:lvl1pPr>
          </a:lstStyle>
          <a:p>
            <a:r>
              <a:rPr lang="zh-CN" altLang="en-US" dirty="0"/>
              <a:t>优先队列</a:t>
            </a:r>
            <a:endParaRPr lang="zh-CN" altLang="en-US" dirty="0"/>
          </a:p>
        </p:txBody>
      </p:sp>
      <p:sp>
        <p:nvSpPr>
          <p:cNvPr id="10" name="标题 1"/>
          <p:cNvSpPr txBox="1">
            <a:spLocks noChangeArrowheads="1"/>
          </p:cNvSpPr>
          <p:nvPr/>
        </p:nvSpPr>
        <p:spPr>
          <a:xfrm>
            <a:off x="1072625" y="1679575"/>
            <a:ext cx="4032250" cy="4699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endParaRPr lang="zh-CN" altLang="en-US" sz="1400" dirty="0">
              <a:solidFill>
                <a:srgbClr val="FF0000"/>
              </a:solidFill>
            </a:endParaRPr>
          </a:p>
        </p:txBody>
      </p:sp>
      <p:sp>
        <p:nvSpPr>
          <p:cNvPr id="12" name="内容占位符 2"/>
          <p:cNvSpPr txBox="1">
            <a:spLocks noChangeArrowheads="1"/>
          </p:cNvSpPr>
          <p:nvPr/>
        </p:nvSpPr>
        <p:spPr>
          <a:xfrm>
            <a:off x="1158199" y="1795216"/>
            <a:ext cx="9671656" cy="3071201"/>
          </a:xfrm>
          <a:prstGeom prst="rect">
            <a:avLst/>
          </a:prstGeom>
        </p:spPr>
        <p:txBody>
          <a:bodyPr/>
          <a:lstStyle>
            <a:lvl1pPr marL="457200" indent="-457200" algn="l" defTabSz="1828800" rtl="0" eaLnBrk="1" latinLnBrk="0" hangingPunct="1">
              <a:lnSpc>
                <a:spcPct val="90000"/>
              </a:lnSpc>
              <a:spcBef>
                <a:spcPct val="401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ct val="20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ct val="20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7365"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1765"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a:lstStyle>
          <a:p>
            <a:pPr>
              <a:lnSpc>
                <a:spcPct val="150000"/>
              </a:lnSpc>
              <a:spcBef>
                <a:spcPts val="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每次往</a:t>
            </a:r>
            <a:r>
              <a:rPr lang="en-US" altLang="zh-CN" sz="2400" dirty="0">
                <a:latin typeface="微软雅黑" panose="020B0503020204020204" pitchFamily="34" charset="-122"/>
                <a:ea typeface="微软雅黑" panose="020B0503020204020204" pitchFamily="34" charset="-122"/>
              </a:rPr>
              <a:t>B</a:t>
            </a:r>
            <a:r>
              <a:rPr lang="zh-CN" altLang="en-US" sz="2400" dirty="0">
                <a:latin typeface="微软雅黑" panose="020B0503020204020204" pitchFamily="34" charset="-122"/>
                <a:ea typeface="微软雅黑" panose="020B0503020204020204" pitchFamily="34" charset="-122"/>
              </a:rPr>
              <a:t>中放新数据时，按从小到大的顺序放，用二分法的思路，复杂度是</a:t>
            </a:r>
            <a:r>
              <a:rPr lang="en-US" altLang="zh-CN" sz="2400" dirty="0">
                <a:latin typeface="微软雅黑" panose="020B0503020204020204" pitchFamily="34" charset="-122"/>
                <a:ea typeface="微软雅黑" panose="020B0503020204020204" pitchFamily="34" charset="-122"/>
              </a:rPr>
              <a:t>O(</a:t>
            </a:r>
            <a:r>
              <a:rPr lang="en-US" altLang="zh-CN" sz="2400" dirty="0" err="1">
                <a:latin typeface="微软雅黑" panose="020B0503020204020204" pitchFamily="34" charset="-122"/>
                <a:ea typeface="微软雅黑" panose="020B0503020204020204" pitchFamily="34" charset="-122"/>
              </a:rPr>
              <a:t>logn</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，保证最小的数总在最前面；</a:t>
            </a:r>
            <a:endParaRPr lang="zh-CN" altLang="en-US"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找最小值，直接取</a:t>
            </a:r>
            <a:r>
              <a:rPr lang="en-US" altLang="zh-CN" sz="2400" dirty="0">
                <a:latin typeface="微软雅黑" panose="020B0503020204020204" pitchFamily="34" charset="-122"/>
                <a:ea typeface="微软雅黑" panose="020B0503020204020204" pitchFamily="34" charset="-122"/>
              </a:rPr>
              <a:t>B</a:t>
            </a:r>
            <a:r>
              <a:rPr lang="zh-CN" altLang="en-US" sz="2400" dirty="0">
                <a:latin typeface="微软雅黑" panose="020B0503020204020204" pitchFamily="34" charset="-122"/>
                <a:ea typeface="微软雅黑" panose="020B0503020204020204" pitchFamily="34" charset="-122"/>
              </a:rPr>
              <a:t>的第一个数，复杂度是</a:t>
            </a:r>
            <a:r>
              <a:rPr lang="en-US" altLang="zh-CN" sz="2400" dirty="0">
                <a:latin typeface="微软雅黑" panose="020B0503020204020204" pitchFamily="34" charset="-122"/>
                <a:ea typeface="微软雅黑" panose="020B0503020204020204" pitchFamily="34" charset="-122"/>
              </a:rPr>
              <a:t>O(1)</a:t>
            </a:r>
            <a:r>
              <a:rPr lang="zh-CN" altLang="en-US"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endParaRPr lang="zh-CN" altLang="en-US"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复杂度：用优先队列时，</a:t>
            </a:r>
            <a:r>
              <a:rPr lang="en-US" altLang="zh-CN" sz="2400" dirty="0" err="1">
                <a:latin typeface="微软雅黑" panose="020B0503020204020204" pitchFamily="34" charset="-122"/>
                <a:ea typeface="微软雅黑" panose="020B0503020204020204" pitchFamily="34" charset="-122"/>
              </a:rPr>
              <a:t>Dijkstra</a:t>
            </a:r>
            <a:r>
              <a:rPr lang="zh-CN" altLang="en-US" sz="2400" dirty="0">
                <a:latin typeface="微软雅黑" panose="020B0503020204020204" pitchFamily="34" charset="-122"/>
                <a:ea typeface="微软雅黑" panose="020B0503020204020204" pitchFamily="34" charset="-122"/>
              </a:rPr>
              <a:t>算法的复杂度是</a:t>
            </a:r>
            <a:r>
              <a:rPr lang="en-US" altLang="zh-CN" sz="2400" dirty="0">
                <a:latin typeface="微软雅黑" panose="020B0503020204020204" pitchFamily="34" charset="-122"/>
                <a:ea typeface="微软雅黑" panose="020B0503020204020204" pitchFamily="34" charset="-122"/>
              </a:rPr>
              <a:t>O(</a:t>
            </a:r>
            <a:r>
              <a:rPr lang="en-US" altLang="zh-CN" sz="2400" dirty="0" err="1">
                <a:latin typeface="微软雅黑" panose="020B0503020204020204" pitchFamily="34" charset="-122"/>
                <a:ea typeface="微软雅黑" panose="020B0503020204020204" pitchFamily="34" charset="-122"/>
              </a:rPr>
              <a:t>mlogn</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，是最高效的最短路算法。</a:t>
            </a:r>
            <a:endParaRPr lang="zh-CN" altLang="en-US"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endParaRPr lang="zh-CN" altLang="en-US"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endParaRPr lang="zh-CN" altLang="en-US" sz="2400" dirty="0">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ransition spd="slow" advClick="0" advTm="35033">
    <p:push dir="u"/>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1049255" y="592935"/>
            <a:ext cx="10069306" cy="584775"/>
          </a:xfrm>
          <a:prstGeom prst="rect">
            <a:avLst/>
          </a:prstGeom>
          <a:noFill/>
        </p:spPr>
        <p:txBody>
          <a:bodyPr wrap="square">
            <a:spAutoFit/>
          </a:bodyPr>
          <a:lstStyle>
            <a:defPPr>
              <a:defRPr lang="en-US"/>
            </a:defPPr>
            <a:lvl1pPr marL="0" indent="0">
              <a:buFont typeface="Wingdings" panose="05000000000000000000" pitchFamily="2" charset="2"/>
              <a:buNone/>
              <a:defRPr sz="3200" spc="300">
                <a:solidFill>
                  <a:srgbClr val="FF0000"/>
                </a:solidFill>
                <a:latin typeface="微软雅黑" panose="020B0503020204020204" pitchFamily="34" charset="-122"/>
                <a:ea typeface="微软雅黑" panose="020B0503020204020204" pitchFamily="34" charset="-122"/>
              </a:defRPr>
            </a:lvl1pPr>
          </a:lstStyle>
          <a:p>
            <a:r>
              <a:rPr lang="zh-CN" altLang="en-US" dirty="0"/>
              <a:t>边权不能为负</a:t>
            </a:r>
            <a:endParaRPr lang="zh-CN" altLang="en-US" dirty="0"/>
          </a:p>
        </p:txBody>
      </p:sp>
      <p:sp>
        <p:nvSpPr>
          <p:cNvPr id="10" name="标题 1"/>
          <p:cNvSpPr txBox="1">
            <a:spLocks noChangeArrowheads="1"/>
          </p:cNvSpPr>
          <p:nvPr/>
        </p:nvSpPr>
        <p:spPr>
          <a:xfrm>
            <a:off x="1072625" y="1679575"/>
            <a:ext cx="4032250" cy="4699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endParaRPr lang="zh-CN" altLang="en-US" sz="1400" dirty="0">
              <a:solidFill>
                <a:srgbClr val="FF0000"/>
              </a:solidFill>
            </a:endParaRPr>
          </a:p>
        </p:txBody>
      </p:sp>
      <p:sp>
        <p:nvSpPr>
          <p:cNvPr id="12" name="内容占位符 2"/>
          <p:cNvSpPr txBox="1">
            <a:spLocks noChangeArrowheads="1"/>
          </p:cNvSpPr>
          <p:nvPr/>
        </p:nvSpPr>
        <p:spPr>
          <a:xfrm>
            <a:off x="1072625" y="1408536"/>
            <a:ext cx="9909935" cy="3071201"/>
          </a:xfrm>
          <a:prstGeom prst="rect">
            <a:avLst/>
          </a:prstGeom>
        </p:spPr>
        <p:txBody>
          <a:bodyPr/>
          <a:lstStyle>
            <a:lvl1pPr marL="457200" indent="-457200" algn="l" defTabSz="1828800" rtl="0" eaLnBrk="1" latinLnBrk="0" hangingPunct="1">
              <a:lnSpc>
                <a:spcPct val="90000"/>
              </a:lnSpc>
              <a:spcBef>
                <a:spcPct val="401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ct val="20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ct val="20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7365"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1765"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a:lstStyle>
          <a:p>
            <a:pPr>
              <a:lnSpc>
                <a:spcPct val="150000"/>
              </a:lnSpc>
              <a:spcBef>
                <a:spcPts val="0"/>
              </a:spcBef>
              <a:buFont typeface="Wingdings" panose="05000000000000000000" pitchFamily="2" charset="2"/>
              <a:buChar char="ü"/>
            </a:pPr>
            <a:r>
              <a:rPr lang="en-US" altLang="zh-CN" sz="2400" dirty="0" err="1">
                <a:latin typeface="微软雅黑" panose="020B0503020204020204" pitchFamily="34" charset="-122"/>
                <a:ea typeface="微软雅黑" panose="020B0503020204020204" pitchFamily="34" charset="-122"/>
              </a:rPr>
              <a:t>Dijkstra</a:t>
            </a:r>
            <a:r>
              <a:rPr lang="zh-CN" altLang="en-US" sz="2400" dirty="0">
                <a:latin typeface="微软雅黑" panose="020B0503020204020204" pitchFamily="34" charset="-122"/>
                <a:ea typeface="微软雅黑" panose="020B0503020204020204" pitchFamily="34" charset="-122"/>
              </a:rPr>
              <a:t>的局限性是边的权值不能为负数</a:t>
            </a:r>
            <a:endParaRPr lang="en-US" altLang="zh-CN"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r>
              <a:rPr lang="en-US" altLang="zh-CN" sz="2400" dirty="0" err="1">
                <a:latin typeface="微软雅黑" panose="020B0503020204020204" pitchFamily="34" charset="-122"/>
                <a:ea typeface="微软雅黑" panose="020B0503020204020204" pitchFamily="34" charset="-122"/>
              </a:rPr>
              <a:t>Dijkstra</a:t>
            </a:r>
            <a:r>
              <a:rPr lang="zh-CN" altLang="en-US" sz="2400" dirty="0">
                <a:latin typeface="微软雅黑" panose="020B0503020204020204" pitchFamily="34" charset="-122"/>
                <a:ea typeface="微软雅黑" panose="020B0503020204020204" pitchFamily="34" charset="-122"/>
              </a:rPr>
              <a:t>基于</a:t>
            </a:r>
            <a:r>
              <a:rPr lang="en-US" altLang="zh-CN" sz="2400" dirty="0">
                <a:latin typeface="微软雅黑" panose="020B0503020204020204" pitchFamily="34" charset="-122"/>
                <a:ea typeface="微软雅黑" panose="020B0503020204020204" pitchFamily="34" charset="-122"/>
              </a:rPr>
              <a:t>BFS</a:t>
            </a:r>
            <a:r>
              <a:rPr lang="zh-CN" altLang="en-US" sz="2400" dirty="0">
                <a:latin typeface="微软雅黑" panose="020B0503020204020204" pitchFamily="34" charset="-122"/>
                <a:ea typeface="微软雅黑" panose="020B0503020204020204" pitchFamily="34" charset="-122"/>
              </a:rPr>
              <a:t>，计算过程是从起点</a:t>
            </a:r>
            <a:r>
              <a:rPr lang="en-US" altLang="zh-CN" sz="2400" dirty="0">
                <a:latin typeface="微软雅黑" panose="020B0503020204020204" pitchFamily="34" charset="-122"/>
                <a:ea typeface="微软雅黑" panose="020B0503020204020204" pitchFamily="34" charset="-122"/>
              </a:rPr>
              <a:t>s</a:t>
            </a:r>
            <a:r>
              <a:rPr lang="zh-CN" altLang="en-US" sz="2400" dirty="0">
                <a:latin typeface="微软雅黑" panose="020B0503020204020204" pitchFamily="34" charset="-122"/>
                <a:ea typeface="微软雅黑" panose="020B0503020204020204" pitchFamily="34" charset="-122"/>
              </a:rPr>
              <a:t>逐步往外扩散的过程，每扩散一次就用贪心得到到一个点的最短路。</a:t>
            </a:r>
            <a:endParaRPr lang="en-US" altLang="zh-CN"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扩散要求路径越来越长，如果遇到一个负权边，会导致路径变短，使扩散失效。</a:t>
            </a:r>
            <a:endParaRPr lang="zh-CN" altLang="zh-CN" sz="2800" dirty="0">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ransition spd="slow" advClick="0" advTm="32189">
    <p:push dir="u"/>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759459" y="789557"/>
            <a:ext cx="10069306" cy="584775"/>
          </a:xfrm>
          <a:prstGeom prst="rect">
            <a:avLst/>
          </a:prstGeom>
          <a:noFill/>
        </p:spPr>
        <p:txBody>
          <a:bodyPr wrap="square">
            <a:spAutoFit/>
          </a:bodyPr>
          <a:lstStyle>
            <a:defPPr>
              <a:defRPr lang="en-US"/>
            </a:defPPr>
            <a:lvl1pPr marL="0" indent="0">
              <a:buFont typeface="Wingdings" panose="05000000000000000000" pitchFamily="2" charset="2"/>
              <a:buNone/>
              <a:defRPr sz="3200" spc="300">
                <a:solidFill>
                  <a:srgbClr val="FF0000"/>
                </a:solidFill>
                <a:latin typeface="微软雅黑" panose="020B0503020204020204" pitchFamily="34" charset="-122"/>
                <a:ea typeface="微软雅黑" panose="020B0503020204020204" pitchFamily="34" charset="-122"/>
              </a:defRPr>
            </a:lvl1pPr>
          </a:lstStyle>
          <a:p>
            <a:r>
              <a:rPr lang="zh-CN" altLang="en-US" dirty="0"/>
              <a:t>边权不能为负</a:t>
            </a:r>
            <a:endParaRPr lang="zh-CN" altLang="en-US" dirty="0"/>
          </a:p>
        </p:txBody>
      </p:sp>
      <p:sp>
        <p:nvSpPr>
          <p:cNvPr id="10" name="标题 1"/>
          <p:cNvSpPr txBox="1">
            <a:spLocks noChangeArrowheads="1"/>
          </p:cNvSpPr>
          <p:nvPr/>
        </p:nvSpPr>
        <p:spPr>
          <a:xfrm>
            <a:off x="1072625" y="1679575"/>
            <a:ext cx="4032250" cy="4699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endParaRPr lang="zh-CN" altLang="en-US" sz="1400" dirty="0">
              <a:solidFill>
                <a:srgbClr val="FF0000"/>
              </a:solidFill>
            </a:endParaRPr>
          </a:p>
        </p:txBody>
      </p:sp>
      <p:sp>
        <p:nvSpPr>
          <p:cNvPr id="12" name="内容占位符 2"/>
          <p:cNvSpPr txBox="1">
            <a:spLocks noChangeArrowheads="1"/>
          </p:cNvSpPr>
          <p:nvPr/>
        </p:nvSpPr>
        <p:spPr>
          <a:xfrm>
            <a:off x="759459" y="1408536"/>
            <a:ext cx="10528511" cy="3071201"/>
          </a:xfrm>
          <a:prstGeom prst="rect">
            <a:avLst/>
          </a:prstGeom>
        </p:spPr>
        <p:txBody>
          <a:bodyPr/>
          <a:lstStyle>
            <a:lvl1pPr marL="457200" indent="-457200" algn="l" defTabSz="1828800" rtl="0" eaLnBrk="1" latinLnBrk="0" hangingPunct="1">
              <a:lnSpc>
                <a:spcPct val="90000"/>
              </a:lnSpc>
              <a:spcBef>
                <a:spcPct val="401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ct val="20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ct val="20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7365"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1765"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a:lstStyle>
          <a:p>
            <a:pPr>
              <a:lnSpc>
                <a:spcPct val="150000"/>
              </a:lnSpc>
              <a:spcBef>
                <a:spcPts val="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设当前得到</a:t>
            </a:r>
            <a:r>
              <a:rPr lang="en-US" altLang="zh-CN" sz="2400" dirty="0" err="1">
                <a:latin typeface="微软雅黑" panose="020B0503020204020204" pitchFamily="34" charset="-122"/>
                <a:ea typeface="微软雅黑" panose="020B0503020204020204" pitchFamily="34" charset="-122"/>
              </a:rPr>
              <a:t>s→u</a:t>
            </a:r>
            <a:r>
              <a:rPr lang="zh-CN" altLang="en-US" sz="2400" dirty="0">
                <a:latin typeface="微软雅黑" panose="020B0503020204020204" pitchFamily="34" charset="-122"/>
                <a:ea typeface="微软雅黑" panose="020B0503020204020204" pitchFamily="34" charset="-122"/>
              </a:rPr>
              <a:t>的最短路，路径长度为</a:t>
            </a:r>
            <a:r>
              <a:rPr lang="en-US" altLang="zh-CN" sz="2400" dirty="0">
                <a:latin typeface="微软雅黑" panose="020B0503020204020204" pitchFamily="34" charset="-122"/>
                <a:ea typeface="微软雅黑" panose="020B0503020204020204" pitchFamily="34" charset="-122"/>
              </a:rPr>
              <a:t>8</a:t>
            </a:r>
            <a:r>
              <a:rPr lang="zh-CN" altLang="en-US" sz="2400" dirty="0">
                <a:latin typeface="微软雅黑" panose="020B0503020204020204" pitchFamily="34" charset="-122"/>
                <a:ea typeface="微软雅黑" panose="020B0503020204020204" pitchFamily="34" charset="-122"/>
              </a:rPr>
              <a:t>，此时</a:t>
            </a:r>
            <a:r>
              <a:rPr lang="en-US" altLang="zh-CN" sz="2400" dirty="0" err="1">
                <a:latin typeface="微软雅黑" panose="020B0503020204020204" pitchFamily="34" charset="-122"/>
                <a:ea typeface="微软雅黑" panose="020B0503020204020204" pitchFamily="34" charset="-122"/>
              </a:rPr>
              <a:t>s→u</a:t>
            </a:r>
            <a:r>
              <a:rPr lang="zh-CN" altLang="en-US" sz="2400" dirty="0">
                <a:latin typeface="微软雅黑" panose="020B0503020204020204" pitchFamily="34" charset="-122"/>
                <a:ea typeface="微软雅黑" panose="020B0503020204020204" pitchFamily="34" charset="-122"/>
              </a:rPr>
              <a:t>的路径计算已经结束。</a:t>
            </a:r>
            <a:endParaRPr lang="en-US" altLang="zh-CN" sz="2400" dirty="0">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继续扩展</a:t>
            </a:r>
            <a:r>
              <a:rPr lang="en-US" altLang="zh-CN" sz="2400" dirty="0">
                <a:latin typeface="微软雅黑" panose="020B0503020204020204" pitchFamily="34" charset="-122"/>
                <a:ea typeface="微软雅黑" panose="020B0503020204020204" pitchFamily="34" charset="-122"/>
              </a:rPr>
              <a:t>u</a:t>
            </a:r>
            <a:r>
              <a:rPr lang="zh-CN" altLang="en-US" sz="2400" dirty="0">
                <a:latin typeface="微软雅黑" panose="020B0503020204020204" pitchFamily="34" charset="-122"/>
                <a:ea typeface="微软雅黑" panose="020B0503020204020204" pitchFamily="34" charset="-122"/>
              </a:rPr>
              <a:t>的邻居，若</a:t>
            </a:r>
            <a:r>
              <a:rPr lang="en-US" altLang="zh-CN" sz="2400" dirty="0">
                <a:latin typeface="微软雅黑" panose="020B0503020204020204" pitchFamily="34" charset="-122"/>
                <a:ea typeface="微软雅黑" panose="020B0503020204020204" pitchFamily="34" charset="-122"/>
              </a:rPr>
              <a:t>u</a:t>
            </a:r>
            <a:r>
              <a:rPr lang="zh-CN" altLang="en-US" sz="2400" dirty="0">
                <a:latin typeface="微软雅黑" panose="020B0503020204020204" pitchFamily="34" charset="-122"/>
                <a:ea typeface="微软雅黑" panose="020B0503020204020204" pitchFamily="34" charset="-122"/>
              </a:rPr>
              <a:t>到邻居</a:t>
            </a:r>
            <a:r>
              <a:rPr lang="en-US" altLang="zh-CN" sz="2400" dirty="0">
                <a:latin typeface="微软雅黑" panose="020B0503020204020204" pitchFamily="34" charset="-122"/>
                <a:ea typeface="微软雅黑" panose="020B0503020204020204" pitchFamily="34" charset="-122"/>
              </a:rPr>
              <a:t>v</a:t>
            </a:r>
            <a:r>
              <a:rPr lang="zh-CN" altLang="en-US" sz="2400" dirty="0">
                <a:latin typeface="微软雅黑" panose="020B0503020204020204" pitchFamily="34" charset="-122"/>
                <a:ea typeface="微软雅黑" panose="020B0503020204020204" pitchFamily="34" charset="-122"/>
              </a:rPr>
              <a:t>的边权是 </a:t>
            </a:r>
            <a:r>
              <a:rPr lang="en-US" altLang="zh-CN" sz="2400" dirty="0">
                <a:latin typeface="微软雅黑" panose="020B0503020204020204" pitchFamily="34" charset="-122"/>
                <a:ea typeface="微软雅黑" panose="020B0503020204020204" pitchFamily="34" charset="-122"/>
              </a:rPr>
              <a:t>-15</a:t>
            </a:r>
            <a:r>
              <a:rPr lang="zh-CN" altLang="en-US" sz="2400" dirty="0">
                <a:latin typeface="微软雅黑" panose="020B0503020204020204" pitchFamily="34" charset="-122"/>
                <a:ea typeface="微软雅黑" panose="020B0503020204020204" pitchFamily="34" charset="-122"/>
              </a:rPr>
              <a:t>，而</a:t>
            </a:r>
            <a:r>
              <a:rPr lang="en-US" altLang="zh-CN" sz="2400" dirty="0">
                <a:latin typeface="微软雅黑" panose="020B0503020204020204" pitchFamily="34" charset="-122"/>
                <a:ea typeface="微软雅黑" panose="020B0503020204020204" pitchFamily="34" charset="-122"/>
              </a:rPr>
              <a:t>v</a:t>
            </a:r>
            <a:r>
              <a:rPr lang="zh-CN" altLang="en-US" sz="2400" dirty="0">
                <a:latin typeface="微软雅黑" panose="020B0503020204020204" pitchFamily="34" charset="-122"/>
                <a:ea typeface="微软雅黑" panose="020B0503020204020204" pitchFamily="34" charset="-122"/>
              </a:rPr>
              <a:t>到</a:t>
            </a:r>
            <a:r>
              <a:rPr lang="en-US" altLang="zh-CN" sz="2400" dirty="0">
                <a:latin typeface="微软雅黑" panose="020B0503020204020204" pitchFamily="34" charset="-122"/>
                <a:ea typeface="微软雅黑" panose="020B0503020204020204" pitchFamily="34" charset="-122"/>
              </a:rPr>
              <a:t>s</a:t>
            </a:r>
            <a:r>
              <a:rPr lang="zh-CN" altLang="en-US" sz="2400" dirty="0">
                <a:latin typeface="微软雅黑" panose="020B0503020204020204" pitchFamily="34" charset="-122"/>
                <a:ea typeface="微软雅黑" panose="020B0503020204020204" pitchFamily="34" charset="-122"/>
              </a:rPr>
              <a:t>的距离为</a:t>
            </a:r>
            <a:r>
              <a:rPr lang="en-US" altLang="zh-CN" sz="2400" dirty="0">
                <a:latin typeface="微软雅黑" panose="020B0503020204020204" pitchFamily="34" charset="-122"/>
                <a:ea typeface="微软雅黑" panose="020B0503020204020204" pitchFamily="34" charset="-122"/>
              </a:rPr>
              <a:t>20</a:t>
            </a:r>
            <a:r>
              <a:rPr lang="zh-CN" altLang="en-US" sz="2400" dirty="0">
                <a:latin typeface="微软雅黑" panose="020B0503020204020204" pitchFamily="34" charset="-122"/>
                <a:ea typeface="微软雅黑" panose="020B0503020204020204" pitchFamily="34" charset="-122"/>
              </a:rPr>
              <a:t>，那么</a:t>
            </a:r>
            <a:r>
              <a:rPr lang="en-US" altLang="zh-CN" sz="2400" dirty="0">
                <a:latin typeface="微软雅黑" panose="020B0503020204020204" pitchFamily="34" charset="-122"/>
                <a:ea typeface="微软雅黑" panose="020B0503020204020204" pitchFamily="34" charset="-122"/>
              </a:rPr>
              <a:t>u</a:t>
            </a:r>
            <a:r>
              <a:rPr lang="zh-CN" altLang="en-US" sz="2400" dirty="0">
                <a:latin typeface="微软雅黑" panose="020B0503020204020204" pitchFamily="34" charset="-122"/>
                <a:ea typeface="微软雅黑" panose="020B0503020204020204" pitchFamily="34" charset="-122"/>
              </a:rPr>
              <a:t>存在另一条途径</a:t>
            </a:r>
            <a:r>
              <a:rPr lang="en-US" altLang="zh-CN" sz="2400" dirty="0">
                <a:latin typeface="微软雅黑" panose="020B0503020204020204" pitchFamily="34" charset="-122"/>
                <a:ea typeface="微软雅黑" panose="020B0503020204020204" pitchFamily="34" charset="-122"/>
              </a:rPr>
              <a:t>v</a:t>
            </a:r>
            <a:r>
              <a:rPr lang="zh-CN" altLang="en-US" sz="2400" dirty="0">
                <a:latin typeface="微软雅黑" panose="020B0503020204020204" pitchFamily="34" charset="-122"/>
                <a:ea typeface="微软雅黑" panose="020B0503020204020204" pitchFamily="34" charset="-122"/>
              </a:rPr>
              <a:t>到</a:t>
            </a:r>
            <a:r>
              <a:rPr lang="en-US" altLang="zh-CN" sz="2400" dirty="0">
                <a:latin typeface="微软雅黑" panose="020B0503020204020204" pitchFamily="34" charset="-122"/>
                <a:ea typeface="微软雅黑" panose="020B0503020204020204" pitchFamily="34" charset="-122"/>
              </a:rPr>
              <a:t>s</a:t>
            </a:r>
            <a:r>
              <a:rPr lang="zh-CN" altLang="en-US" sz="2400" dirty="0">
                <a:latin typeface="微软雅黑" panose="020B0503020204020204" pitchFamily="34" charset="-122"/>
                <a:ea typeface="微软雅黑" panose="020B0503020204020204" pitchFamily="34" charset="-122"/>
              </a:rPr>
              <a:t>的路径，距离为</a:t>
            </a:r>
            <a:r>
              <a:rPr lang="en-US" altLang="zh-CN" sz="2400" dirty="0">
                <a:latin typeface="微软雅黑" panose="020B0503020204020204" pitchFamily="34" charset="-122"/>
                <a:ea typeface="微软雅黑" panose="020B0503020204020204" pitchFamily="34" charset="-122"/>
              </a:rPr>
              <a:t>20 + (-15) = 5</a:t>
            </a:r>
            <a:r>
              <a:rPr lang="zh-CN" altLang="en-US" sz="2400" dirty="0">
                <a:latin typeface="微软雅黑" panose="020B0503020204020204" pitchFamily="34" charset="-122"/>
                <a:ea typeface="微软雅黑" panose="020B0503020204020204" pitchFamily="34" charset="-122"/>
              </a:rPr>
              <a:t>，这推翻了前面已经得到的长度</a:t>
            </a:r>
            <a:r>
              <a:rPr lang="en-US" altLang="zh-CN" sz="2400" dirty="0">
                <a:latin typeface="微软雅黑" panose="020B0503020204020204" pitchFamily="34" charset="-122"/>
                <a:ea typeface="微软雅黑" panose="020B0503020204020204" pitchFamily="34" charset="-122"/>
              </a:rPr>
              <a:t>8</a:t>
            </a:r>
            <a:r>
              <a:rPr lang="zh-CN" altLang="en-US" sz="2400" dirty="0">
                <a:latin typeface="微软雅黑" panose="020B0503020204020204" pitchFamily="34" charset="-122"/>
                <a:ea typeface="微软雅黑" panose="020B0503020204020204" pitchFamily="34" charset="-122"/>
              </a:rPr>
              <a:t>的最短路，破坏了</a:t>
            </a:r>
            <a:r>
              <a:rPr lang="en-US" altLang="zh-CN" sz="2400" dirty="0">
                <a:latin typeface="微软雅黑" panose="020B0503020204020204" pitchFamily="34" charset="-122"/>
                <a:ea typeface="微软雅黑" panose="020B0503020204020204" pitchFamily="34" charset="-122"/>
              </a:rPr>
              <a:t>BFS</a:t>
            </a:r>
            <a:r>
              <a:rPr lang="zh-CN" altLang="en-US" sz="2400" dirty="0">
                <a:latin typeface="微软雅黑" panose="020B0503020204020204" pitchFamily="34" charset="-122"/>
                <a:ea typeface="微软雅黑" panose="020B0503020204020204" pitchFamily="34" charset="-122"/>
              </a:rPr>
              <a:t>的扩散过程。</a:t>
            </a:r>
            <a:endParaRPr lang="zh-CN" altLang="zh-CN" sz="2800" dirty="0">
              <a:latin typeface="微软雅黑" panose="020B0503020204020204" pitchFamily="34" charset="-122"/>
              <a:ea typeface="微软雅黑" panose="020B0503020204020204" pitchFamily="34" charset="-122"/>
            </a:endParaRPr>
          </a:p>
        </p:txBody>
      </p:sp>
      <p:pic>
        <p:nvPicPr>
          <p:cNvPr id="1026" name="Picture 2" descr="C:\Users\ECUST\AppData\Local\Temp\ksohtml7192\wps1.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090988" y="3990936"/>
            <a:ext cx="3767138" cy="2404153"/>
          </a:xfrm>
          <a:prstGeom prst="rect">
            <a:avLst/>
          </a:prstGeom>
          <a:noFill/>
          <a:extLst>
            <a:ext uri="{909E8E84-426E-40DD-AFC4-6F175D3DCCD1}">
              <a14:hiddenFill xmlns:a14="http://schemas.microsoft.com/office/drawing/2010/main">
                <a:solidFill>
                  <a:srgbClr val="FFFFFF"/>
                </a:solidFill>
              </a14:hiddenFill>
            </a:ext>
          </a:extLst>
        </p:spPr>
      </p:pic>
    </p:spTree>
    <p:custDataLst>
      <p:tags r:id="rId2"/>
    </p:custDataLst>
  </p:cSld>
  <p:clrMapOvr>
    <a:masterClrMapping/>
  </p:clrMapOvr>
  <p:transition spd="slow" advClick="0" advTm="47789">
    <p:push dir="u"/>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681355" y="248920"/>
            <a:ext cx="11217910" cy="541020"/>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2800" dirty="0" smtClean="0">
                <a:solidFill>
                  <a:srgbClr val="C00000"/>
                </a:solidFill>
                <a:effectLst/>
                <a:latin typeface="微软雅黑" panose="020B0503020204020204" pitchFamily="34" charset="-122"/>
                <a:ea typeface="微软雅黑" panose="020B0503020204020204" pitchFamily="34" charset="-122"/>
              </a:rPr>
              <a:t>例题</a:t>
            </a:r>
            <a:r>
              <a:rPr lang="en-US" altLang="zh-CN" sz="2800" dirty="0" smtClean="0">
                <a:solidFill>
                  <a:srgbClr val="C00000"/>
                </a:solidFill>
                <a:effectLst/>
                <a:latin typeface="微软雅黑" panose="020B0503020204020204" pitchFamily="34" charset="-122"/>
                <a:ea typeface="微软雅黑" panose="020B0503020204020204" pitchFamily="34" charset="-122"/>
              </a:rPr>
              <a:t>9.6</a:t>
            </a:r>
            <a:r>
              <a:rPr lang="zh-CN" altLang="en-US" sz="2800" dirty="0" smtClean="0">
                <a:solidFill>
                  <a:srgbClr val="C00000"/>
                </a:solidFill>
                <a:effectLst/>
                <a:latin typeface="微软雅黑" panose="020B0503020204020204" pitchFamily="34" charset="-122"/>
                <a:ea typeface="微软雅黑" panose="020B0503020204020204" pitchFamily="34" charset="-122"/>
              </a:rPr>
              <a:t>：</a:t>
            </a:r>
            <a:r>
              <a:rPr lang="zh-CN" altLang="en-US" sz="2800" dirty="0">
                <a:solidFill>
                  <a:srgbClr val="C00000"/>
                </a:solidFill>
                <a:effectLst/>
                <a:latin typeface="微软雅黑" panose="020B0503020204020204" pitchFamily="34" charset="-122"/>
                <a:ea typeface="微软雅黑" panose="020B0503020204020204" pitchFamily="34" charset="-122"/>
              </a:rPr>
              <a:t>单源最短</a:t>
            </a:r>
            <a:r>
              <a:rPr lang="zh-CN" altLang="en-US" sz="2800" dirty="0" smtClean="0">
                <a:solidFill>
                  <a:srgbClr val="C00000"/>
                </a:solidFill>
                <a:effectLst/>
                <a:latin typeface="微软雅黑" panose="020B0503020204020204" pitchFamily="34" charset="-122"/>
                <a:ea typeface="微软雅黑" panose="020B0503020204020204" pitchFamily="34" charset="-122"/>
              </a:rPr>
              <a:t>路径   </a:t>
            </a:r>
            <a:r>
              <a:rPr lang="en-US" altLang="zh-CN" sz="2000" dirty="0" smtClean="0">
                <a:solidFill>
                  <a:srgbClr val="C00000"/>
                </a:solidFill>
                <a:effectLst/>
                <a:latin typeface="微软雅黑" panose="020B0503020204020204" pitchFamily="34" charset="-122"/>
                <a:ea typeface="微软雅黑" panose="020B0503020204020204" pitchFamily="34" charset="-122"/>
              </a:rPr>
              <a:t>https</a:t>
            </a:r>
            <a:r>
              <a:rPr lang="en-US" altLang="zh-CN" sz="2000" dirty="0">
                <a:solidFill>
                  <a:srgbClr val="C00000"/>
                </a:solidFill>
                <a:effectLst/>
                <a:latin typeface="微软雅黑" panose="020B0503020204020204" pitchFamily="34" charset="-122"/>
                <a:ea typeface="微软雅黑" panose="020B0503020204020204" pitchFamily="34" charset="-122"/>
              </a:rPr>
              <a:t>://www.luogu.com.cn/problem/P4779</a:t>
            </a:r>
            <a:endParaRPr lang="zh-CN" altLang="en-US" sz="1400" dirty="0">
              <a:solidFill>
                <a:srgbClr val="C00000"/>
              </a:solidFill>
              <a:effectLst/>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fld>
            <a:endParaRPr lang="en-US" altLang="zh-CN" b="0" dirty="0">
              <a:solidFill>
                <a:schemeClr val="tx1"/>
              </a:solidFill>
            </a:endParaRPr>
          </a:p>
        </p:txBody>
      </p:sp>
      <p:graphicFrame>
        <p:nvGraphicFramePr>
          <p:cNvPr id="4" name="表格 3"/>
          <p:cNvGraphicFramePr/>
          <p:nvPr>
            <p:custDataLst>
              <p:tags r:id="rId1"/>
            </p:custDataLst>
          </p:nvPr>
        </p:nvGraphicFramePr>
        <p:xfrm>
          <a:off x="586740" y="977900"/>
          <a:ext cx="11013440" cy="5335270"/>
        </p:xfrm>
        <a:graphic>
          <a:graphicData uri="http://schemas.openxmlformats.org/drawingml/2006/table">
            <a:tbl>
              <a:tblPr/>
              <a:tblGrid>
                <a:gridCol w="5590540"/>
                <a:gridCol w="5422900"/>
              </a:tblGrid>
              <a:tr h="2632710">
                <a:tc gridSpan="2">
                  <a:txBody>
                    <a:bodyPr/>
                    <a:lstStyle/>
                    <a:p>
                      <a:pPr>
                        <a:lnSpc>
                          <a:spcPct val="120000"/>
                        </a:lnSpc>
                      </a:pP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问题描述：给定一个</a:t>
                      </a:r>
                      <a:r>
                        <a:rPr lang="en-US"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n</a:t>
                      </a: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个点，</a:t>
                      </a:r>
                      <a:r>
                        <a:rPr lang="en-US"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m</a:t>
                      </a: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条有向边的带非负权图，请你计算从</a:t>
                      </a:r>
                      <a:r>
                        <a:rPr lang="en-US"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s</a:t>
                      </a: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出发，到每个点的距离。数据保证你能从</a:t>
                      </a:r>
                      <a:r>
                        <a:rPr lang="en-US"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s</a:t>
                      </a: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出发到任意点。</a:t>
                      </a:r>
                      <a:endPar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endParaRPr>
                    </a:p>
                    <a:p>
                      <a:pPr>
                        <a:lnSpc>
                          <a:spcPct val="120000"/>
                        </a:lnSpc>
                      </a:pP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输入：输入第一行包含</a:t>
                      </a:r>
                      <a:r>
                        <a:rPr lang="en-US"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3</a:t>
                      </a: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个正整数</a:t>
                      </a:r>
                      <a:r>
                        <a:rPr lang="en-US"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n</a:t>
                      </a: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a:t>
                      </a:r>
                      <a:r>
                        <a:rPr lang="en-US"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m</a:t>
                      </a: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a:t>
                      </a:r>
                      <a:r>
                        <a:rPr lang="en-US"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s</a:t>
                      </a: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。第</a:t>
                      </a:r>
                      <a:r>
                        <a:rPr lang="en-US"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2</a:t>
                      </a: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到</a:t>
                      </a:r>
                      <a:r>
                        <a:rPr lang="en-US"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m+1</a:t>
                      </a: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行每行包含三个正整数</a:t>
                      </a:r>
                      <a:r>
                        <a:rPr lang="en-US"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u</a:t>
                      </a: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a:t>
                      </a:r>
                      <a:r>
                        <a:rPr lang="en-US"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v</a:t>
                      </a: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a:t>
                      </a:r>
                      <a:r>
                        <a:rPr lang="en-US"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w</a:t>
                      </a: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，表示</a:t>
                      </a:r>
                      <a:r>
                        <a:rPr lang="en-US"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u</a:t>
                      </a: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a:t>
                      </a:r>
                      <a:r>
                        <a:rPr lang="en-US"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v</a:t>
                      </a: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之间存在一条距离为</a:t>
                      </a:r>
                      <a:r>
                        <a:rPr lang="en-US"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w</a:t>
                      </a: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的路。</a:t>
                      </a:r>
                      <a:r>
                        <a:rPr lang="en-US"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1≤n≤10</a:t>
                      </a:r>
                      <a:r>
                        <a:rPr lang="en-US" altLang="zh-CN" sz="2400" b="1" kern="1200" baseline="30000" dirty="0" smtClean="0">
                          <a:solidFill>
                            <a:schemeClr val="tx1"/>
                          </a:solidFill>
                          <a:effectLst/>
                          <a:latin typeface="微软雅黑" panose="020B0503020204020204" pitchFamily="34" charset="-122"/>
                          <a:ea typeface="微软雅黑" panose="020B0503020204020204" pitchFamily="34" charset="-122"/>
                          <a:cs typeface="+mn-cs"/>
                        </a:rPr>
                        <a:t>5</a:t>
                      </a: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a:t>
                      </a:r>
                      <a:r>
                        <a:rPr lang="en-US"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1≤m≤2×10</a:t>
                      </a:r>
                      <a:r>
                        <a:rPr lang="en-US" altLang="zh-CN" sz="2400" b="1" kern="1200" baseline="30000" dirty="0" smtClean="0">
                          <a:solidFill>
                            <a:schemeClr val="tx1"/>
                          </a:solidFill>
                          <a:effectLst/>
                          <a:latin typeface="微软雅黑" panose="020B0503020204020204" pitchFamily="34" charset="-122"/>
                          <a:ea typeface="微软雅黑" panose="020B0503020204020204" pitchFamily="34" charset="-122"/>
                          <a:cs typeface="+mn-cs"/>
                        </a:rPr>
                        <a:t>5</a:t>
                      </a: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a:t>
                      </a:r>
                      <a:r>
                        <a:rPr lang="en-US"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1≤u, </a:t>
                      </a:r>
                      <a:r>
                        <a:rPr lang="en-US" altLang="zh-CN" sz="2400" b="1" kern="1200" dirty="0" err="1" smtClean="0">
                          <a:solidFill>
                            <a:schemeClr val="tx1"/>
                          </a:solidFill>
                          <a:effectLst/>
                          <a:latin typeface="微软雅黑" panose="020B0503020204020204" pitchFamily="34" charset="-122"/>
                          <a:ea typeface="微软雅黑" panose="020B0503020204020204" pitchFamily="34" charset="-122"/>
                          <a:cs typeface="+mn-cs"/>
                        </a:rPr>
                        <a:t>v≤n</a:t>
                      </a: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a:t>
                      </a:r>
                      <a:r>
                        <a:rPr lang="en-US"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0≤w≤10</a:t>
                      </a:r>
                      <a:r>
                        <a:rPr lang="en-US" altLang="zh-CN" sz="2400" b="1" kern="1200" baseline="30000" dirty="0" smtClean="0">
                          <a:solidFill>
                            <a:schemeClr val="tx1"/>
                          </a:solidFill>
                          <a:effectLst/>
                          <a:latin typeface="微软雅黑" panose="020B0503020204020204" pitchFamily="34" charset="-122"/>
                          <a:ea typeface="微软雅黑" panose="020B0503020204020204" pitchFamily="34" charset="-122"/>
                          <a:cs typeface="+mn-cs"/>
                        </a:rPr>
                        <a:t>9</a:t>
                      </a: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，所有</a:t>
                      </a:r>
                      <a:r>
                        <a:rPr lang="en-US"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w</a:t>
                      </a: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的和小于</a:t>
                      </a:r>
                      <a:r>
                        <a:rPr lang="en-US"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10</a:t>
                      </a:r>
                      <a:r>
                        <a:rPr lang="en-US" altLang="zh-CN" sz="2400" b="1" kern="1200" baseline="30000" dirty="0" smtClean="0">
                          <a:solidFill>
                            <a:schemeClr val="tx1"/>
                          </a:solidFill>
                          <a:effectLst/>
                          <a:latin typeface="微软雅黑" panose="020B0503020204020204" pitchFamily="34" charset="-122"/>
                          <a:ea typeface="微软雅黑" panose="020B0503020204020204" pitchFamily="34" charset="-122"/>
                          <a:cs typeface="+mn-cs"/>
                        </a:rPr>
                        <a:t>9</a:t>
                      </a: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a:t>
                      </a:r>
                      <a:endPar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endParaRPr>
                    </a:p>
                    <a:p>
                      <a:pPr>
                        <a:lnSpc>
                          <a:spcPct val="120000"/>
                        </a:lnSpc>
                      </a:pP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输出：输出一行，共</a:t>
                      </a:r>
                      <a:r>
                        <a:rPr lang="en-US"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n</a:t>
                      </a: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个数，分别表示从</a:t>
                      </a:r>
                      <a:r>
                        <a:rPr lang="en-US"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s</a:t>
                      </a: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到编号为</a:t>
                      </a:r>
                      <a:r>
                        <a:rPr lang="en-US"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1∼n</a:t>
                      </a:r>
                      <a:r>
                        <a:rPr lang="zh-CN" altLang="zh-CN" sz="2400" b="1" kern="1200" dirty="0" smtClean="0">
                          <a:solidFill>
                            <a:schemeClr val="tx1"/>
                          </a:solidFill>
                          <a:effectLst/>
                          <a:latin typeface="微软雅黑" panose="020B0503020204020204" pitchFamily="34" charset="-122"/>
                          <a:ea typeface="微软雅黑" panose="020B0503020204020204" pitchFamily="34" charset="-122"/>
                          <a:cs typeface="+mn-cs"/>
                        </a:rPr>
                        <a:t>的最短距离，用空格隔开。</a:t>
                      </a:r>
                      <a:endParaRPr lang="zh-CN" altLang="en-US" sz="4000" b="1" dirty="0">
                        <a:latin typeface="微软雅黑" panose="020B0503020204020204" pitchFamily="34" charset="-122"/>
                        <a:ea typeface="微软雅黑" panose="020B0503020204020204" pitchFamily="34"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lgn="ctr">
                      <a:solidFill>
                        <a:srgbClr val="000008"/>
                      </a:solidFill>
                      <a:prstDash val="solid"/>
                      <a:round/>
                      <a:headEnd type="none" w="med" len="med"/>
                      <a:tailEnd type="none" w="med" len="med"/>
                    </a:lnB>
                    <a:noFill/>
                  </a:tcPr>
                </a:tc>
                <a:tc hMerge="1">
                  <a:tcPr>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r>
              <a:tr h="2702560">
                <a:tc>
                  <a:txBody>
                    <a:bodyPr/>
                    <a:lstStyle/>
                    <a:p>
                      <a:pPr algn="just">
                        <a:spcAft>
                          <a:spcPts val="0"/>
                        </a:spcAft>
                      </a:pPr>
                      <a:r>
                        <a:rPr lang="zh-CN" sz="2000" b="0" kern="100" dirty="0">
                          <a:effectLst/>
                          <a:latin typeface="Times New Roman" panose="02020603050405020304" pitchFamily="18" charset="0"/>
                          <a:ea typeface="宋体" panose="02010600030101010101" pitchFamily="2" charset="-122"/>
                          <a:cs typeface="Times New Roman" panose="02020603050405020304" pitchFamily="18" charset="0"/>
                        </a:rPr>
                        <a:t>输入样例：</a:t>
                      </a:r>
                      <a:endParaRPr lang="zh-CN" sz="2000" b="1" kern="2200" dirty="0">
                        <a:effectLst/>
                        <a:latin typeface="Calibri" panose="020F0502020204030204" charset="0"/>
                        <a:ea typeface="宋体" panose="02010600030101010101" pitchFamily="2" charset="-122"/>
                        <a:cs typeface="Times New Roman" panose="02020603050405020304" pitchFamily="18" charset="0"/>
                      </a:endParaRPr>
                    </a:p>
                    <a:p>
                      <a:pPr algn="just">
                        <a:spcAft>
                          <a:spcPts val="0"/>
                        </a:spcAft>
                      </a:pPr>
                      <a:r>
                        <a:rPr lang="en-US" sz="2000" b="0" kern="100" dirty="0">
                          <a:effectLst/>
                          <a:latin typeface="Times New Roman" panose="02020603050405020304" pitchFamily="18" charset="0"/>
                          <a:ea typeface="宋体" panose="02010600030101010101" pitchFamily="2" charset="-122"/>
                          <a:cs typeface="Times New Roman" panose="02020603050405020304" pitchFamily="18" charset="0"/>
                        </a:rPr>
                        <a:t>4 6 1</a:t>
                      </a:r>
                      <a:endParaRPr lang="zh-CN" sz="2000" b="1" kern="2200" dirty="0">
                        <a:effectLst/>
                        <a:latin typeface="Calibri" panose="020F0502020204030204" charset="0"/>
                        <a:ea typeface="宋体" panose="02010600030101010101" pitchFamily="2" charset="-122"/>
                        <a:cs typeface="Times New Roman" panose="02020603050405020304" pitchFamily="18" charset="0"/>
                      </a:endParaRPr>
                    </a:p>
                    <a:p>
                      <a:pPr algn="just">
                        <a:spcAft>
                          <a:spcPts val="0"/>
                        </a:spcAft>
                      </a:pPr>
                      <a:r>
                        <a:rPr lang="en-US" sz="2000" b="0" kern="100" dirty="0">
                          <a:effectLst/>
                          <a:latin typeface="Times New Roman" panose="02020603050405020304" pitchFamily="18" charset="0"/>
                          <a:ea typeface="宋体" panose="02010600030101010101" pitchFamily="2" charset="-122"/>
                          <a:cs typeface="Times New Roman" panose="02020603050405020304" pitchFamily="18" charset="0"/>
                        </a:rPr>
                        <a:t>1 2 2</a:t>
                      </a:r>
                      <a:endParaRPr lang="zh-CN" sz="2000" b="1" kern="2200" dirty="0">
                        <a:effectLst/>
                        <a:latin typeface="Calibri" panose="020F0502020204030204" charset="0"/>
                        <a:ea typeface="宋体" panose="02010600030101010101" pitchFamily="2" charset="-122"/>
                        <a:cs typeface="Times New Roman" panose="02020603050405020304" pitchFamily="18" charset="0"/>
                      </a:endParaRPr>
                    </a:p>
                    <a:p>
                      <a:pPr algn="just">
                        <a:spcAft>
                          <a:spcPts val="0"/>
                        </a:spcAft>
                      </a:pPr>
                      <a:r>
                        <a:rPr lang="en-US" sz="2000" b="0" kern="100" dirty="0">
                          <a:effectLst/>
                          <a:latin typeface="Times New Roman" panose="02020603050405020304" pitchFamily="18" charset="0"/>
                          <a:ea typeface="宋体" panose="02010600030101010101" pitchFamily="2" charset="-122"/>
                          <a:cs typeface="Times New Roman" panose="02020603050405020304" pitchFamily="18" charset="0"/>
                        </a:rPr>
                        <a:t>2 3 2</a:t>
                      </a:r>
                      <a:endParaRPr lang="zh-CN" sz="2000" b="1" kern="2200" dirty="0">
                        <a:effectLst/>
                        <a:latin typeface="Calibri" panose="020F0502020204030204" charset="0"/>
                        <a:ea typeface="宋体" panose="02010600030101010101" pitchFamily="2" charset="-122"/>
                        <a:cs typeface="Times New Roman" panose="02020603050405020304" pitchFamily="18" charset="0"/>
                      </a:endParaRPr>
                    </a:p>
                    <a:p>
                      <a:pPr algn="just">
                        <a:spcAft>
                          <a:spcPts val="0"/>
                        </a:spcAft>
                      </a:pPr>
                      <a:r>
                        <a:rPr lang="en-US" sz="2000" b="0" kern="100" dirty="0">
                          <a:effectLst/>
                          <a:latin typeface="Times New Roman" panose="02020603050405020304" pitchFamily="18" charset="0"/>
                          <a:ea typeface="宋体" panose="02010600030101010101" pitchFamily="2" charset="-122"/>
                          <a:cs typeface="Times New Roman" panose="02020603050405020304" pitchFamily="18" charset="0"/>
                        </a:rPr>
                        <a:t>2 4 1</a:t>
                      </a:r>
                      <a:endParaRPr lang="zh-CN" sz="2000" b="1" kern="2200" dirty="0">
                        <a:effectLst/>
                        <a:latin typeface="Calibri" panose="020F0502020204030204" charset="0"/>
                        <a:ea typeface="宋体" panose="02010600030101010101" pitchFamily="2" charset="-122"/>
                        <a:cs typeface="Times New Roman" panose="02020603050405020304" pitchFamily="18" charset="0"/>
                      </a:endParaRPr>
                    </a:p>
                    <a:p>
                      <a:pPr algn="just">
                        <a:spcAft>
                          <a:spcPts val="0"/>
                        </a:spcAft>
                      </a:pPr>
                      <a:r>
                        <a:rPr lang="en-US" sz="2000" b="0" kern="100" dirty="0">
                          <a:effectLst/>
                          <a:latin typeface="Times New Roman" panose="02020603050405020304" pitchFamily="18" charset="0"/>
                          <a:ea typeface="宋体" panose="02010600030101010101" pitchFamily="2" charset="-122"/>
                          <a:cs typeface="Times New Roman" panose="02020603050405020304" pitchFamily="18" charset="0"/>
                        </a:rPr>
                        <a:t>1 3 5</a:t>
                      </a:r>
                      <a:endParaRPr lang="zh-CN" sz="2000" b="1" kern="2200" dirty="0">
                        <a:effectLst/>
                        <a:latin typeface="Calibri" panose="020F0502020204030204" charset="0"/>
                        <a:ea typeface="宋体" panose="02010600030101010101" pitchFamily="2" charset="-122"/>
                        <a:cs typeface="Times New Roman" panose="02020603050405020304" pitchFamily="18" charset="0"/>
                      </a:endParaRPr>
                    </a:p>
                    <a:p>
                      <a:pPr algn="just">
                        <a:spcAft>
                          <a:spcPts val="0"/>
                        </a:spcAft>
                      </a:pPr>
                      <a:r>
                        <a:rPr lang="en-US" sz="2000" b="0" kern="100" dirty="0">
                          <a:effectLst/>
                          <a:latin typeface="Times New Roman" panose="02020603050405020304" pitchFamily="18" charset="0"/>
                          <a:ea typeface="宋体" panose="02010600030101010101" pitchFamily="2" charset="-122"/>
                          <a:cs typeface="Times New Roman" panose="02020603050405020304" pitchFamily="18" charset="0"/>
                        </a:rPr>
                        <a:t>3 4 3</a:t>
                      </a:r>
                      <a:endParaRPr lang="zh-CN" sz="2000" b="1" kern="2200" dirty="0">
                        <a:effectLst/>
                        <a:latin typeface="Calibri" panose="020F0502020204030204" charset="0"/>
                        <a:ea typeface="宋体" panose="02010600030101010101" pitchFamily="2" charset="-122"/>
                        <a:cs typeface="Times New Roman" panose="02020603050405020304" pitchFamily="18" charset="0"/>
                      </a:endParaRPr>
                    </a:p>
                    <a:p>
                      <a:pPr algn="just">
                        <a:spcAft>
                          <a:spcPts val="0"/>
                        </a:spcAft>
                      </a:pPr>
                      <a:r>
                        <a:rPr lang="en-US" sz="2000" b="0" kern="100" dirty="0">
                          <a:effectLst/>
                          <a:latin typeface="Times New Roman" panose="02020603050405020304" pitchFamily="18" charset="0"/>
                          <a:ea typeface="宋体" panose="02010600030101010101" pitchFamily="2" charset="-122"/>
                          <a:cs typeface="Times New Roman" panose="02020603050405020304" pitchFamily="18" charset="0"/>
                        </a:rPr>
                        <a:t>1 4 4</a:t>
                      </a:r>
                      <a:endParaRPr lang="zh-CN" sz="2000" b="1" kern="22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gn="just">
                        <a:spcAft>
                          <a:spcPts val="0"/>
                        </a:spcAft>
                      </a:pPr>
                      <a:r>
                        <a:rPr lang="zh-CN" sz="2000" b="0" kern="100" dirty="0">
                          <a:effectLst/>
                          <a:latin typeface="Times New Roman" panose="02020603050405020304" pitchFamily="18" charset="0"/>
                          <a:ea typeface="宋体" panose="02010600030101010101" pitchFamily="2" charset="-122"/>
                          <a:cs typeface="Times New Roman" panose="02020603050405020304" pitchFamily="18" charset="0"/>
                        </a:rPr>
                        <a:t>输出样例：</a:t>
                      </a:r>
                      <a:endParaRPr lang="zh-CN" sz="2000" b="1" kern="2200" dirty="0">
                        <a:effectLst/>
                        <a:latin typeface="Calibri" panose="020F0502020204030204" charset="0"/>
                        <a:ea typeface="宋体" panose="02010600030101010101" pitchFamily="2" charset="-122"/>
                        <a:cs typeface="Times New Roman" panose="02020603050405020304" pitchFamily="18" charset="0"/>
                      </a:endParaRPr>
                    </a:p>
                    <a:p>
                      <a:pPr algn="just">
                        <a:spcAft>
                          <a:spcPts val="0"/>
                        </a:spcAft>
                      </a:pPr>
                      <a:r>
                        <a:rPr lang="en-US" sz="2000" b="0" kern="100" dirty="0">
                          <a:effectLst/>
                          <a:latin typeface="Times New Roman" panose="02020603050405020304" pitchFamily="18" charset="0"/>
                          <a:ea typeface="宋体" panose="02010600030101010101" pitchFamily="2" charset="-122"/>
                          <a:cs typeface="Times New Roman" panose="02020603050405020304" pitchFamily="18" charset="0"/>
                        </a:rPr>
                        <a:t>0 2 4 3</a:t>
                      </a:r>
                      <a:endParaRPr lang="zh-CN" sz="2000" b="1" kern="22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80440"/>
    </mc:Choice>
    <mc:Fallback>
      <p:transition spd="slow" advTm="80440"/>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5"/>
          <p:cNvSpPr>
            <a:spLocks noChangeArrowheads="1"/>
          </p:cNvSpPr>
          <p:nvPr/>
        </p:nvSpPr>
        <p:spPr bwMode="white">
          <a:xfrm>
            <a:off x="3164205" y="2465070"/>
            <a:ext cx="586359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3600" b="1">
                <a:solidFill>
                  <a:schemeClr val="tx2"/>
                </a:solidFill>
                <a:latin typeface="Verdana" panose="020B0604030504040204" pitchFamily="34" charset="0"/>
              </a:defRPr>
            </a:lvl1pPr>
            <a:lvl2pPr algn="ctr">
              <a:defRPr sz="3600" b="1">
                <a:solidFill>
                  <a:schemeClr val="tx2"/>
                </a:solidFill>
                <a:latin typeface="Verdana" panose="020B0604030504040204" pitchFamily="34" charset="0"/>
              </a:defRPr>
            </a:lvl2pPr>
            <a:lvl3pPr algn="ctr">
              <a:defRPr sz="3600" b="1">
                <a:solidFill>
                  <a:schemeClr val="tx2"/>
                </a:solidFill>
                <a:latin typeface="Verdana" panose="020B0604030504040204" pitchFamily="34" charset="0"/>
              </a:defRPr>
            </a:lvl3pPr>
            <a:lvl4pPr algn="ctr">
              <a:defRPr sz="3600" b="1">
                <a:solidFill>
                  <a:schemeClr val="tx2"/>
                </a:solidFill>
                <a:latin typeface="Verdana" panose="020B0604030504040204" pitchFamily="34" charset="0"/>
              </a:defRPr>
            </a:lvl4pPr>
            <a:lvl5pPr algn="ctr">
              <a:defRPr sz="3600" b="1">
                <a:solidFill>
                  <a:schemeClr val="tx2"/>
                </a:solidFill>
                <a:latin typeface="Verdana" panose="020B0604030504040204" pitchFamily="34" charset="0"/>
              </a:defRPr>
            </a:lvl5pPr>
            <a:lvl6pPr marL="457200" algn="ctr" fontAlgn="base">
              <a:spcBef>
                <a:spcPct val="0"/>
              </a:spcBef>
              <a:spcAft>
                <a:spcPct val="0"/>
              </a:spcAft>
              <a:defRPr sz="3600" b="1">
                <a:solidFill>
                  <a:schemeClr val="tx2"/>
                </a:solidFill>
                <a:latin typeface="Verdana" panose="020B0604030504040204" pitchFamily="34" charset="0"/>
              </a:defRPr>
            </a:lvl6pPr>
            <a:lvl7pPr marL="914400" algn="ctr" fontAlgn="base">
              <a:spcBef>
                <a:spcPct val="0"/>
              </a:spcBef>
              <a:spcAft>
                <a:spcPct val="0"/>
              </a:spcAft>
              <a:defRPr sz="3600" b="1">
                <a:solidFill>
                  <a:schemeClr val="tx2"/>
                </a:solidFill>
                <a:latin typeface="Verdana" panose="020B0604030504040204" pitchFamily="34" charset="0"/>
              </a:defRPr>
            </a:lvl7pPr>
            <a:lvl8pPr marL="1371600" algn="ctr" fontAlgn="base">
              <a:spcBef>
                <a:spcPct val="0"/>
              </a:spcBef>
              <a:spcAft>
                <a:spcPct val="0"/>
              </a:spcAft>
              <a:defRPr sz="3600" b="1">
                <a:solidFill>
                  <a:schemeClr val="tx2"/>
                </a:solidFill>
                <a:latin typeface="Verdana" panose="020B0604030504040204" pitchFamily="34" charset="0"/>
              </a:defRPr>
            </a:lvl8pPr>
            <a:lvl9pPr marL="1828800" algn="ctr" fontAlgn="base">
              <a:spcBef>
                <a:spcPct val="0"/>
              </a:spcBef>
              <a:spcAft>
                <a:spcPct val="0"/>
              </a:spcAft>
              <a:defRPr sz="3600" b="1">
                <a:solidFill>
                  <a:schemeClr val="tx2"/>
                </a:solidFill>
                <a:latin typeface="Verdana" panose="020B0604030504040204" pitchFamily="34" charset="0"/>
              </a:defRPr>
            </a:lvl9pPr>
          </a:lstStyle>
          <a:p>
            <a:r>
              <a:rPr lang="en-US" altLang="zh-CN" sz="6600" spc="50" dirty="0" smtClean="0">
                <a:ln w="9525" cmpd="sng">
                  <a:solidFill>
                    <a:schemeClr val="accent1"/>
                  </a:solidFill>
                  <a:prstDash val="solid"/>
                </a:ln>
                <a:solidFill>
                  <a:srgbClr val="FFFF00"/>
                </a:solidFill>
                <a:effectLst>
                  <a:glow rad="38100">
                    <a:schemeClr val="accent1">
                      <a:alpha val="40000"/>
                    </a:schemeClr>
                  </a:glow>
                </a:effectLst>
                <a:latin typeface="华文新魏" panose="02010800040101010101" pitchFamily="2" charset="-122"/>
                <a:ea typeface="华文新魏" panose="02010800040101010101" pitchFamily="2" charset="-122"/>
              </a:rPr>
              <a:t>9.3 </a:t>
            </a:r>
            <a:r>
              <a:rPr lang="zh-CN" altLang="en-US" sz="6600" spc="50" dirty="0" smtClean="0">
                <a:ln w="9525" cmpd="sng">
                  <a:solidFill>
                    <a:schemeClr val="accent1"/>
                  </a:solidFill>
                  <a:prstDash val="solid"/>
                </a:ln>
                <a:solidFill>
                  <a:srgbClr val="FFFF00"/>
                </a:solidFill>
                <a:effectLst>
                  <a:glow rad="38100">
                    <a:schemeClr val="accent1">
                      <a:alpha val="40000"/>
                    </a:schemeClr>
                  </a:glow>
                </a:effectLst>
                <a:latin typeface="华文新魏" panose="02010800040101010101" pitchFamily="2" charset="-122"/>
                <a:ea typeface="华文新魏" panose="02010800040101010101" pitchFamily="2" charset="-122"/>
              </a:rPr>
              <a:t>最小生成树</a:t>
            </a:r>
            <a:endParaRPr lang="zh-CN" altLang="en-US" sz="6600" spc="50" dirty="0" smtClean="0">
              <a:ln w="9525" cmpd="sng">
                <a:solidFill>
                  <a:schemeClr val="accent1"/>
                </a:solidFill>
                <a:prstDash val="solid"/>
              </a:ln>
              <a:solidFill>
                <a:srgbClr val="FFFF00"/>
              </a:solidFill>
              <a:effectLst>
                <a:glow rad="38100">
                  <a:schemeClr val="accent1">
                    <a:alpha val="40000"/>
                  </a:schemeClr>
                </a:glow>
              </a:effectLst>
              <a:latin typeface="华文新魏" panose="02010800040101010101" pitchFamily="2" charset="-122"/>
              <a:ea typeface="华文新魏" panose="02010800040101010101" pitchFamily="2" charset="-122"/>
            </a:endParaRPr>
          </a:p>
        </p:txBody>
      </p:sp>
      <p:pic>
        <p:nvPicPr>
          <p:cNvPr id="5" name="图片 4"/>
          <p:cNvPicPr/>
          <p:nvPr/>
        </p:nvPicPr>
        <p:blipFill>
          <a:blip r:embed="rId1"/>
        </p:blipFill>
        <p:spPr>
          <a:xfrm>
            <a:off x="0" y="0"/>
            <a:ext cx="2967355" cy="2587625"/>
          </a:xfrm>
          <a:prstGeom prst="rect">
            <a:avLst/>
          </a:prstGeom>
        </p:spPr>
      </p:pic>
    </p:spTree>
  </p:cSld>
  <p:clrMapOvr>
    <a:masterClrMapping/>
  </p:clrMapOvr>
  <p:transition spd="med" advTm="4626">
    <p:randomBar dir="vert"/>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2"/>
          </p:nvPr>
        </p:nvSpPr>
        <p:spPr/>
        <p:txBody>
          <a:bodyPr/>
          <a:p>
            <a:fld id="{EB7C6F6D-FFA8-468C-AF6A-CB4C27E2EEF8}" type="slidenum">
              <a:rPr lang="zh-CN" altLang="en-US" smtClean="0"/>
            </a:fld>
            <a:endParaRPr lang="en-US" altLang="zh-CN"/>
          </a:p>
        </p:txBody>
      </p:sp>
      <p:pic>
        <p:nvPicPr>
          <p:cNvPr id="6" name="图片 5"/>
          <p:cNvPicPr>
            <a:picLocks noChangeAspect="1"/>
          </p:cNvPicPr>
          <p:nvPr/>
        </p:nvPicPr>
        <p:blipFill>
          <a:blip r:embed="rId1"/>
          <a:stretch>
            <a:fillRect/>
          </a:stretch>
        </p:blipFill>
        <p:spPr>
          <a:xfrm>
            <a:off x="417830" y="368935"/>
            <a:ext cx="11348085" cy="594614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558165" y="527685"/>
            <a:ext cx="10140315" cy="583565"/>
          </a:xfrm>
          <a:prstGeom prst="rect">
            <a:avLst/>
          </a:prstGeom>
          <a:noFill/>
        </p:spPr>
        <p:txBody>
          <a:bodyPr wrap="square">
            <a:spAutoFit/>
          </a:bodyPr>
          <a:lstStyle>
            <a:defPPr>
              <a:defRPr lang="en-US"/>
            </a:defPPr>
            <a:lvl1pPr marL="457200" indent="-457200">
              <a:buFont typeface="Wingdings" panose="05000000000000000000" pitchFamily="2" charset="2"/>
              <a:buChar char="p"/>
              <a:defRPr sz="3200" spc="300">
                <a:solidFill>
                  <a:srgbClr val="FF0000"/>
                </a:solidFill>
                <a:latin typeface="微软雅黑" panose="020B0503020204020204" pitchFamily="34" charset="-122"/>
                <a:ea typeface="微软雅黑" panose="020B0503020204020204" pitchFamily="34" charset="-122"/>
              </a:defRPr>
            </a:lvl1pPr>
          </a:lstStyle>
          <a:p>
            <a:r>
              <a:rPr lang="zh-CN" altLang="en-US" dirty="0" smtClean="0"/>
              <a:t>最小生成树</a:t>
            </a:r>
            <a:r>
              <a:rPr lang="en-US" altLang="zh-CN" dirty="0" smtClean="0"/>
              <a:t>  </a:t>
            </a:r>
            <a:r>
              <a:rPr lang="zh-CN" altLang="en-US" dirty="0" smtClean="0">
                <a:latin typeface="华文新魏" panose="02010800040101010101" pitchFamily="2" charset="-122"/>
                <a:ea typeface="华文新魏" panose="02010800040101010101" pitchFamily="2" charset="-122"/>
              </a:rPr>
              <a:t>Minimum Spanning Tree</a:t>
            </a:r>
            <a:endParaRPr lang="zh-CN" altLang="en-US" dirty="0" smtClean="0">
              <a:latin typeface="华文新魏" panose="02010800040101010101" pitchFamily="2" charset="-122"/>
              <a:ea typeface="华文新魏" panose="02010800040101010101" pitchFamily="2" charset="-122"/>
            </a:endParaRPr>
          </a:p>
        </p:txBody>
      </p:sp>
      <p:sp>
        <p:nvSpPr>
          <p:cNvPr id="2" name="文本框 1" descr="7b0a202020202262756c6c6574223a20227b5c2263617465676f727949645c223a31303030352c5c2274656d706c61746549645c223a32303233313332387d220a7d0a"/>
          <p:cNvSpPr txBox="1"/>
          <p:nvPr/>
        </p:nvSpPr>
        <p:spPr>
          <a:xfrm>
            <a:off x="0" y="2183130"/>
            <a:ext cx="7960995" cy="3359150"/>
          </a:xfrm>
          <a:prstGeom prst="rect">
            <a:avLst/>
          </a:prstGeom>
          <a:noFill/>
        </p:spPr>
        <p:txBody>
          <a:bodyPr wrap="square" rtlCol="0">
            <a:noAutofit/>
          </a:bodyPr>
          <a:lstStyle/>
          <a:p>
            <a:pPr marL="342900" indent="-342900">
              <a:lnSpc>
                <a:spcPct val="150000"/>
              </a:lnSpc>
              <a:buFont typeface="Wingdings" panose="05000000000000000000" pitchFamily="2" charset="2"/>
              <a:buChar char="Ø"/>
            </a:pPr>
            <a:r>
              <a:rPr lang="zh-CN" altLang="en-US" sz="2400" dirty="0">
                <a:solidFill>
                  <a:schemeClr val="tx1"/>
                </a:solidFill>
                <a:latin typeface="微软雅黑" panose="020B0503020204020204" pitchFamily="34" charset="-122"/>
                <a:ea typeface="微软雅黑" panose="020B0503020204020204" pitchFamily="34" charset="-122"/>
              </a:rPr>
              <a:t>在无向图中，连通而且不含有圈（环路）的图，称为树</a:t>
            </a:r>
            <a:endParaRPr lang="zh-CN" altLang="en-US" sz="24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endParaRPr lang="zh-CN" altLang="en-US" sz="24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2400" dirty="0">
                <a:solidFill>
                  <a:schemeClr val="tx1"/>
                </a:solidFill>
                <a:latin typeface="微软雅黑" panose="020B0503020204020204" pitchFamily="34" charset="-122"/>
                <a:ea typeface="微软雅黑" panose="020B0503020204020204" pitchFamily="34" charset="-122"/>
              </a:rPr>
              <a:t>最小生成树</a:t>
            </a:r>
            <a:r>
              <a:rPr lang="en-US" altLang="zh-CN" sz="2400" dirty="0">
                <a:solidFill>
                  <a:schemeClr val="tx1"/>
                </a:solidFill>
                <a:latin typeface="微软雅黑" panose="020B0503020204020204" pitchFamily="34" charset="-122"/>
                <a:ea typeface="微软雅黑" panose="020B0503020204020204" pitchFamily="34" charset="-122"/>
              </a:rPr>
              <a:t>MST</a:t>
            </a:r>
            <a:r>
              <a:rPr lang="zh-CN" altLang="en-US" sz="2400" dirty="0">
                <a:solidFill>
                  <a:schemeClr val="tx1"/>
                </a:solidFill>
                <a:latin typeface="微软雅黑" panose="020B0503020204020204" pitchFamily="34" charset="-122"/>
                <a:ea typeface="微软雅黑" panose="020B0503020204020204" pitchFamily="34" charset="-122"/>
              </a:rPr>
              <a:t>：</a:t>
            </a:r>
            <a:endParaRPr lang="zh-CN" altLang="en-US" sz="24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2400" dirty="0">
                <a:solidFill>
                  <a:schemeClr val="tx1"/>
                </a:solidFill>
                <a:sym typeface="+mn-ea"/>
              </a:rPr>
              <a:t>一个连通无向图的生成子图，同时要求是树，即在图的边集中选择 </a:t>
            </a:r>
            <a:r>
              <a:rPr lang="en-US" altLang="zh-CN" sz="2400" dirty="0">
                <a:solidFill>
                  <a:schemeClr val="tx1"/>
                </a:solidFill>
                <a:sym typeface="+mn-ea"/>
              </a:rPr>
              <a:t>n - 1 </a:t>
            </a:r>
            <a:r>
              <a:rPr lang="zh-CN" altLang="en-US" sz="2400" dirty="0">
                <a:solidFill>
                  <a:schemeClr val="tx1"/>
                </a:solidFill>
                <a:sym typeface="+mn-ea"/>
              </a:rPr>
              <a:t>条，将所有顶点连通；</a:t>
            </a:r>
            <a:endParaRPr lang="zh-CN" altLang="en-US" sz="2400" dirty="0">
              <a:solidFill>
                <a:schemeClr val="tx1"/>
              </a:solidFill>
              <a:sym typeface="+mn-ea"/>
            </a:endParaRPr>
          </a:p>
          <a:p>
            <a:pPr marL="342900" indent="-342900">
              <a:lnSpc>
                <a:spcPct val="150000"/>
              </a:lnSpc>
              <a:buFont typeface="Wingdings" panose="05000000000000000000" pitchFamily="2" charset="2"/>
              <a:buChar char="Ø"/>
            </a:pPr>
            <a:r>
              <a:rPr lang="zh-CN" altLang="en-US" sz="2400" b="0" dirty="0">
                <a:solidFill>
                  <a:schemeClr val="tx1"/>
                </a:solidFill>
                <a:effectLst/>
                <a:highlight>
                  <a:srgbClr val="FFFFFF"/>
                </a:highlight>
                <a:latin typeface="Fira Sans" panose="020B0503050000020004" pitchFamily="34" charset="0"/>
                <a:sym typeface="+mn-ea"/>
              </a:rPr>
              <a:t>边权和最小的生成树</a:t>
            </a:r>
            <a:endParaRPr lang="zh-CN" altLang="en-US" sz="2400" b="0" dirty="0">
              <a:solidFill>
                <a:schemeClr val="tx1"/>
              </a:solidFill>
              <a:effectLst/>
              <a:highlight>
                <a:srgbClr val="FFFFFF"/>
              </a:highlight>
              <a:latin typeface="Fira Sans" panose="020B0503050000020004" pitchFamily="34" charset="0"/>
              <a:ea typeface="微软雅黑" panose="020B0503020204020204" pitchFamily="34" charset="-122"/>
              <a:sym typeface="+mn-ea"/>
            </a:endParaRPr>
          </a:p>
        </p:txBody>
      </p:sp>
      <p:pic>
        <p:nvPicPr>
          <p:cNvPr id="9" name="Picture 2" descr="https://ss2.bdstatic.com/70cFvnSh_Q1YnxGkpoWK1HF6hhy/it/u=1078098877,824028775&amp;fm=26&amp;gp=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20063" y="2872544"/>
            <a:ext cx="3519488" cy="19809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2"/>
    </p:custDataLst>
  </p:cSld>
  <p:clrMapOvr>
    <a:masterClrMapping/>
  </p:clrMapOvr>
  <p:transition spd="slow" advClick="0" advTm="4678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2"/>
          </p:nvPr>
        </p:nvSpPr>
        <p:spPr/>
        <p:txBody>
          <a:bodyPr/>
          <a:p>
            <a:fld id="{EB7C6F6D-FFA8-468C-AF6A-CB4C27E2EEF8}" type="slidenum">
              <a:rPr lang="zh-CN" altLang="en-US" smtClean="0"/>
            </a:fld>
            <a:endParaRPr lang="en-US" altLang="zh-CN"/>
          </a:p>
        </p:txBody>
      </p:sp>
      <p:pic>
        <p:nvPicPr>
          <p:cNvPr id="2" name="图片 1"/>
          <p:cNvPicPr>
            <a:picLocks noChangeAspect="1"/>
          </p:cNvPicPr>
          <p:nvPr/>
        </p:nvPicPr>
        <p:blipFill>
          <a:blip r:embed="rId1"/>
          <a:srcRect t="14003"/>
          <a:stretch>
            <a:fillRect/>
          </a:stretch>
        </p:blipFill>
        <p:spPr>
          <a:xfrm>
            <a:off x="1170940" y="1443990"/>
            <a:ext cx="9847580" cy="1875790"/>
          </a:xfrm>
          <a:prstGeom prst="rect">
            <a:avLst/>
          </a:prstGeom>
        </p:spPr>
      </p:pic>
      <p:sp>
        <p:nvSpPr>
          <p:cNvPr id="3" name="文本框 2"/>
          <p:cNvSpPr txBox="1"/>
          <p:nvPr/>
        </p:nvSpPr>
        <p:spPr>
          <a:xfrm>
            <a:off x="445770" y="375285"/>
            <a:ext cx="3547110" cy="1014730"/>
          </a:xfrm>
          <a:prstGeom prst="rect">
            <a:avLst/>
          </a:prstGeom>
          <a:noFill/>
        </p:spPr>
        <p:txBody>
          <a:bodyPr wrap="square" rtlCol="0">
            <a:spAutoFit/>
          </a:bodyPr>
          <a:p>
            <a:r>
              <a:rPr lang="en-US" altLang="zh-CN" sz="6000">
                <a:solidFill>
                  <a:schemeClr val="tx1"/>
                </a:solidFill>
                <a:latin typeface="华文行楷" panose="02010800040101010101" charset="-122"/>
                <a:ea typeface="华文行楷" panose="02010800040101010101" charset="-122"/>
              </a:rPr>
              <a:t>·</a:t>
            </a:r>
            <a:r>
              <a:rPr lang="zh-CN" altLang="en-US" sz="6000">
                <a:solidFill>
                  <a:schemeClr val="tx1"/>
                </a:solidFill>
                <a:latin typeface="华文行楷" panose="02010800040101010101" charset="-122"/>
                <a:ea typeface="华文行楷" panose="02010800040101010101" charset="-122"/>
              </a:rPr>
              <a:t>并查集</a:t>
            </a:r>
            <a:endParaRPr lang="zh-CN" altLang="en-US" sz="6000">
              <a:solidFill>
                <a:schemeClr val="tx1"/>
              </a:solidFill>
              <a:latin typeface="华文行楷" panose="02010800040101010101" charset="-122"/>
              <a:ea typeface="华文行楷" panose="02010800040101010101" charset="-122"/>
            </a:endParaRPr>
          </a:p>
        </p:txBody>
      </p:sp>
      <p:pic>
        <p:nvPicPr>
          <p:cNvPr id="5" name="图片 4"/>
          <p:cNvPicPr>
            <a:picLocks noChangeAspect="1"/>
          </p:cNvPicPr>
          <p:nvPr/>
        </p:nvPicPr>
        <p:blipFill>
          <a:blip r:embed="rId2"/>
          <a:srcRect t="8608"/>
          <a:stretch>
            <a:fillRect/>
          </a:stretch>
        </p:blipFill>
        <p:spPr>
          <a:xfrm>
            <a:off x="1170940" y="3319780"/>
            <a:ext cx="9847580" cy="324294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2"/>
          </p:nvPr>
        </p:nvSpPr>
        <p:spPr/>
        <p:txBody>
          <a:bodyPr/>
          <a:p>
            <a:fld id="{EB7C6F6D-FFA8-468C-AF6A-CB4C27E2EEF8}" type="slidenum">
              <a:rPr lang="zh-CN" altLang="en-US" smtClean="0"/>
            </a:fld>
            <a:endParaRPr lang="en-US" altLang="zh-CN"/>
          </a:p>
        </p:txBody>
      </p:sp>
      <p:sp>
        <p:nvSpPr>
          <p:cNvPr id="2" name="文本框 1"/>
          <p:cNvSpPr txBox="1"/>
          <p:nvPr/>
        </p:nvSpPr>
        <p:spPr>
          <a:xfrm>
            <a:off x="445770" y="375285"/>
            <a:ext cx="3547110" cy="1014730"/>
          </a:xfrm>
          <a:prstGeom prst="rect">
            <a:avLst/>
          </a:prstGeom>
          <a:noFill/>
        </p:spPr>
        <p:txBody>
          <a:bodyPr wrap="square" rtlCol="0">
            <a:spAutoFit/>
          </a:bodyPr>
          <a:p>
            <a:r>
              <a:rPr lang="en-US" altLang="zh-CN" sz="6000">
                <a:solidFill>
                  <a:schemeClr val="tx1"/>
                </a:solidFill>
                <a:latin typeface="华文行楷" panose="02010800040101010101" charset="-122"/>
                <a:ea typeface="华文行楷" panose="02010800040101010101" charset="-122"/>
              </a:rPr>
              <a:t>·</a:t>
            </a:r>
            <a:r>
              <a:rPr lang="zh-CN" altLang="en-US" sz="6000">
                <a:solidFill>
                  <a:schemeClr val="bg2">
                    <a:lumMod val="50000"/>
                  </a:schemeClr>
                </a:solidFill>
                <a:latin typeface="华文行楷" panose="02010800040101010101" charset="-122"/>
                <a:ea typeface="华文行楷" panose="02010800040101010101" charset="-122"/>
              </a:rPr>
              <a:t>并查</a:t>
            </a:r>
            <a:r>
              <a:rPr lang="zh-CN" altLang="en-US" sz="6000">
                <a:solidFill>
                  <a:schemeClr val="tx1"/>
                </a:solidFill>
                <a:latin typeface="华文行楷" panose="02010800040101010101" charset="-122"/>
                <a:ea typeface="华文行楷" panose="02010800040101010101" charset="-122"/>
              </a:rPr>
              <a:t>集</a:t>
            </a:r>
            <a:endParaRPr lang="zh-CN" altLang="en-US" sz="6000">
              <a:solidFill>
                <a:schemeClr val="tx1"/>
              </a:solidFill>
              <a:latin typeface="华文行楷" panose="02010800040101010101" charset="-122"/>
              <a:ea typeface="华文行楷" panose="02010800040101010101" charset="-122"/>
            </a:endParaRPr>
          </a:p>
        </p:txBody>
      </p:sp>
      <p:pic>
        <p:nvPicPr>
          <p:cNvPr id="3" name="图片 2"/>
          <p:cNvPicPr>
            <a:picLocks noChangeAspect="1"/>
          </p:cNvPicPr>
          <p:nvPr/>
        </p:nvPicPr>
        <p:blipFill>
          <a:blip r:embed="rId1"/>
          <a:srcRect l="7163"/>
          <a:stretch>
            <a:fillRect/>
          </a:stretch>
        </p:blipFill>
        <p:spPr>
          <a:xfrm>
            <a:off x="445770" y="1443990"/>
            <a:ext cx="6022340" cy="3057525"/>
          </a:xfrm>
          <a:prstGeom prst="rect">
            <a:avLst/>
          </a:prstGeom>
        </p:spPr>
      </p:pic>
      <p:pic>
        <p:nvPicPr>
          <p:cNvPr id="5" name="图片 4"/>
          <p:cNvPicPr>
            <a:picLocks noChangeAspect="1"/>
          </p:cNvPicPr>
          <p:nvPr/>
        </p:nvPicPr>
        <p:blipFill>
          <a:blip r:embed="rId2"/>
          <a:srcRect/>
          <a:stretch>
            <a:fillRect/>
          </a:stretch>
        </p:blipFill>
        <p:spPr>
          <a:xfrm>
            <a:off x="4568825" y="2665095"/>
            <a:ext cx="7041515" cy="3656330"/>
          </a:xfrm>
          <a:prstGeom prst="rect">
            <a:avLst/>
          </a:prstGeom>
        </p:spPr>
      </p:pic>
      <p:sp>
        <p:nvSpPr>
          <p:cNvPr id="6" name="文本框 5"/>
          <p:cNvSpPr txBox="1"/>
          <p:nvPr/>
        </p:nvSpPr>
        <p:spPr>
          <a:xfrm>
            <a:off x="4264660" y="374650"/>
            <a:ext cx="7345680" cy="706755"/>
          </a:xfrm>
          <a:prstGeom prst="rect">
            <a:avLst/>
          </a:prstGeom>
        </p:spPr>
        <p:txBody>
          <a:bodyPr wrap="square">
            <a:spAutoFit/>
          </a:bodyPr>
          <a:p>
            <a:pPr marL="0" indent="0"/>
            <a:r>
              <a:rPr lang="en-US" altLang="zh-CN" sz="4000" i="0" u="sng">
                <a:solidFill>
                  <a:srgbClr val="4D4D4D"/>
                </a:solidFill>
                <a:latin typeface="-apple-system"/>
                <a:ea typeface="-apple-system"/>
              </a:rPr>
              <a:t>pre[ ]</a:t>
            </a:r>
            <a:r>
              <a:rPr lang="zh-CN" altLang="en-US" sz="4000" i="0" u="sng">
                <a:solidFill>
                  <a:srgbClr val="4D4D4D"/>
                </a:solidFill>
                <a:latin typeface="-apple-system"/>
                <a:ea typeface="-apple-system"/>
              </a:rPr>
              <a:t>、</a:t>
            </a:r>
            <a:r>
              <a:rPr lang="en-US" altLang="zh-CN" sz="4000" i="0" u="sng">
                <a:solidFill>
                  <a:srgbClr val="4D4D4D"/>
                </a:solidFill>
                <a:latin typeface="-apple-system"/>
                <a:ea typeface="-apple-system"/>
              </a:rPr>
              <a:t>find( )</a:t>
            </a:r>
            <a:r>
              <a:rPr lang="zh-CN" altLang="en-US" sz="4000" i="0" u="sng">
                <a:solidFill>
                  <a:srgbClr val="4D4D4D"/>
                </a:solidFill>
                <a:latin typeface="-apple-system"/>
                <a:ea typeface="-apple-system"/>
              </a:rPr>
              <a:t>、</a:t>
            </a:r>
            <a:r>
              <a:rPr lang="en-US" altLang="zh-CN" sz="4000" i="0" u="sng">
                <a:solidFill>
                  <a:srgbClr val="4D4D4D"/>
                </a:solidFill>
                <a:latin typeface="-apple-system"/>
                <a:ea typeface="-apple-system"/>
              </a:rPr>
              <a:t>join( )</a:t>
            </a:r>
            <a:endParaRPr lang="en-US" altLang="zh-CN" sz="4000" i="0" u="sng">
              <a:solidFill>
                <a:srgbClr val="4D4D4D"/>
              </a:solidFill>
              <a:latin typeface="-apple-system"/>
              <a:ea typeface="-apple-system"/>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2"/>
          </p:nvPr>
        </p:nvSpPr>
        <p:spPr/>
        <p:txBody>
          <a:bodyPr/>
          <a:p>
            <a:fld id="{EB7C6F6D-FFA8-468C-AF6A-CB4C27E2EEF8}" type="slidenum">
              <a:rPr lang="zh-CN" altLang="en-US" smtClean="0"/>
            </a:fld>
            <a:endParaRPr lang="en-US" altLang="zh-CN"/>
          </a:p>
        </p:txBody>
      </p:sp>
      <p:sp>
        <p:nvSpPr>
          <p:cNvPr id="2" name="文本框 1"/>
          <p:cNvSpPr txBox="1"/>
          <p:nvPr/>
        </p:nvSpPr>
        <p:spPr>
          <a:xfrm>
            <a:off x="445770" y="375285"/>
            <a:ext cx="3547110" cy="1014730"/>
          </a:xfrm>
          <a:prstGeom prst="rect">
            <a:avLst/>
          </a:prstGeom>
          <a:noFill/>
        </p:spPr>
        <p:txBody>
          <a:bodyPr wrap="square" rtlCol="0">
            <a:spAutoFit/>
          </a:bodyPr>
          <a:p>
            <a:r>
              <a:rPr lang="en-US" altLang="zh-CN" sz="6000">
                <a:solidFill>
                  <a:schemeClr val="tx1"/>
                </a:solidFill>
                <a:latin typeface="华文行楷" panose="02010800040101010101" charset="-122"/>
                <a:ea typeface="华文行楷" panose="02010800040101010101" charset="-122"/>
              </a:rPr>
              <a:t>·</a:t>
            </a:r>
            <a:r>
              <a:rPr lang="zh-CN" altLang="en-US" sz="6000">
                <a:solidFill>
                  <a:schemeClr val="tx1"/>
                </a:solidFill>
                <a:latin typeface="华文行楷" panose="02010800040101010101" charset="-122"/>
                <a:ea typeface="华文行楷" panose="02010800040101010101" charset="-122"/>
              </a:rPr>
              <a:t>并查集</a:t>
            </a:r>
            <a:endParaRPr lang="zh-CN" altLang="en-US" sz="6000">
              <a:solidFill>
                <a:schemeClr val="tx1"/>
              </a:solidFill>
              <a:latin typeface="华文行楷" panose="02010800040101010101" charset="-122"/>
              <a:ea typeface="华文行楷" panose="02010800040101010101" charset="-122"/>
            </a:endParaRPr>
          </a:p>
        </p:txBody>
      </p:sp>
      <p:pic>
        <p:nvPicPr>
          <p:cNvPr id="3" name="图片 2"/>
          <p:cNvPicPr>
            <a:picLocks noChangeAspect="1"/>
          </p:cNvPicPr>
          <p:nvPr/>
        </p:nvPicPr>
        <p:blipFill>
          <a:blip r:embed="rId1"/>
          <a:stretch>
            <a:fillRect/>
          </a:stretch>
        </p:blipFill>
        <p:spPr>
          <a:xfrm>
            <a:off x="1056640" y="2359660"/>
            <a:ext cx="4210050" cy="2581910"/>
          </a:xfrm>
          <a:prstGeom prst="rect">
            <a:avLst/>
          </a:prstGeom>
        </p:spPr>
      </p:pic>
      <p:pic>
        <p:nvPicPr>
          <p:cNvPr id="5" name="图片 4"/>
          <p:cNvPicPr>
            <a:picLocks noChangeAspect="1"/>
          </p:cNvPicPr>
          <p:nvPr/>
        </p:nvPicPr>
        <p:blipFill>
          <a:blip r:embed="rId2"/>
          <a:srcRect t="5597"/>
          <a:stretch>
            <a:fillRect/>
          </a:stretch>
        </p:blipFill>
        <p:spPr>
          <a:xfrm>
            <a:off x="6096000" y="3676015"/>
            <a:ext cx="5353050" cy="2581275"/>
          </a:xfrm>
          <a:prstGeom prst="rect">
            <a:avLst/>
          </a:prstGeom>
        </p:spPr>
      </p:pic>
      <p:pic>
        <p:nvPicPr>
          <p:cNvPr id="6" name="图片 5"/>
          <p:cNvPicPr>
            <a:picLocks noChangeAspect="1"/>
          </p:cNvPicPr>
          <p:nvPr/>
        </p:nvPicPr>
        <p:blipFill>
          <a:blip r:embed="rId3"/>
          <a:stretch>
            <a:fillRect/>
          </a:stretch>
        </p:blipFill>
        <p:spPr>
          <a:xfrm>
            <a:off x="6439535" y="985520"/>
            <a:ext cx="4665980" cy="1810385"/>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2"/>
          </p:nvPr>
        </p:nvSpPr>
        <p:spPr/>
        <p:txBody>
          <a:bodyPr/>
          <a:p>
            <a:fld id="{EB7C6F6D-FFA8-468C-AF6A-CB4C27E2EEF8}" type="slidenum">
              <a:rPr lang="zh-CN" altLang="en-US" smtClean="0"/>
            </a:fld>
            <a:endParaRPr lang="en-US" altLang="zh-CN"/>
          </a:p>
        </p:txBody>
      </p:sp>
      <p:sp>
        <p:nvSpPr>
          <p:cNvPr id="2" name="文本框 1"/>
          <p:cNvSpPr txBox="1"/>
          <p:nvPr/>
        </p:nvSpPr>
        <p:spPr>
          <a:xfrm>
            <a:off x="445770" y="375285"/>
            <a:ext cx="10867390" cy="1014730"/>
          </a:xfrm>
          <a:prstGeom prst="rect">
            <a:avLst/>
          </a:prstGeom>
          <a:noFill/>
        </p:spPr>
        <p:txBody>
          <a:bodyPr wrap="square" rtlCol="0">
            <a:spAutoFit/>
          </a:bodyPr>
          <a:p>
            <a:r>
              <a:rPr lang="en-US" altLang="zh-CN" sz="6000">
                <a:solidFill>
                  <a:schemeClr val="tx1"/>
                </a:solidFill>
                <a:latin typeface="华文行楷" panose="02010800040101010101" charset="-122"/>
                <a:ea typeface="华文行楷" panose="02010800040101010101" charset="-122"/>
              </a:rPr>
              <a:t>·</a:t>
            </a:r>
            <a:r>
              <a:rPr lang="zh-CN" altLang="en-US" sz="6000">
                <a:solidFill>
                  <a:schemeClr val="tx1"/>
                </a:solidFill>
                <a:latin typeface="华文行楷" panose="02010800040101010101" charset="-122"/>
                <a:ea typeface="华文行楷" panose="02010800040101010101" charset="-122"/>
              </a:rPr>
              <a:t>并查集：</a:t>
            </a:r>
            <a:r>
              <a:rPr lang="zh-CN" altLang="en-US" sz="4000">
                <a:solidFill>
                  <a:srgbClr val="4D4D4D"/>
                </a:solidFill>
                <a:latin typeface="方正舒体" panose="02010601030101010101" charset="-122"/>
                <a:ea typeface="方正舒体" panose="02010601030101010101" charset="-122"/>
                <a:sym typeface="+mn-ea"/>
              </a:rPr>
              <a:t>优化一</a:t>
            </a:r>
            <a:r>
              <a:rPr lang="en-US" altLang="zh-CN" sz="4000">
                <a:solidFill>
                  <a:srgbClr val="4D4D4D"/>
                </a:solidFill>
                <a:latin typeface="方正舒体" panose="02010601030101010101" charset="-122"/>
                <a:ea typeface="方正舒体" panose="02010601030101010101" charset="-122"/>
                <a:sym typeface="+mn-ea"/>
              </a:rPr>
              <a:t> </a:t>
            </a:r>
            <a:r>
              <a:rPr lang="zh-CN" altLang="en-US" sz="4000">
                <a:solidFill>
                  <a:srgbClr val="4D4D4D"/>
                </a:solidFill>
                <a:latin typeface="方正舒体" panose="02010601030101010101" charset="-122"/>
                <a:ea typeface="方正舒体" panose="02010601030101010101" charset="-122"/>
                <a:sym typeface="+mn-ea"/>
              </a:rPr>
              <a:t>压缩路径</a:t>
            </a:r>
            <a:r>
              <a:rPr lang="en-US" altLang="zh-CN" sz="4000">
                <a:solidFill>
                  <a:srgbClr val="4D4D4D"/>
                </a:solidFill>
                <a:latin typeface="方正舒体" panose="02010601030101010101" charset="-122"/>
                <a:ea typeface="方正舒体" panose="02010601030101010101" charset="-122"/>
                <a:sym typeface="+mn-ea"/>
              </a:rPr>
              <a:t> </a:t>
            </a:r>
            <a:r>
              <a:rPr lang="en-US" altLang="zh-CN" sz="4000" u="sng">
                <a:solidFill>
                  <a:srgbClr val="4D4D4D"/>
                </a:solidFill>
                <a:latin typeface="-apple-system"/>
                <a:ea typeface="-apple-system"/>
                <a:sym typeface="+mn-ea"/>
              </a:rPr>
              <a:t>find( )</a:t>
            </a:r>
            <a:endParaRPr lang="zh-CN" altLang="en-US" sz="4000">
              <a:solidFill>
                <a:srgbClr val="4D4D4D"/>
              </a:solidFill>
              <a:latin typeface="方正舒体" panose="02010601030101010101" charset="-122"/>
              <a:ea typeface="方正舒体" panose="02010601030101010101" charset="-122"/>
              <a:sym typeface="+mn-ea"/>
            </a:endParaRPr>
          </a:p>
        </p:txBody>
      </p:sp>
      <p:pic>
        <p:nvPicPr>
          <p:cNvPr id="3" name="图片 2"/>
          <p:cNvPicPr>
            <a:picLocks noChangeAspect="1"/>
          </p:cNvPicPr>
          <p:nvPr/>
        </p:nvPicPr>
        <p:blipFill>
          <a:blip r:embed="rId1"/>
          <a:srcRect l="3187" t="3727" r="1734" b="7909"/>
          <a:stretch>
            <a:fillRect/>
          </a:stretch>
        </p:blipFill>
        <p:spPr>
          <a:xfrm>
            <a:off x="445770" y="1596390"/>
            <a:ext cx="6395720" cy="2583815"/>
          </a:xfrm>
          <a:prstGeom prst="rect">
            <a:avLst/>
          </a:prstGeom>
        </p:spPr>
      </p:pic>
      <p:pic>
        <p:nvPicPr>
          <p:cNvPr id="5" name="图片 4"/>
          <p:cNvPicPr>
            <a:picLocks noChangeAspect="1"/>
          </p:cNvPicPr>
          <p:nvPr/>
        </p:nvPicPr>
        <p:blipFill>
          <a:blip r:embed="rId2"/>
          <a:srcRect l="1624"/>
          <a:stretch>
            <a:fillRect/>
          </a:stretch>
        </p:blipFill>
        <p:spPr>
          <a:xfrm>
            <a:off x="5158740" y="3429000"/>
            <a:ext cx="6567805" cy="2633345"/>
          </a:xfrm>
          <a:prstGeom prst="rect">
            <a:avLst/>
          </a:prstGeom>
        </p:spPr>
      </p:pic>
      <p:pic>
        <p:nvPicPr>
          <p:cNvPr id="6" name="图片 5"/>
          <p:cNvPicPr>
            <a:picLocks noChangeAspect="1"/>
          </p:cNvPicPr>
          <p:nvPr/>
        </p:nvPicPr>
        <p:blipFill>
          <a:blip r:embed="rId3"/>
          <a:srcRect t="8689"/>
          <a:stretch>
            <a:fillRect/>
          </a:stretch>
        </p:blipFill>
        <p:spPr>
          <a:xfrm>
            <a:off x="6401435" y="1390015"/>
            <a:ext cx="5591175" cy="20351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2"/>
          </p:nvPr>
        </p:nvSpPr>
        <p:spPr/>
        <p:txBody>
          <a:bodyPr/>
          <a:p>
            <a:fld id="{EB7C6F6D-FFA8-468C-AF6A-CB4C27E2EEF8}" type="slidenum">
              <a:rPr lang="zh-CN" altLang="en-US" smtClean="0"/>
            </a:fld>
            <a:endParaRPr lang="en-US" altLang="zh-CN"/>
          </a:p>
        </p:txBody>
      </p:sp>
      <p:sp>
        <p:nvSpPr>
          <p:cNvPr id="2" name="文本框 1"/>
          <p:cNvSpPr txBox="1"/>
          <p:nvPr/>
        </p:nvSpPr>
        <p:spPr>
          <a:xfrm>
            <a:off x="445770" y="375285"/>
            <a:ext cx="11576685" cy="1014730"/>
          </a:xfrm>
          <a:prstGeom prst="rect">
            <a:avLst/>
          </a:prstGeom>
          <a:noFill/>
        </p:spPr>
        <p:txBody>
          <a:bodyPr wrap="square" rtlCol="0">
            <a:spAutoFit/>
          </a:bodyPr>
          <a:p>
            <a:r>
              <a:rPr lang="en-US" altLang="zh-CN" sz="6000">
                <a:solidFill>
                  <a:schemeClr val="tx1"/>
                </a:solidFill>
                <a:latin typeface="华文行楷" panose="02010800040101010101" charset="-122"/>
                <a:ea typeface="华文行楷" panose="02010800040101010101" charset="-122"/>
              </a:rPr>
              <a:t>·</a:t>
            </a:r>
            <a:r>
              <a:rPr lang="zh-CN" altLang="en-US" sz="6000">
                <a:solidFill>
                  <a:schemeClr val="tx1"/>
                </a:solidFill>
                <a:latin typeface="华文行楷" panose="02010800040101010101" charset="-122"/>
                <a:ea typeface="华文行楷" panose="02010800040101010101" charset="-122"/>
              </a:rPr>
              <a:t>并查集</a:t>
            </a:r>
            <a:r>
              <a:rPr lang="zh-CN" altLang="en-US" sz="6000">
                <a:solidFill>
                  <a:schemeClr val="tx1"/>
                </a:solidFill>
                <a:latin typeface="华文行楷" panose="02010800040101010101" charset="-122"/>
                <a:ea typeface="华文行楷" panose="02010800040101010101" charset="-122"/>
                <a:sym typeface="+mn-ea"/>
              </a:rPr>
              <a:t>：</a:t>
            </a:r>
            <a:r>
              <a:rPr lang="zh-CN" altLang="en-US" sz="4000">
                <a:solidFill>
                  <a:srgbClr val="4D4D4D"/>
                </a:solidFill>
                <a:latin typeface="方正舒体" panose="02010601030101010101" charset="-122"/>
                <a:ea typeface="方正舒体" panose="02010601030101010101" charset="-122"/>
                <a:sym typeface="+mn-ea"/>
              </a:rPr>
              <a:t>优化二</a:t>
            </a:r>
            <a:r>
              <a:rPr lang="en-US" altLang="zh-CN" sz="4000">
                <a:solidFill>
                  <a:srgbClr val="4D4D4D"/>
                </a:solidFill>
                <a:latin typeface="方正舒体" panose="02010601030101010101" charset="-122"/>
                <a:ea typeface="方正舒体" panose="02010601030101010101" charset="-122"/>
                <a:sym typeface="+mn-ea"/>
              </a:rPr>
              <a:t> </a:t>
            </a:r>
            <a:r>
              <a:rPr lang="zh-CN" altLang="en-US" sz="4000">
                <a:solidFill>
                  <a:srgbClr val="4D4D4D"/>
                </a:solidFill>
                <a:latin typeface="方正舒体" panose="02010601030101010101" charset="-122"/>
                <a:ea typeface="方正舒体" panose="02010601030101010101" charset="-122"/>
                <a:sym typeface="+mn-ea"/>
              </a:rPr>
              <a:t>小树并入大树</a:t>
            </a:r>
            <a:r>
              <a:rPr lang="en-US" altLang="zh-CN" sz="4000">
                <a:solidFill>
                  <a:srgbClr val="4D4D4D"/>
                </a:solidFill>
                <a:latin typeface="方正舒体" panose="02010601030101010101" charset="-122"/>
                <a:ea typeface="方正舒体" panose="02010601030101010101" charset="-122"/>
                <a:sym typeface="+mn-ea"/>
              </a:rPr>
              <a:t> </a:t>
            </a:r>
            <a:r>
              <a:rPr lang="en-US" altLang="zh-CN" sz="4000" u="sng">
                <a:solidFill>
                  <a:srgbClr val="4D4D4D"/>
                </a:solidFill>
                <a:latin typeface="-apple-system"/>
                <a:ea typeface="-apple-system"/>
                <a:sym typeface="+mn-ea"/>
              </a:rPr>
              <a:t>join( )</a:t>
            </a:r>
            <a:endParaRPr lang="zh-CN" altLang="en-US" sz="4000">
              <a:solidFill>
                <a:schemeClr val="tx1"/>
              </a:solidFill>
              <a:latin typeface="华文行楷" panose="02010800040101010101" charset="-122"/>
              <a:ea typeface="华文行楷" panose="02010800040101010101" charset="-122"/>
            </a:endParaRPr>
          </a:p>
        </p:txBody>
      </p:sp>
      <p:pic>
        <p:nvPicPr>
          <p:cNvPr id="3" name="图片 2"/>
          <p:cNvPicPr>
            <a:picLocks noChangeAspect="1"/>
          </p:cNvPicPr>
          <p:nvPr/>
        </p:nvPicPr>
        <p:blipFill>
          <a:blip r:embed="rId1"/>
          <a:stretch>
            <a:fillRect/>
          </a:stretch>
        </p:blipFill>
        <p:spPr>
          <a:xfrm>
            <a:off x="375920" y="2054225"/>
            <a:ext cx="11439525" cy="1552575"/>
          </a:xfrm>
          <a:prstGeom prst="rect">
            <a:avLst/>
          </a:prstGeom>
        </p:spPr>
      </p:pic>
      <p:pic>
        <p:nvPicPr>
          <p:cNvPr id="5" name="图片 4"/>
          <p:cNvPicPr>
            <a:picLocks noChangeAspect="1"/>
          </p:cNvPicPr>
          <p:nvPr/>
        </p:nvPicPr>
        <p:blipFill>
          <a:blip r:embed="rId2"/>
          <a:stretch>
            <a:fillRect/>
          </a:stretch>
        </p:blipFill>
        <p:spPr>
          <a:xfrm>
            <a:off x="292735" y="4192270"/>
            <a:ext cx="11630025" cy="14097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2"/>
          </p:nvPr>
        </p:nvSpPr>
        <p:spPr/>
        <p:txBody>
          <a:bodyPr/>
          <a:p>
            <a:fld id="{EB7C6F6D-FFA8-468C-AF6A-CB4C27E2EEF8}" type="slidenum">
              <a:rPr lang="zh-CN" altLang="en-US" smtClean="0"/>
            </a:fld>
            <a:endParaRPr lang="en-US" altLang="zh-CN"/>
          </a:p>
        </p:txBody>
      </p:sp>
      <p:pic>
        <p:nvPicPr>
          <p:cNvPr id="6" name="图片 5"/>
          <p:cNvPicPr>
            <a:picLocks noChangeAspect="1"/>
          </p:cNvPicPr>
          <p:nvPr/>
        </p:nvPicPr>
        <p:blipFill>
          <a:blip r:embed="rId1"/>
          <a:srcRect t="5797"/>
          <a:stretch>
            <a:fillRect/>
          </a:stretch>
        </p:blipFill>
        <p:spPr>
          <a:xfrm>
            <a:off x="1362075" y="1596390"/>
            <a:ext cx="7248525" cy="4881245"/>
          </a:xfrm>
          <a:prstGeom prst="rect">
            <a:avLst/>
          </a:prstGeom>
        </p:spPr>
      </p:pic>
      <p:sp>
        <p:nvSpPr>
          <p:cNvPr id="2" name="文本框 1"/>
          <p:cNvSpPr txBox="1"/>
          <p:nvPr/>
        </p:nvSpPr>
        <p:spPr>
          <a:xfrm>
            <a:off x="445770" y="375285"/>
            <a:ext cx="11576685" cy="1014730"/>
          </a:xfrm>
          <a:prstGeom prst="rect">
            <a:avLst/>
          </a:prstGeom>
          <a:noFill/>
        </p:spPr>
        <p:txBody>
          <a:bodyPr wrap="square" rtlCol="0">
            <a:spAutoFit/>
          </a:bodyPr>
          <a:p>
            <a:r>
              <a:rPr lang="en-US" altLang="zh-CN" sz="6000">
                <a:solidFill>
                  <a:schemeClr val="tx1"/>
                </a:solidFill>
                <a:latin typeface="华文行楷" panose="02010800040101010101" charset="-122"/>
                <a:ea typeface="华文行楷" panose="02010800040101010101" charset="-122"/>
              </a:rPr>
              <a:t>·</a:t>
            </a:r>
            <a:r>
              <a:rPr lang="zh-CN" altLang="en-US" sz="6000">
                <a:solidFill>
                  <a:schemeClr val="tx1"/>
                </a:solidFill>
                <a:latin typeface="华文行楷" panose="02010800040101010101" charset="-122"/>
                <a:ea typeface="华文行楷" panose="02010800040101010101" charset="-122"/>
              </a:rPr>
              <a:t>并查集</a:t>
            </a:r>
            <a:r>
              <a:rPr lang="zh-CN" altLang="en-US" sz="6000">
                <a:solidFill>
                  <a:schemeClr val="tx1"/>
                </a:solidFill>
                <a:latin typeface="华文行楷" panose="02010800040101010101" charset="-122"/>
                <a:ea typeface="华文行楷" panose="02010800040101010101" charset="-122"/>
                <a:sym typeface="+mn-ea"/>
              </a:rPr>
              <a:t>：</a:t>
            </a:r>
            <a:r>
              <a:rPr lang="zh-CN" altLang="en-US" sz="4000">
                <a:solidFill>
                  <a:srgbClr val="4D4D4D"/>
                </a:solidFill>
                <a:latin typeface="方正舒体" panose="02010601030101010101" charset="-122"/>
                <a:ea typeface="方正舒体" panose="02010601030101010101" charset="-122"/>
                <a:sym typeface="+mn-ea"/>
              </a:rPr>
              <a:t>优化二</a:t>
            </a:r>
            <a:r>
              <a:rPr lang="en-US" altLang="zh-CN" sz="4000">
                <a:solidFill>
                  <a:srgbClr val="4D4D4D"/>
                </a:solidFill>
                <a:latin typeface="方正舒体" panose="02010601030101010101" charset="-122"/>
                <a:ea typeface="方正舒体" panose="02010601030101010101" charset="-122"/>
                <a:sym typeface="+mn-ea"/>
              </a:rPr>
              <a:t> </a:t>
            </a:r>
            <a:r>
              <a:rPr lang="zh-CN" altLang="en-US" sz="4000">
                <a:solidFill>
                  <a:srgbClr val="4D4D4D"/>
                </a:solidFill>
                <a:latin typeface="方正舒体" panose="02010601030101010101" charset="-122"/>
                <a:ea typeface="方正舒体" panose="02010601030101010101" charset="-122"/>
                <a:sym typeface="+mn-ea"/>
              </a:rPr>
              <a:t>小树并入大树</a:t>
            </a:r>
            <a:r>
              <a:rPr lang="en-US" altLang="zh-CN" sz="4000">
                <a:solidFill>
                  <a:srgbClr val="4D4D4D"/>
                </a:solidFill>
                <a:latin typeface="方正舒体" panose="02010601030101010101" charset="-122"/>
                <a:ea typeface="方正舒体" panose="02010601030101010101" charset="-122"/>
                <a:sym typeface="+mn-ea"/>
              </a:rPr>
              <a:t> </a:t>
            </a:r>
            <a:r>
              <a:rPr lang="en-US" altLang="zh-CN" sz="4000" u="sng">
                <a:solidFill>
                  <a:srgbClr val="4D4D4D"/>
                </a:solidFill>
                <a:latin typeface="-apple-system"/>
                <a:ea typeface="-apple-system"/>
                <a:sym typeface="+mn-ea"/>
              </a:rPr>
              <a:t>join( )</a:t>
            </a:r>
            <a:endParaRPr lang="zh-CN" altLang="en-US" sz="4000">
              <a:solidFill>
                <a:schemeClr val="tx1"/>
              </a:solidFill>
              <a:latin typeface="华文行楷" panose="02010800040101010101" charset="-122"/>
              <a:ea typeface="华文行楷" panose="02010800040101010101"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2"/>
          </p:nvPr>
        </p:nvSpPr>
        <p:spPr/>
        <p:txBody>
          <a:bodyPr/>
          <a:p>
            <a:fld id="{EB7C6F6D-FFA8-468C-AF6A-CB4C27E2EEF8}" type="slidenum">
              <a:rPr lang="zh-CN" altLang="en-US" smtClean="0"/>
            </a:fld>
            <a:endParaRPr lang="en-US" altLang="zh-CN"/>
          </a:p>
        </p:txBody>
      </p:sp>
      <p:sp>
        <p:nvSpPr>
          <p:cNvPr id="3" name="文本框 2"/>
          <p:cNvSpPr txBox="1"/>
          <p:nvPr/>
        </p:nvSpPr>
        <p:spPr>
          <a:xfrm>
            <a:off x="445770" y="375285"/>
            <a:ext cx="5494655" cy="1014730"/>
          </a:xfrm>
          <a:prstGeom prst="rect">
            <a:avLst/>
          </a:prstGeom>
          <a:noFill/>
        </p:spPr>
        <p:txBody>
          <a:bodyPr wrap="square" rtlCol="0">
            <a:spAutoFit/>
          </a:bodyPr>
          <a:p>
            <a:r>
              <a:rPr lang="en-US" altLang="zh-CN" sz="6000">
                <a:solidFill>
                  <a:schemeClr val="tx1"/>
                </a:solidFill>
                <a:latin typeface="华文行楷" panose="02010800040101010101" charset="-122"/>
                <a:ea typeface="华文行楷" panose="02010800040101010101" charset="-122"/>
              </a:rPr>
              <a:t>·</a:t>
            </a:r>
            <a:r>
              <a:rPr lang="zh-CN" altLang="en-US" sz="6000">
                <a:solidFill>
                  <a:schemeClr val="tx1"/>
                </a:solidFill>
                <a:latin typeface="华文行楷" panose="02010800040101010101" charset="-122"/>
                <a:ea typeface="华文行楷" panose="02010800040101010101" charset="-122"/>
              </a:rPr>
              <a:t>带权并查集</a:t>
            </a:r>
            <a:endParaRPr lang="zh-CN" altLang="en-US" sz="6000">
              <a:solidFill>
                <a:schemeClr val="tx1"/>
              </a:solidFill>
              <a:latin typeface="华文行楷" panose="02010800040101010101" charset="-122"/>
              <a:ea typeface="华文行楷" panose="02010800040101010101" charset="-122"/>
            </a:endParaRPr>
          </a:p>
        </p:txBody>
      </p:sp>
      <p:sp>
        <p:nvSpPr>
          <p:cNvPr id="22" name="文本框 21"/>
          <p:cNvSpPr txBox="1"/>
          <p:nvPr/>
        </p:nvSpPr>
        <p:spPr>
          <a:xfrm>
            <a:off x="2583815" y="3168015"/>
            <a:ext cx="7017385" cy="706755"/>
          </a:xfrm>
          <a:prstGeom prst="rect">
            <a:avLst/>
          </a:prstGeom>
          <a:noFill/>
        </p:spPr>
        <p:txBody>
          <a:bodyPr wrap="square" rtlCol="0">
            <a:spAutoFit/>
          </a:bodyPr>
          <a:p>
            <a:r>
              <a:rPr lang="en-GB" altLang="zh-CN" sz="4000" dirty="0">
                <a:solidFill>
                  <a:schemeClr val="tx1"/>
                </a:solidFill>
                <a:latin typeface="方正舒体" panose="02010601030101010101" charset="-122"/>
                <a:ea typeface="方正舒体" panose="02010601030101010101" charset="-122"/>
                <a:cs typeface="方正舒体" panose="02010601030101010101" charset="-122"/>
              </a:rPr>
              <a:t>P1196 [NOI2002] </a:t>
            </a:r>
            <a:r>
              <a:rPr lang="zh-CN" altLang="en-US" sz="4000" dirty="0">
                <a:solidFill>
                  <a:schemeClr val="tx1"/>
                </a:solidFill>
                <a:latin typeface="方正舒体" panose="02010601030101010101" charset="-122"/>
                <a:ea typeface="方正舒体" panose="02010601030101010101" charset="-122"/>
                <a:cs typeface="方正舒体" panose="02010601030101010101" charset="-122"/>
              </a:rPr>
              <a:t>银河英雄传说</a:t>
            </a:r>
            <a:endParaRPr lang="zh-CN" altLang="en-US" sz="4000" dirty="0">
              <a:solidFill>
                <a:schemeClr val="tx1"/>
              </a:solidFill>
              <a:latin typeface="方正舒体" panose="02010601030101010101" charset="-122"/>
              <a:ea typeface="方正舒体" panose="02010601030101010101" charset="-122"/>
              <a:cs typeface="方正舒体" panose="02010601030101010101"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598620" y="527605"/>
            <a:ext cx="10069305" cy="706755"/>
          </a:xfrm>
          <a:prstGeom prst="rect">
            <a:avLst/>
          </a:prstGeom>
          <a:noFill/>
        </p:spPr>
        <p:txBody>
          <a:bodyPr wrap="square">
            <a:spAutoFit/>
          </a:bodyPr>
          <a:lstStyle/>
          <a:p>
            <a:pPr algn="l"/>
            <a:r>
              <a:rPr lang="zh-CN" altLang="en-US" sz="2800" spc="300" dirty="0">
                <a:solidFill>
                  <a:srgbClr val="FF0000"/>
                </a:solidFill>
                <a:latin typeface="微软雅黑" panose="020B0503020204020204" pitchFamily="34" charset="-122"/>
                <a:ea typeface="微软雅黑" panose="020B0503020204020204" pitchFamily="34" charset="-122"/>
              </a:rPr>
              <a:t>基于贪心的两种算法：（</a:t>
            </a:r>
            <a:r>
              <a:rPr lang="en-US" altLang="zh-CN" sz="2800" spc="300" dirty="0">
                <a:solidFill>
                  <a:srgbClr val="FF0000"/>
                </a:solidFill>
                <a:latin typeface="微软雅黑" panose="020B0503020204020204" pitchFamily="34" charset="-122"/>
                <a:ea typeface="微软雅黑" panose="020B0503020204020204" pitchFamily="34" charset="-122"/>
              </a:rPr>
              <a:t>1</a:t>
            </a:r>
            <a:r>
              <a:rPr lang="zh-CN" altLang="en-US" sz="2800" spc="300" dirty="0">
                <a:solidFill>
                  <a:srgbClr val="FF0000"/>
                </a:solidFill>
                <a:latin typeface="微软雅黑" panose="020B0503020204020204" pitchFamily="34" charset="-122"/>
                <a:ea typeface="微软雅黑" panose="020B0503020204020204" pitchFamily="34" charset="-122"/>
              </a:rPr>
              <a:t>）</a:t>
            </a:r>
            <a:r>
              <a:rPr lang="en-US" altLang="zh-CN" sz="4000" u="sng" spc="300" dirty="0">
                <a:solidFill>
                  <a:srgbClr val="FF0000"/>
                </a:solidFill>
                <a:latin typeface="华文新魏" panose="02010800040101010101" pitchFamily="2" charset="-122"/>
                <a:ea typeface="华文新魏" panose="02010800040101010101" pitchFamily="2" charset="-122"/>
                <a:cs typeface="华文新魏" panose="02010800040101010101" pitchFamily="2" charset="-122"/>
              </a:rPr>
              <a:t>prim</a:t>
            </a:r>
            <a:r>
              <a:rPr lang="zh-CN" altLang="en-US" sz="4000" u="sng" spc="300" dirty="0">
                <a:solidFill>
                  <a:srgbClr val="FF0000"/>
                </a:solidFill>
                <a:latin typeface="华文新魏" panose="02010800040101010101" pitchFamily="2" charset="-122"/>
                <a:ea typeface="华文新魏" panose="02010800040101010101" pitchFamily="2" charset="-122"/>
                <a:cs typeface="华文新魏" panose="02010800040101010101" pitchFamily="2" charset="-122"/>
              </a:rPr>
              <a:t>算法</a:t>
            </a:r>
            <a:endParaRPr lang="zh-CN" altLang="en-US" sz="4000" u="sng" spc="300" dirty="0">
              <a:solidFill>
                <a:srgbClr val="FF0000"/>
              </a:solidFill>
              <a:latin typeface="华文新魏" panose="02010800040101010101" pitchFamily="2" charset="-122"/>
              <a:ea typeface="华文新魏" panose="02010800040101010101" pitchFamily="2" charset="-122"/>
              <a:cs typeface="华文新魏" panose="02010800040101010101" pitchFamily="2" charset="-122"/>
            </a:endParaRPr>
          </a:p>
        </p:txBody>
      </p:sp>
      <p:sp>
        <p:nvSpPr>
          <p:cNvPr id="10" name="标题 1"/>
          <p:cNvSpPr txBox="1">
            <a:spLocks noChangeArrowheads="1"/>
          </p:cNvSpPr>
          <p:nvPr/>
        </p:nvSpPr>
        <p:spPr>
          <a:xfrm>
            <a:off x="1072625" y="1679575"/>
            <a:ext cx="4032250" cy="4699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endParaRPr lang="zh-CN" altLang="en-US" sz="1400" dirty="0">
              <a:solidFill>
                <a:srgbClr val="FF0000"/>
              </a:solidFill>
            </a:endParaRPr>
          </a:p>
        </p:txBody>
      </p:sp>
      <p:sp>
        <p:nvSpPr>
          <p:cNvPr id="12" name="内容占位符 2"/>
          <p:cNvSpPr txBox="1">
            <a:spLocks noChangeArrowheads="1"/>
          </p:cNvSpPr>
          <p:nvPr/>
        </p:nvSpPr>
        <p:spPr>
          <a:xfrm>
            <a:off x="903621" y="1906065"/>
            <a:ext cx="10183764" cy="3046095"/>
          </a:xfrm>
          <a:prstGeom prst="rect">
            <a:avLst/>
          </a:prstGeom>
          <a:noFill/>
        </p:spPr>
        <p:txBody>
          <a:bodyPr wrap="square" rtlCol="0">
            <a:spAutoFit/>
          </a:bodyPr>
          <a:lstStyle>
            <a:defPPr>
              <a:defRPr lang="en-US"/>
            </a:defPPr>
            <a:lvl1pPr marL="342900" indent="-342900">
              <a:lnSpc>
                <a:spcPct val="150000"/>
              </a:lnSpc>
              <a:buFont typeface="Wingdings" panose="05000000000000000000" pitchFamily="2" charset="2"/>
              <a:buChar char="Ø"/>
              <a:defRPr sz="2400">
                <a:solidFill>
                  <a:schemeClr val="tx1"/>
                </a:solidFill>
                <a:latin typeface="微软雅黑" panose="020B0503020204020204" pitchFamily="34" charset="-122"/>
                <a:ea typeface="微软雅黑" panose="020B0503020204020204" pitchFamily="34" charset="-122"/>
              </a:defRPr>
            </a:lvl1pPr>
          </a:lstStyle>
          <a:p>
            <a:r>
              <a:rPr lang="zh-CN" altLang="en-US" sz="3200" dirty="0">
                <a:latin typeface="幼圆" panose="02010509060101010101" pitchFamily="49" charset="-122"/>
                <a:ea typeface="幼圆" panose="02010509060101010101" pitchFamily="49" charset="-122"/>
                <a:cs typeface="幼圆" panose="02010509060101010101" pitchFamily="49" charset="-122"/>
              </a:rPr>
              <a:t>对</a:t>
            </a:r>
            <a:r>
              <a:rPr lang="zh-CN" altLang="en-US" sz="3200" dirty="0">
                <a:solidFill>
                  <a:schemeClr val="bg2">
                    <a:lumMod val="50000"/>
                  </a:schemeClr>
                </a:solidFill>
                <a:latin typeface="幼圆" panose="02010509060101010101" pitchFamily="49" charset="-122"/>
                <a:ea typeface="幼圆" panose="02010509060101010101" pitchFamily="49" charset="-122"/>
                <a:cs typeface="幼圆" panose="02010509060101010101" pitchFamily="49" charset="-122"/>
              </a:rPr>
              <a:t>点</a:t>
            </a:r>
            <a:r>
              <a:rPr lang="zh-CN" altLang="en-US" sz="3200" dirty="0">
                <a:latin typeface="幼圆" panose="02010509060101010101" pitchFamily="49" charset="-122"/>
                <a:ea typeface="幼圆" panose="02010509060101010101" pitchFamily="49" charset="-122"/>
                <a:cs typeface="幼圆" panose="02010509060101010101" pitchFamily="49" charset="-122"/>
              </a:rPr>
              <a:t>进行贪心</a:t>
            </a:r>
            <a:r>
              <a:rPr lang="zh-CN" altLang="en-US" sz="3200" dirty="0" smtClean="0">
                <a:latin typeface="幼圆" panose="02010509060101010101" pitchFamily="49" charset="-122"/>
                <a:ea typeface="幼圆" panose="02010509060101010101" pitchFamily="49" charset="-122"/>
                <a:cs typeface="幼圆" panose="02010509060101010101" pitchFamily="49" charset="-122"/>
              </a:rPr>
              <a:t>操作：“</a:t>
            </a:r>
            <a:r>
              <a:rPr lang="zh-CN" altLang="en-US" sz="3200" dirty="0">
                <a:latin typeface="幼圆" panose="02010509060101010101" pitchFamily="49" charset="-122"/>
                <a:ea typeface="幼圆" panose="02010509060101010101" pitchFamily="49" charset="-122"/>
                <a:cs typeface="幼圆" panose="02010509060101010101" pitchFamily="49" charset="-122"/>
              </a:rPr>
              <a:t>最近的邻居一定在</a:t>
            </a:r>
            <a:r>
              <a:rPr lang="en-US" altLang="zh-CN" sz="3200" dirty="0">
                <a:latin typeface="幼圆" panose="02010509060101010101" pitchFamily="49" charset="-122"/>
                <a:ea typeface="幼圆" panose="02010509060101010101" pitchFamily="49" charset="-122"/>
                <a:cs typeface="幼圆" panose="02010509060101010101" pitchFamily="49" charset="-122"/>
              </a:rPr>
              <a:t>MST</a:t>
            </a:r>
            <a:r>
              <a:rPr lang="zh-CN" altLang="en-US" sz="3200" dirty="0">
                <a:latin typeface="幼圆" panose="02010509060101010101" pitchFamily="49" charset="-122"/>
                <a:ea typeface="幼圆" panose="02010509060101010101" pitchFamily="49" charset="-122"/>
                <a:cs typeface="幼圆" panose="02010509060101010101" pitchFamily="49" charset="-122"/>
              </a:rPr>
              <a:t>上”</a:t>
            </a:r>
            <a:endParaRPr lang="zh-CN" altLang="en-US" sz="3200" dirty="0">
              <a:latin typeface="幼圆" panose="02010509060101010101" pitchFamily="49" charset="-122"/>
              <a:ea typeface="幼圆" panose="02010509060101010101" pitchFamily="49" charset="-122"/>
              <a:cs typeface="幼圆" panose="02010509060101010101" pitchFamily="49" charset="-122"/>
            </a:endParaRPr>
          </a:p>
          <a:p>
            <a:r>
              <a:rPr lang="zh-CN" altLang="en-US" sz="3200" dirty="0">
                <a:latin typeface="幼圆" panose="02010509060101010101" pitchFamily="49" charset="-122"/>
                <a:ea typeface="幼圆" panose="02010509060101010101" pitchFamily="49" charset="-122"/>
                <a:cs typeface="幼圆" panose="02010509060101010101" pitchFamily="49" charset="-122"/>
              </a:rPr>
              <a:t>从任意一个点</a:t>
            </a:r>
            <a:r>
              <a:rPr lang="en-US" altLang="zh-CN" sz="3200" dirty="0">
                <a:latin typeface="幼圆" panose="02010509060101010101" pitchFamily="49" charset="-122"/>
                <a:ea typeface="幼圆" panose="02010509060101010101" pitchFamily="49" charset="-122"/>
                <a:cs typeface="幼圆" panose="02010509060101010101" pitchFamily="49" charset="-122"/>
              </a:rPr>
              <a:t>u</a:t>
            </a:r>
            <a:r>
              <a:rPr lang="zh-CN" altLang="en-US" sz="3200" dirty="0">
                <a:latin typeface="幼圆" panose="02010509060101010101" pitchFamily="49" charset="-122"/>
                <a:ea typeface="幼圆" panose="02010509060101010101" pitchFamily="49" charset="-122"/>
                <a:cs typeface="幼圆" panose="02010509060101010101" pitchFamily="49" charset="-122"/>
              </a:rPr>
              <a:t>开始，把距离它最近的点</a:t>
            </a:r>
            <a:r>
              <a:rPr lang="en-US" altLang="zh-CN" sz="3200" dirty="0">
                <a:latin typeface="幼圆" panose="02010509060101010101" pitchFamily="49" charset="-122"/>
                <a:ea typeface="幼圆" panose="02010509060101010101" pitchFamily="49" charset="-122"/>
                <a:cs typeface="幼圆" panose="02010509060101010101" pitchFamily="49" charset="-122"/>
              </a:rPr>
              <a:t>v</a:t>
            </a:r>
            <a:r>
              <a:rPr lang="zh-CN" altLang="en-US" sz="3200" dirty="0">
                <a:latin typeface="幼圆" panose="02010509060101010101" pitchFamily="49" charset="-122"/>
                <a:ea typeface="幼圆" panose="02010509060101010101" pitchFamily="49" charset="-122"/>
                <a:cs typeface="幼圆" panose="02010509060101010101" pitchFamily="49" charset="-122"/>
              </a:rPr>
              <a:t>加入到</a:t>
            </a:r>
            <a:r>
              <a:rPr lang="en-US" altLang="zh-CN" sz="3200" dirty="0">
                <a:latin typeface="幼圆" panose="02010509060101010101" pitchFamily="49" charset="-122"/>
                <a:ea typeface="幼圆" panose="02010509060101010101" pitchFamily="49" charset="-122"/>
                <a:cs typeface="幼圆" panose="02010509060101010101" pitchFamily="49" charset="-122"/>
              </a:rPr>
              <a:t>MST</a:t>
            </a:r>
            <a:r>
              <a:rPr lang="zh-CN" altLang="en-US" sz="3200" dirty="0">
                <a:latin typeface="幼圆" panose="02010509060101010101" pitchFamily="49" charset="-122"/>
                <a:ea typeface="幼圆" panose="02010509060101010101" pitchFamily="49" charset="-122"/>
                <a:cs typeface="幼圆" panose="02010509060101010101" pitchFamily="49" charset="-122"/>
              </a:rPr>
              <a:t>中；</a:t>
            </a:r>
            <a:endParaRPr lang="zh-CN" altLang="en-US" sz="3200" dirty="0">
              <a:latin typeface="幼圆" panose="02010509060101010101" pitchFamily="49" charset="-122"/>
              <a:ea typeface="幼圆" panose="02010509060101010101" pitchFamily="49" charset="-122"/>
              <a:cs typeface="幼圆" panose="02010509060101010101" pitchFamily="49" charset="-122"/>
            </a:endParaRPr>
          </a:p>
          <a:p>
            <a:r>
              <a:rPr lang="zh-CN" altLang="en-US" sz="3200" dirty="0">
                <a:latin typeface="幼圆" panose="02010509060101010101" pitchFamily="49" charset="-122"/>
                <a:ea typeface="幼圆" panose="02010509060101010101" pitchFamily="49" charset="-122"/>
                <a:cs typeface="幼圆" panose="02010509060101010101" pitchFamily="49" charset="-122"/>
              </a:rPr>
              <a:t>下一步，把距离</a:t>
            </a:r>
            <a:r>
              <a:rPr lang="en-US" altLang="zh-CN" sz="3200" dirty="0">
                <a:latin typeface="幼圆" panose="02010509060101010101" pitchFamily="49" charset="-122"/>
                <a:ea typeface="幼圆" panose="02010509060101010101" pitchFamily="49" charset="-122"/>
                <a:cs typeface="幼圆" panose="02010509060101010101" pitchFamily="49" charset="-122"/>
              </a:rPr>
              <a:t>{u, v}</a:t>
            </a:r>
            <a:r>
              <a:rPr lang="zh-CN" altLang="en-US" sz="3200" dirty="0">
                <a:latin typeface="幼圆" panose="02010509060101010101" pitchFamily="49" charset="-122"/>
                <a:ea typeface="幼圆" panose="02010509060101010101" pitchFamily="49" charset="-122"/>
                <a:cs typeface="幼圆" panose="02010509060101010101" pitchFamily="49" charset="-122"/>
              </a:rPr>
              <a:t>最近的点</a:t>
            </a:r>
            <a:r>
              <a:rPr lang="en-US" altLang="zh-CN" sz="3200" dirty="0">
                <a:latin typeface="幼圆" panose="02010509060101010101" pitchFamily="49" charset="-122"/>
                <a:ea typeface="幼圆" panose="02010509060101010101" pitchFamily="49" charset="-122"/>
                <a:cs typeface="幼圆" panose="02010509060101010101" pitchFamily="49" charset="-122"/>
              </a:rPr>
              <a:t>w</a:t>
            </a:r>
            <a:r>
              <a:rPr lang="zh-CN" altLang="en-US" sz="3200" dirty="0">
                <a:latin typeface="幼圆" panose="02010509060101010101" pitchFamily="49" charset="-122"/>
                <a:ea typeface="幼圆" panose="02010509060101010101" pitchFamily="49" charset="-122"/>
                <a:cs typeface="幼圆" panose="02010509060101010101" pitchFamily="49" charset="-122"/>
              </a:rPr>
              <a:t>加入到</a:t>
            </a:r>
            <a:r>
              <a:rPr lang="en-US" altLang="zh-CN" sz="3200" dirty="0">
                <a:latin typeface="幼圆" panose="02010509060101010101" pitchFamily="49" charset="-122"/>
                <a:ea typeface="幼圆" panose="02010509060101010101" pitchFamily="49" charset="-122"/>
                <a:cs typeface="幼圆" panose="02010509060101010101" pitchFamily="49" charset="-122"/>
              </a:rPr>
              <a:t>MST</a:t>
            </a:r>
            <a:r>
              <a:rPr lang="zh-CN" altLang="en-US" sz="3200" dirty="0">
                <a:latin typeface="幼圆" panose="02010509060101010101" pitchFamily="49" charset="-122"/>
                <a:ea typeface="幼圆" panose="02010509060101010101" pitchFamily="49" charset="-122"/>
                <a:cs typeface="幼圆" panose="02010509060101010101" pitchFamily="49" charset="-122"/>
              </a:rPr>
              <a:t>中；</a:t>
            </a:r>
            <a:endParaRPr lang="zh-CN" altLang="en-US" sz="3200" dirty="0">
              <a:latin typeface="幼圆" panose="02010509060101010101" pitchFamily="49" charset="-122"/>
              <a:ea typeface="幼圆" panose="02010509060101010101" pitchFamily="49" charset="-122"/>
              <a:cs typeface="幼圆" panose="02010509060101010101" pitchFamily="49" charset="-122"/>
            </a:endParaRPr>
          </a:p>
          <a:p>
            <a:r>
              <a:rPr lang="zh-CN" altLang="en-US" sz="3200" dirty="0">
                <a:latin typeface="幼圆" panose="02010509060101010101" pitchFamily="49" charset="-122"/>
                <a:ea typeface="幼圆" panose="02010509060101010101" pitchFamily="49" charset="-122"/>
                <a:cs typeface="幼圆" panose="02010509060101010101" pitchFamily="49" charset="-122"/>
              </a:rPr>
              <a:t>重复这个过程，直到所有点都在</a:t>
            </a:r>
            <a:r>
              <a:rPr lang="en-US" altLang="zh-CN" sz="3200" dirty="0">
                <a:latin typeface="幼圆" panose="02010509060101010101" pitchFamily="49" charset="-122"/>
                <a:ea typeface="幼圆" panose="02010509060101010101" pitchFamily="49" charset="-122"/>
                <a:cs typeface="幼圆" panose="02010509060101010101" pitchFamily="49" charset="-122"/>
              </a:rPr>
              <a:t>T</a:t>
            </a:r>
            <a:r>
              <a:rPr lang="zh-CN" altLang="en-US" sz="3200" dirty="0">
                <a:latin typeface="幼圆" panose="02010509060101010101" pitchFamily="49" charset="-122"/>
                <a:ea typeface="幼圆" panose="02010509060101010101" pitchFamily="49" charset="-122"/>
                <a:cs typeface="幼圆" panose="02010509060101010101" pitchFamily="49" charset="-122"/>
              </a:rPr>
              <a:t>中。</a:t>
            </a:r>
            <a:endParaRPr lang="zh-CN" altLang="en-US" sz="3200" dirty="0">
              <a:latin typeface="幼圆" panose="02010509060101010101" pitchFamily="49" charset="-122"/>
              <a:ea typeface="幼圆" panose="02010509060101010101" pitchFamily="49" charset="-122"/>
              <a:cs typeface="幼圆" panose="02010509060101010101" pitchFamily="49" charset="-122"/>
            </a:endParaRPr>
          </a:p>
        </p:txBody>
      </p:sp>
    </p:spTree>
    <p:custDataLst>
      <p:tags r:id="rId1"/>
    </p:custDataLst>
  </p:cSld>
  <p:clrMapOvr>
    <a:masterClrMapping/>
  </p:clrMapOvr>
  <p:transition spd="slow" advClick="0" advTm="34749">
    <p:push dir="u"/>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891601" y="483919"/>
            <a:ext cx="7659924" cy="523213"/>
          </a:xfrm>
          <a:prstGeom prst="rect">
            <a:avLst/>
          </a:prstGeom>
          <a:noFill/>
        </p:spPr>
        <p:txBody>
          <a:bodyPr wrap="square">
            <a:spAutoFit/>
          </a:bodyPr>
          <a:lstStyle>
            <a:defPPr>
              <a:defRPr lang="en-US"/>
            </a:defPPr>
            <a:lvl1pPr>
              <a:defRPr sz="2800" spc="300">
                <a:solidFill>
                  <a:srgbClr val="FF0000"/>
                </a:solidFill>
                <a:latin typeface="微软雅黑" panose="020B0503020204020204" pitchFamily="34" charset="-122"/>
                <a:ea typeface="微软雅黑" panose="020B0503020204020204" pitchFamily="34" charset="-122"/>
              </a:defRPr>
            </a:lvl1pPr>
          </a:lstStyle>
          <a:p>
            <a:r>
              <a:rPr lang="en-US" altLang="zh-CN" dirty="0"/>
              <a:t>Prim</a:t>
            </a:r>
            <a:r>
              <a:rPr lang="zh-CN" altLang="en-US" dirty="0"/>
              <a:t>算法</a:t>
            </a:r>
            <a:endParaRPr lang="zh-CN" altLang="en-US" dirty="0"/>
          </a:p>
        </p:txBody>
      </p:sp>
      <p:sp>
        <p:nvSpPr>
          <p:cNvPr id="10" name="内容占位符 2"/>
          <p:cNvSpPr txBox="1"/>
          <p:nvPr/>
        </p:nvSpPr>
        <p:spPr>
          <a:xfrm>
            <a:off x="891540" y="4345305"/>
            <a:ext cx="10701655" cy="2422525"/>
          </a:xfrm>
          <a:prstGeom prst="rect">
            <a:avLst/>
          </a:prstGeom>
          <a:noFill/>
        </p:spPr>
        <p:txBody>
          <a:bodyPr wrap="square" rtlCol="0">
            <a:noAutofit/>
          </a:bodyPr>
          <a:lstStyle>
            <a:defPPr>
              <a:defRPr lang="en-US"/>
            </a:defPPr>
            <a:lvl1pPr marL="342900" indent="-342900">
              <a:lnSpc>
                <a:spcPct val="150000"/>
              </a:lnSpc>
              <a:buFont typeface="Wingdings" panose="05000000000000000000" pitchFamily="2" charset="2"/>
              <a:buChar char="Ø"/>
              <a:defRPr sz="2400">
                <a:solidFill>
                  <a:schemeClr val="tx1"/>
                </a:solidFill>
                <a:latin typeface="微软雅黑" panose="020B0503020204020204" pitchFamily="34" charset="-122"/>
                <a:ea typeface="微软雅黑" panose="020B0503020204020204" pitchFamily="34" charset="-122"/>
              </a:defRPr>
            </a:lvl1pPr>
          </a:lstStyle>
          <a:p>
            <a:pPr marL="0" indent="0">
              <a:lnSpc>
                <a:spcPct val="100000"/>
              </a:lnSpc>
              <a:buNone/>
            </a:pPr>
            <a:r>
              <a:rPr lang="zh-CN" altLang="en-US" dirty="0">
                <a:solidFill>
                  <a:schemeClr val="bg2">
                    <a:lumMod val="50000"/>
                  </a:schemeClr>
                </a:solidFill>
              </a:rPr>
              <a:t>（</a:t>
            </a:r>
            <a:r>
              <a:rPr lang="en-US" altLang="zh-CN" dirty="0">
                <a:solidFill>
                  <a:schemeClr val="bg2">
                    <a:lumMod val="50000"/>
                  </a:schemeClr>
                </a:solidFill>
              </a:rPr>
              <a:t>1</a:t>
            </a:r>
            <a:r>
              <a:rPr lang="zh-CN" altLang="en-US" dirty="0">
                <a:solidFill>
                  <a:schemeClr val="bg2">
                    <a:lumMod val="50000"/>
                  </a:schemeClr>
                </a:solidFill>
              </a:rPr>
              <a:t>）任取一点，例如点</a:t>
            </a:r>
            <a:r>
              <a:rPr lang="en-US" altLang="zh-CN" dirty="0">
                <a:solidFill>
                  <a:schemeClr val="bg2">
                    <a:lumMod val="50000"/>
                  </a:schemeClr>
                </a:solidFill>
              </a:rPr>
              <a:t>1</a:t>
            </a:r>
            <a:r>
              <a:rPr lang="zh-CN" altLang="en-US" dirty="0">
                <a:solidFill>
                  <a:schemeClr val="bg2">
                    <a:lumMod val="50000"/>
                  </a:schemeClr>
                </a:solidFill>
              </a:rPr>
              <a:t>，放到</a:t>
            </a:r>
            <a:r>
              <a:rPr lang="en-US" altLang="zh-CN" dirty="0">
                <a:solidFill>
                  <a:schemeClr val="bg2">
                    <a:lumMod val="50000"/>
                  </a:schemeClr>
                </a:solidFill>
              </a:rPr>
              <a:t>U</a:t>
            </a:r>
            <a:r>
              <a:rPr lang="zh-CN" altLang="en-US" dirty="0">
                <a:solidFill>
                  <a:schemeClr val="bg2">
                    <a:lumMod val="50000"/>
                  </a:schemeClr>
                </a:solidFill>
              </a:rPr>
              <a:t>中，</a:t>
            </a:r>
            <a:r>
              <a:rPr lang="en-US" altLang="zh-CN" dirty="0">
                <a:solidFill>
                  <a:schemeClr val="bg2">
                    <a:lumMod val="50000"/>
                  </a:schemeClr>
                </a:solidFill>
              </a:rPr>
              <a:t>U={1}</a:t>
            </a:r>
            <a:r>
              <a:rPr lang="zh-CN" altLang="en-US" dirty="0">
                <a:solidFill>
                  <a:schemeClr val="bg2">
                    <a:lumMod val="50000"/>
                  </a:schemeClr>
                </a:solidFill>
              </a:rPr>
              <a:t>。</a:t>
            </a:r>
            <a:endParaRPr lang="zh-CN" altLang="en-US" dirty="0">
              <a:solidFill>
                <a:schemeClr val="bg2">
                  <a:lumMod val="50000"/>
                </a:schemeClr>
              </a:solidFill>
            </a:endParaRPr>
          </a:p>
          <a:p>
            <a:pPr marL="0" indent="0">
              <a:lnSpc>
                <a:spcPct val="100000"/>
              </a:lnSpc>
              <a:buNone/>
            </a:pPr>
            <a:r>
              <a:rPr lang="zh-CN" altLang="en-US" dirty="0">
                <a:solidFill>
                  <a:schemeClr val="bg2">
                    <a:lumMod val="50000"/>
                  </a:schemeClr>
                </a:solidFill>
              </a:rPr>
              <a:t>（</a:t>
            </a:r>
            <a:r>
              <a:rPr lang="en-US" altLang="zh-CN" dirty="0">
                <a:solidFill>
                  <a:schemeClr val="bg2">
                    <a:lumMod val="50000"/>
                  </a:schemeClr>
                </a:solidFill>
              </a:rPr>
              <a:t>2</a:t>
            </a:r>
            <a:r>
              <a:rPr lang="zh-CN" altLang="en-US" dirty="0">
                <a:solidFill>
                  <a:schemeClr val="bg2">
                    <a:lumMod val="50000"/>
                  </a:schemeClr>
                </a:solidFill>
              </a:rPr>
              <a:t>）找离集合</a:t>
            </a:r>
            <a:r>
              <a:rPr lang="en-US" altLang="zh-CN" dirty="0">
                <a:solidFill>
                  <a:schemeClr val="bg2">
                    <a:lumMod val="50000"/>
                  </a:schemeClr>
                </a:solidFill>
              </a:rPr>
              <a:t>U</a:t>
            </a:r>
            <a:r>
              <a:rPr lang="zh-CN" altLang="en-US" dirty="0">
                <a:solidFill>
                  <a:schemeClr val="bg2">
                    <a:lumMod val="50000"/>
                  </a:schemeClr>
                </a:solidFill>
              </a:rPr>
              <a:t>中的点最近的邻居，即</a:t>
            </a:r>
            <a:r>
              <a:rPr lang="en-US" altLang="zh-CN" dirty="0">
                <a:solidFill>
                  <a:schemeClr val="bg2">
                    <a:lumMod val="50000"/>
                  </a:schemeClr>
                </a:solidFill>
              </a:rPr>
              <a:t>1</a:t>
            </a:r>
            <a:r>
              <a:rPr lang="zh-CN" altLang="en-US" dirty="0">
                <a:solidFill>
                  <a:schemeClr val="bg2">
                    <a:lumMod val="50000"/>
                  </a:schemeClr>
                </a:solidFill>
              </a:rPr>
              <a:t>的邻居，是</a:t>
            </a:r>
            <a:r>
              <a:rPr lang="en-US" altLang="zh-CN" dirty="0">
                <a:solidFill>
                  <a:schemeClr val="bg2">
                    <a:lumMod val="50000"/>
                  </a:schemeClr>
                </a:solidFill>
              </a:rPr>
              <a:t>2 </a:t>
            </a:r>
            <a:r>
              <a:rPr lang="zh-CN" altLang="en-US" dirty="0">
                <a:solidFill>
                  <a:schemeClr val="bg2">
                    <a:lumMod val="50000"/>
                  </a:schemeClr>
                </a:solidFill>
              </a:rPr>
              <a:t>，放到</a:t>
            </a:r>
            <a:r>
              <a:rPr lang="en-US" altLang="zh-CN" dirty="0">
                <a:solidFill>
                  <a:schemeClr val="bg2">
                    <a:lumMod val="50000"/>
                  </a:schemeClr>
                </a:solidFill>
              </a:rPr>
              <a:t>U</a:t>
            </a:r>
            <a:r>
              <a:rPr lang="zh-CN" altLang="en-US" dirty="0">
                <a:solidFill>
                  <a:schemeClr val="bg2">
                    <a:lumMod val="50000"/>
                  </a:schemeClr>
                </a:solidFill>
              </a:rPr>
              <a:t>中，</a:t>
            </a:r>
            <a:r>
              <a:rPr lang="en-US" altLang="zh-CN" dirty="0">
                <a:solidFill>
                  <a:schemeClr val="bg2">
                    <a:lumMod val="50000"/>
                  </a:schemeClr>
                </a:solidFill>
              </a:rPr>
              <a:t>U={1, 2}</a:t>
            </a:r>
            <a:r>
              <a:rPr lang="zh-CN" altLang="en-US" dirty="0">
                <a:solidFill>
                  <a:schemeClr val="bg2">
                    <a:lumMod val="50000"/>
                  </a:schemeClr>
                </a:solidFill>
              </a:rPr>
              <a:t>。</a:t>
            </a:r>
            <a:endParaRPr lang="zh-CN" altLang="en-US" dirty="0">
              <a:solidFill>
                <a:schemeClr val="bg2">
                  <a:lumMod val="50000"/>
                </a:schemeClr>
              </a:solidFill>
            </a:endParaRPr>
          </a:p>
          <a:p>
            <a:pPr marL="0" indent="0">
              <a:lnSpc>
                <a:spcPct val="100000"/>
              </a:lnSpc>
              <a:buNone/>
            </a:pPr>
            <a:r>
              <a:rPr lang="zh-CN" altLang="en-US" dirty="0">
                <a:solidFill>
                  <a:schemeClr val="bg2">
                    <a:lumMod val="50000"/>
                  </a:schemeClr>
                </a:solidFill>
              </a:rPr>
              <a:t>（</a:t>
            </a:r>
            <a:r>
              <a:rPr lang="en-US" altLang="zh-CN" dirty="0">
                <a:solidFill>
                  <a:schemeClr val="bg2">
                    <a:lumMod val="50000"/>
                  </a:schemeClr>
                </a:solidFill>
              </a:rPr>
              <a:t>3</a:t>
            </a:r>
            <a:r>
              <a:rPr lang="zh-CN" altLang="en-US" dirty="0">
                <a:solidFill>
                  <a:schemeClr val="bg2">
                    <a:lumMod val="50000"/>
                  </a:schemeClr>
                </a:solidFill>
              </a:rPr>
              <a:t>）找离</a:t>
            </a:r>
            <a:r>
              <a:rPr lang="en-US" altLang="zh-CN" dirty="0">
                <a:solidFill>
                  <a:schemeClr val="bg2">
                    <a:lumMod val="50000"/>
                  </a:schemeClr>
                </a:solidFill>
              </a:rPr>
              <a:t>U</a:t>
            </a:r>
            <a:r>
              <a:rPr lang="zh-CN" altLang="en-US" dirty="0">
                <a:solidFill>
                  <a:schemeClr val="bg2">
                    <a:lumMod val="50000"/>
                  </a:schemeClr>
                </a:solidFill>
              </a:rPr>
              <a:t>最近的点，是</a:t>
            </a:r>
            <a:r>
              <a:rPr lang="en-US" altLang="zh-CN" dirty="0">
                <a:solidFill>
                  <a:schemeClr val="bg2">
                    <a:lumMod val="50000"/>
                  </a:schemeClr>
                </a:solidFill>
              </a:rPr>
              <a:t>5</a:t>
            </a:r>
            <a:r>
              <a:rPr lang="zh-CN" altLang="en-US" dirty="0">
                <a:solidFill>
                  <a:schemeClr val="bg2">
                    <a:lumMod val="50000"/>
                  </a:schemeClr>
                </a:solidFill>
              </a:rPr>
              <a:t>，</a:t>
            </a:r>
            <a:r>
              <a:rPr lang="en-US" altLang="zh-CN" dirty="0">
                <a:solidFill>
                  <a:schemeClr val="bg2">
                    <a:lumMod val="50000"/>
                  </a:schemeClr>
                </a:solidFill>
              </a:rPr>
              <a:t>U={1, 2, 5}</a:t>
            </a:r>
            <a:r>
              <a:rPr lang="zh-CN" altLang="en-US" dirty="0">
                <a:solidFill>
                  <a:schemeClr val="bg2">
                    <a:lumMod val="50000"/>
                  </a:schemeClr>
                </a:solidFill>
              </a:rPr>
              <a:t>。</a:t>
            </a:r>
            <a:endParaRPr lang="zh-CN" altLang="en-US" dirty="0">
              <a:solidFill>
                <a:schemeClr val="bg2">
                  <a:lumMod val="50000"/>
                </a:schemeClr>
              </a:solidFill>
            </a:endParaRPr>
          </a:p>
          <a:p>
            <a:pPr marL="0" indent="0">
              <a:lnSpc>
                <a:spcPct val="100000"/>
              </a:lnSpc>
              <a:buNone/>
            </a:pPr>
            <a:r>
              <a:rPr lang="zh-CN" altLang="en-US" dirty="0">
                <a:solidFill>
                  <a:schemeClr val="bg2">
                    <a:lumMod val="50000"/>
                  </a:schemeClr>
                </a:solidFill>
              </a:rPr>
              <a:t>（</a:t>
            </a:r>
            <a:r>
              <a:rPr lang="en-US" altLang="zh-CN" dirty="0">
                <a:solidFill>
                  <a:schemeClr val="bg2">
                    <a:lumMod val="50000"/>
                  </a:schemeClr>
                </a:solidFill>
              </a:rPr>
              <a:t>4</a:t>
            </a:r>
            <a:r>
              <a:rPr lang="zh-CN" altLang="en-US" dirty="0">
                <a:solidFill>
                  <a:schemeClr val="bg2">
                    <a:lumMod val="50000"/>
                  </a:schemeClr>
                </a:solidFill>
              </a:rPr>
              <a:t>）与</a:t>
            </a:r>
            <a:r>
              <a:rPr lang="en-US" altLang="zh-CN" dirty="0">
                <a:solidFill>
                  <a:schemeClr val="bg2">
                    <a:lumMod val="50000"/>
                  </a:schemeClr>
                </a:solidFill>
              </a:rPr>
              <a:t>U</a:t>
            </a:r>
            <a:r>
              <a:rPr lang="zh-CN" altLang="en-US" dirty="0">
                <a:solidFill>
                  <a:schemeClr val="bg2">
                    <a:lumMod val="50000"/>
                  </a:schemeClr>
                </a:solidFill>
              </a:rPr>
              <a:t>距离最短的是</a:t>
            </a:r>
            <a:r>
              <a:rPr lang="en-US" altLang="zh-CN" dirty="0">
                <a:solidFill>
                  <a:schemeClr val="bg2">
                    <a:lumMod val="50000"/>
                  </a:schemeClr>
                </a:solidFill>
              </a:rPr>
              <a:t>1</a:t>
            </a:r>
            <a:r>
              <a:rPr lang="zh-CN" altLang="en-US" dirty="0">
                <a:solidFill>
                  <a:schemeClr val="bg2">
                    <a:lumMod val="50000"/>
                  </a:schemeClr>
                </a:solidFill>
              </a:rPr>
              <a:t>、</a:t>
            </a:r>
            <a:r>
              <a:rPr lang="en-US" altLang="zh-CN" dirty="0">
                <a:solidFill>
                  <a:schemeClr val="bg2">
                    <a:lumMod val="50000"/>
                  </a:schemeClr>
                </a:solidFill>
              </a:rPr>
              <a:t>5</a:t>
            </a:r>
            <a:r>
              <a:rPr lang="zh-CN" altLang="en-US" dirty="0">
                <a:solidFill>
                  <a:schemeClr val="bg2">
                    <a:lumMod val="50000"/>
                  </a:schemeClr>
                </a:solidFill>
              </a:rPr>
              <a:t>之间的边，但是它没扩展新的点，不符合要求。</a:t>
            </a:r>
            <a:endParaRPr lang="zh-CN" altLang="en-US" dirty="0">
              <a:solidFill>
                <a:schemeClr val="bg2">
                  <a:lumMod val="50000"/>
                </a:schemeClr>
              </a:solidFill>
            </a:endParaRPr>
          </a:p>
          <a:p>
            <a:pPr marL="0" indent="0">
              <a:lnSpc>
                <a:spcPct val="100000"/>
              </a:lnSpc>
              <a:buNone/>
            </a:pPr>
            <a:r>
              <a:rPr lang="zh-CN" altLang="en-US" dirty="0">
                <a:solidFill>
                  <a:schemeClr val="bg2">
                    <a:lumMod val="50000"/>
                  </a:schemeClr>
                </a:solidFill>
              </a:rPr>
              <a:t>（</a:t>
            </a:r>
            <a:r>
              <a:rPr lang="en-US" altLang="zh-CN" dirty="0">
                <a:solidFill>
                  <a:schemeClr val="bg2">
                    <a:lumMod val="50000"/>
                  </a:schemeClr>
                </a:solidFill>
              </a:rPr>
              <a:t>5</a:t>
            </a:r>
            <a:r>
              <a:rPr lang="zh-CN" altLang="en-US" dirty="0">
                <a:solidFill>
                  <a:schemeClr val="bg2">
                    <a:lumMod val="50000"/>
                  </a:schemeClr>
                </a:solidFill>
              </a:rPr>
              <a:t>）加入</a:t>
            </a:r>
            <a:r>
              <a:rPr lang="en-US" altLang="zh-CN" dirty="0">
                <a:solidFill>
                  <a:schemeClr val="bg2">
                    <a:lumMod val="50000"/>
                  </a:schemeClr>
                </a:solidFill>
              </a:rPr>
              <a:t>4</a:t>
            </a:r>
            <a:r>
              <a:rPr lang="zh-CN" altLang="en-US" dirty="0">
                <a:solidFill>
                  <a:schemeClr val="bg2">
                    <a:lumMod val="50000"/>
                  </a:schemeClr>
                </a:solidFill>
              </a:rPr>
              <a:t>，</a:t>
            </a:r>
            <a:r>
              <a:rPr lang="en-US" altLang="zh-CN" dirty="0">
                <a:solidFill>
                  <a:schemeClr val="bg2">
                    <a:lumMod val="50000"/>
                  </a:schemeClr>
                </a:solidFill>
              </a:rPr>
              <a:t>U={1, 2, 5, 4}</a:t>
            </a:r>
            <a:r>
              <a:rPr lang="zh-CN" altLang="en-US" dirty="0">
                <a:solidFill>
                  <a:schemeClr val="bg2">
                    <a:lumMod val="50000"/>
                  </a:schemeClr>
                </a:solidFill>
              </a:rPr>
              <a:t>。</a:t>
            </a:r>
            <a:endParaRPr lang="zh-CN" altLang="en-US" dirty="0">
              <a:solidFill>
                <a:schemeClr val="bg2">
                  <a:lumMod val="50000"/>
                </a:schemeClr>
              </a:solidFill>
            </a:endParaRPr>
          </a:p>
          <a:p>
            <a:pPr marL="0" indent="0">
              <a:lnSpc>
                <a:spcPct val="100000"/>
              </a:lnSpc>
              <a:buNone/>
            </a:pPr>
            <a:r>
              <a:rPr lang="zh-CN" altLang="en-US" dirty="0">
                <a:solidFill>
                  <a:schemeClr val="bg2">
                    <a:lumMod val="50000"/>
                  </a:schemeClr>
                </a:solidFill>
              </a:rPr>
              <a:t>（</a:t>
            </a:r>
            <a:r>
              <a:rPr lang="en-US" altLang="zh-CN" dirty="0">
                <a:solidFill>
                  <a:schemeClr val="bg2">
                    <a:lumMod val="50000"/>
                  </a:schemeClr>
                </a:solidFill>
              </a:rPr>
              <a:t>6</a:t>
            </a:r>
            <a:r>
              <a:rPr lang="zh-CN" altLang="en-US" dirty="0">
                <a:solidFill>
                  <a:schemeClr val="bg2">
                    <a:lumMod val="50000"/>
                  </a:schemeClr>
                </a:solidFill>
              </a:rPr>
              <a:t>）加入</a:t>
            </a:r>
            <a:r>
              <a:rPr lang="en-US" altLang="zh-CN" dirty="0">
                <a:solidFill>
                  <a:schemeClr val="bg2">
                    <a:lumMod val="50000"/>
                  </a:schemeClr>
                </a:solidFill>
              </a:rPr>
              <a:t>3</a:t>
            </a:r>
            <a:r>
              <a:rPr lang="zh-CN" altLang="en-US" dirty="0">
                <a:solidFill>
                  <a:schemeClr val="bg2">
                    <a:lumMod val="50000"/>
                  </a:schemeClr>
                </a:solidFill>
              </a:rPr>
              <a:t>，</a:t>
            </a:r>
            <a:r>
              <a:rPr lang="en-US" altLang="zh-CN" dirty="0">
                <a:solidFill>
                  <a:schemeClr val="bg2">
                    <a:lumMod val="50000"/>
                  </a:schemeClr>
                </a:solidFill>
              </a:rPr>
              <a:t>U={1, 2, 5, 4, 3}</a:t>
            </a:r>
            <a:r>
              <a:rPr lang="zh-CN" altLang="en-US" dirty="0">
                <a:solidFill>
                  <a:schemeClr val="bg2">
                    <a:lumMod val="50000"/>
                  </a:schemeClr>
                </a:solidFill>
              </a:rPr>
              <a:t>。所有点都在</a:t>
            </a:r>
            <a:r>
              <a:rPr lang="en-US" altLang="zh-CN" dirty="0">
                <a:solidFill>
                  <a:schemeClr val="bg2">
                    <a:lumMod val="50000"/>
                  </a:schemeClr>
                </a:solidFill>
              </a:rPr>
              <a:t>U</a:t>
            </a:r>
            <a:r>
              <a:rPr lang="zh-CN" altLang="en-US" dirty="0">
                <a:solidFill>
                  <a:schemeClr val="bg2">
                    <a:lumMod val="50000"/>
                  </a:schemeClr>
                </a:solidFill>
              </a:rPr>
              <a:t>中，结束。</a:t>
            </a:r>
            <a:endParaRPr lang="zh-CN" altLang="en-US" dirty="0">
              <a:solidFill>
                <a:schemeClr val="bg2">
                  <a:lumMod val="50000"/>
                </a:schemeClr>
              </a:solidFill>
            </a:endParaRPr>
          </a:p>
          <a:p>
            <a:pPr marL="0" indent="0">
              <a:lnSpc>
                <a:spcPct val="100000"/>
              </a:lnSpc>
              <a:buNone/>
            </a:pPr>
            <a:endParaRPr lang="zh-CN" altLang="en-US" dirty="0">
              <a:solidFill>
                <a:schemeClr val="bg2">
                  <a:lumMod val="50000"/>
                </a:schemeClr>
              </a:solidFill>
            </a:endParaRPr>
          </a:p>
        </p:txBody>
      </p:sp>
      <p:pic>
        <p:nvPicPr>
          <p:cNvPr id="9" name="Picture 2" descr="C:\Users\luo\AppData\Local\Temp\ksohtml15192\wps1.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7665" y="1165225"/>
            <a:ext cx="11530330" cy="303784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2"/>
    </p:custDataLst>
  </p:cSld>
  <p:clrMapOvr>
    <a:masterClrMapping/>
  </p:clrMapOvr>
  <p:transition spd="slow" advClick="0" advTm="94433">
    <p:push dir="u"/>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2"/>
          </p:nvPr>
        </p:nvSpPr>
        <p:spPr/>
        <p:txBody>
          <a:bodyPr/>
          <a:p>
            <a:fld id="{EB7C6F6D-FFA8-468C-AF6A-CB4C27E2EEF8}" type="slidenum">
              <a:rPr lang="zh-CN" altLang="en-US" smtClean="0"/>
            </a:fld>
            <a:endParaRPr lang="en-US" altLang="zh-CN"/>
          </a:p>
        </p:txBody>
      </p:sp>
      <p:sp>
        <p:nvSpPr>
          <p:cNvPr id="3" name="文本框 2"/>
          <p:cNvSpPr txBox="1"/>
          <p:nvPr/>
        </p:nvSpPr>
        <p:spPr>
          <a:xfrm>
            <a:off x="2397760" y="833120"/>
            <a:ext cx="7396480" cy="706755"/>
          </a:xfrm>
          <a:prstGeom prst="rect">
            <a:avLst/>
          </a:prstGeom>
          <a:noFill/>
        </p:spPr>
        <p:txBody>
          <a:bodyPr wrap="square" rtlCol="0">
            <a:spAutoFit/>
          </a:bodyPr>
          <a:p>
            <a:r>
              <a:rPr lang="en-US" altLang="zh-CN" sz="4000">
                <a:solidFill>
                  <a:schemeClr val="tx1"/>
                </a:solidFill>
                <a:latin typeface="幼圆" panose="02010509060101010101" pitchFamily="49" charset="-122"/>
                <a:cs typeface="幼圆" panose="02010509060101010101" pitchFamily="49" charset="-122"/>
              </a:rPr>
              <a:t>“</a:t>
            </a:r>
            <a:r>
              <a:rPr lang="zh-CN" altLang="en-US" sz="4000">
                <a:solidFill>
                  <a:schemeClr val="tx1"/>
                </a:solidFill>
                <a:latin typeface="幼圆" panose="02010509060101010101" pitchFamily="49" charset="-122"/>
                <a:cs typeface="幼圆" panose="02010509060101010101" pitchFamily="49" charset="-122"/>
              </a:rPr>
              <a:t>从一个结点开始，不断加点</a:t>
            </a:r>
            <a:r>
              <a:rPr lang="en-US" altLang="zh-CN" sz="4000">
                <a:solidFill>
                  <a:schemeClr val="tx1"/>
                </a:solidFill>
                <a:latin typeface="幼圆" panose="02010509060101010101" pitchFamily="49" charset="-122"/>
                <a:cs typeface="幼圆" panose="02010509060101010101" pitchFamily="49" charset="-122"/>
              </a:rPr>
              <a:t>”</a:t>
            </a:r>
            <a:endParaRPr lang="en-US" altLang="zh-CN" sz="4000">
              <a:solidFill>
                <a:schemeClr val="tx1"/>
              </a:solidFill>
              <a:latin typeface="幼圆" panose="02010509060101010101" pitchFamily="49" charset="-122"/>
              <a:cs typeface="幼圆" panose="02010509060101010101" pitchFamily="49" charset="-122"/>
            </a:endParaRPr>
          </a:p>
        </p:txBody>
      </p:sp>
      <p:pic>
        <p:nvPicPr>
          <p:cNvPr id="8" name="图片 7"/>
          <p:cNvPicPr>
            <a:picLocks noChangeAspect="1"/>
          </p:cNvPicPr>
          <p:nvPr/>
        </p:nvPicPr>
        <p:blipFill rotWithShape="1">
          <a:blip r:embed="rId1">
            <a:extLst>
              <a:ext uri="{28A0092B-C50C-407E-A947-70E740481C1C}">
                <a14:useLocalDpi xmlns:a14="http://schemas.microsoft.com/office/drawing/2010/main" val="0"/>
              </a:ext>
            </a:extLst>
          </a:blip>
          <a:srcRect l="2589" t="23196" b="15692"/>
          <a:stretch>
            <a:fillRect/>
          </a:stretch>
        </p:blipFill>
        <p:spPr>
          <a:xfrm>
            <a:off x="1448435" y="2054860"/>
            <a:ext cx="9295130" cy="4625340"/>
          </a:xfrm>
          <a:prstGeom prst="rect">
            <a:avLst/>
          </a:prstGeom>
        </p:spPr>
      </p:pic>
      <p:pic>
        <p:nvPicPr>
          <p:cNvPr id="5" name="图片 4"/>
          <p:cNvPicPr>
            <a:picLocks noChangeAspect="1"/>
          </p:cNvPicPr>
          <p:nvPr/>
        </p:nvPicPr>
        <p:blipFill rotWithShape="1">
          <a:blip r:embed="rId1">
            <a:extLst>
              <a:ext uri="{28A0092B-C50C-407E-A947-70E740481C1C}">
                <a14:useLocalDpi xmlns:a14="http://schemas.microsoft.com/office/drawing/2010/main" val="0"/>
              </a:ext>
            </a:extLst>
          </a:blip>
          <a:srcRect l="2780" t="23196" r="78746" b="52647"/>
          <a:stretch>
            <a:fillRect/>
          </a:stretch>
        </p:blipFill>
        <p:spPr>
          <a:xfrm>
            <a:off x="10219055" y="69215"/>
            <a:ext cx="1862455" cy="18275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751325" y="527605"/>
            <a:ext cx="7659923" cy="706755"/>
          </a:xfrm>
          <a:prstGeom prst="rect">
            <a:avLst/>
          </a:prstGeom>
          <a:noFill/>
        </p:spPr>
        <p:txBody>
          <a:bodyPr wrap="square">
            <a:spAutoFit/>
          </a:bodyPr>
          <a:lstStyle>
            <a:defPPr>
              <a:defRPr lang="en-US"/>
            </a:defPPr>
            <a:lvl1pPr>
              <a:defRPr sz="2800" spc="300">
                <a:solidFill>
                  <a:srgbClr val="FF0000"/>
                </a:solidFill>
                <a:latin typeface="微软雅黑" panose="020B0503020204020204" pitchFamily="34" charset="-122"/>
                <a:ea typeface="微软雅黑" panose="020B0503020204020204" pitchFamily="34" charset="-122"/>
              </a:defRPr>
            </a:lvl1pPr>
          </a:lstStyle>
          <a:p>
            <a:r>
              <a:rPr lang="zh-CN" altLang="en-US" dirty="0"/>
              <a:t>（</a:t>
            </a:r>
            <a:r>
              <a:rPr lang="en-US" altLang="zh-CN" dirty="0"/>
              <a:t>2</a:t>
            </a:r>
            <a:r>
              <a:rPr lang="zh-CN" altLang="en-US" dirty="0"/>
              <a:t>）</a:t>
            </a:r>
            <a:r>
              <a:rPr lang="en-US" altLang="zh-CN" sz="4000" dirty="0" err="1">
                <a:latin typeface="华文新魏" panose="02010800040101010101" pitchFamily="2" charset="-122"/>
                <a:ea typeface="华文新魏" panose="02010800040101010101" pitchFamily="2" charset="-122"/>
                <a:cs typeface="华文新魏" panose="02010800040101010101" pitchFamily="2" charset="-122"/>
              </a:rPr>
              <a:t>kruskal</a:t>
            </a:r>
            <a:r>
              <a:rPr lang="zh-CN" altLang="en-US" sz="4000" dirty="0">
                <a:latin typeface="华文新魏" panose="02010800040101010101" pitchFamily="2" charset="-122"/>
                <a:ea typeface="华文新魏" panose="02010800040101010101" pitchFamily="2" charset="-122"/>
                <a:cs typeface="华文新魏" panose="02010800040101010101" pitchFamily="2" charset="-122"/>
              </a:rPr>
              <a:t>算法</a:t>
            </a:r>
            <a:endParaRPr lang="zh-CN" altLang="en-US" sz="4000" dirty="0">
              <a:latin typeface="华文新魏" panose="02010800040101010101" pitchFamily="2" charset="-122"/>
              <a:ea typeface="华文新魏" panose="02010800040101010101" pitchFamily="2" charset="-122"/>
              <a:cs typeface="华文新魏" panose="02010800040101010101" pitchFamily="2" charset="-122"/>
            </a:endParaRPr>
          </a:p>
        </p:txBody>
      </p:sp>
      <p:sp>
        <p:nvSpPr>
          <p:cNvPr id="10" name="内容占位符 2"/>
          <p:cNvSpPr txBox="1"/>
          <p:nvPr/>
        </p:nvSpPr>
        <p:spPr>
          <a:xfrm>
            <a:off x="903351" y="1906420"/>
            <a:ext cx="10342123" cy="3046095"/>
          </a:xfrm>
          <a:prstGeom prst="rect">
            <a:avLst/>
          </a:prstGeom>
          <a:noFill/>
        </p:spPr>
        <p:txBody>
          <a:bodyPr wrap="square" rtlCol="0">
            <a:spAutoFit/>
          </a:bodyPr>
          <a:lstStyle>
            <a:defPPr>
              <a:defRPr lang="en-US"/>
            </a:defPPr>
            <a:lvl1pPr marL="342900" indent="-342900">
              <a:lnSpc>
                <a:spcPct val="150000"/>
              </a:lnSpc>
              <a:buFont typeface="Wingdings" panose="05000000000000000000" pitchFamily="2" charset="2"/>
              <a:buChar char="Ø"/>
              <a:defRPr sz="2400">
                <a:solidFill>
                  <a:schemeClr val="tx1"/>
                </a:solidFill>
                <a:latin typeface="微软雅黑" panose="020B0503020204020204" pitchFamily="34" charset="-122"/>
                <a:ea typeface="微软雅黑" panose="020B0503020204020204" pitchFamily="34" charset="-122"/>
              </a:defRPr>
            </a:lvl1pPr>
          </a:lstStyle>
          <a:p>
            <a:r>
              <a:rPr lang="zh-CN" altLang="en-US" sz="3200" dirty="0">
                <a:latin typeface="幼圆" panose="02010509060101010101" pitchFamily="49" charset="-122"/>
                <a:ea typeface="幼圆" panose="02010509060101010101" pitchFamily="49" charset="-122"/>
                <a:cs typeface="幼圆" panose="02010509060101010101" pitchFamily="49" charset="-122"/>
              </a:rPr>
              <a:t>对边进行贪心</a:t>
            </a:r>
            <a:r>
              <a:rPr lang="zh-CN" altLang="en-US" sz="3200" dirty="0" smtClean="0">
                <a:latin typeface="幼圆" panose="02010509060101010101" pitchFamily="49" charset="-122"/>
                <a:ea typeface="幼圆" panose="02010509060101010101" pitchFamily="49" charset="-122"/>
                <a:cs typeface="幼圆" panose="02010509060101010101" pitchFamily="49" charset="-122"/>
              </a:rPr>
              <a:t>操作：“</a:t>
            </a:r>
            <a:r>
              <a:rPr lang="zh-CN" altLang="en-US" sz="3200" dirty="0">
                <a:latin typeface="幼圆" panose="02010509060101010101" pitchFamily="49" charset="-122"/>
                <a:ea typeface="幼圆" panose="02010509060101010101" pitchFamily="49" charset="-122"/>
                <a:cs typeface="幼圆" panose="02010509060101010101" pitchFamily="49" charset="-122"/>
              </a:rPr>
              <a:t>最短的边一定在</a:t>
            </a:r>
            <a:r>
              <a:rPr lang="en-US" altLang="zh-CN" sz="3200" dirty="0">
                <a:latin typeface="幼圆" panose="02010509060101010101" pitchFamily="49" charset="-122"/>
                <a:ea typeface="幼圆" panose="02010509060101010101" pitchFamily="49" charset="-122"/>
                <a:cs typeface="幼圆" panose="02010509060101010101" pitchFamily="49" charset="-122"/>
              </a:rPr>
              <a:t>MST</a:t>
            </a:r>
            <a:r>
              <a:rPr lang="zh-CN" altLang="en-US" sz="3200" dirty="0">
                <a:latin typeface="幼圆" panose="02010509060101010101" pitchFamily="49" charset="-122"/>
                <a:ea typeface="幼圆" panose="02010509060101010101" pitchFamily="49" charset="-122"/>
                <a:cs typeface="幼圆" panose="02010509060101010101" pitchFamily="49" charset="-122"/>
              </a:rPr>
              <a:t>上”</a:t>
            </a:r>
            <a:endParaRPr lang="zh-CN" altLang="en-US" sz="3200" dirty="0">
              <a:latin typeface="幼圆" panose="02010509060101010101" pitchFamily="49" charset="-122"/>
              <a:ea typeface="幼圆" panose="02010509060101010101" pitchFamily="49" charset="-122"/>
              <a:cs typeface="幼圆" panose="02010509060101010101" pitchFamily="49" charset="-122"/>
            </a:endParaRPr>
          </a:p>
          <a:p>
            <a:r>
              <a:rPr lang="zh-CN" altLang="en-US" sz="3200" dirty="0">
                <a:latin typeface="幼圆" panose="02010509060101010101" pitchFamily="49" charset="-122"/>
                <a:ea typeface="幼圆" panose="02010509060101010101" pitchFamily="49" charset="-122"/>
                <a:cs typeface="幼圆" panose="02010509060101010101" pitchFamily="49" charset="-122"/>
              </a:rPr>
              <a:t>从最短的边开始，把它加入到</a:t>
            </a:r>
            <a:r>
              <a:rPr lang="en-US" altLang="zh-CN" sz="3200" dirty="0">
                <a:latin typeface="幼圆" panose="02010509060101010101" pitchFamily="49" charset="-122"/>
                <a:ea typeface="幼圆" panose="02010509060101010101" pitchFamily="49" charset="-122"/>
                <a:cs typeface="幼圆" panose="02010509060101010101" pitchFamily="49" charset="-122"/>
              </a:rPr>
              <a:t>MST</a:t>
            </a:r>
            <a:r>
              <a:rPr lang="zh-CN" altLang="en-US" sz="3200" dirty="0">
                <a:latin typeface="幼圆" panose="02010509060101010101" pitchFamily="49" charset="-122"/>
                <a:ea typeface="幼圆" panose="02010509060101010101" pitchFamily="49" charset="-122"/>
                <a:cs typeface="幼圆" panose="02010509060101010101" pitchFamily="49" charset="-122"/>
              </a:rPr>
              <a:t>中；</a:t>
            </a:r>
            <a:endParaRPr lang="zh-CN" altLang="en-US" sz="3200" dirty="0">
              <a:latin typeface="幼圆" panose="02010509060101010101" pitchFamily="49" charset="-122"/>
              <a:ea typeface="幼圆" panose="02010509060101010101" pitchFamily="49" charset="-122"/>
              <a:cs typeface="幼圆" panose="02010509060101010101" pitchFamily="49" charset="-122"/>
            </a:endParaRPr>
          </a:p>
          <a:p>
            <a:r>
              <a:rPr lang="zh-CN" altLang="en-US" sz="3200" dirty="0">
                <a:latin typeface="幼圆" panose="02010509060101010101" pitchFamily="49" charset="-122"/>
                <a:ea typeface="幼圆" panose="02010509060101010101" pitchFamily="49" charset="-122"/>
                <a:cs typeface="幼圆" panose="02010509060101010101" pitchFamily="49" charset="-122"/>
              </a:rPr>
              <a:t>在剩下的边中找最短的边，</a:t>
            </a:r>
            <a:r>
              <a:rPr lang="zh-CN" altLang="en-US" sz="3200" dirty="0">
                <a:latin typeface="幼圆" panose="02010509060101010101" pitchFamily="49" charset="-122"/>
                <a:ea typeface="幼圆" panose="02010509060101010101" pitchFamily="49" charset="-122"/>
                <a:cs typeface="幼圆" panose="02010509060101010101" pitchFamily="49" charset="-122"/>
              </a:rPr>
              <a:t>继续加入到</a:t>
            </a:r>
            <a:r>
              <a:rPr lang="en-US" altLang="zh-CN" sz="3200" dirty="0">
                <a:latin typeface="幼圆" panose="02010509060101010101" pitchFamily="49" charset="-122"/>
                <a:ea typeface="幼圆" panose="02010509060101010101" pitchFamily="49" charset="-122"/>
                <a:cs typeface="幼圆" panose="02010509060101010101" pitchFamily="49" charset="-122"/>
              </a:rPr>
              <a:t>MST</a:t>
            </a:r>
            <a:r>
              <a:rPr lang="zh-CN" altLang="en-US" sz="3200" dirty="0">
                <a:latin typeface="幼圆" panose="02010509060101010101" pitchFamily="49" charset="-122"/>
                <a:ea typeface="幼圆" panose="02010509060101010101" pitchFamily="49" charset="-122"/>
                <a:cs typeface="幼圆" panose="02010509060101010101" pitchFamily="49" charset="-122"/>
              </a:rPr>
              <a:t>中；</a:t>
            </a:r>
            <a:endParaRPr lang="zh-CN" altLang="en-US" sz="3200" dirty="0">
              <a:latin typeface="幼圆" panose="02010509060101010101" pitchFamily="49" charset="-122"/>
              <a:ea typeface="幼圆" panose="02010509060101010101" pitchFamily="49" charset="-122"/>
              <a:cs typeface="幼圆" panose="02010509060101010101" pitchFamily="49" charset="-122"/>
            </a:endParaRPr>
          </a:p>
          <a:p>
            <a:r>
              <a:rPr lang="zh-CN" altLang="en-US" sz="3200" dirty="0">
                <a:latin typeface="幼圆" panose="02010509060101010101" pitchFamily="49" charset="-122"/>
                <a:ea typeface="幼圆" panose="02010509060101010101" pitchFamily="49" charset="-122"/>
                <a:cs typeface="幼圆" panose="02010509060101010101" pitchFamily="49" charset="-122"/>
              </a:rPr>
              <a:t>重复这个过程，直到</a:t>
            </a:r>
            <a:r>
              <a:rPr lang="zh-CN" altLang="en-US" sz="3200" dirty="0" smtClean="0">
                <a:latin typeface="幼圆" panose="02010509060101010101" pitchFamily="49" charset="-122"/>
                <a:ea typeface="幼圆" panose="02010509060101010101" pitchFamily="49" charset="-122"/>
                <a:cs typeface="幼圆" panose="02010509060101010101" pitchFamily="49" charset="-122"/>
              </a:rPr>
              <a:t>所有点都</a:t>
            </a:r>
            <a:r>
              <a:rPr lang="zh-CN" altLang="en-US" sz="3200" dirty="0">
                <a:latin typeface="幼圆" panose="02010509060101010101" pitchFamily="49" charset="-122"/>
                <a:ea typeface="幼圆" panose="02010509060101010101" pitchFamily="49" charset="-122"/>
                <a:cs typeface="幼圆" panose="02010509060101010101" pitchFamily="49" charset="-122"/>
              </a:rPr>
              <a:t>在</a:t>
            </a:r>
            <a:r>
              <a:rPr lang="en-US" altLang="zh-CN" sz="3200" dirty="0">
                <a:latin typeface="幼圆" panose="02010509060101010101" pitchFamily="49" charset="-122"/>
                <a:ea typeface="幼圆" panose="02010509060101010101" pitchFamily="49" charset="-122"/>
                <a:cs typeface="幼圆" panose="02010509060101010101" pitchFamily="49" charset="-122"/>
              </a:rPr>
              <a:t>MST</a:t>
            </a:r>
            <a:r>
              <a:rPr lang="zh-CN" altLang="en-US" sz="3200" dirty="0">
                <a:latin typeface="幼圆" panose="02010509060101010101" pitchFamily="49" charset="-122"/>
                <a:ea typeface="幼圆" panose="02010509060101010101" pitchFamily="49" charset="-122"/>
                <a:cs typeface="幼圆" panose="02010509060101010101" pitchFamily="49" charset="-122"/>
              </a:rPr>
              <a:t>中。</a:t>
            </a:r>
            <a:endParaRPr lang="zh-CN" altLang="en-US" sz="3200" dirty="0">
              <a:latin typeface="幼圆" panose="02010509060101010101" pitchFamily="49" charset="-122"/>
              <a:ea typeface="幼圆" panose="02010509060101010101" pitchFamily="49" charset="-122"/>
              <a:cs typeface="幼圆" panose="02010509060101010101" pitchFamily="49" charset="-122"/>
            </a:endParaRPr>
          </a:p>
        </p:txBody>
      </p:sp>
    </p:spTree>
    <p:custDataLst>
      <p:tags r:id="rId1"/>
    </p:custDataLst>
  </p:cSld>
  <p:clrMapOvr>
    <a:masterClrMapping/>
  </p:clrMapOvr>
  <p:transition spd="slow" advClick="0" advTm="27373">
    <p:push dir="u"/>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598620" y="900343"/>
            <a:ext cx="7659923" cy="584775"/>
          </a:xfrm>
          <a:prstGeom prst="rect">
            <a:avLst/>
          </a:prstGeom>
          <a:noFill/>
        </p:spPr>
        <p:txBody>
          <a:bodyPr wrap="square">
            <a:spAutoFit/>
          </a:bodyPr>
          <a:lstStyle>
            <a:defPPr>
              <a:defRPr lang="en-US"/>
            </a:defPPr>
            <a:lvl1pPr marL="457200" indent="-457200">
              <a:buFont typeface="Wingdings" panose="05000000000000000000" pitchFamily="2" charset="2"/>
              <a:buChar char="p"/>
              <a:defRPr sz="3200" spc="300">
                <a:solidFill>
                  <a:srgbClr val="FF0000"/>
                </a:solidFill>
                <a:latin typeface="微软雅黑" panose="020B0503020204020204" pitchFamily="34" charset="-122"/>
                <a:ea typeface="微软雅黑" panose="020B0503020204020204" pitchFamily="34" charset="-122"/>
              </a:defRPr>
            </a:lvl1pPr>
          </a:lstStyle>
          <a:p>
            <a:r>
              <a:rPr lang="en-US" altLang="zh-CN" dirty="0" err="1"/>
              <a:t>Kruskal</a:t>
            </a:r>
            <a:r>
              <a:rPr lang="zh-CN" altLang="en-US" dirty="0"/>
              <a:t>算法</a:t>
            </a:r>
            <a:endParaRPr lang="zh-CN" altLang="en-US" dirty="0"/>
          </a:p>
        </p:txBody>
      </p:sp>
      <p:sp>
        <p:nvSpPr>
          <p:cNvPr id="10" name="内容占位符 2"/>
          <p:cNvSpPr txBox="1"/>
          <p:nvPr/>
        </p:nvSpPr>
        <p:spPr>
          <a:xfrm>
            <a:off x="903605" y="1986280"/>
            <a:ext cx="10342245" cy="2885440"/>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457200" indent="-457200" algn="l" defTabSz="1828800" eaLnBrk="1" hangingPunct="1">
              <a:lnSpc>
                <a:spcPct val="90000"/>
              </a:lnSpc>
              <a:spcBef>
                <a:spcPct val="401000"/>
              </a:spcBef>
              <a:buFont typeface="Arial" panose="020B0604020202020204" pitchFamily="34" charset="0"/>
              <a:buChar char="•"/>
              <a:defRPr sz="4800" kern="1200">
                <a:solidFill>
                  <a:schemeClr val="tx1"/>
                </a:solidFill>
                <a:latin typeface="宋体" panose="02010600030101010101" pitchFamily="2" charset="-122"/>
                <a:ea typeface="宋体" panose="02010600030101010101" pitchFamily="2" charset="-122"/>
              </a:defRPr>
            </a:lvl1pPr>
            <a:lvl2pPr marL="400050" lvl="1" indent="0" algn="l" defTabSz="1828800" eaLnBrk="1" hangingPunct="1">
              <a:lnSpc>
                <a:spcPct val="90000"/>
              </a:lnSpc>
              <a:spcBef>
                <a:spcPct val="201000"/>
              </a:spcBef>
              <a:buFont typeface="Arial" panose="020B0604020202020204" pitchFamily="34" charset="0"/>
              <a:defRPr sz="4800" kern="1200">
                <a:solidFill>
                  <a:schemeClr val="tx1"/>
                </a:solidFill>
                <a:latin typeface="宋体" panose="02010600030101010101" pitchFamily="2" charset="-122"/>
                <a:ea typeface="宋体" panose="02010600030101010101" pitchFamily="2" charset="-122"/>
              </a:defRPr>
            </a:lvl2pPr>
            <a:lvl3pPr marL="2286000" indent="-457200" algn="l" defTabSz="1828800" eaLnBrk="1" hangingPunct="1">
              <a:lnSpc>
                <a:spcPct val="90000"/>
              </a:lnSpc>
              <a:spcBef>
                <a:spcPct val="201000"/>
              </a:spcBef>
              <a:buFont typeface="Arial" panose="020B0604020202020204" pitchFamily="34" charset="0"/>
              <a:buChar char="•"/>
              <a:defRPr sz="4000" kern="1200">
                <a:solidFill>
                  <a:schemeClr val="tx1"/>
                </a:solidFill>
              </a:defRPr>
            </a:lvl3pPr>
            <a:lvl4pPr marL="32004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4pPr>
            <a:lvl5pPr marL="41148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5pPr>
            <a:lvl6pPr marL="50292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6pPr>
            <a:lvl7pPr marL="59436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7pPr>
            <a:lvl8pPr marL="6857365"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8pPr>
            <a:lvl9pPr marL="7771765"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9pPr>
          </a:lstStyle>
          <a:p>
            <a:pPr marL="0" indent="0">
              <a:lnSpc>
                <a:spcPct val="150000"/>
              </a:lnSpc>
              <a:spcBef>
                <a:spcPts val="0"/>
              </a:spcBef>
              <a:buNone/>
            </a:pPr>
            <a:r>
              <a:rPr lang="en-US" altLang="zh-CN" sz="4000" dirty="0" err="1">
                <a:latin typeface="幼圆" panose="02010509060101010101" pitchFamily="49" charset="-122"/>
                <a:ea typeface="幼圆" panose="02010509060101010101" pitchFamily="49" charset="-122"/>
                <a:cs typeface="幼圆" panose="02010509060101010101" pitchFamily="49" charset="-122"/>
              </a:rPr>
              <a:t>▶</a:t>
            </a:r>
            <a:r>
              <a:rPr lang="en-US" altLang="zh-CN" sz="4000" dirty="0">
                <a:latin typeface="幼圆" panose="02010509060101010101" pitchFamily="49" charset="-122"/>
                <a:ea typeface="幼圆" panose="02010509060101010101" pitchFamily="49" charset="-122"/>
                <a:cs typeface="幼圆" panose="02010509060101010101" pitchFamily="49" charset="-122"/>
              </a:rPr>
              <a:t>2</a:t>
            </a:r>
            <a:r>
              <a:rPr lang="zh-CN" altLang="en-US" sz="4000" dirty="0">
                <a:latin typeface="幼圆" panose="02010509060101010101" pitchFamily="49" charset="-122"/>
                <a:ea typeface="幼圆" panose="02010509060101010101" pitchFamily="49" charset="-122"/>
                <a:cs typeface="幼圆" panose="02010509060101010101" pitchFamily="49" charset="-122"/>
              </a:rPr>
              <a:t>个</a:t>
            </a:r>
            <a:r>
              <a:rPr lang="zh-CN" altLang="en-US" sz="4000" u="sng" dirty="0">
                <a:latin typeface="幼圆" panose="02010509060101010101" pitchFamily="49" charset="-122"/>
                <a:ea typeface="幼圆" panose="02010509060101010101" pitchFamily="49" charset="-122"/>
                <a:cs typeface="幼圆" panose="02010509060101010101" pitchFamily="49" charset="-122"/>
              </a:rPr>
              <a:t>关键点：</a:t>
            </a:r>
            <a:endParaRPr lang="zh-CN" altLang="en-US" sz="4000" dirty="0">
              <a:latin typeface="幼圆" panose="02010509060101010101" pitchFamily="49" charset="-122"/>
              <a:ea typeface="幼圆" panose="02010509060101010101" pitchFamily="49" charset="-122"/>
              <a:cs typeface="幼圆" panose="02010509060101010101" pitchFamily="49" charset="-122"/>
            </a:endParaRPr>
          </a:p>
          <a:p>
            <a:pPr marL="0" indent="0">
              <a:lnSpc>
                <a:spcPct val="150000"/>
              </a:lnSpc>
              <a:spcBef>
                <a:spcPts val="0"/>
              </a:spcBef>
              <a:buNone/>
            </a:pPr>
            <a:r>
              <a:rPr lang="zh-CN" altLang="en-US" sz="4000" dirty="0">
                <a:latin typeface="幼圆" panose="02010509060101010101" pitchFamily="49" charset="-122"/>
                <a:ea typeface="幼圆" panose="02010509060101010101" pitchFamily="49" charset="-122"/>
                <a:cs typeface="幼圆" panose="02010509060101010101" pitchFamily="49" charset="-122"/>
              </a:rPr>
              <a:t>（</a:t>
            </a:r>
            <a:r>
              <a:rPr lang="en-US" altLang="zh-CN" sz="4000" dirty="0">
                <a:latin typeface="幼圆" panose="02010509060101010101" pitchFamily="49" charset="-122"/>
                <a:ea typeface="幼圆" panose="02010509060101010101" pitchFamily="49" charset="-122"/>
                <a:cs typeface="幼圆" panose="02010509060101010101" pitchFamily="49" charset="-122"/>
              </a:rPr>
              <a:t>1</a:t>
            </a:r>
            <a:r>
              <a:rPr lang="zh-CN" altLang="en-US" sz="4000" dirty="0">
                <a:latin typeface="幼圆" panose="02010509060101010101" pitchFamily="49" charset="-122"/>
                <a:ea typeface="幼圆" panose="02010509060101010101" pitchFamily="49" charset="-122"/>
                <a:cs typeface="幼圆" panose="02010509060101010101" pitchFamily="49" charset="-122"/>
              </a:rPr>
              <a:t>）对边进行排序；</a:t>
            </a:r>
            <a:endParaRPr lang="zh-CN" altLang="en-US" sz="4000" dirty="0">
              <a:latin typeface="幼圆" panose="02010509060101010101" pitchFamily="49" charset="-122"/>
              <a:ea typeface="幼圆" panose="02010509060101010101" pitchFamily="49" charset="-122"/>
              <a:cs typeface="幼圆" panose="02010509060101010101" pitchFamily="49" charset="-122"/>
            </a:endParaRPr>
          </a:p>
          <a:p>
            <a:pPr marL="0" indent="0">
              <a:lnSpc>
                <a:spcPct val="150000"/>
              </a:lnSpc>
              <a:spcBef>
                <a:spcPts val="0"/>
              </a:spcBef>
              <a:buNone/>
            </a:pPr>
            <a:r>
              <a:rPr lang="zh-CN" altLang="en-US" sz="4000" dirty="0">
                <a:latin typeface="幼圆" panose="02010509060101010101" pitchFamily="49" charset="-122"/>
                <a:ea typeface="幼圆" panose="02010509060101010101" pitchFamily="49" charset="-122"/>
                <a:cs typeface="幼圆" panose="02010509060101010101" pitchFamily="49" charset="-122"/>
              </a:rPr>
              <a:t>（</a:t>
            </a:r>
            <a:r>
              <a:rPr lang="en-US" altLang="zh-CN" sz="4000" dirty="0">
                <a:latin typeface="幼圆" panose="02010509060101010101" pitchFamily="49" charset="-122"/>
                <a:ea typeface="幼圆" panose="02010509060101010101" pitchFamily="49" charset="-122"/>
                <a:cs typeface="幼圆" panose="02010509060101010101" pitchFamily="49" charset="-122"/>
              </a:rPr>
              <a:t>2</a:t>
            </a:r>
            <a:r>
              <a:rPr lang="zh-CN" altLang="en-US" sz="4000" dirty="0">
                <a:latin typeface="幼圆" panose="02010509060101010101" pitchFamily="49" charset="-122"/>
                <a:ea typeface="幼圆" panose="02010509060101010101" pitchFamily="49" charset="-122"/>
                <a:cs typeface="幼圆" panose="02010509060101010101" pitchFamily="49" charset="-122"/>
              </a:rPr>
              <a:t>）判断圈，即处理连通性问题</a:t>
            </a:r>
            <a:r>
              <a:rPr lang="en-US" altLang="zh-CN" sz="4000" dirty="0">
                <a:latin typeface="幼圆" panose="02010509060101010101" pitchFamily="49" charset="-122"/>
                <a:ea typeface="幼圆" panose="02010509060101010101" pitchFamily="49" charset="-122"/>
                <a:cs typeface="幼圆" panose="02010509060101010101" pitchFamily="49" charset="-122"/>
              </a:rPr>
              <a:t>——</a:t>
            </a:r>
            <a:r>
              <a:rPr lang="zh-CN" altLang="en-US" sz="4000" dirty="0">
                <a:solidFill>
                  <a:srgbClr val="FF0000"/>
                </a:solidFill>
                <a:latin typeface="幼圆" panose="02010509060101010101" pitchFamily="49" charset="-122"/>
                <a:ea typeface="幼圆" panose="02010509060101010101" pitchFamily="49" charset="-122"/>
                <a:cs typeface="幼圆" panose="02010509060101010101" pitchFamily="49" charset="-122"/>
              </a:rPr>
              <a:t>并查集</a:t>
            </a:r>
            <a:r>
              <a:rPr lang="zh-CN" altLang="en-US" sz="4000" dirty="0">
                <a:solidFill>
                  <a:schemeClr val="tx1"/>
                </a:solidFill>
                <a:latin typeface="幼圆" panose="02010509060101010101" pitchFamily="49" charset="-122"/>
                <a:ea typeface="幼圆" panose="02010509060101010101" pitchFamily="49" charset="-122"/>
                <a:cs typeface="幼圆" panose="02010509060101010101" pitchFamily="49" charset="-122"/>
              </a:rPr>
              <a:t>。</a:t>
            </a:r>
            <a:endParaRPr lang="zh-CN" altLang="en-US" sz="4000" dirty="0">
              <a:solidFill>
                <a:schemeClr val="tx1"/>
              </a:solidFill>
              <a:latin typeface="幼圆" panose="02010509060101010101" pitchFamily="49" charset="-122"/>
              <a:ea typeface="幼圆" panose="02010509060101010101" pitchFamily="49" charset="-122"/>
              <a:cs typeface="幼圆" panose="02010509060101010101" pitchFamily="49" charset="-122"/>
            </a:endParaRPr>
          </a:p>
        </p:txBody>
      </p:sp>
    </p:spTree>
    <p:custDataLst>
      <p:tags r:id="rId1"/>
    </p:custDataLst>
  </p:cSld>
  <p:clrMapOvr>
    <a:masterClrMapping/>
  </p:clrMapOvr>
  <p:transition spd="slow" advClick="0" advTm="50914">
    <p:push dir="u"/>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2"/>
          <p:cNvSpPr txBox="1"/>
          <p:nvPr/>
        </p:nvSpPr>
        <p:spPr>
          <a:xfrm>
            <a:off x="924939" y="3249341"/>
            <a:ext cx="10342123" cy="1227410"/>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457200" indent="-457200" algn="l" defTabSz="1828800" eaLnBrk="1" hangingPunct="1">
              <a:lnSpc>
                <a:spcPct val="90000"/>
              </a:lnSpc>
              <a:spcBef>
                <a:spcPct val="401000"/>
              </a:spcBef>
              <a:buFont typeface="Arial" panose="020B0604020202020204" pitchFamily="34" charset="0"/>
              <a:buChar char="•"/>
              <a:defRPr sz="4800" kern="1200">
                <a:solidFill>
                  <a:schemeClr val="tx1"/>
                </a:solidFill>
                <a:latin typeface="宋体" panose="02010600030101010101" pitchFamily="2" charset="-122"/>
                <a:ea typeface="宋体" panose="02010600030101010101" pitchFamily="2" charset="-122"/>
              </a:defRPr>
            </a:lvl1pPr>
            <a:lvl2pPr marL="400050" lvl="1" indent="0" algn="l" defTabSz="1828800" eaLnBrk="1" hangingPunct="1">
              <a:lnSpc>
                <a:spcPct val="90000"/>
              </a:lnSpc>
              <a:spcBef>
                <a:spcPct val="201000"/>
              </a:spcBef>
              <a:buFont typeface="Arial" panose="020B0604020202020204" pitchFamily="34" charset="0"/>
              <a:defRPr sz="4800" kern="1200">
                <a:solidFill>
                  <a:schemeClr val="tx1"/>
                </a:solidFill>
                <a:latin typeface="宋体" panose="02010600030101010101" pitchFamily="2" charset="-122"/>
                <a:ea typeface="宋体" panose="02010600030101010101" pitchFamily="2" charset="-122"/>
              </a:defRPr>
            </a:lvl2pPr>
            <a:lvl3pPr marL="2286000" indent="-457200" algn="l" defTabSz="1828800" eaLnBrk="1" hangingPunct="1">
              <a:lnSpc>
                <a:spcPct val="90000"/>
              </a:lnSpc>
              <a:spcBef>
                <a:spcPct val="201000"/>
              </a:spcBef>
              <a:buFont typeface="Arial" panose="020B0604020202020204" pitchFamily="34" charset="0"/>
              <a:buChar char="•"/>
              <a:defRPr sz="4000" kern="1200">
                <a:solidFill>
                  <a:schemeClr val="tx1"/>
                </a:solidFill>
              </a:defRPr>
            </a:lvl3pPr>
            <a:lvl4pPr marL="32004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4pPr>
            <a:lvl5pPr marL="41148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5pPr>
            <a:lvl6pPr marL="50292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6pPr>
            <a:lvl7pPr marL="5943600"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7pPr>
            <a:lvl8pPr marL="6857365"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8pPr>
            <a:lvl9pPr marL="7771765" indent="-457200" algn="l" defTabSz="1828800" eaLnBrk="1" hangingPunct="1">
              <a:lnSpc>
                <a:spcPct val="90000"/>
              </a:lnSpc>
              <a:spcBef>
                <a:spcPct val="201000"/>
              </a:spcBef>
              <a:buFont typeface="Arial" panose="020B0604020202020204" pitchFamily="34" charset="0"/>
              <a:buChar char="•"/>
              <a:defRPr sz="3600" kern="1200">
                <a:solidFill>
                  <a:schemeClr val="tx1"/>
                </a:solidFill>
              </a:defRPr>
            </a:lvl9pPr>
          </a:lstStyle>
          <a:p>
            <a:pPr marL="0" indent="0">
              <a:lnSpc>
                <a:spcPct val="100000"/>
              </a:lnSpc>
              <a:spcBef>
                <a:spcPts val="0"/>
              </a:spcBef>
              <a:buNone/>
            </a:pPr>
            <a:endParaRPr lang="zh-CN" altLang="en-US" sz="2400" dirty="0">
              <a:latin typeface="微软雅黑" panose="020B0503020204020204" pitchFamily="34" charset="-122"/>
              <a:ea typeface="微软雅黑" panose="020B0503020204020204" pitchFamily="34" charset="-122"/>
            </a:endParaRPr>
          </a:p>
        </p:txBody>
      </p:sp>
      <p:pic>
        <p:nvPicPr>
          <p:cNvPr id="9" name="Picture 2" descr="C:\Users\luo\AppData\Local\Temp\ksohtml15192\wps3.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98805" y="1384935"/>
            <a:ext cx="10999470" cy="408813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2"/>
    </p:custDataLst>
  </p:cSld>
  <p:clrMapOvr>
    <a:masterClrMapping/>
  </p:clrMapOvr>
  <p:transition spd="slow" advClick="0" advTm="17618">
    <p:push dir="u"/>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2"/>
          </p:nvPr>
        </p:nvSpPr>
        <p:spPr/>
        <p:txBody>
          <a:bodyPr/>
          <a:p>
            <a:fld id="{EB7C6F6D-FFA8-468C-AF6A-CB4C27E2EEF8}" type="slidenum">
              <a:rPr lang="zh-CN" altLang="en-US" smtClean="0"/>
            </a:fld>
            <a:endParaRPr lang="en-US" altLang="zh-CN"/>
          </a:p>
        </p:txBody>
      </p:sp>
      <p:sp>
        <p:nvSpPr>
          <p:cNvPr id="2" name="文本框 1"/>
          <p:cNvSpPr txBox="1"/>
          <p:nvPr/>
        </p:nvSpPr>
        <p:spPr>
          <a:xfrm>
            <a:off x="4064000" y="527685"/>
            <a:ext cx="4064000" cy="706755"/>
          </a:xfrm>
          <a:prstGeom prst="rect">
            <a:avLst/>
          </a:prstGeom>
          <a:noFill/>
        </p:spPr>
        <p:txBody>
          <a:bodyPr wrap="square" rtlCol="0">
            <a:spAutoFit/>
          </a:bodyPr>
          <a:p>
            <a:r>
              <a:rPr lang="en-US" altLang="zh-CN" sz="4000">
                <a:solidFill>
                  <a:schemeClr val="tx1"/>
                </a:solidFill>
              </a:rPr>
              <a:t>“</a:t>
            </a:r>
            <a:r>
              <a:rPr lang="zh-CN" altLang="en-US" sz="4000">
                <a:solidFill>
                  <a:schemeClr val="tx1"/>
                </a:solidFill>
              </a:rPr>
              <a:t>从小到大加入边</a:t>
            </a:r>
            <a:r>
              <a:rPr lang="en-US" altLang="zh-CN" sz="4000">
                <a:solidFill>
                  <a:schemeClr val="tx1"/>
                </a:solidFill>
              </a:rPr>
              <a:t>”</a:t>
            </a:r>
            <a:endParaRPr lang="en-US" altLang="zh-CN" sz="4000">
              <a:solidFill>
                <a:schemeClr val="tx1"/>
              </a:solidFill>
            </a:endParaRPr>
          </a:p>
        </p:txBody>
      </p:sp>
      <p:pic>
        <p:nvPicPr>
          <p:cNvPr id="3" name="图片 2"/>
          <p:cNvPicPr>
            <a:picLocks noChangeAspect="1"/>
          </p:cNvPicPr>
          <p:nvPr/>
        </p:nvPicPr>
        <p:blipFill rotWithShape="1">
          <a:blip r:embed="rId1">
            <a:extLst>
              <a:ext uri="{28A0092B-C50C-407E-A947-70E740481C1C}">
                <a14:useLocalDpi xmlns:a14="http://schemas.microsoft.com/office/drawing/2010/main" val="0"/>
              </a:ext>
            </a:extLst>
          </a:blip>
          <a:srcRect l="43432" t="18518" r="34420" b="54117"/>
          <a:stretch>
            <a:fillRect/>
          </a:stretch>
        </p:blipFill>
        <p:spPr>
          <a:xfrm>
            <a:off x="3641090" y="1804670"/>
            <a:ext cx="4909820" cy="4551680"/>
          </a:xfrm>
          <a:prstGeom prst="rect">
            <a:avLst/>
          </a:prstGeom>
        </p:spPr>
      </p:pic>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TIMING" val="|33.3"/>
</p:tagLst>
</file>

<file path=ppt/tags/tag2.xml><?xml version="1.0" encoding="utf-8"?>
<p:tagLst xmlns:p="http://schemas.openxmlformats.org/presentationml/2006/main">
  <p:tag name="KSO_WM_SLIDE_ITEM_CNT" val="4"/>
</p:tagLst>
</file>

<file path=ppt/tags/tag3.xml><?xml version="1.0" encoding="utf-8"?>
<p:tagLst xmlns:p="http://schemas.openxmlformats.org/presentationml/2006/main">
  <p:tag name="KSO_WM_SLIDE_ITEM_CNT" val="4"/>
</p:tagLst>
</file>

<file path=ppt/tags/tag4.xml><?xml version="1.0" encoding="utf-8"?>
<p:tagLst xmlns:p="http://schemas.openxmlformats.org/presentationml/2006/main">
  <p:tag name="KSO_WM_SLIDE_ITEM_CNT" val="4"/>
</p:tagLst>
</file>

<file path=ppt/tags/tag5.xml><?xml version="1.0" encoding="utf-8"?>
<p:tagLst xmlns:p="http://schemas.openxmlformats.org/presentationml/2006/main">
  <p:tag name="KSO_WM_SLIDE_ITEM_CNT" val="4"/>
</p:tagLst>
</file>

<file path=ppt/tags/tag6.xml><?xml version="1.0" encoding="utf-8"?>
<p:tagLst xmlns:p="http://schemas.openxmlformats.org/presentationml/2006/main">
  <p:tag name="KSO_WM_SLIDE_ITEM_CNT" val="4"/>
</p:tagLst>
</file>

<file path=ppt/tags/tag7.xml><?xml version="1.0" encoding="utf-8"?>
<p:tagLst xmlns:p="http://schemas.openxmlformats.org/presentationml/2006/main">
  <p:tag name="KSO_WM_SLIDE_ITEM_CNT" val="4"/>
</p:tagLst>
</file>

<file path=ppt/tags/tag8.xml><?xml version="1.0" encoding="utf-8"?>
<p:tagLst xmlns:p="http://schemas.openxmlformats.org/presentationml/2006/main">
  <p:tag name="KSO_WM_SLIDE_ITEM_CNT" val="4"/>
  <p:tag name="TIMING" val="|12|32.8"/>
</p:tagLst>
</file>

<file path=ppt/tags/tag9.xml><?xml version="1.0" encoding="utf-8"?>
<p:tagLst xmlns:p="http://schemas.openxmlformats.org/presentationml/2006/main">
  <p:tag name="KSO_WM_SLIDE_ITEM_CNT" val="4"/>
  <p:tag name="TIMING" val="|12.5|8.3|13.3|6.3"/>
</p:tagLst>
</file>

<file path=ppt/tags/tag10.xml><?xml version="1.0" encoding="utf-8"?>
<p:tagLst xmlns:p="http://schemas.openxmlformats.org/presentationml/2006/main">
  <p:tag name="KSO_WM_SLIDE_ITEM_CNT" val="4"/>
  <p:tag name="TIMING" val="|18.6|17.3"/>
</p:tagLst>
</file>

<file path=ppt/tags/tag11.xml><?xml version="1.0" encoding="utf-8"?>
<p:tagLst xmlns:p="http://schemas.openxmlformats.org/presentationml/2006/main">
  <p:tag name="KSO_WM_SLIDE_ITEM_CNT" val="4"/>
  <p:tag name="TIMING" val="|25.6|27.7"/>
</p:tagLst>
</file>

<file path=ppt/tags/tag12.xml><?xml version="1.0" encoding="utf-8"?>
<p:tagLst xmlns:p="http://schemas.openxmlformats.org/presentationml/2006/main">
  <p:tag name="KSO_WM_SLIDE_ITEM_CNT" val="4"/>
  <p:tag name="TIMING" val="|8.5|13.6|24.4"/>
</p:tagLst>
</file>

<file path=ppt/tags/tag13.xml><?xml version="1.0" encoding="utf-8"?>
<p:tagLst xmlns:p="http://schemas.openxmlformats.org/presentationml/2006/main">
  <p:tag name="KSO_WM_SLIDE_ITEM_CNT" val="4"/>
  <p:tag name="TIMING" val="|21.4|21.9"/>
</p:tagLst>
</file>

<file path=ppt/tags/tag14.xml><?xml version="1.0" encoding="utf-8"?>
<p:tagLst xmlns:p="http://schemas.openxmlformats.org/presentationml/2006/main">
  <p:tag name="KSO_WM_SLIDE_ITEM_CNT" val="4"/>
</p:tagLst>
</file>

<file path=ppt/tags/tag15.xml><?xml version="1.0" encoding="utf-8"?>
<p:tagLst xmlns:p="http://schemas.openxmlformats.org/presentationml/2006/main">
  <p:tag name="KSO_WM_SLIDE_ITEM_CNT" val="4"/>
  <p:tag name="TIMING" val="|7.5|6.7|16"/>
</p:tagLst>
</file>

<file path=ppt/tags/tag16.xml><?xml version="1.0" encoding="utf-8"?>
<p:tagLst xmlns:p="http://schemas.openxmlformats.org/presentationml/2006/main">
  <p:tag name="KSO_WM_SLIDE_ITEM_CNT" val="4"/>
  <p:tag name="TIMING" val="|28.8"/>
</p:tagLst>
</file>

<file path=ppt/tags/tag17.xml><?xml version="1.0" encoding="utf-8"?>
<p:tagLst xmlns:p="http://schemas.openxmlformats.org/presentationml/2006/main">
  <p:tag name="TABLE_ENDDRAG_ORIGIN_RECT" val="839*483"/>
  <p:tag name="TABLE_ENDDRAG_RECT" val="83*113*839*483"/>
</p:tagLst>
</file>

<file path=ppt/tags/tag18.xml><?xml version="1.0" encoding="utf-8"?>
<p:tagLst xmlns:p="http://schemas.openxmlformats.org/presentationml/2006/main">
  <p:tag name="KSO_WM_SLIDE_ITEM_CNT" val="4"/>
</p:tagLst>
</file>

<file path=ppt/tags/tag19.xml><?xml version="1.0" encoding="utf-8"?>
<p:tagLst xmlns:p="http://schemas.openxmlformats.org/presentationml/2006/main">
  <p:tag name="KSO_WM_SLIDE_ITEM_CNT" val="4"/>
</p:tagLst>
</file>

<file path=ppt/tags/tag20.xml><?xml version="1.0" encoding="utf-8"?>
<p:tagLst xmlns:p="http://schemas.openxmlformats.org/presentationml/2006/main">
  <p:tag name="KSO_WM_SLIDE_ITEM_CNT" val="4"/>
  <p:tag name="TIMING" val="|37.7|17.9"/>
</p:tagLst>
</file>

<file path=ppt/tags/tag21.xml><?xml version="1.0" encoding="utf-8"?>
<p:tagLst xmlns:p="http://schemas.openxmlformats.org/presentationml/2006/main">
  <p:tag name="KSO_WM_SLIDE_ITEM_CNT" val="4"/>
</p:tagLst>
</file>

<file path=ppt/tags/tag22.xml><?xml version="1.0" encoding="utf-8"?>
<p:tagLst xmlns:p="http://schemas.openxmlformats.org/presentationml/2006/main">
  <p:tag name="KSO_WM_SLIDE_ITEM_CNT" val="4"/>
</p:tagLst>
</file>

<file path=ppt/tags/tag23.xml><?xml version="1.0" encoding="utf-8"?>
<p:tagLst xmlns:p="http://schemas.openxmlformats.org/presentationml/2006/main">
  <p:tag name="TABLE_ENDDRAG_ORIGIN_RECT" val="839*483"/>
  <p:tag name="TABLE_ENDDRAG_RECT" val="83*113*839*483"/>
</p:tagLst>
</file>

<file path=ppt/tags/tag24.xml><?xml version="1.0" encoding="utf-8"?>
<p:tagLst xmlns:p="http://schemas.openxmlformats.org/presentationml/2006/main">
  <p:tag name="KSO_WM_SLIDE_ITEM_CNT" val="4"/>
</p:tagLst>
</file>

<file path=ppt/tags/tag25.xml><?xml version="1.0" encoding="utf-8"?>
<p:tagLst xmlns:p="http://schemas.openxmlformats.org/presentationml/2006/main">
  <p:tag name="KSO_WM_SLIDE_ITEM_CNT" val="4"/>
</p:tagLst>
</file>

<file path=ppt/tags/tag26.xml><?xml version="1.0" encoding="utf-8"?>
<p:tagLst xmlns:p="http://schemas.openxmlformats.org/presentationml/2006/main">
  <p:tag name="KSO_WM_SLIDE_ITEM_CNT" val="4"/>
</p:tagLst>
</file>

<file path=ppt/tags/tag27.xml><?xml version="1.0" encoding="utf-8"?>
<p:tagLst xmlns:p="http://schemas.openxmlformats.org/presentationml/2006/main">
  <p:tag name="KSO_WM_SLIDE_ITEM_CNT" val="4"/>
  <p:tag name="TIMING" val="|13.8|9.4|11.7"/>
</p:tagLst>
</file>

<file path=ppt/tags/tag28.xml><?xml version="1.0" encoding="utf-8"?>
<p:tagLst xmlns:p="http://schemas.openxmlformats.org/presentationml/2006/main">
  <p:tag name="KSO_WM_SLIDE_ITEM_CNT" val="4"/>
  <p:tag name="TIMING" val="|23.4|26.4"/>
</p:tagLst>
</file>

<file path=ppt/tags/tag29.xml><?xml version="1.0" encoding="utf-8"?>
<p:tagLst xmlns:p="http://schemas.openxmlformats.org/presentationml/2006/main">
  <p:tag name="KSO_WM_SLIDE_ITEM_CNT" val="4"/>
  <p:tag name="TIMING" val="|12.6"/>
</p:tagLst>
</file>

<file path=ppt/tags/tag30.xml><?xml version="1.0" encoding="utf-8"?>
<p:tagLst xmlns:p="http://schemas.openxmlformats.org/presentationml/2006/main">
  <p:tag name="KSO_WM_SLIDE_ITEM_CNT" val="4"/>
</p:tagLst>
</file>

<file path=ppt/tags/tag31.xml><?xml version="1.0" encoding="utf-8"?>
<p:tagLst xmlns:p="http://schemas.openxmlformats.org/presentationml/2006/main">
  <p:tag name="KSO_WM_SLIDE_ITEM_CNT" val="4"/>
</p:tagLst>
</file>

<file path=ppt/tags/tag32.xml><?xml version="1.0" encoding="utf-8"?>
<p:tagLst xmlns:p="http://schemas.openxmlformats.org/presentationml/2006/main">
  <p:tag name="KSO_WM_SLIDE_ITEM_CNT" val="4"/>
</p:tagLst>
</file>

<file path=ppt/tags/tag33.xml><?xml version="1.0" encoding="utf-8"?>
<p:tagLst xmlns:p="http://schemas.openxmlformats.org/presentationml/2006/main">
  <p:tag name="KSO_WM_SLIDE_ITEM_CNT" val="4"/>
</p:tagLst>
</file>

<file path=ppt/tags/tag34.xml><?xml version="1.0" encoding="utf-8"?>
<p:tagLst xmlns:p="http://schemas.openxmlformats.org/presentationml/2006/main">
  <p:tag name="TABLE_ENDDRAG_ORIGIN_RECT" val="867*461"/>
  <p:tag name="TABLE_ENDDRAG_RECT" val="45*65*867*461"/>
</p:tagLst>
</file>

<file path=ppt/tags/tag35.xml><?xml version="1.0" encoding="utf-8"?>
<p:tagLst xmlns:p="http://schemas.openxmlformats.org/presentationml/2006/main">
  <p:tag name="KSO_WM_SLIDE_ITEM_CNT" val="4"/>
</p:tagLst>
</file>

<file path=ppt/tags/tag36.xml><?xml version="1.0" encoding="utf-8"?>
<p:tagLst xmlns:p="http://schemas.openxmlformats.org/presentationml/2006/main">
  <p:tag name="KSO_WM_SLIDE_ITEM_CNT" val="4"/>
</p:tagLst>
</file>

<file path=ppt/tags/tag37.xml><?xml version="1.0" encoding="utf-8"?>
<p:tagLst xmlns:p="http://schemas.openxmlformats.org/presentationml/2006/main">
  <p:tag name="KSO_WM_SLIDE_ITEM_CNT" val="4"/>
</p:tagLst>
</file>

<file path=ppt/tags/tag38.xml><?xml version="1.0" encoding="utf-8"?>
<p:tagLst xmlns:p="http://schemas.openxmlformats.org/presentationml/2006/main">
  <p:tag name="KSO_WM_SLIDE_ITEM_CNT" val="4"/>
</p:tagLst>
</file>

<file path=ppt/tags/tag39.xml><?xml version="1.0" encoding="utf-8"?>
<p:tagLst xmlns:p="http://schemas.openxmlformats.org/presentationml/2006/main">
  <p:tag name="KSO_WM_SLIDE_ITEM_CNT" val="4"/>
</p:tagLst>
</file>

<file path=ppt/tags/tag40.xml><?xml version="1.0" encoding="utf-8"?>
<p:tagLst xmlns:p="http://schemas.openxmlformats.org/presentationml/2006/main">
  <p:tag name="KSO_WM_SLIDE_ITEM_CNT" val="4"/>
</p:tagLst>
</file>

<file path=ppt/tags/tag41.xml><?xml version="1.0" encoding="utf-8"?>
<p:tagLst xmlns:p="http://schemas.openxmlformats.org/presentationml/2006/main">
  <p:tag name="commondata" val="eyJoZGlkIjoiODVkYmQ4NTBjN2FiZTA3ODZkZjkxMjFkZmI1ZTZmMzkifQ=="/>
</p:tagLst>
</file>

<file path=ppt/theme/theme1.xml><?xml version="1.0" encoding="utf-8"?>
<a:theme xmlns:a="http://schemas.openxmlformats.org/drawingml/2006/main" name="SEG组PPT主题">
  <a:themeElements>
    <a:clrScheme name="SEG组PPT主题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fontScheme name="SEG组PPT主题">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prstShdw prst="shdw17" dist="17961" dir="2700000">
            <a:schemeClr val="tx1">
              <a:gamma/>
              <a:shade val="60000"/>
              <a:invGamma/>
            </a:schemeClr>
          </a:prst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400" b="0" i="0" u="none" strike="noStrike" cap="none" normalizeH="0" baseline="0" smtClean="0">
            <a:ln>
              <a:noFill/>
            </a:ln>
            <a:solidFill>
              <a:schemeClr val="bg1"/>
            </a:solidFill>
            <a:effectLst/>
            <a:latin typeface="FrutigerNext LT Regular" pitchFamily="34" charset="0"/>
            <a:ea typeface="MS PGothic" panose="020B0600070205080204" pitchFamily="34"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prstShdw prst="shdw17" dist="17961" dir="2700000">
            <a:schemeClr val="tx1">
              <a:gamma/>
              <a:shade val="60000"/>
              <a:invGamma/>
            </a:schemeClr>
          </a:prst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400" b="0" i="0" u="none" strike="noStrike" cap="none" normalizeH="0" baseline="0" smtClean="0">
            <a:ln>
              <a:noFill/>
            </a:ln>
            <a:solidFill>
              <a:schemeClr val="bg1"/>
            </a:solidFill>
            <a:effectLst/>
            <a:latin typeface="FrutigerNext LT Regular" pitchFamily="34" charset="0"/>
            <a:ea typeface="MS PGothic" panose="020B0600070205080204" pitchFamily="34" charset="-128"/>
          </a:defRPr>
        </a:defPPr>
      </a:lstStyle>
    </a:lnDef>
  </a:objectDefaults>
  <a:extraClrSchemeLst>
    <a:extraClrScheme>
      <a:clrScheme name="SEG组PPT主题 1">
        <a:dk1>
          <a:srgbClr val="080808"/>
        </a:dk1>
        <a:lt1>
          <a:srgbClr val="F8F8F8"/>
        </a:lt1>
        <a:dk2>
          <a:srgbClr val="330000"/>
        </a:dk2>
        <a:lt2>
          <a:srgbClr val="FFFFFF"/>
        </a:lt2>
        <a:accent1>
          <a:srgbClr val="FF9900"/>
        </a:accent1>
        <a:accent2>
          <a:srgbClr val="CC3300"/>
        </a:accent2>
        <a:accent3>
          <a:srgbClr val="ADAAAA"/>
        </a:accent3>
        <a:accent4>
          <a:srgbClr val="D4D4D4"/>
        </a:accent4>
        <a:accent5>
          <a:srgbClr val="FFCAAA"/>
        </a:accent5>
        <a:accent6>
          <a:srgbClr val="B92D00"/>
        </a:accent6>
        <a:hlink>
          <a:srgbClr val="CC6600"/>
        </a:hlink>
        <a:folHlink>
          <a:srgbClr val="B2B282"/>
        </a:folHlink>
      </a:clrScheme>
      <a:clrMap bg1="dk2" tx1="lt1" bg2="dk1" tx2="lt2" accent1="accent1" accent2="accent2" accent3="accent3" accent4="accent4" accent5="accent5" accent6="accent6" hlink="hlink" folHlink="folHlink"/>
    </a:extraClrScheme>
    <a:extraClrScheme>
      <a:clrScheme name="SEG组PPT主题 2">
        <a:dk1>
          <a:srgbClr val="333333"/>
        </a:dk1>
        <a:lt1>
          <a:srgbClr val="F8F8F8"/>
        </a:lt1>
        <a:dk2>
          <a:srgbClr val="800000"/>
        </a:dk2>
        <a:lt2>
          <a:srgbClr val="FFFFFF"/>
        </a:lt2>
        <a:accent1>
          <a:srgbClr val="CC9900"/>
        </a:accent1>
        <a:accent2>
          <a:srgbClr val="666666"/>
        </a:accent2>
        <a:accent3>
          <a:srgbClr val="C0AAAA"/>
        </a:accent3>
        <a:accent4>
          <a:srgbClr val="D4D4D4"/>
        </a:accent4>
        <a:accent5>
          <a:srgbClr val="E2CAAA"/>
        </a:accent5>
        <a:accent6>
          <a:srgbClr val="5C5C5C"/>
        </a:accent6>
        <a:hlink>
          <a:srgbClr val="CC6600"/>
        </a:hlink>
        <a:folHlink>
          <a:srgbClr val="95A587"/>
        </a:folHlink>
      </a:clrScheme>
      <a:clrMap bg1="dk2" tx1="lt1" bg2="dk1" tx2="lt2" accent1="accent1" accent2="accent2" accent3="accent3" accent4="accent4" accent5="accent5" accent6="accent6" hlink="hlink" folHlink="folHlink"/>
    </a:extraClrScheme>
    <a:extraClrScheme>
      <a:clrScheme name="SEG组PPT主题 3">
        <a:dk1>
          <a:srgbClr val="5F5F5F"/>
        </a:dk1>
        <a:lt1>
          <a:srgbClr val="A4BEE0"/>
        </a:lt1>
        <a:dk2>
          <a:srgbClr val="013253"/>
        </a:dk2>
        <a:lt2>
          <a:srgbClr val="FFFFFF"/>
        </a:lt2>
        <a:accent1>
          <a:srgbClr val="588480"/>
        </a:accent1>
        <a:accent2>
          <a:srgbClr val="6600FF"/>
        </a:accent2>
        <a:accent3>
          <a:srgbClr val="AAADB3"/>
        </a:accent3>
        <a:accent4>
          <a:srgbClr val="8BA2BF"/>
        </a:accent4>
        <a:accent5>
          <a:srgbClr val="B4C2C0"/>
        </a:accent5>
        <a:accent6>
          <a:srgbClr val="5C00E7"/>
        </a:accent6>
        <a:hlink>
          <a:srgbClr val="CCCC00"/>
        </a:hlink>
        <a:folHlink>
          <a:srgbClr val="5F5F5F"/>
        </a:folHlink>
      </a:clrScheme>
      <a:clrMap bg1="dk2" tx1="lt1" bg2="dk1" tx2="lt2" accent1="accent1" accent2="accent2" accent3="accent3" accent4="accent4" accent5="accent5" accent6="accent6" hlink="hlink" folHlink="folHlink"/>
    </a:extraClrScheme>
    <a:extraClrScheme>
      <a:clrScheme name="SEG组PPT主题 4">
        <a:dk1>
          <a:srgbClr val="003300"/>
        </a:dk1>
        <a:lt1>
          <a:srgbClr val="F8F8F8"/>
        </a:lt1>
        <a:dk2>
          <a:srgbClr val="3D4A1C"/>
        </a:dk2>
        <a:lt2>
          <a:srgbClr val="FFFFFF"/>
        </a:lt2>
        <a:accent1>
          <a:srgbClr val="99CC00"/>
        </a:accent1>
        <a:accent2>
          <a:srgbClr val="669900"/>
        </a:accent2>
        <a:accent3>
          <a:srgbClr val="AFB1AB"/>
        </a:accent3>
        <a:accent4>
          <a:srgbClr val="D4D4D4"/>
        </a:accent4>
        <a:accent5>
          <a:srgbClr val="CAE2AA"/>
        </a:accent5>
        <a:accent6>
          <a:srgbClr val="5C8A00"/>
        </a:accent6>
        <a:hlink>
          <a:srgbClr val="CC9900"/>
        </a:hlink>
        <a:folHlink>
          <a:srgbClr val="B2B282"/>
        </a:folHlink>
      </a:clrScheme>
      <a:clrMap bg1="dk2" tx1="lt1" bg2="dk1" tx2="lt2" accent1="accent1" accent2="accent2" accent3="accent3" accent4="accent4" accent5="accent5" accent6="accent6" hlink="hlink" folHlink="folHlink"/>
    </a:extraClrScheme>
    <a:extraClrScheme>
      <a:clrScheme name="SEG组PPT主题 5">
        <a:dk1>
          <a:srgbClr val="333333"/>
        </a:dk1>
        <a:lt1>
          <a:srgbClr val="F8F8F8"/>
        </a:lt1>
        <a:dk2>
          <a:srgbClr val="005D8C"/>
        </a:dk2>
        <a:lt2>
          <a:srgbClr val="FFFFFF"/>
        </a:lt2>
        <a:accent1>
          <a:srgbClr val="00CC99"/>
        </a:accent1>
        <a:accent2>
          <a:srgbClr val="0099CC"/>
        </a:accent2>
        <a:accent3>
          <a:srgbClr val="AAB6C5"/>
        </a:accent3>
        <a:accent4>
          <a:srgbClr val="D4D4D4"/>
        </a:accent4>
        <a:accent5>
          <a:srgbClr val="AAE2CA"/>
        </a:accent5>
        <a:accent6>
          <a:srgbClr val="008AB9"/>
        </a:accent6>
        <a:hlink>
          <a:srgbClr val="FFCC00"/>
        </a:hlink>
        <a:folHlink>
          <a:srgbClr val="D8D48C"/>
        </a:folHlink>
      </a:clrScheme>
      <a:clrMap bg1="dk2" tx1="lt1" bg2="dk1" tx2="lt2" accent1="accent1" accent2="accent2" accent3="accent3" accent4="accent4" accent5="accent5" accent6="accent6" hlink="hlink" folHlink="folHlink"/>
    </a:extraClrScheme>
    <a:extraClrScheme>
      <a:clrScheme name="SEG组PPT主题 6">
        <a:dk1>
          <a:srgbClr val="000000"/>
        </a:dk1>
        <a:lt1>
          <a:srgbClr val="ECAE00"/>
        </a:lt1>
        <a:dk2>
          <a:srgbClr val="FFFFFF"/>
        </a:dk2>
        <a:lt2>
          <a:srgbClr val="333333"/>
        </a:lt2>
        <a:accent1>
          <a:srgbClr val="CC6600"/>
        </a:accent1>
        <a:accent2>
          <a:srgbClr val="BA6D10"/>
        </a:accent2>
        <a:accent3>
          <a:srgbClr val="F4D3AA"/>
        </a:accent3>
        <a:accent4>
          <a:srgbClr val="000000"/>
        </a:accent4>
        <a:accent5>
          <a:srgbClr val="E2B8AA"/>
        </a:accent5>
        <a:accent6>
          <a:srgbClr val="A8620D"/>
        </a:accent6>
        <a:hlink>
          <a:srgbClr val="666633"/>
        </a:hlink>
        <a:folHlink>
          <a:srgbClr val="8D996D"/>
        </a:folHlink>
      </a:clrScheme>
      <a:clrMap bg1="lt1" tx1="dk1" bg2="lt2" tx2="dk2" accent1="accent1" accent2="accent2" accent3="accent3" accent4="accent4" accent5="accent5" accent6="accent6" hlink="hlink" folHlink="folHlink"/>
    </a:extraClrScheme>
    <a:extraClrScheme>
      <a:clrScheme name="SEG组PPT主题 7">
        <a:dk1>
          <a:srgbClr val="000000"/>
        </a:dk1>
        <a:lt1>
          <a:srgbClr val="FFFFFF"/>
        </a:lt1>
        <a:dk2>
          <a:srgbClr val="372221"/>
        </a:dk2>
        <a:lt2>
          <a:srgbClr val="808080"/>
        </a:lt2>
        <a:accent1>
          <a:srgbClr val="009999"/>
        </a:accent1>
        <a:accent2>
          <a:srgbClr val="9AAC98"/>
        </a:accent2>
        <a:accent3>
          <a:srgbClr val="FFFFFF"/>
        </a:accent3>
        <a:accent4>
          <a:srgbClr val="000000"/>
        </a:accent4>
        <a:accent5>
          <a:srgbClr val="AACACA"/>
        </a:accent5>
        <a:accent6>
          <a:srgbClr val="8B9B89"/>
        </a:accent6>
        <a:hlink>
          <a:srgbClr val="666699"/>
        </a:hlink>
        <a:folHlink>
          <a:srgbClr val="B2B2B2"/>
        </a:folHlink>
      </a:clrScheme>
      <a:clrMap bg1="lt1" tx1="dk1" bg2="lt2" tx2="dk2" accent1="accent1" accent2="accent2" accent3="accent3" accent4="accent4" accent5="accent5" accent6="accent6" hlink="hlink" folHlink="folHlink"/>
    </a:extraClrScheme>
    <a:extraClrScheme>
      <a:clrScheme name="SEG组PPT主题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SEG组PPT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0</TotalTime>
  <Words>9205</Words>
  <Application>WPS 演示</Application>
  <PresentationFormat>宽屏</PresentationFormat>
  <Paragraphs>508</Paragraphs>
  <Slides>58</Slides>
  <Notes>12</Notes>
  <HiddenSlides>0</HiddenSlides>
  <MMClips>0</MMClips>
  <ScaleCrop>false</ScaleCrop>
  <HeadingPairs>
    <vt:vector size="6" baseType="variant">
      <vt:variant>
        <vt:lpstr>已用的字体</vt:lpstr>
      </vt:variant>
      <vt:variant>
        <vt:i4>27</vt:i4>
      </vt:variant>
      <vt:variant>
        <vt:lpstr>主题</vt:lpstr>
      </vt:variant>
      <vt:variant>
        <vt:i4>2</vt:i4>
      </vt:variant>
      <vt:variant>
        <vt:lpstr>幻灯片标题</vt:lpstr>
      </vt:variant>
      <vt:variant>
        <vt:i4>58</vt:i4>
      </vt:variant>
    </vt:vector>
  </HeadingPairs>
  <TitlesOfParts>
    <vt:vector size="87" baseType="lpstr">
      <vt:lpstr>Arial</vt:lpstr>
      <vt:lpstr>宋体</vt:lpstr>
      <vt:lpstr>Wingdings</vt:lpstr>
      <vt:lpstr>FrutigerNext LT Regular</vt:lpstr>
      <vt:lpstr>Calibri</vt:lpstr>
      <vt:lpstr>幼圆</vt:lpstr>
      <vt:lpstr>Times New Roman</vt:lpstr>
      <vt:lpstr>FrutigerNext LT Regular</vt:lpstr>
      <vt:lpstr>MS PGothic</vt:lpstr>
      <vt:lpstr>黑体</vt:lpstr>
      <vt:lpstr>楷体_GB2312</vt:lpstr>
      <vt:lpstr>新宋体</vt:lpstr>
      <vt:lpstr>华文细黑</vt:lpstr>
      <vt:lpstr>Verdana</vt:lpstr>
      <vt:lpstr>华文新魏</vt:lpstr>
      <vt:lpstr>微软雅黑</vt:lpstr>
      <vt:lpstr>Fira Sans</vt:lpstr>
      <vt:lpstr>DejaVu Math TeX Gyre</vt:lpstr>
      <vt:lpstr>华文行楷</vt:lpstr>
      <vt:lpstr>-apple-system</vt:lpstr>
      <vt:lpstr>Segoe Print</vt:lpstr>
      <vt:lpstr>方正舒体</vt:lpstr>
      <vt:lpstr>Arial Unicode MS</vt:lpstr>
      <vt:lpstr>等线 Light</vt:lpstr>
      <vt:lpstr>Calibri Light</vt:lpstr>
      <vt:lpstr>等线</vt:lpstr>
      <vt:lpstr>楷体</vt:lpstr>
      <vt:lpstr>SEG组PPT主题</vt:lpstr>
      <vt:lpstr>1_SEG组PPT主题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文汇讲堂</dc:title>
  <dc:creator>Yu Huiqun</dc:creator>
  <cp:lastModifiedBy>路八酉</cp:lastModifiedBy>
  <cp:revision>1543</cp:revision>
  <dcterms:created xsi:type="dcterms:W3CDTF">2010-12-08T03:59:00Z</dcterms:created>
  <dcterms:modified xsi:type="dcterms:W3CDTF">2025-01-04T06:26:38Z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s_pID_725343">
    <vt:lpwstr>(3)eeY/EcjdW6+ICzVnm3/r6/xAl5lvhgvoAokwoBfZcPbL/5MtFRy5/qhHgCA4lB96tzj/Eytq
2NHJUUpWB2kMJ1NMlUJXhM5imLm4kyR3hZMBHv5FhT+IILvlUjuubbnZofkHoPU5fqYwynM4
ffEg5Eg4dQmaZorSYJ79TwvCgROY8gA232YiGQhhOoqKytLwLVbftsELLz1taQRfm5DZZji8
fXS+ORyvTVociYWKeX4TI</vt:lpwstr>
  </property>
  <property fmtid="{D5CDD505-2E9C-101B-9397-08002B2CF9AE}" pid="3" name="_ms_pID_7253431">
    <vt:lpwstr>HUv1HtLxkSgu+98Cci+sTM4mwpB4bnywtNgU0ZXCLU5E9az15Zl
yQ+eMRQT6rINdTXZYKuXlBrl3xhjVO/TULD0SzKnhjeDwt9CUpkpZKnkY8Eegftln4wJUDcS
wX1CZLvRfEb0iLB1QGG0ZNeX/u6ClzdlEOpMOHoov8h76URZeNq1mMQHPAv+/lT0BsL9aW0f
3CbqVo3pzNFkiUPIFF+OwWX00US6EDgYi2lm8LbPy4</vt:lpwstr>
  </property>
  <property fmtid="{D5CDD505-2E9C-101B-9397-08002B2CF9AE}" pid="4" name="_ms_pID_7253432">
    <vt:lpwstr>mqJPV5t2H+8EpfGZFx1xT4THFS1pBY
wcCmxD8BzMZr4El3AUiTOWBkAaTGMRJpKRRCImbmfYmYporODfRBVhilSzPe24aL1+wdJY5z</vt:lpwstr>
  </property>
  <property fmtid="{D5CDD505-2E9C-101B-9397-08002B2CF9AE}" pid="5" name="sflag">
    <vt:lpwstr>1309221052</vt:lpwstr>
  </property>
  <property fmtid="{D5CDD505-2E9C-101B-9397-08002B2CF9AE}" pid="6" name="KSORubyTemplateID">
    <vt:lpwstr>8</vt:lpwstr>
  </property>
  <property fmtid="{D5CDD505-2E9C-101B-9397-08002B2CF9AE}" pid="7" name="KSOProductBuildVer">
    <vt:lpwstr>2052-12.1.0.19302</vt:lpwstr>
  </property>
  <property fmtid="{D5CDD505-2E9C-101B-9397-08002B2CF9AE}" pid="8" name="ICV">
    <vt:lpwstr>79887FA522194C3CABA051BC485C60A7_13</vt:lpwstr>
  </property>
</Properties>
</file>