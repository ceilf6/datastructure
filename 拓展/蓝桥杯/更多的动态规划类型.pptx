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59" r:id="rId5"/>
    <p:sldId id="257" r:id="rId6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0" r:id="rId16"/>
    <p:sldId id="271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8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CC7E3-01E8-4CE4-AF3F-5292A7EA76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A68FE-09D5-4262-AF84-DFC541A997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A68FE-09D5-4262-AF84-DFC541A997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uogu.com.cn/problem/P1775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uogu.com.cn/problem/P188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luogu.com.cn/training/213#problems" TargetMode="External"/><Relationship Id="rId1" Type="http://schemas.openxmlformats.org/officeDocument/2006/relationships/hyperlink" Target="https://www.lanqiao.cn/problems/952/learning/?page=1&amp;first_category_id=1&amp;name=%E5%90%88%E5%94%B1%E9%98%9F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uogu.com.cn/problem/P1352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hyperlink" Target="https://www.cnblogs.com/howardzhangdqs/p/graph_lsqxx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uogu.com.cn/problem/P2014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luogu.com.cn/training/214#problems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更多的动态规划类型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区间</a:t>
            </a:r>
            <a:r>
              <a:rPr lang="en-US" altLang="zh-CN" dirty="0"/>
              <a:t>DP</a:t>
            </a:r>
            <a:r>
              <a:rPr lang="zh-CN" altLang="en-US" dirty="0"/>
              <a:t>与树形</a:t>
            </a:r>
            <a:r>
              <a:rPr lang="en-US" altLang="zh-CN" dirty="0"/>
              <a:t>DP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</a:t>
            </a:r>
            <a:r>
              <a:rPr lang="zh-CN" altLang="en-US" dirty="0"/>
              <a:t>的特性回顾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2306320"/>
            <a:ext cx="9720073" cy="40233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一道题什么时候可以使用动态规划？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b="1" dirty="0"/>
              <a:t>最优子结构性质</a:t>
            </a:r>
            <a:r>
              <a:rPr lang="zh-CN" altLang="en-US" dirty="0"/>
              <a:t>：大问题的最优解可以由小问题的最优解推出，这个性质就叫做“最优子结构”。在</a:t>
            </a:r>
            <a:r>
              <a:rPr lang="en-US" altLang="zh-CN" dirty="0"/>
              <a:t>DP</a:t>
            </a:r>
            <a:r>
              <a:rPr lang="zh-CN" altLang="en-US" dirty="0"/>
              <a:t>问题中，划分子问题是一门学问，这关系到状态如何设计以及如何转移。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b="1" dirty="0"/>
              <a:t>无后效性</a:t>
            </a:r>
            <a:r>
              <a:rPr lang="zh-CN" altLang="en-US" dirty="0"/>
              <a:t>：一旦我们确定了我们</a:t>
            </a:r>
            <a:r>
              <a:rPr lang="en-US" altLang="zh-CN" dirty="0"/>
              <a:t>DP</a:t>
            </a:r>
            <a:r>
              <a:rPr lang="zh-CN" altLang="en-US" dirty="0"/>
              <a:t>的某个状态，那么我们这个状态从何而来我们不必关心，换言之，</a:t>
            </a:r>
            <a:r>
              <a:rPr lang="zh-CN" altLang="en-US" b="1" dirty="0">
                <a:solidFill>
                  <a:srgbClr val="C00000"/>
                </a:solidFill>
              </a:rPr>
              <a:t>任何状态得出的过程对后续选择没有影响</a:t>
            </a:r>
            <a:r>
              <a:rPr lang="zh-CN" altLang="en-US" dirty="0"/>
              <a:t>，故称“无后效性”。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DP</a:t>
            </a:r>
            <a:r>
              <a:rPr lang="zh-CN" altLang="en-US" dirty="0"/>
              <a:t>的特性回顾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2306320"/>
            <a:ext cx="9720073" cy="40233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动态规划都有什么？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b="1" dirty="0"/>
              <a:t>状态设计</a:t>
            </a:r>
            <a:r>
              <a:rPr lang="zh-CN" altLang="en-US" dirty="0"/>
              <a:t>：一个可以表示问题的任意中间局面的取值</a:t>
            </a:r>
            <a:r>
              <a:rPr lang="en-US" altLang="zh-CN" dirty="0"/>
              <a:t>(</a:t>
            </a:r>
            <a:r>
              <a:rPr lang="zh-CN" altLang="en-US" dirty="0"/>
              <a:t>直接答案或者间接答案</a:t>
            </a:r>
            <a:r>
              <a:rPr lang="en-US" altLang="zh-CN" dirty="0"/>
              <a:t>)</a:t>
            </a:r>
            <a:r>
              <a:rPr lang="zh-CN" altLang="en-US" dirty="0"/>
              <a:t>的状态方程，设计状态方程的过程称作“状态设计”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b="1" dirty="0"/>
              <a:t>状态转移</a:t>
            </a:r>
            <a:r>
              <a:rPr lang="zh-CN" altLang="en-US" dirty="0"/>
              <a:t>：状态之间需要一些推理关系，以便于我们从一个边界状态计算到我们问题最终的状态。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一种特殊的二维</a:t>
            </a:r>
            <a:r>
              <a:rPr lang="en-US" altLang="zh-CN" dirty="0"/>
              <a:t>DP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</a:t>
            </a:r>
            <a:r>
              <a:rPr lang="en-US" altLang="zh-CN" dirty="0"/>
              <a:t>(</a:t>
            </a:r>
            <a:r>
              <a:rPr lang="zh-CN" altLang="en-US" dirty="0"/>
              <a:t>线性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1"/>
              </a:rPr>
              <a:t> </a:t>
            </a:r>
            <a:r>
              <a:rPr lang="zh-CN" altLang="en-US" dirty="0">
                <a:hlinkClick r:id="rId1"/>
              </a:rPr>
              <a:t>题目链接：石子合并</a:t>
            </a:r>
            <a:r>
              <a:rPr lang="en-US" altLang="zh-CN" dirty="0">
                <a:hlinkClick r:id="rId1"/>
              </a:rPr>
              <a:t>(</a:t>
            </a:r>
            <a:r>
              <a:rPr lang="zh-CN" altLang="en-US" dirty="0">
                <a:hlinkClick r:id="rId1"/>
              </a:rPr>
              <a:t>弱化版</a:t>
            </a:r>
            <a:r>
              <a:rPr lang="en-US" altLang="zh-CN" dirty="0">
                <a:hlinkClick r:id="rId1"/>
              </a:rPr>
              <a:t>)</a:t>
            </a:r>
            <a:r>
              <a:rPr lang="zh-CN" altLang="en-US" dirty="0">
                <a:hlinkClick r:id="rId1"/>
              </a:rPr>
              <a:t>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洛谷</a:t>
            </a:r>
            <a:endParaRPr lang="en-US" altLang="zh-CN" dirty="0"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设有 </a:t>
            </a:r>
            <a:r>
              <a:rPr lang="en-US" altLang="zh-CN" b="0" i="0" dirty="0">
                <a:effectLst/>
                <a:latin typeface="KaTeX_Main"/>
              </a:rPr>
              <a:t>N(N≤300)</a:t>
            </a:r>
            <a:r>
              <a:rPr lang="en-US" altLang="zh-CN" b="0" i="1" dirty="0">
                <a:effectLst/>
                <a:latin typeface="KaTeX_Math"/>
              </a:rPr>
              <a:t> </a:t>
            </a:r>
            <a:r>
              <a:rPr lang="zh-CN" altLang="en-US" b="0" i="0" dirty="0">
                <a:effectLst/>
                <a:latin typeface="-apple-system"/>
              </a:rPr>
              <a:t>堆石子排成一排，其编号为 </a:t>
            </a:r>
            <a:r>
              <a:rPr lang="en-US" altLang="zh-CN" b="0" i="0" dirty="0">
                <a:effectLst/>
                <a:latin typeface="KaTeX_Main"/>
              </a:rPr>
              <a:t>1,2,3,⋯ ,N</a:t>
            </a:r>
            <a:r>
              <a:rPr lang="zh-CN" altLang="en-US" b="0" i="0" dirty="0">
                <a:effectLst/>
                <a:latin typeface="-apple-system"/>
              </a:rPr>
              <a:t>。每堆石子有一定的质量 </a:t>
            </a:r>
            <a:r>
              <a:rPr lang="en-US" altLang="zh-CN" b="0" i="0" dirty="0">
                <a:effectLst/>
                <a:latin typeface="KaTeX_Main"/>
              </a:rPr>
              <a:t>mi (mi≤1000)</a:t>
            </a:r>
            <a:r>
              <a:rPr lang="en-US" altLang="zh-CN" b="0" i="1" dirty="0">
                <a:effectLst/>
                <a:latin typeface="KaTeX_Math"/>
              </a:rPr>
              <a:t> </a:t>
            </a:r>
            <a:r>
              <a:rPr lang="zh-CN" altLang="en-US" b="0" i="0" dirty="0">
                <a:effectLst/>
                <a:latin typeface="-apple-system"/>
              </a:rPr>
              <a:t>。现在要将这 </a:t>
            </a:r>
            <a:r>
              <a:rPr lang="en-US" altLang="zh-CN" b="0" i="0" dirty="0">
                <a:effectLst/>
                <a:latin typeface="KaTeX_Main"/>
              </a:rPr>
              <a:t>N</a:t>
            </a:r>
            <a:r>
              <a:rPr lang="zh-CN" altLang="en-US" b="0" i="0" dirty="0">
                <a:effectLst/>
                <a:latin typeface="-apple-system"/>
              </a:rPr>
              <a:t> 堆石子合并成为一堆。每次只能合并相邻的两堆，合并的代价为这两堆石子的质量之和，合并后与这两堆石子相邻的石子将和新堆相邻。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合并时由于选择的顺序不同，合并的总代价也不相同。试找出一种合理的方法，使总的代价最小，并输出最小代价。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</a:t>
            </a:r>
            <a:r>
              <a:rPr lang="en-US" altLang="zh-CN" dirty="0"/>
              <a:t>(</a:t>
            </a:r>
            <a:r>
              <a:rPr lang="zh-CN" altLang="en-US" dirty="0"/>
              <a:t>线性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1740747"/>
            <a:ext cx="9720073" cy="4568613"/>
          </a:xfrm>
        </p:spPr>
        <p:txBody>
          <a:bodyPr/>
          <a:lstStyle/>
          <a:p>
            <a:r>
              <a:rPr lang="zh-CN" altLang="en-US" dirty="0"/>
              <a:t>首先考虑能否贪心的解决该问题？</a:t>
            </a:r>
            <a:endParaRPr lang="en-US" altLang="zh-CN" dirty="0"/>
          </a:p>
          <a:p>
            <a:r>
              <a:rPr lang="zh-CN" altLang="en-US" dirty="0"/>
              <a:t>我们优先选择最小的和旁边的合并，这样似乎就能每次累计的两个石堆的值加起来更小。</a:t>
            </a:r>
            <a:endParaRPr lang="en-US" altLang="zh-CN" dirty="0"/>
          </a:p>
          <a:p>
            <a:r>
              <a:rPr lang="zh-CN" altLang="en-US" dirty="0"/>
              <a:t>考虑用链表存储序列，那么首先遍历一遍序列，找到和最小的两个，合并，再遍历一遍，再找到和最小的两个</a:t>
            </a:r>
            <a:r>
              <a:rPr lang="en-US" altLang="zh-CN" dirty="0"/>
              <a:t>……</a:t>
            </a:r>
            <a:endParaRPr lang="en-US" altLang="zh-CN" dirty="0"/>
          </a:p>
          <a:p>
            <a:r>
              <a:rPr lang="zh-CN" altLang="en-US" dirty="0"/>
              <a:t>如果这个方法能够成功，那么总共复杂度应当是</a:t>
            </a:r>
            <a:r>
              <a:rPr lang="en-US" altLang="zh-CN" dirty="0"/>
              <a:t>n^2</a:t>
            </a:r>
            <a:r>
              <a:rPr lang="zh-CN" altLang="en-US" dirty="0"/>
              <a:t>的，看上去非常快！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</a:t>
            </a:r>
            <a:r>
              <a:rPr lang="en-US" altLang="zh-CN" dirty="0"/>
              <a:t>(</a:t>
            </a:r>
            <a:r>
              <a:rPr lang="zh-CN" altLang="en-US" dirty="0"/>
              <a:t>线性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1740747"/>
            <a:ext cx="9720073" cy="456861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然而我们现在考虑</a:t>
            </a:r>
            <a:r>
              <a:rPr lang="en-US" altLang="zh-CN" dirty="0"/>
              <a:t>5</a:t>
            </a:r>
            <a:r>
              <a:rPr lang="zh-CN" altLang="en-US" dirty="0"/>
              <a:t>个石子：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1 3 4 2 5</a:t>
            </a:r>
            <a:endParaRPr lang="en-US" altLang="zh-CN" b="0" i="0" dirty="0">
              <a:solidFill>
                <a:srgbClr val="404040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运用贪心策略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: 4 4 2 5(+4)-&gt;4 6 5(+6)-&gt;10 5(+10)-&gt;15(+15)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合计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35</a:t>
            </a:r>
            <a:endParaRPr lang="en-US" altLang="zh-CN" b="0" i="0" dirty="0">
              <a:solidFill>
                <a:srgbClr val="404040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404040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实际上存在策略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:  4 4 2 5(+4)-&gt;4 4 7(+7)-&gt;8 7(+8)-&gt;15(+15)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合计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34</a:t>
            </a:r>
            <a:endParaRPr lang="en-US" altLang="zh-CN" b="0" i="0" dirty="0">
              <a:solidFill>
                <a:srgbClr val="404040"/>
              </a:solidFill>
              <a:effectLst/>
              <a:latin typeface="-apple-system"/>
            </a:endParaRPr>
          </a:p>
          <a:p>
            <a:r>
              <a:rPr lang="zh-CN" altLang="en-US" dirty="0">
                <a:solidFill>
                  <a:srgbClr val="404040"/>
                </a:solidFill>
                <a:latin typeface="-apple-system"/>
              </a:rPr>
              <a:t>贪心的错误只需要找出一个反例就足矣。</a:t>
            </a:r>
            <a:endParaRPr lang="en-US" altLang="zh-CN" dirty="0">
              <a:solidFill>
                <a:srgbClr val="404040"/>
              </a:solidFill>
              <a:latin typeface="-apple-system"/>
            </a:endParaRPr>
          </a:p>
          <a:p>
            <a:endParaRPr lang="en-US" altLang="zh-CN" dirty="0">
              <a:solidFill>
                <a:srgbClr val="404040"/>
              </a:solidFill>
              <a:latin typeface="-apple-system"/>
            </a:endParaRPr>
          </a:p>
          <a:p>
            <a:r>
              <a:rPr lang="zh-CN" altLang="en-US" dirty="0">
                <a:solidFill>
                  <a:srgbClr val="404040"/>
                </a:solidFill>
                <a:latin typeface="-apple-system"/>
              </a:rPr>
              <a:t>从做题的角度来说，通常我们遇到一个过于复杂度过低的贪心，而数据量又很小，其实就值得怀疑其正确性了。偶尔还可以通过微调贪心策略实现目的，但大部分情况下，该题另有其解。微调贪心的结果很可能是怎么调都不对！所以尽量避免陷入到无尽的对贪心的修改中！</a:t>
            </a:r>
            <a:endParaRPr lang="en-US" altLang="zh-CN" dirty="0">
              <a:solidFill>
                <a:srgbClr val="404040"/>
              </a:solidFill>
              <a:latin typeface="-apple-syste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石子合并（线性）区间</a:t>
            </a:r>
            <a:r>
              <a:rPr lang="en-US" altLang="zh-CN" dirty="0"/>
              <a:t>DP</a:t>
            </a:r>
            <a:r>
              <a:rPr lang="zh-CN" altLang="en-US" dirty="0"/>
              <a:t>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我们考虑设计一个最简单的状态，即 </a:t>
            </a:r>
            <a:r>
              <a:rPr lang="en-US" altLang="zh-CN" dirty="0" err="1"/>
              <a:t>dp</a:t>
            </a:r>
            <a:r>
              <a:rPr lang="en-US" altLang="zh-CN" dirty="0"/>
              <a:t>[l][r] </a:t>
            </a:r>
            <a:r>
              <a:rPr lang="zh-CN" altLang="en-US" dirty="0"/>
              <a:t>表示将</a:t>
            </a:r>
            <a:r>
              <a:rPr lang="en-US" altLang="zh-CN" dirty="0" err="1"/>
              <a:t>l~r</a:t>
            </a:r>
            <a:r>
              <a:rPr lang="zh-CN" altLang="en-US" dirty="0"/>
              <a:t>之间的石子全部合并的最小代价。我们现在考虑如何进行状态之间的转移？</a:t>
            </a:r>
            <a:endParaRPr lang="en-US" altLang="zh-CN" dirty="0"/>
          </a:p>
          <a:p>
            <a:r>
              <a:rPr lang="zh-CN" altLang="en-US" dirty="0"/>
              <a:t>首先我们能够一开始就确定的答案，一般就是所谓的边界状态，也就是规模最小的状态，在这道题中，很显然，最小的状态是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</a:t>
            </a:r>
            <a:r>
              <a:rPr lang="en-US" altLang="zh-CN" dirty="0" err="1"/>
              <a:t>i</a:t>
            </a:r>
            <a:r>
              <a:rPr lang="en-US" altLang="zh-CN" dirty="0"/>
              <a:t>]=a[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，而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][i+1]</a:t>
            </a:r>
            <a:r>
              <a:rPr lang="zh-CN" altLang="en-US" dirty="0"/>
              <a:t>虽然它的答案也是确定的，但是它的规模并非最小，或许我们可以像更新任意更大的状态一样让它从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推导过来计算它。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由小推大，怎么推？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石子合并（线性）区间</a:t>
            </a:r>
            <a:r>
              <a:rPr lang="en-US" altLang="zh-CN" dirty="0"/>
              <a:t>DP</a:t>
            </a:r>
            <a:r>
              <a:rPr lang="zh-CN" altLang="en-US" dirty="0"/>
              <a:t>解法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我们考虑以下两种可能的状态转移的方式：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确立一个左端点，将它固定，然后移动右端点来顺着扩大区间。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确立一个区间长度，然后枚举所有的该长度的区间，让它来更新更大一层的区间，或者让它由更小一级的区间得到。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如何转移往往和我们划分子问题的方式密切相关，于是我们考虑一个可能的划分子问题的方式：对于一个区间 </a:t>
            </a:r>
            <a:r>
              <a:rPr lang="en-US" altLang="zh-CN" dirty="0" err="1"/>
              <a:t>l~r</a:t>
            </a:r>
            <a:r>
              <a:rPr lang="zh-CN" altLang="en-US" dirty="0"/>
              <a:t>，要解决它的最小代价问题，可以考虑把它分成两堆来处理，设定一个断点</a:t>
            </a:r>
            <a:r>
              <a:rPr lang="en-US" altLang="zh-CN" dirty="0"/>
              <a:t>k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只要我们知道了 </a:t>
            </a:r>
            <a:r>
              <a:rPr lang="en-US" altLang="zh-CN" dirty="0" err="1"/>
              <a:t>dp</a:t>
            </a:r>
            <a:r>
              <a:rPr lang="en-US" altLang="zh-CN" dirty="0"/>
              <a:t>[l][k] </a:t>
            </a:r>
            <a:r>
              <a:rPr lang="zh-CN" altLang="en-US" dirty="0"/>
              <a:t>和 </a:t>
            </a:r>
            <a:r>
              <a:rPr lang="en-US" altLang="zh-CN" dirty="0" err="1"/>
              <a:t>dp</a:t>
            </a:r>
            <a:r>
              <a:rPr lang="en-US" altLang="zh-CN" dirty="0"/>
              <a:t>[k][r]</a:t>
            </a:r>
            <a:r>
              <a:rPr lang="zh-CN" altLang="en-US" dirty="0"/>
              <a:t>，那么我们就可以知道</a:t>
            </a:r>
            <a:r>
              <a:rPr lang="en-US" altLang="zh-CN" dirty="0" err="1"/>
              <a:t>dp</a:t>
            </a:r>
            <a:r>
              <a:rPr lang="en-US" altLang="zh-CN" dirty="0"/>
              <a:t>[l][r]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确立一个左端点？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很显然这样的方法会漏掉一些情况：</a:t>
            </a:r>
            <a:endParaRPr lang="en-US" altLang="zh-CN" dirty="0"/>
          </a:p>
          <a:p>
            <a:r>
              <a:rPr lang="zh-CN" altLang="en-US" dirty="0"/>
              <a:t>如果我们要固定</a:t>
            </a:r>
            <a:r>
              <a:rPr lang="en-US" altLang="zh-CN" dirty="0"/>
              <a:t>l,</a:t>
            </a:r>
            <a:r>
              <a:rPr lang="zh-CN" altLang="en-US" dirty="0"/>
              <a:t>更新到所有以它为左端点的状态 </a:t>
            </a:r>
            <a:r>
              <a:rPr lang="en-US" altLang="zh-CN" dirty="0" err="1"/>
              <a:t>dp</a:t>
            </a:r>
            <a:r>
              <a:rPr lang="en-US" altLang="zh-CN" dirty="0"/>
              <a:t>[l][k] </a:t>
            </a:r>
            <a:endParaRPr lang="en-US" altLang="zh-CN" dirty="0"/>
          </a:p>
          <a:p>
            <a:r>
              <a:rPr lang="zh-CN" altLang="en-US" dirty="0"/>
              <a:t>那么我们会发现，我们可能需要尝试让</a:t>
            </a:r>
            <a:r>
              <a:rPr lang="en-US" altLang="zh-CN" dirty="0" err="1"/>
              <a:t>l~j</a:t>
            </a:r>
            <a:r>
              <a:rPr lang="en-US" altLang="zh-CN" dirty="0"/>
              <a:t>, </a:t>
            </a:r>
            <a:r>
              <a:rPr lang="en-US" altLang="zh-CN" dirty="0" err="1"/>
              <a:t>j~k</a:t>
            </a:r>
            <a:r>
              <a:rPr lang="zh-CN" altLang="en-US" dirty="0"/>
              <a:t>这两堆石子凑成它 </a:t>
            </a:r>
            <a:r>
              <a:rPr lang="en-US" altLang="zh-CN" dirty="0" err="1"/>
              <a:t>dp</a:t>
            </a:r>
            <a:r>
              <a:rPr lang="en-US" altLang="zh-CN" dirty="0"/>
              <a:t>[l][k]=</a:t>
            </a:r>
            <a:r>
              <a:rPr lang="en-US" altLang="zh-CN" dirty="0" err="1"/>
              <a:t>dp</a:t>
            </a:r>
            <a:r>
              <a:rPr lang="en-US" altLang="zh-CN" dirty="0"/>
              <a:t>[l][j]+</a:t>
            </a:r>
            <a:r>
              <a:rPr lang="en-US" altLang="zh-CN" dirty="0" err="1"/>
              <a:t>dp</a:t>
            </a:r>
            <a:r>
              <a:rPr lang="en-US" altLang="zh-CN" dirty="0"/>
              <a:t>[j][k]</a:t>
            </a:r>
            <a:r>
              <a:rPr lang="zh-CN" altLang="en-US" dirty="0"/>
              <a:t>，然而，由于我们是顺序枚举左端点，此时我们的</a:t>
            </a:r>
            <a:r>
              <a:rPr lang="en-US" altLang="zh-CN" dirty="0" err="1"/>
              <a:t>dp</a:t>
            </a:r>
            <a:r>
              <a:rPr lang="en-US" altLang="zh-CN" dirty="0"/>
              <a:t>[j][k]</a:t>
            </a:r>
            <a:r>
              <a:rPr lang="zh-CN" altLang="en-US" dirty="0"/>
              <a:t>并不一定是</a:t>
            </a:r>
            <a:r>
              <a:rPr lang="en-US" altLang="zh-CN" dirty="0" err="1"/>
              <a:t>j~k</a:t>
            </a:r>
            <a:r>
              <a:rPr lang="zh-CN" altLang="en-US" dirty="0"/>
              <a:t>的区间内最优的结果，因此，该更新是非法的。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我们顺次的更新没办法解决这个问题！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确立一个区间长度！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如果我们确立一个区间长度，我们会发现先前的问题迎刃而解，因为当我们需要让 </a:t>
            </a:r>
            <a:r>
              <a:rPr lang="en-US" altLang="zh-CN" dirty="0" err="1"/>
              <a:t>l~j</a:t>
            </a:r>
            <a:r>
              <a:rPr lang="en-US" altLang="zh-CN" dirty="0"/>
              <a:t> </a:t>
            </a:r>
            <a:r>
              <a:rPr lang="zh-CN" altLang="en-US" dirty="0"/>
              <a:t>堆和 </a:t>
            </a:r>
            <a:r>
              <a:rPr lang="en-US" altLang="zh-CN" dirty="0" err="1"/>
              <a:t>j~k</a:t>
            </a:r>
            <a:r>
              <a:rPr lang="en-US" altLang="zh-CN" dirty="0"/>
              <a:t> </a:t>
            </a:r>
            <a:r>
              <a:rPr lang="zh-CN" altLang="en-US" dirty="0"/>
              <a:t>堆合并的时候，由于我们从小区间向大区间推，因此在考虑这个更长的</a:t>
            </a:r>
            <a:r>
              <a:rPr lang="en-US" altLang="zh-CN" dirty="0" err="1"/>
              <a:t>l~k</a:t>
            </a:r>
            <a:r>
              <a:rPr lang="en-US" altLang="zh-CN" dirty="0"/>
              <a:t> </a:t>
            </a:r>
            <a:r>
              <a:rPr lang="zh-CN" altLang="en-US" dirty="0"/>
              <a:t>区间时我们总是直到更小的区间最优值是多少。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也就是说，此时我们的转移方程也呼之欲出了，我们枚举区间长度，然后枚举左端点，计算右端点，然后我们用一层循环枚举我们的中断点，以枚举“用两大堆石子合并成该大区间”的所有情况，此时状态转移方程就是：</a:t>
            </a:r>
            <a:endParaRPr lang="en-US" altLang="zh-CN" dirty="0"/>
          </a:p>
          <a:p>
            <a:r>
              <a:rPr lang="pt-BR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dp[l][r]=min{f[l][k]+f[k+1][r]}+sum[r]-sum[l-1](l&lt;=k&lt;r)</a:t>
            </a:r>
            <a:endParaRPr lang="pt-BR" altLang="zh-CN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/>
              <a:t> 其中，</a:t>
            </a:r>
            <a:r>
              <a:rPr lang="en-US" altLang="zh-CN" dirty="0"/>
              <a:t>sum[r]</a:t>
            </a:r>
            <a:r>
              <a:rPr lang="zh-CN" altLang="en-US" dirty="0"/>
              <a:t>表示一个</a:t>
            </a:r>
            <a:r>
              <a:rPr lang="en-US" altLang="zh-CN" dirty="0"/>
              <a:t>r</a:t>
            </a:r>
            <a:r>
              <a:rPr lang="zh-CN" altLang="en-US" dirty="0"/>
              <a:t>为右端的前缀和。</a:t>
            </a:r>
            <a:endParaRPr lang="pt-BR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dirty="0"/>
              <a:t>于是，我们完整的代码便有了思路。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主体代码奉上！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0330" y="2084832"/>
            <a:ext cx="7509086" cy="4022725"/>
          </a:xfrm>
        </p:spPr>
      </p:pic>
      <p:sp>
        <p:nvSpPr>
          <p:cNvPr id="6" name="文本框 5"/>
          <p:cNvSpPr txBox="1"/>
          <p:nvPr/>
        </p:nvSpPr>
        <p:spPr>
          <a:xfrm>
            <a:off x="8895806" y="3076303"/>
            <a:ext cx="242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可以看到，它的复杂度为</a:t>
            </a:r>
            <a:r>
              <a:rPr lang="en-US" altLang="zh-CN" dirty="0"/>
              <a:t>O(n^3)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</a:t>
            </a:r>
            <a:r>
              <a:rPr lang="en-US" altLang="zh-CN" dirty="0"/>
              <a:t>(</a:t>
            </a:r>
            <a:r>
              <a:rPr lang="zh-CN" altLang="en-US" dirty="0"/>
              <a:t>环形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一个极其类似的问题，我们借以来介绍区间问题常常面临的一个小变种。</a:t>
            </a:r>
            <a:endParaRPr lang="en-US" altLang="zh-CN" dirty="0"/>
          </a:p>
          <a:p>
            <a:r>
              <a:rPr lang="en-US" altLang="zh-CN" dirty="0">
                <a:hlinkClick r:id="rId1"/>
              </a:rPr>
              <a:t> </a:t>
            </a:r>
            <a:r>
              <a:rPr lang="zh-CN" altLang="en-US" dirty="0">
                <a:hlinkClick r:id="rId1"/>
              </a:rPr>
              <a:t>链接：石子合并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洛谷</a:t>
            </a:r>
            <a:endParaRPr lang="en-US" altLang="zh-CN" dirty="0"/>
          </a:p>
          <a:p>
            <a:r>
              <a:rPr lang="zh-CN" altLang="en-US" dirty="0"/>
              <a:t>在一个</a:t>
            </a:r>
            <a:r>
              <a:rPr lang="zh-CN" altLang="en-US" b="1" dirty="0"/>
              <a:t>圆形</a:t>
            </a:r>
            <a:r>
              <a:rPr lang="zh-CN" altLang="en-US" dirty="0"/>
              <a:t>操场的四周摆放 </a:t>
            </a:r>
            <a:r>
              <a:rPr lang="en-US" altLang="zh-CN" dirty="0"/>
              <a:t>N</a:t>
            </a:r>
            <a:r>
              <a:rPr lang="zh-CN" altLang="en-US" dirty="0"/>
              <a:t>堆石子，现要将石子有次序地合并成一堆，规定每次只能选相邻的 </a:t>
            </a:r>
            <a:r>
              <a:rPr lang="en-US" altLang="zh-CN" dirty="0"/>
              <a:t>2 </a:t>
            </a:r>
            <a:r>
              <a:rPr lang="zh-CN" altLang="en-US" dirty="0"/>
              <a:t>堆合并成新的一堆，并将新的一堆的石子数，记为该次合并的得分。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试设计出一个算法</a:t>
            </a:r>
            <a:r>
              <a:rPr lang="en-US" altLang="zh-CN" dirty="0"/>
              <a:t>,</a:t>
            </a:r>
            <a:r>
              <a:rPr lang="zh-CN" altLang="en-US" dirty="0"/>
              <a:t>计算出将 </a:t>
            </a:r>
            <a:r>
              <a:rPr lang="en-US" altLang="zh-CN" dirty="0"/>
              <a:t>N </a:t>
            </a:r>
            <a:r>
              <a:rPr lang="zh-CN" altLang="en-US" dirty="0"/>
              <a:t>堆石子合并成 </a:t>
            </a:r>
            <a:r>
              <a:rPr lang="en-US" altLang="zh-CN" dirty="0"/>
              <a:t>1 </a:t>
            </a:r>
            <a:r>
              <a:rPr lang="zh-CN" altLang="en-US" dirty="0"/>
              <a:t>堆的最小得分和最大得分。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</a:t>
            </a:r>
            <a:r>
              <a:rPr lang="en-US" altLang="zh-CN" dirty="0"/>
              <a:t>(</a:t>
            </a:r>
            <a:r>
              <a:rPr lang="zh-CN" altLang="en-US" dirty="0"/>
              <a:t>环形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在这道题中我们遇到的一个问题是，我们有可能直接合并首尾的部分了。先前线性的代码没办法处理这样的情况。</a:t>
            </a:r>
            <a:endParaRPr lang="en-US" altLang="zh-CN" dirty="0"/>
          </a:p>
          <a:p>
            <a:r>
              <a:rPr lang="zh-CN" altLang="en-US" dirty="0"/>
              <a:t>比如</a:t>
            </a:r>
            <a:endParaRPr lang="en-US" altLang="zh-CN" dirty="0"/>
          </a:p>
          <a:p>
            <a:r>
              <a:rPr lang="en-US" altLang="zh-CN" dirty="0"/>
              <a:t>1 3 1</a:t>
            </a:r>
            <a:endParaRPr lang="en-US" altLang="zh-CN" dirty="0"/>
          </a:p>
          <a:p>
            <a:r>
              <a:rPr lang="zh-CN" altLang="en-US" dirty="0"/>
              <a:t>在环形情况下，很显然两个</a:t>
            </a:r>
            <a:r>
              <a:rPr lang="en-US" altLang="zh-CN" dirty="0"/>
              <a:t>1</a:t>
            </a:r>
            <a:r>
              <a:rPr lang="zh-CN" altLang="en-US" dirty="0"/>
              <a:t>可以先合并，然后再和</a:t>
            </a:r>
            <a:r>
              <a:rPr lang="en-US" altLang="zh-CN" dirty="0"/>
              <a:t>3</a:t>
            </a:r>
            <a:r>
              <a:rPr lang="zh-CN" altLang="en-US" dirty="0"/>
              <a:t>合并得到一个更小的值。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石子合并（环形）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通常遇到环形的问题，比起线性的区间问题，我们要多做的事情很简单，那就是化环为链。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化环为链的方法通常是“倍长法”</a:t>
            </a:r>
            <a:endParaRPr lang="en-US" altLang="zh-CN" dirty="0"/>
          </a:p>
          <a:p>
            <a:r>
              <a:rPr lang="zh-CN" altLang="en-US" dirty="0"/>
              <a:t>具体地：</a:t>
            </a:r>
            <a:endParaRPr lang="en-US" altLang="zh-CN" dirty="0"/>
          </a:p>
          <a:p>
            <a:r>
              <a:rPr lang="zh-CN" altLang="en-US" dirty="0"/>
              <a:t>随便选择环的一个位置作为起点</a:t>
            </a:r>
            <a:r>
              <a:rPr lang="en-US" altLang="zh-CN" dirty="0"/>
              <a:t>(</a:t>
            </a:r>
            <a:r>
              <a:rPr lang="zh-CN" altLang="en-US" dirty="0"/>
              <a:t>通常就是第一个输入的那个值</a:t>
            </a:r>
            <a:r>
              <a:rPr lang="en-US" altLang="zh-CN" dirty="0"/>
              <a:t>)</a:t>
            </a:r>
            <a:r>
              <a:rPr lang="zh-CN" altLang="en-US" dirty="0"/>
              <a:t>，然后将它按照顺时针或者逆时针的顺序当作链，复制一份这个链条，最后再将该复制的链平移在该链条尾部。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石子合并（环形）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430255"/>
            <a:ext cx="7074843" cy="258532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华文仿宋" panose="02010600040101010101" charset="-122"/>
                <a:ea typeface="华文仿宋" panose="02010600040101010101" charset="-122"/>
              </a:rPr>
              <a:t>完成上述操作的代码其实非常简单，就是把输入的值复制一份就好了。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effectLst/>
              <a:latin typeface="华文仿宋" panose="02010600040101010101" charset="-122"/>
              <a:ea typeface="华文仿宋" panose="02010600040101010101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959A8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for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959A8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 i=n+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5871F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;i&lt;=n+n;i++) {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charset="-122"/>
              <a:ea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	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a[i]=a[i-n]; sum[i]=sum[i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5871F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-1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]+a[i];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charset="-122"/>
              <a:ea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}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charset="-122"/>
              <a:ea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latin typeface="Arial Unicode MS" panose="020B0604020202020204" charset="-122"/>
              <a:ea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E908C"/>
                </a:solidFill>
                <a:effectLst/>
                <a:latin typeface="Arial Unicode MS" panose="020B0604020202020204" charset="-122"/>
                <a:ea typeface="Courier New" panose="02070409020205090404" pitchFamily="49" charset="0"/>
              </a:rPr>
              <a:t>//对于环的处理 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石子合并（环形）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通过上述的操作，我们把环变成了一个双倍长的链。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这样当我们需要把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作为两个相邻元素来看待的时候，我们只需要把左端点定在</a:t>
            </a:r>
            <a:r>
              <a:rPr lang="en-US" altLang="zh-CN" dirty="0"/>
              <a:t>n</a:t>
            </a:r>
            <a:r>
              <a:rPr lang="zh-CN" altLang="en-US" dirty="0"/>
              <a:t>或</a:t>
            </a:r>
            <a:r>
              <a:rPr lang="en-US" altLang="zh-CN" dirty="0"/>
              <a:t>n</a:t>
            </a:r>
            <a:r>
              <a:rPr lang="zh-CN" altLang="en-US" dirty="0"/>
              <a:t>之前，右端点定在</a:t>
            </a:r>
            <a:r>
              <a:rPr lang="en-US" altLang="zh-CN" dirty="0"/>
              <a:t>n</a:t>
            </a:r>
            <a:r>
              <a:rPr lang="zh-CN" altLang="en-US" dirty="0"/>
              <a:t>之后，保证左右端点直接是一个长度为</a:t>
            </a:r>
            <a:r>
              <a:rPr lang="en-US" altLang="zh-CN" dirty="0"/>
              <a:t>n</a:t>
            </a:r>
            <a:r>
              <a:rPr lang="zh-CN" altLang="en-US" dirty="0"/>
              <a:t>的序列即可。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石子合并（环形）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1874520"/>
            <a:ext cx="9720073" cy="4983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如果我们把左边界点从</a:t>
            </a:r>
            <a:r>
              <a:rPr lang="en-US" altLang="zh-CN" dirty="0"/>
              <a:t>1~n</a:t>
            </a:r>
            <a:r>
              <a:rPr lang="zh-CN" altLang="en-US" dirty="0"/>
              <a:t>全指定一遍，那么我们就得到了</a:t>
            </a:r>
            <a:r>
              <a:rPr lang="en-US" altLang="zh-CN" dirty="0"/>
              <a:t>1~n</a:t>
            </a:r>
            <a:r>
              <a:rPr lang="zh-CN" altLang="en-US" dirty="0"/>
              <a:t>作为邻居相邻的所有情况（即它们在序列中的次序的所有情况）。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而实际上对于环形问题，一定存在指定某两个邻居作为序列的两端时，问题可以作为序列正常解决。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也就是说在这道题中，我们仍然枚举所有的从</a:t>
            </a:r>
            <a:r>
              <a:rPr lang="en-US" altLang="zh-CN" dirty="0"/>
              <a:t>2</a:t>
            </a:r>
            <a:r>
              <a:rPr lang="zh-CN" altLang="en-US" dirty="0"/>
              <a:t>到</a:t>
            </a:r>
            <a:r>
              <a:rPr lang="en-US" altLang="zh-CN" dirty="0"/>
              <a:t>n</a:t>
            </a:r>
            <a:r>
              <a:rPr lang="zh-CN" altLang="en-US" dirty="0"/>
              <a:t>的区间长度，但是我们的左端点可以从</a:t>
            </a:r>
            <a:r>
              <a:rPr lang="en-US" altLang="zh-CN" dirty="0"/>
              <a:t>1</a:t>
            </a:r>
            <a:r>
              <a:rPr lang="zh-CN" altLang="en-US" dirty="0"/>
              <a:t>取到</a:t>
            </a:r>
            <a:r>
              <a:rPr lang="en-US" altLang="zh-CN" dirty="0"/>
              <a:t>2n-1</a:t>
            </a:r>
            <a:r>
              <a:rPr lang="zh-CN" altLang="en-US" dirty="0"/>
              <a:t>处，因为我们在原序列右侧的小区间可能作为我们跨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的大区间的一部分来使用，所以我们必须更新它们。除此之外该题的状态转移方程和线性时候的情况没有任何区别。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这样更新下来，我们实际上考虑了所有的环作为链条展开的情况，并且针对了所有的情况进行了线性的区间</a:t>
            </a:r>
            <a:r>
              <a:rPr lang="en-US" altLang="zh-CN" dirty="0"/>
              <a:t>DP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最终，我们的答案就是所有长度为 </a:t>
            </a:r>
            <a:r>
              <a:rPr lang="en-US" altLang="zh-CN" dirty="0"/>
              <a:t>n </a:t>
            </a:r>
            <a:r>
              <a:rPr lang="zh-CN" altLang="en-US" dirty="0"/>
              <a:t>的区间的 </a:t>
            </a:r>
            <a:r>
              <a:rPr lang="en-US" altLang="zh-CN" dirty="0" err="1"/>
              <a:t>dp</a:t>
            </a:r>
            <a:r>
              <a:rPr lang="en-US" altLang="zh-CN" dirty="0"/>
              <a:t>[l][r] </a:t>
            </a:r>
            <a:r>
              <a:rPr lang="zh-CN" altLang="en-US" dirty="0"/>
              <a:t>中的最大</a:t>
            </a:r>
            <a:r>
              <a:rPr lang="en-US" altLang="zh-CN" dirty="0"/>
              <a:t>/</a:t>
            </a:r>
            <a:r>
              <a:rPr lang="zh-CN" altLang="en-US" dirty="0"/>
              <a:t>最小值。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环形代码：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2059" y="2093416"/>
            <a:ext cx="9720073" cy="4023360"/>
          </a:xfrm>
        </p:spPr>
        <p:txBody>
          <a:bodyPr/>
          <a:lstStyle/>
          <a:p>
            <a:r>
              <a:rPr lang="zh-CN" altLang="en-US" dirty="0"/>
              <a:t>前面的代码基本不变，只需要多一个环扩展成倍长链的过程：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613877"/>
            <a:ext cx="6421701" cy="37789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</a:t>
            </a:r>
            <a:r>
              <a:rPr lang="en-US" altLang="zh-CN" dirty="0"/>
              <a:t>DP</a:t>
            </a:r>
            <a:r>
              <a:rPr lang="zh-CN" altLang="en-US" dirty="0"/>
              <a:t>小总结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7" y="1952897"/>
            <a:ext cx="9720073" cy="448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对于现阶段的区间</a:t>
            </a:r>
            <a:r>
              <a:rPr lang="en-US" altLang="zh-CN" dirty="0"/>
              <a:t>DP</a:t>
            </a:r>
            <a:r>
              <a:rPr lang="zh-CN" altLang="en-US" dirty="0"/>
              <a:t>，较为简单，状态设计可以直接一些，问什么设什么基本   上就可以解决问题。</a:t>
            </a:r>
            <a:endParaRPr lang="en-US" altLang="zh-CN" dirty="0"/>
          </a:p>
          <a:p>
            <a:r>
              <a:rPr lang="zh-CN" altLang="en-US" dirty="0"/>
              <a:t>区间</a:t>
            </a:r>
            <a:r>
              <a:rPr lang="en-US" altLang="zh-CN" dirty="0"/>
              <a:t>DP</a:t>
            </a:r>
            <a:r>
              <a:rPr lang="zh-CN" altLang="en-US" dirty="0"/>
              <a:t>采用的基本转移方式是从小区间到大区间。也就是最外层从小到大枚举所有的区间长度，然后枚举左端点，计算右端点，然后再枚举断点以此更新该大区间。当然，有些特殊的题目可能存在右端点单独移动造成的特殊更新，这种时候也是方便改造的，因为总归是从小区间拓展到大区间，不需要枚举断点的时候就少一层循环即可，按照需要自由选择转移方式即可。</a:t>
            </a:r>
            <a:endParaRPr lang="en-US" altLang="zh-CN" dirty="0"/>
          </a:p>
          <a:p>
            <a:r>
              <a:rPr lang="zh-CN" altLang="en-US" dirty="0"/>
              <a:t>掌握区间</a:t>
            </a:r>
            <a:r>
              <a:rPr lang="en-US" altLang="zh-CN" dirty="0"/>
              <a:t>DP</a:t>
            </a:r>
            <a:r>
              <a:rPr lang="zh-CN" altLang="en-US" dirty="0"/>
              <a:t>并不困难</a:t>
            </a:r>
            <a:r>
              <a:rPr lang="en-US" altLang="zh-CN" dirty="0"/>
              <a:t>~</a:t>
            </a:r>
            <a:endParaRPr lang="en-US" altLang="zh-CN" dirty="0"/>
          </a:p>
          <a:p>
            <a:r>
              <a:rPr lang="zh-CN" altLang="en-US" dirty="0"/>
              <a:t>推荐题目：</a:t>
            </a:r>
            <a:endParaRPr lang="en-US" altLang="zh-CN" dirty="0"/>
          </a:p>
          <a:p>
            <a:r>
              <a:rPr lang="zh-CN" altLang="en-US" dirty="0">
                <a:hlinkClick r:id="rId1"/>
              </a:rPr>
              <a:t>合唱队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蓝桥题库</a:t>
            </a:r>
            <a:r>
              <a:rPr lang="en-US" altLang="zh-CN" dirty="0"/>
              <a:t>952 </a:t>
            </a:r>
            <a:r>
              <a:rPr lang="zh-CN" altLang="en-US" dirty="0"/>
              <a:t>（该题目需要多一重维度，但它不需要断点更新）</a:t>
            </a:r>
            <a:endParaRPr lang="en-US" altLang="zh-CN" dirty="0"/>
          </a:p>
          <a:p>
            <a:r>
              <a:rPr lang="zh-CN" altLang="en-US" dirty="0"/>
              <a:t>更多题目推荐移步洛谷题单</a:t>
            </a:r>
            <a:r>
              <a:rPr lang="en-US" altLang="zh-CN" dirty="0"/>
              <a:t>~</a:t>
            </a:r>
            <a:endParaRPr lang="en-US" altLang="zh-CN" dirty="0"/>
          </a:p>
          <a:p>
            <a:r>
              <a:rPr lang="zh-CN" altLang="en-US" dirty="0">
                <a:hlinkClick r:id="rId2"/>
              </a:rPr>
              <a:t>区间与环形动态规划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题单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洛谷 </a:t>
            </a:r>
            <a:r>
              <a:rPr lang="en-US" altLang="zh-CN" dirty="0">
                <a:hlinkClick r:id="rId2"/>
              </a:rPr>
              <a:t>| </a:t>
            </a:r>
            <a:r>
              <a:rPr lang="zh-CN" altLang="en-US" dirty="0">
                <a:hlinkClick r:id="rId2"/>
              </a:rPr>
              <a:t>计算机科学教育新生态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树形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在树上做</a:t>
            </a:r>
            <a:r>
              <a:rPr lang="en-US" altLang="zh-CN" dirty="0"/>
              <a:t>DP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树形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思考一下如何遍历一棵树？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学过数据结构的同学们都知道，树的遍历可以有许多顺序，而各种树的遍历都是基于递归来实现的。</a:t>
            </a:r>
            <a:endParaRPr lang="en-US" altLang="zh-CN" dirty="0"/>
          </a:p>
          <a:p>
            <a:r>
              <a:rPr lang="zh-CN" altLang="en-US" dirty="0"/>
              <a:t>更具体的，遍历一棵树往往包括向下遍历再回溯回根的过程。</a:t>
            </a:r>
            <a:endParaRPr lang="en-US" altLang="zh-CN" dirty="0"/>
          </a:p>
          <a:p>
            <a:r>
              <a:rPr lang="zh-CN" altLang="en-US" dirty="0"/>
              <a:t>在这个过程中，如果我们的子树有需要解决的问题，而由子树构成的更大的子树的问题的解决依赖于子树问题的答案，那么这个问题就可以采用树形</a:t>
            </a:r>
            <a:r>
              <a:rPr lang="en-US" altLang="zh-CN" dirty="0"/>
              <a:t>DP</a:t>
            </a:r>
            <a:r>
              <a:rPr lang="zh-CN" altLang="en-US" dirty="0"/>
              <a:t>的方式。</a:t>
            </a:r>
            <a:endParaRPr lang="en-US" altLang="zh-CN" dirty="0"/>
          </a:p>
          <a:p>
            <a:r>
              <a:rPr lang="zh-CN" altLang="en-US" strike="sngStrike" dirty="0"/>
              <a:t>子树</a:t>
            </a:r>
            <a:r>
              <a:rPr lang="en-US" altLang="zh-CN" strike="sngStrike" dirty="0"/>
              <a:t>~</a:t>
            </a:r>
            <a:r>
              <a:rPr lang="zh-CN" altLang="en-US" strike="sngStrike" dirty="0"/>
              <a:t>子问题，都有“子”，很自然吧</a:t>
            </a:r>
            <a:endParaRPr lang="zh-CN" altLang="en-US" strike="sngStrike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引入</a:t>
            </a:r>
            <a:r>
              <a:rPr lang="en-US" altLang="zh-CN" dirty="0"/>
              <a:t>——</a:t>
            </a:r>
            <a:r>
              <a:rPr lang="zh-CN" altLang="en-US" dirty="0"/>
              <a:t>没有上司的舞会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2286000"/>
            <a:ext cx="10125021" cy="4023360"/>
          </a:xfrm>
        </p:spPr>
        <p:txBody>
          <a:bodyPr>
            <a:normAutofit/>
          </a:bodyPr>
          <a:lstStyle/>
          <a:p>
            <a:pPr marL="128270" lvl="1" indent="0">
              <a:lnSpc>
                <a:spcPct val="100000"/>
              </a:lnSpc>
              <a:buNone/>
            </a:pPr>
            <a:r>
              <a:rPr lang="zh-CN" altLang="en-US" sz="2400" dirty="0">
                <a:hlinkClick r:id="rId1"/>
              </a:rPr>
              <a:t> 链接：没有上司的舞会 </a:t>
            </a:r>
            <a:r>
              <a:rPr lang="en-US" altLang="zh-CN" sz="2400" dirty="0">
                <a:hlinkClick r:id="rId1"/>
              </a:rPr>
              <a:t>- </a:t>
            </a:r>
            <a:r>
              <a:rPr lang="zh-CN" altLang="en-US" sz="2400" dirty="0">
                <a:hlinkClick r:id="rId1"/>
              </a:rPr>
              <a:t>洛谷</a:t>
            </a:r>
            <a:endParaRPr lang="en-US" altLang="zh-CN" sz="2400" dirty="0"/>
          </a:p>
          <a:p>
            <a:pPr marL="128270" lvl="1" indent="0">
              <a:lnSpc>
                <a:spcPct val="100000"/>
              </a:lnSpc>
              <a:buNone/>
            </a:pPr>
            <a:r>
              <a:rPr lang="zh-CN" altLang="en-US" sz="2400" dirty="0"/>
              <a:t>某大学有 </a:t>
            </a:r>
            <a:r>
              <a:rPr lang="en-US" altLang="zh-CN" sz="2400" dirty="0"/>
              <a:t>n </a:t>
            </a:r>
            <a:r>
              <a:rPr lang="zh-CN" altLang="en-US" sz="2400" dirty="0"/>
              <a:t>个职员，编号为 </a:t>
            </a:r>
            <a:r>
              <a:rPr lang="en-US" altLang="zh-CN" sz="2400" dirty="0"/>
              <a:t>1 ~ N</a:t>
            </a:r>
            <a:r>
              <a:rPr lang="zh-CN" altLang="en-US" sz="2400" dirty="0"/>
              <a:t>。他们之间有从属关系，也就是说他们的关系就像一棵以校长为根的树，父结点就是子结点的直接上司。现在有个周年庆宴会，宴会每邀请来一个职员都会增加一定的快乐指数 </a:t>
            </a:r>
            <a:r>
              <a:rPr lang="en-US" altLang="zh-CN" sz="2400" dirty="0"/>
              <a:t>ai</a:t>
            </a:r>
            <a:r>
              <a:rPr lang="zh-CN" altLang="en-US" sz="2400" dirty="0"/>
              <a:t>，但是呢，如果某个职员的直接上司来参加舞会了，那么这个职员就无论如何也不肯来参加舞会了。</a:t>
            </a:r>
            <a:endParaRPr lang="en-US" altLang="zh-CN" sz="2400" dirty="0"/>
          </a:p>
          <a:p>
            <a:pPr marL="128270" lvl="1" indent="0">
              <a:lnSpc>
                <a:spcPct val="100000"/>
              </a:lnSpc>
              <a:buNone/>
            </a:pPr>
            <a:r>
              <a:rPr lang="zh-CN" altLang="en-US" sz="2400" dirty="0"/>
              <a:t>所以，请你编程计算，邀请哪些职员可以使快乐指数最大，求最大的快乐指数。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没有上司的舞会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在树形问题上，想要进行有效的贪心难度更甚于线性问题，通常因为树有较多的相邻关系，所以互相会有很多牵连。于是这道题我们直接从能否设计一个</a:t>
            </a:r>
            <a:r>
              <a:rPr lang="en-US" altLang="zh-CN" dirty="0"/>
              <a:t>DP</a:t>
            </a:r>
            <a:r>
              <a:rPr lang="zh-CN" altLang="en-US" dirty="0"/>
              <a:t>算法来解决问题入手。</a:t>
            </a:r>
            <a:endParaRPr lang="en-US" altLang="zh-CN" dirty="0"/>
          </a:p>
          <a:p>
            <a:r>
              <a:rPr lang="zh-CN" altLang="en-US" dirty="0"/>
              <a:t>很显然这道题有一个树形结构，而我们也可以认为每一个子树都有一个小问题，那就是“这颗子树最大的快乐指数是什么？”</a:t>
            </a:r>
            <a:endParaRPr lang="en-US" altLang="zh-CN" dirty="0"/>
          </a:p>
          <a:p>
            <a:r>
              <a:rPr lang="zh-CN" altLang="en-US" dirty="0"/>
              <a:t>于是我们考虑先设计一个简单的状态：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表示以</a:t>
            </a:r>
            <a:r>
              <a:rPr lang="en-US" altLang="zh-CN" dirty="0" err="1"/>
              <a:t>i</a:t>
            </a:r>
            <a:r>
              <a:rPr lang="zh-CN" altLang="en-US" dirty="0"/>
              <a:t>为根的子树最大的快乐指数。</a:t>
            </a:r>
            <a:endParaRPr lang="en-US" altLang="zh-CN" dirty="0"/>
          </a:p>
          <a:p>
            <a:r>
              <a:rPr lang="en-US" altLang="zh-CN" dirty="0"/>
              <a:t> 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没有上司的舞会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如何更新呢？</a:t>
            </a:r>
            <a:endParaRPr lang="en-US" altLang="zh-CN" dirty="0"/>
          </a:p>
          <a:p>
            <a:r>
              <a:rPr lang="zh-CN" altLang="en-US" dirty="0"/>
              <a:t>我们很自然的会想到，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是否可以简单的等于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的所有儿子为根的子树的快乐指数的和呢？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zh-CN" altLang="en-US" dirty="0"/>
              <a:t>考虑到 </a:t>
            </a:r>
            <a:r>
              <a:rPr lang="en-US" altLang="zh-CN" dirty="0"/>
              <a:t>i </a:t>
            </a:r>
            <a:r>
              <a:rPr lang="zh-CN" altLang="en-US" dirty="0"/>
              <a:t>其实是所有儿子的父节点，也就是所有儿子的上司，如果要以所有以儿子为根的子树添加进来，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的值就不能包括在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中。</a:t>
            </a:r>
            <a:endParaRPr lang="en-US" altLang="zh-CN" dirty="0"/>
          </a:p>
          <a:p>
            <a:r>
              <a:rPr lang="zh-CN" altLang="en-US" dirty="0"/>
              <a:t>如果想要让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的值包括进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，那么所有的儿子的</a:t>
            </a:r>
            <a:r>
              <a:rPr lang="en-US" altLang="zh-CN" dirty="0"/>
              <a:t>f[</a:t>
            </a:r>
            <a:r>
              <a:rPr lang="en-US" altLang="zh-CN" dirty="0">
                <a:latin typeface="+mn-ea"/>
              </a:rPr>
              <a:t>j</a:t>
            </a:r>
            <a:r>
              <a:rPr lang="en-US" altLang="zh-CN" dirty="0"/>
              <a:t>]</a:t>
            </a:r>
            <a:r>
              <a:rPr lang="zh-CN" altLang="en-US" dirty="0"/>
              <a:t>必然不能够包括</a:t>
            </a:r>
            <a:r>
              <a:rPr lang="en-US" altLang="zh-CN" dirty="0"/>
              <a:t>a[</a:t>
            </a:r>
            <a:r>
              <a:rPr lang="en-US" altLang="zh-CN" dirty="0">
                <a:latin typeface="+mn-ea"/>
              </a:rPr>
              <a:t>j]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我们发现，</a:t>
            </a:r>
            <a:r>
              <a:rPr lang="zh-CN" altLang="en-US" b="1" dirty="0">
                <a:latin typeface="+mn-ea"/>
              </a:rPr>
              <a:t>我们单独的</a:t>
            </a:r>
            <a:r>
              <a:rPr lang="en-US" altLang="zh-CN" b="1" dirty="0">
                <a:latin typeface="+mn-ea"/>
              </a:rPr>
              <a:t>f[</a:t>
            </a:r>
            <a:r>
              <a:rPr lang="en-US" altLang="zh-CN" b="1" dirty="0" err="1">
                <a:latin typeface="+mn-ea"/>
              </a:rPr>
              <a:t>i</a:t>
            </a:r>
            <a:r>
              <a:rPr lang="en-US" altLang="zh-CN" b="1" dirty="0">
                <a:latin typeface="+mn-ea"/>
              </a:rPr>
              <a:t>]</a:t>
            </a:r>
            <a:r>
              <a:rPr lang="zh-CN" altLang="en-US" b="1" dirty="0">
                <a:latin typeface="+mn-ea"/>
              </a:rPr>
              <a:t>并不包括它是否包含了 </a:t>
            </a:r>
            <a:r>
              <a:rPr lang="en-US" altLang="zh-CN" b="1" dirty="0">
                <a:latin typeface="+mn-ea"/>
              </a:rPr>
              <a:t>a[</a:t>
            </a:r>
            <a:r>
              <a:rPr lang="en-US" altLang="zh-CN" b="1" dirty="0" err="1">
                <a:latin typeface="+mn-ea"/>
              </a:rPr>
              <a:t>i</a:t>
            </a:r>
            <a:r>
              <a:rPr lang="en-US" altLang="zh-CN" b="1" dirty="0">
                <a:latin typeface="+mn-ea"/>
              </a:rPr>
              <a:t>] </a:t>
            </a:r>
            <a:r>
              <a:rPr lang="zh-CN" altLang="en-US" b="1" dirty="0">
                <a:latin typeface="+mn-ea"/>
              </a:rPr>
              <a:t>这样的信息</a:t>
            </a:r>
            <a:r>
              <a:rPr lang="zh-CN" altLang="en-US" dirty="0">
                <a:latin typeface="+mn-ea"/>
              </a:rPr>
              <a:t>，所以我们现在用这样的状态表示无法从确定是否要继承</a:t>
            </a:r>
            <a:r>
              <a:rPr lang="en-US" altLang="zh-CN" dirty="0">
                <a:latin typeface="+mn-ea"/>
              </a:rPr>
              <a:t>f[j]</a:t>
            </a:r>
            <a:r>
              <a:rPr lang="zh-CN" altLang="en-US" dirty="0">
                <a:latin typeface="+mn-ea"/>
              </a:rPr>
              <a:t>，或者说，应该继承哪一种</a:t>
            </a:r>
            <a:r>
              <a:rPr lang="en-US" altLang="zh-CN" dirty="0">
                <a:latin typeface="+mn-ea"/>
              </a:rPr>
              <a:t>f[j]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没有上司的舞会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也就是说，我们目前状态中的信息不够。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而我们缺失的信息仅仅是“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有没有被选择？”</a:t>
            </a:r>
            <a:endParaRPr lang="en-US" altLang="zh-CN" dirty="0"/>
          </a:p>
          <a:p>
            <a:r>
              <a:rPr lang="zh-CN" altLang="en-US" dirty="0"/>
              <a:t>面对这样的问题，我们可以考虑在状态中包含这样的信息，以便于我们的转移。</a:t>
            </a:r>
            <a:endParaRPr lang="en-US" altLang="zh-CN" dirty="0"/>
          </a:p>
          <a:p>
            <a:r>
              <a:rPr lang="zh-CN" altLang="en-US" b="1" dirty="0"/>
              <a:t>也就是设计</a:t>
            </a:r>
            <a:r>
              <a:rPr lang="en-US" altLang="zh-CN" b="1" dirty="0"/>
              <a:t>f[</a:t>
            </a:r>
            <a:r>
              <a:rPr lang="en-US" altLang="zh-CN" b="1" dirty="0" err="1"/>
              <a:t>i</a:t>
            </a:r>
            <a:r>
              <a:rPr lang="en-US" altLang="zh-CN" b="1" dirty="0"/>
              <a:t>][0/1] </a:t>
            </a:r>
            <a:r>
              <a:rPr lang="zh-CN" altLang="en-US" b="1" dirty="0"/>
              <a:t>用第二个维度用来表示未选择 </a:t>
            </a:r>
            <a:r>
              <a:rPr lang="en-US" altLang="zh-CN" b="1" dirty="0" err="1"/>
              <a:t>i</a:t>
            </a:r>
            <a:r>
              <a:rPr lang="en-US" altLang="zh-CN" b="1" dirty="0"/>
              <a:t> (0) </a:t>
            </a:r>
            <a:r>
              <a:rPr lang="zh-CN" altLang="en-US" b="1" dirty="0"/>
              <a:t>参加舞会的子树最大值和选择了 </a:t>
            </a:r>
            <a:r>
              <a:rPr lang="en-US" altLang="zh-CN" b="1" dirty="0" err="1"/>
              <a:t>i</a:t>
            </a:r>
            <a:r>
              <a:rPr lang="en-US" altLang="zh-CN" b="1" dirty="0"/>
              <a:t>(1) </a:t>
            </a:r>
            <a:r>
              <a:rPr lang="zh-CN" altLang="en-US" b="1" dirty="0"/>
              <a:t>参加舞会的子树最大值是多少。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没有上司的舞会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n-ea"/>
              </a:rPr>
              <a:t>现在，我们发现，刚才面临的信息缺失的问题被完美解决了。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分析</a:t>
            </a:r>
            <a:r>
              <a:rPr lang="en-US" altLang="zh-CN" dirty="0">
                <a:latin typeface="+mn-ea"/>
              </a:rPr>
              <a:t>DP</a:t>
            </a:r>
            <a:r>
              <a:rPr lang="zh-CN" altLang="en-US" dirty="0">
                <a:latin typeface="+mn-ea"/>
              </a:rPr>
              <a:t>问题有点类似归纳推理，我们只管边界的正确和中间某一步</a:t>
            </a:r>
            <a:r>
              <a:rPr lang="en-US" altLang="zh-CN" dirty="0">
                <a:latin typeface="+mn-ea"/>
              </a:rPr>
              <a:t>k</a:t>
            </a:r>
            <a:r>
              <a:rPr lang="zh-CN" altLang="en-US" dirty="0">
                <a:latin typeface="+mn-ea"/>
              </a:rPr>
              <a:t>的推理性正确，而不用管这中间的各个步骤是怎么推的，并且假设前面的推下来是全部正确的。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假设子树问题已经解决，现在子树根为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，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我们考虑 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][0] </a:t>
            </a:r>
            <a:r>
              <a:rPr lang="zh-CN" altLang="en-US" dirty="0">
                <a:latin typeface="+mn-ea"/>
              </a:rPr>
              <a:t>从何而来，现在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][0]</a:t>
            </a:r>
            <a:r>
              <a:rPr lang="zh-CN" altLang="en-US" dirty="0">
                <a:latin typeface="+mn-ea"/>
              </a:rPr>
              <a:t>表示该子树不包含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],</a:t>
            </a:r>
            <a:r>
              <a:rPr lang="zh-CN" altLang="en-US" dirty="0">
                <a:latin typeface="+mn-ea"/>
              </a:rPr>
              <a:t>那么儿子们来不来都无所谓，因此 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][0]=sum{max{f[j][0],f[j][1]}}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接着考虑 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][1] </a:t>
            </a:r>
            <a:r>
              <a:rPr lang="zh-CN" altLang="en-US" dirty="0">
                <a:latin typeface="+mn-ea"/>
              </a:rPr>
              <a:t>从何而来，由于选择了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所以儿子们都不能来。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于是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][1]=sum{f[j][0]}+a[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至此，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][0/1]</a:t>
            </a:r>
            <a:r>
              <a:rPr lang="zh-CN" altLang="en-US" dirty="0">
                <a:latin typeface="+mn-ea"/>
              </a:rPr>
              <a:t>都能够合理的被推出来，也就是说</a:t>
            </a:r>
            <a:r>
              <a:rPr lang="en-US" altLang="zh-CN" dirty="0">
                <a:latin typeface="+mn-ea"/>
              </a:rPr>
              <a:t>DP</a:t>
            </a:r>
            <a:r>
              <a:rPr lang="zh-CN" altLang="en-US" dirty="0">
                <a:latin typeface="+mn-ea"/>
              </a:rPr>
              <a:t>的设计是无误的。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Show you Code!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/>
          <a:lstStyle/>
          <a:p>
            <a:r>
              <a:rPr lang="zh-CN" altLang="en-US" dirty="0"/>
              <a:t>该代码的存图方式采用了</a:t>
            </a:r>
            <a:r>
              <a:rPr lang="zh-CN" altLang="en-US" dirty="0">
                <a:hlinkClick r:id="rId1"/>
              </a:rPr>
              <a:t>链式前向星 </a:t>
            </a:r>
            <a:r>
              <a:rPr lang="zh-CN" altLang="en-US" dirty="0"/>
              <a:t>的方法，它的特点是完全用数组实现，速度较快。本质上，它给每个点开了一个链表，并且可以按需扩展链表。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6" y="2814909"/>
            <a:ext cx="5484359" cy="370163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55088" y="3408425"/>
            <a:ext cx="4198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如果以</a:t>
            </a:r>
            <a:r>
              <a:rPr lang="en-US" altLang="zh-CN" sz="2400" dirty="0"/>
              <a:t>1</a:t>
            </a:r>
            <a:r>
              <a:rPr lang="zh-CN" altLang="en-US" sz="2400" dirty="0"/>
              <a:t>为根，那么显然答案是</a:t>
            </a:r>
            <a:r>
              <a:rPr lang="en-US" altLang="zh-CN" sz="2400" dirty="0"/>
              <a:t>max(f[1][0],f[1][1])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该题的根是要自己找的。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——</a:t>
            </a:r>
            <a:r>
              <a:rPr lang="zh-CN" altLang="en-US" dirty="0"/>
              <a:t>选课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1"/>
              </a:rPr>
              <a:t> 链接：选课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洛谷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b="0" i="0" dirty="0">
                <a:effectLst/>
                <a:latin typeface="-apple-system"/>
              </a:rPr>
              <a:t>在大学里每个学生，为了达到一定的学分，必须从很多课程里选择一些课程来学习，在课程里有些课程必须在某些课程之前学习，如高等数学总是在其它课程之前学习。现在有 </a:t>
            </a:r>
            <a:r>
              <a:rPr lang="en-US" altLang="zh-CN" b="0" i="0" dirty="0">
                <a:effectLst/>
                <a:latin typeface="KaTeX_Main"/>
              </a:rPr>
              <a:t>N</a:t>
            </a:r>
            <a:r>
              <a:rPr lang="zh-CN" altLang="en-US" b="0" i="0" dirty="0">
                <a:effectLst/>
                <a:latin typeface="-apple-system"/>
              </a:rPr>
              <a:t>门功课，每门课有个学分，每门课有一门或没有直接先修课（若课程 </a:t>
            </a:r>
            <a:r>
              <a:rPr lang="en-US" altLang="zh-CN" b="0" i="0" dirty="0">
                <a:effectLst/>
                <a:latin typeface="-apple-system"/>
              </a:rPr>
              <a:t>a </a:t>
            </a:r>
            <a:r>
              <a:rPr lang="zh-CN" altLang="en-US" b="0" i="0" dirty="0">
                <a:effectLst/>
                <a:latin typeface="-apple-system"/>
              </a:rPr>
              <a:t>是课程 </a:t>
            </a:r>
            <a:r>
              <a:rPr lang="en-US" altLang="zh-CN" b="0" i="0" dirty="0">
                <a:effectLst/>
                <a:latin typeface="-apple-system"/>
              </a:rPr>
              <a:t>b </a:t>
            </a:r>
            <a:r>
              <a:rPr lang="zh-CN" altLang="en-US" b="0" i="0" dirty="0">
                <a:effectLst/>
                <a:latin typeface="-apple-system"/>
              </a:rPr>
              <a:t>的先修课即只有学完了课程 </a:t>
            </a:r>
            <a:r>
              <a:rPr lang="en-US" altLang="zh-CN" b="0" i="0" dirty="0">
                <a:effectLst/>
                <a:latin typeface="-apple-system"/>
              </a:rPr>
              <a:t>a</a:t>
            </a:r>
            <a:r>
              <a:rPr lang="zh-CN" altLang="en-US" b="0" i="0" dirty="0">
                <a:effectLst/>
                <a:latin typeface="-apple-system"/>
              </a:rPr>
              <a:t>，才能学习课程 </a:t>
            </a:r>
            <a:r>
              <a:rPr lang="en-US" altLang="zh-CN" b="0" i="0" dirty="0">
                <a:effectLst/>
                <a:latin typeface="-apple-system"/>
              </a:rPr>
              <a:t>b</a:t>
            </a:r>
            <a:r>
              <a:rPr lang="zh-CN" altLang="en-US" b="0" i="0" dirty="0">
                <a:effectLst/>
                <a:latin typeface="-apple-system"/>
              </a:rPr>
              <a:t>）。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00000"/>
              </a:lnSpc>
            </a:pPr>
            <a:r>
              <a:rPr lang="zh-CN" altLang="en-US" b="0" i="0" dirty="0">
                <a:effectLst/>
                <a:latin typeface="-apple-system"/>
              </a:rPr>
              <a:t>一个学生要从这些课程里选择 </a:t>
            </a:r>
            <a:r>
              <a:rPr lang="en-US" altLang="zh-CN" b="0" i="0" dirty="0">
                <a:effectLst/>
                <a:latin typeface="KaTeX_Main"/>
              </a:rPr>
              <a:t>M</a:t>
            </a:r>
            <a:r>
              <a:rPr lang="zh-CN" altLang="en-US" b="0" i="0" dirty="0">
                <a:effectLst/>
                <a:latin typeface="-apple-system"/>
              </a:rPr>
              <a:t> 门课程学习，问他能获得的最大学分是多少？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+mn-ea"/>
              </a:rPr>
              <a:t>很显然，这道题也是一个树形问题，我们可以把所谓的直接先修课看作是父节点，我们可以先设计状态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为以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为父节点的子树下最多修多少学分，当然，由于题目限制了最多选取的课程数量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，所以我们在选择的时候肯定不能一股脑都选上，换言之该题类似背包问题，有容量限制，因此设计</a:t>
            </a:r>
            <a:r>
              <a:rPr lang="en-US" altLang="zh-CN" dirty="0">
                <a:latin typeface="+mn-ea"/>
              </a:rPr>
              <a:t>f[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][j]</a:t>
            </a:r>
            <a:r>
              <a:rPr lang="zh-CN" altLang="en-US" dirty="0">
                <a:latin typeface="+mn-ea"/>
              </a:rPr>
              <a:t>表示以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为子树根，选择了</a:t>
            </a:r>
            <a:r>
              <a:rPr lang="en-US" altLang="zh-CN" dirty="0">
                <a:latin typeface="+mn-ea"/>
              </a:rPr>
              <a:t>j</a:t>
            </a:r>
            <a:r>
              <a:rPr lang="zh-CN" altLang="en-US" dirty="0">
                <a:latin typeface="+mn-ea"/>
              </a:rPr>
              <a:t>门课程时学分最多是多少。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那么我们如何进行状态的转移呢？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由于该题出现了容量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/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价值等字眼，我们可以感受到它和背包非常像。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我们枚举所有的容量限制，然后在所有子树中做选择。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设当前根为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x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，现在要计算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，假设我们已经知道了所有子树的所有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的值，现在借助它们来更新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  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我们枚举所有的儿子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，现在通过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f[y][k]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来更新，即现在在子树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中选择了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k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门课程，那么显然，对于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来说，如果它包含了子树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的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k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门课，那么它就从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f[x][j-k]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而来，也就是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f[x][j]=f[x][j-k]+f[y][k]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。我们枚举所有的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k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，就能考虑到子树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的所有情况。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不过需要注意的是，我们需要保证 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f[x][j]=f[x][j-k]+f[y][k]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方程中的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f[x][j-k]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中不包含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的任何贡献，这样才能保证状态的转移是合乎逻辑的，怎么做到？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我们注意到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f[x][j-k]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的第二维一定比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j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小，所以如果我们从大到小枚举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j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，那么在更新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之前，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f[x][j-k]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一定还没有利用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更新过，这样就保证了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y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这个子树的所有选取，对于一个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(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</a:rPr>
              <a:t>x,j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)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来说，它只被考虑了一次。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 现在，我们可以放心的写下状态转移方程：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 f[x][j]=max{f[x][j],f[x][j-k]+f[y][k]}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CODE!!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9265" y="2249424"/>
            <a:ext cx="5762026" cy="402336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注意我们的转移过程实际上是在子树已经处理完毕时进行的。以及对于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0/1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背包同样关键的一个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tips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，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j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是从大到小枚举的！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此外，这道题的边界有两个问题，一个是读入的时候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0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会作为没有前驱时候读入的值。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另一个是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</a:rPr>
              <a:t>i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][1]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显然等于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</a:rPr>
              <a:t>i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自己的值。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二者相结合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最后的答案就写成了 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f[0][m+1]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。</a:t>
            </a:r>
            <a:endParaRPr lang="en-US" altLang="zh-CN" dirty="0"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思考一下为什么？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(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在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</a:rPr>
              <a:t>dp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</a:rPr>
              <a:t>外发生了什么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</a:rPr>
              <a:t>?)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291" y="2249424"/>
            <a:ext cx="5895975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7" y="2249424"/>
            <a:ext cx="9720073" cy="4023360"/>
          </a:xfrm>
        </p:spPr>
        <p:txBody>
          <a:bodyPr/>
          <a:lstStyle/>
          <a:p>
            <a:r>
              <a:rPr lang="zh-CN" altLang="en-US" dirty="0">
                <a:hlinkClick r:id="rId1"/>
              </a:rPr>
              <a:t>树与图上的动态规划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题单 </a:t>
            </a:r>
            <a:r>
              <a:rPr lang="en-US" altLang="zh-CN" dirty="0">
                <a:hlinkClick r:id="rId1"/>
              </a:rPr>
              <a:t>- </a:t>
            </a:r>
            <a:r>
              <a:rPr lang="zh-CN" altLang="en-US" dirty="0">
                <a:hlinkClick r:id="rId1"/>
              </a:rPr>
              <a:t>洛谷</a:t>
            </a:r>
            <a:endParaRPr lang="en-US" altLang="zh-CN" dirty="0"/>
          </a:p>
          <a:p>
            <a:r>
              <a:rPr lang="zh-CN" altLang="en-US" dirty="0"/>
              <a:t>该题单中除了树形</a:t>
            </a:r>
            <a:r>
              <a:rPr lang="en-US" altLang="zh-CN" dirty="0"/>
              <a:t>DP</a:t>
            </a:r>
            <a:r>
              <a:rPr lang="zh-CN" altLang="en-US" dirty="0"/>
              <a:t>，还有“图上”</a:t>
            </a:r>
            <a:r>
              <a:rPr lang="en-US" altLang="zh-CN" dirty="0"/>
              <a:t>DP</a:t>
            </a:r>
            <a:r>
              <a:rPr lang="zh-CN" altLang="en-US" dirty="0"/>
              <a:t>，实际上，图上的想要</a:t>
            </a:r>
            <a:r>
              <a:rPr lang="en-US" altLang="zh-CN" dirty="0"/>
              <a:t>DP</a:t>
            </a:r>
            <a:r>
              <a:rPr lang="zh-CN" altLang="en-US" dirty="0"/>
              <a:t>必然具有树类似的无后效性才行，也就是说，图也需要是有向无环图（</a:t>
            </a:r>
            <a:r>
              <a:rPr lang="en-US" altLang="zh-CN" dirty="0"/>
              <a:t>DAG</a:t>
            </a:r>
            <a:r>
              <a:rPr lang="zh-CN" altLang="en-US" dirty="0"/>
              <a:t>）才能进行</a:t>
            </a:r>
            <a:r>
              <a:rPr lang="en-US" altLang="zh-CN" dirty="0"/>
              <a:t>DP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这类问题其实和树形 </a:t>
            </a:r>
            <a:r>
              <a:rPr lang="en-US" altLang="zh-CN" dirty="0"/>
              <a:t>DP </a:t>
            </a:r>
            <a:r>
              <a:rPr lang="zh-CN" altLang="en-US" dirty="0"/>
              <a:t>没有太大区别，可以自行探索一番。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基础的树形</a:t>
            </a:r>
            <a:r>
              <a:rPr lang="en-US" altLang="zh-CN" dirty="0"/>
              <a:t>DP</a:t>
            </a:r>
            <a:r>
              <a:rPr lang="zh-CN" altLang="en-US" dirty="0"/>
              <a:t>其实并不神秘。</a:t>
            </a:r>
            <a:endParaRPr lang="en-US" altLang="zh-CN" dirty="0"/>
          </a:p>
          <a:p>
            <a:r>
              <a:rPr lang="zh-CN" altLang="en-US" dirty="0"/>
              <a:t>实际上，不论</a:t>
            </a:r>
            <a:r>
              <a:rPr lang="en-US" altLang="zh-CN" dirty="0"/>
              <a:t>DP</a:t>
            </a:r>
            <a:r>
              <a:rPr lang="zh-CN" altLang="en-US" dirty="0"/>
              <a:t>的形式怎么变化，它的核心都是划分子问题和寻找子问题之间的推理（转移）方式。</a:t>
            </a:r>
            <a:endParaRPr lang="en-US" altLang="zh-CN" dirty="0"/>
          </a:p>
          <a:p>
            <a:r>
              <a:rPr lang="zh-CN" altLang="en-US" dirty="0"/>
              <a:t>各种类型的</a:t>
            </a:r>
            <a:r>
              <a:rPr lang="en-US" altLang="zh-CN" dirty="0"/>
              <a:t>DP</a:t>
            </a:r>
            <a:r>
              <a:rPr lang="zh-CN" altLang="en-US" dirty="0"/>
              <a:t>最大的不同只是状态设计的不同，而实际上线性，区间，树形</a:t>
            </a:r>
            <a:r>
              <a:rPr lang="en-US" altLang="zh-CN" dirty="0"/>
              <a:t>DP</a:t>
            </a:r>
            <a:r>
              <a:rPr lang="zh-CN" altLang="en-US" dirty="0"/>
              <a:t>的基本的状态设计是比较直白的，基本上问什么设什么，无非再多一些附加信息以便状态的转移。</a:t>
            </a:r>
            <a:endParaRPr lang="en-US" altLang="zh-CN" dirty="0"/>
          </a:p>
          <a:p>
            <a:r>
              <a:rPr lang="zh-CN" altLang="en-US" dirty="0"/>
              <a:t>此后的状态转移，有些时候并不能简单一行了结，往往还需要注意状态间联系的方式（如背包问题中容量的枚举方式），有时候还需要一些条件判断，这需要不断的积累经验。</a:t>
            </a:r>
            <a:endParaRPr lang="en-US" altLang="zh-CN" dirty="0"/>
          </a:p>
          <a:p>
            <a:r>
              <a:rPr lang="zh-CN" altLang="en-US" dirty="0"/>
              <a:t>较为特殊的状态压缩</a:t>
            </a:r>
            <a:r>
              <a:rPr lang="en-US" altLang="zh-CN" dirty="0"/>
              <a:t>DP</a:t>
            </a:r>
            <a:r>
              <a:rPr lang="zh-CN" altLang="en-US" dirty="0"/>
              <a:t>，它也只是状态的设计较为特别，采用了二进制压缩的方法，其转移当然也和二进制相关，今天便不做介绍了。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6147</Words>
  <Application>WPS 表格</Application>
  <PresentationFormat>宽屏</PresentationFormat>
  <Paragraphs>257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8" baseType="lpstr">
      <vt:lpstr>Arial</vt:lpstr>
      <vt:lpstr>宋体</vt:lpstr>
      <vt:lpstr>Wingdings</vt:lpstr>
      <vt:lpstr>Tw Cen MT</vt:lpstr>
      <vt:lpstr>苹方-简</vt:lpstr>
      <vt:lpstr>Wingdings 3</vt:lpstr>
      <vt:lpstr>-apple-system</vt:lpstr>
      <vt:lpstr>Thonburi</vt:lpstr>
      <vt:lpstr>KaTeX_Main</vt:lpstr>
      <vt:lpstr>KaTeX_Math</vt:lpstr>
      <vt:lpstr>华文仿宋</vt:lpstr>
      <vt:lpstr>Tw Cen MT Condensed</vt:lpstr>
      <vt:lpstr>微软雅黑</vt:lpstr>
      <vt:lpstr>汉仪旗黑</vt:lpstr>
      <vt:lpstr>宋体</vt:lpstr>
      <vt:lpstr>Arial Unicode MS</vt:lpstr>
      <vt:lpstr>等线</vt:lpstr>
      <vt:lpstr>汉仪中等线KW</vt:lpstr>
      <vt:lpstr>Consolas</vt:lpstr>
      <vt:lpstr>Courier New</vt:lpstr>
      <vt:lpstr>汉仪书宋二KW</vt:lpstr>
      <vt:lpstr>宋体-简</vt:lpstr>
      <vt:lpstr>积分</vt:lpstr>
      <vt:lpstr>更多的动态规划类型</vt:lpstr>
      <vt:lpstr>DP的特性回顾</vt:lpstr>
      <vt:lpstr>DP的特性回顾</vt:lpstr>
      <vt:lpstr>区间DP</vt:lpstr>
      <vt:lpstr>石子合并(线性)</vt:lpstr>
      <vt:lpstr>石子合并(线性)</vt:lpstr>
      <vt:lpstr>石子合并(线性)</vt:lpstr>
      <vt:lpstr>石子合并（线性）区间DP解法</vt:lpstr>
      <vt:lpstr>石子合并（线性）区间DP解法</vt:lpstr>
      <vt:lpstr>确立一个左端点？</vt:lpstr>
      <vt:lpstr>确立一个区间长度！</vt:lpstr>
      <vt:lpstr>主体代码奉上！</vt:lpstr>
      <vt:lpstr>石子合并(环形)</vt:lpstr>
      <vt:lpstr>石子合并(环形)</vt:lpstr>
      <vt:lpstr>石子合并（环形）</vt:lpstr>
      <vt:lpstr>石子合并（环形）</vt:lpstr>
      <vt:lpstr>石子合并（环形）</vt:lpstr>
      <vt:lpstr>石子合并（环形）</vt:lpstr>
      <vt:lpstr>环形代码：</vt:lpstr>
      <vt:lpstr>区间DP小总结</vt:lpstr>
      <vt:lpstr>树形DP</vt:lpstr>
      <vt:lpstr>树形DP</vt:lpstr>
      <vt:lpstr>引入——没有上司的舞会</vt:lpstr>
      <vt:lpstr>没有上司的舞会</vt:lpstr>
      <vt:lpstr>没有上司的舞会</vt:lpstr>
      <vt:lpstr>没有上司的舞会</vt:lpstr>
      <vt:lpstr>没有上司的舞会</vt:lpstr>
      <vt:lpstr>Show you Code!</vt:lpstr>
      <vt:lpstr>练习——选课</vt:lpstr>
      <vt:lpstr>选课</vt:lpstr>
      <vt:lpstr>选课</vt:lpstr>
      <vt:lpstr>选课</vt:lpstr>
      <vt:lpstr>CODE!!</vt:lpstr>
      <vt:lpstr>更多练习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explorer xx</dc:creator>
  <cp:lastModifiedBy>WPS_1692176029</cp:lastModifiedBy>
  <cp:revision>366</cp:revision>
  <dcterms:created xsi:type="dcterms:W3CDTF">2025-01-21T08:29:35Z</dcterms:created>
  <dcterms:modified xsi:type="dcterms:W3CDTF">2025-01-21T08:29:35Z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3E6FA7D4EF8DDC59EF5A8F67E9A7E318_42</vt:lpwstr>
  </property>
  <property fmtid="{D5CDD505-2E9C-101B-9397-08002B2CF9AE}" pid="3" name="KSOProductBuildVer">
    <vt:lpwstr>2052-6.5.2.8766</vt:lpwstr>
  </property>
</Properties>
</file>